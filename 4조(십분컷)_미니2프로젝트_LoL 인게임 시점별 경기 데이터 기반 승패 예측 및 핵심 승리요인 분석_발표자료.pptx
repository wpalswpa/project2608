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3" r:id="rId15"/>
    <p:sldId id="261" r:id="rId13"/>
    <p:sldId id="308" r:id="rId60"/>
    <p:sldId id="259" r:id="rId11"/>
    <p:sldId id="264" r:id="rId16"/>
    <p:sldId id="265" r:id="rId17"/>
    <p:sldId id="271" r:id="rId23"/>
    <p:sldId id="266" r:id="rId18"/>
    <p:sldId id="272" r:id="rId24"/>
    <p:sldId id="273" r:id="rId25"/>
    <p:sldId id="274" r:id="rId26"/>
    <p:sldId id="275" r:id="rId27"/>
    <p:sldId id="276" r:id="rId28"/>
    <p:sldId id="278" r:id="rId30"/>
    <p:sldId id="279" r:id="rId31"/>
    <p:sldId id="267" r:id="rId19"/>
    <p:sldId id="280" r:id="rId32"/>
    <p:sldId id="281" r:id="rId33"/>
    <p:sldId id="283" r:id="rId35"/>
    <p:sldId id="284" r:id="rId36"/>
    <p:sldId id="285" r:id="rId37"/>
    <p:sldId id="286" r:id="rId38"/>
    <p:sldId id="289" r:id="rId41"/>
    <p:sldId id="293" r:id="rId45"/>
    <p:sldId id="294" r:id="rId46"/>
    <p:sldId id="309" r:id="rId53"/>
    <p:sldId id="296" r:id="rId48"/>
    <p:sldId id="297" r:id="rId49"/>
    <p:sldId id="298" r:id="rId50"/>
    <p:sldId id="299" r:id="rId51"/>
    <p:sldId id="302" r:id="rId54"/>
    <p:sldId id="300" r:id="rId52"/>
    <p:sldId id="306" r:id="rId58"/>
    <p:sldId id="307" r:id="rId5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7.xml"/><Relationship Id="rId13"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1.xml"/><Relationship Id="rId19" Type="http://schemas.openxmlformats.org/officeDocument/2006/relationships/slide" Target="slides/slide19.xml"/><Relationship Id="rId23" Type="http://schemas.openxmlformats.org/officeDocument/2006/relationships/slide" Target="slides/slide10.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20.xml"/><Relationship Id="rId33"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41"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8.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5.xml"/><Relationship Id="rId53" Type="http://schemas.openxmlformats.org/officeDocument/2006/relationships/slide" Target="slides/slide29.xml"/><Relationship Id="rId54" Type="http://schemas.openxmlformats.org/officeDocument/2006/relationships/slide" Target="slides/slide34.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4조 발표를 시작하겠습니다. 주제는 인게임 시점별 경기 데이터 기반 승패 예측과 핵심 승리요인 분석입니다. 제목이 곧 질문입니다 — 경기는 언제 승부가 결정되는가. 10분 시점 데이터로 답해 보고, 답이 안 나오는 지점까지 그대로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팀원을 소개하겠습니다. 정상천 · 이제민 · 박예은 · 임의석 · 류서영 다섯 명입니다.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순서입니다. 무엇을 만들었는지와 데이터를 보고, Phase 1·2·3 순서로 갑니다. 중간에 경기 유형을 따로 다루고, 마지막에 서비스와 한계를 말씀드립니다. 세 단계가 그냥 나열된 게 아니라 앞 단계가 남긴 질문을 다음 단계가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무엇을 만들었고 무엇으로 답했는지부터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게임을 모르셔도 됩니다. 골드는 돈, 미니언은 그 돈의 주 수입원, 경험치는 레벨, 드래곤은 팀 전체가 강해지는 버프입니다. 5대5로 싸워 본진을 먼저 부수면 이기고 무승부는 없습니다. 중요한 건 킬도 돈을 준다는 겁니다. 킬이든 미니언이든 타워든 전부 돈 차이로 모입니다. 이 사실이 뒤에서 계속 중요해집니다.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단계로 진행했고 서로 이어져 있습니다. Phase 1에서 골드가 1위인데 킬 계수가 음수로 나왔습니다. 이대로면 킬하면 진다는 말이 되니 Phase 2에서 골드를 빼고 다시 학습했습니다. 킬이 플러스 0.508로 살아났고 점수는 0.002만 떨어졌습니다. 지표를 바꿔도 상한이 같다는 뜻이라, Phase 3에서 시점 자체를 바꿨습니다.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캐글의 다이아몬드 랭크 10분 데이터입니다. 9,879판이고 결측도 중복도 0건입니다. 승패가 50.1 대 49.9로 거의 반반이라 정확도를 1순위로 써도 정당합니다. 그리고 가장 중요한 규칙 — 어떤 전처리보다 분할이 먼저입니다. 이어지는 EDA 다섯 장은 전부 학습셋만 보고 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어떻게 나눴는지 말씀드립니다. 8 대 2 로 나눠 학습 7,903판, 시험 1,976판입니다. 층화 분할이라 승패 비율을 양쪽에 똑같이 유지했습니다. 학습 0.4991, 시험 0.4990 입니다. 시드는 42 로 고정했고, 분할 인덱스를 파일로 저장했습니다. 그래서 이후 어떤 스크립트를 돌려도 같은 시험지를 씁니다. 이 시험지 1,976판은 여기서 봉인하고 마지막 평가까지 한 번도 열지 않습니다. 그 사이 EDA도, 피처 정리도, 모델 비교도 전부 학습셋만 보고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쓰는 컬럼 열세 개가 각각 무엇인지 짚고 가겠습니다. 왼쪽 일곱 개가 성장 지표입니다. 골드, 경험치, 평균 레벨, 미니언, 정글 몬스터, 킬, 어시스트. 아까 말씀드린 대로 이것들은 결국 돈으로 모입니다. 오른쪽 여섯 개는 오브젝트와 시야입니다. 드래곤, 전령, 타워, 첫 킬, 와드 설치와 제거입니다. 이름 규칙은 하나입니다. 전부 파란 팀 빼기 빨간 팀이라, 양수면 파란 팀이 앞선다는 뜻입니다. 그리고 이 열세 개 말고는 아무것도 안 넣었습니다. 챔피언이나 티어 같은 건 이 데이터에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돌리기 전에 눈으로 먼저 봤습니다. 승률이 S자로 매끄럽게 오릅니다. 그런데 중요한 건 가운데입니다. 경기가 제일 많이 몰린 플러스마이너스 천 구간이 전체의 33퍼센트인데 승률이 49.5퍼센트, 사실상 동전 던지기입니다. 접전 정확도 0.615가 여기서 예고됩니다.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분할이 제대로 됐는지 네 가지를 확인했습니다. 인덱스 겹침 0건, 빠진 행 없음, 층화 오차 0.0001, 같은 경기 재등장 0건. 가운데 그림에서 전체·학습·시험이 전부 0.499로 같고, 오른쪽 골드차 분포도 포개집니다. 네 개가 다 통과했으니 여기서부터 모델링을 시작해도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1입니다. 얼마나 맞히나, 무엇이 승패를 가르나에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순서를 먼저 말씀드립니다. 결정한 순서지 작업한 순서가 아닙니다. 기능을 먼저 정했고, 이유를 반드시 낸다는 조건이 이후 모든 선택을 결정했습니다. 이 조건이 뒤에서 코칭 기능으로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8종을 똑같은 조건에서 비교했습니다. 왼쪽이 점수 순위인데 1위와 2위가 0.003 차이입니다. 점수로는 못 고릅니다. 오른쪽이 배웠나 외웠나를 본 건데, 랜덤포레스트는 연습이 만점인데 검증은 0.7191입니다. 통째로 외운 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격차를 숫자 하나로 만들어 0.03을 합격선으로 잡았습니다. 랜덤포레스트는 0.2809로 기준의 아홉 배입니다. 남은 후보에 마지막 기준을 적용했습니다. 이유를 반드시 낸다는 조건입니다. 로지스틱만 세 칸을 다 통과합니다. 튜닝도 하지 않았습니다. 골드 하나만 넣어도 0.7313이라 짜낼 게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2위였던 나이브베이즈도 끝까지 학습해서 견줘봤습니다. 정확도는 대등한데 확률의 얼굴이 다릅니다. 나이브베이즈는 경기 세 판 중 두 판에 95퍼센트 이상 확신을 겁니다. 팽팽한 접전에도요. 지표가 상관 0.9로 얽혀 있는데 독립이라 가정하고 곱하니 확신이 부풀어 오르는 겁니다. 확률을 화면에 그대로 보여주는 서비스라 탈락입니다.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점수가 운이 아닌지도 확인했습니다. 5조각 교차검증에서 0.7315, 격차 0.0022로 외우지 않았습니다. 분할부터 다시 하는 시드 10회 반복에서 0.7366에 표준편차 0.0081입니다. 열 번 전부 목표 0.70을 넘었습니다. 발표에는 이 값을 대표로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봉인해 둔 시험지를 엽니다. 1,976판이고 모델이 한 번도 보지 않은 데이터입니다. 정확도 0.7366, AUC 0.815입니다. 혼동행렬을 보면 틀린 방향이 244 대 271로 거의 같습니다. 어느 팀도 편들지 않는다는 뜻이라 임계값을 손볼 이유가 없었습니다. AUC 0.815는 승리 경기에 더 높은 확률을 줄 가능성이 81.5퍼센트라는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승패를 가르는 건 골드, 경험치, 드래곤 순서입니다. 두 방법이 같은 순위를 냈고 분할을 열 번 바꿔도 1, 2, 3위가 안 바뀌었습니다. 그런데 왼쪽 그림에 빨간 막대가 네 개 있습니다. 미니언, 킬, 어시스트, 타워가 음수입니다. 이대로면 킬을 많이 한 팀이 불리하다는 말이 됩니다. 이 그림이 Phase 2를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킬 계수가 왜 음수인지는 이 그림 한 장이면 됩니다. 킬을 해도, 미니언을 잡아도, 타워를 밀어도 전부 골드로 흘러 들어갑니다. 그래서 골드를 이미 아는 모델에게 킬은 새로 알려줄 게 없고, 남은 몫이 음수로 나옵니다. 정확한 해석은 킬은 돈으로 환산됐을 때만 의미가 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2입니다. 계수가 이상했던 원인을 직접 실험으로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골드를 빼봤는지부터 말씀드립니다. 상관 0.7 넘는 쌍이 여덟 개인데 그중 네 개가 골드 낀 쌍입니다. VIF로 봐도 골드가 23.4로 1위입니다. 10 넘으면 중복으로 봅니다. 오른쪽 아래 빨간 점 다섯 개가 문제의 증거입니다. 골드가 중복의 중심이었던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골드를 빼고 다시 학습했습니다. 킬이 마이너스 0.107에서 플러스 0.508로 뒤집혔습니다. 미니언, 어시스트, 타워, 정글 몹까지 음수였던 다섯 개가 전부 양수가 됐습니다. 킬이 승패와 무관했던 게 아니라 골드가 킬의 몫까지 가져가고 있었던 겁니다.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강한 지표를 통째로 뺐는데 홀드아웃이 0.002 차이입니다. 골드가 특별해서 1위였던 게 아니라 다른 지표가 이미 같은 정보를 담고 있어서 대신 채워지는 겁니다. 성장 지표를 전부 빼면 0.6336으로 확 떨어집니다. 결국 성장 격차가 가른다는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처음에는 PCA 평면에서 묶어봤습니다. 별로 얻은 게 없었습니다. 솔직하게 적습니다. 첫 축 하나가 39퍼센트를 설명하는데, 두 덩어리가 PC1의 0을 기준으로 세로로 잘려 있을 뿐입니다. 결국 블루가 앞선 판과 레드가 앞선 판으로 나눈 것이라 새 정보가 없습니다. 그런데 의심이 남습니다. 골드가 워낙 세니까 안 통한 것 아닐까요.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성격이 나왔습니다. 왼쪽 산점도에서 오른쪽 끝 주황색 일방적 경기만 뚜렷하게 떨어져 있습니다. 나머지 셋은 골드차로는 같은 자리에 있고 킬 수로만 갈립니다. 난타전과 운영전은 킬이 15회냐 9회냐로 정반대인데 골드차도 리드팀 승률도 거의 같습니다. 싸움을 많이 한다고 격차가 더 벌어지지 않는다는 뜻입니다. 일방적 경기만 90퍼센트로 이미 끝나 있고 나머지는 3판 중 1판이 뒤집힙니다. 구간별 정확도에서 나온 결론이 정답을 감춘 방법에서도 똑같이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3입니다. 지표가 아니라 시점 자체를 바꿔봤습니다.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0.704에서 0.756으로 5.25퍼센트포인트 올랐습니다. 시드를 열 번 바꿔도 열 번 다 15분이 우세했습니다. 골드가 0.91에서 1.18로, 경험치가 0.17에서 0.43으로 커지고 CS는 줄어듭니다. 라인전 단계가 지나고 격차 자체가 승패를 말하는 단계로 넘어간다는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평균만 보면 중요한 걸 놓칩니다. 이미 크게 벌어진 경기는 5분을 더 봐도 변화가 정확히 0입니다. 반면 팽팽한 경기는 7.8퍼센트포인트 오릅니다. 10분에 팽팽했던 경기의 59퍼센트가 그 5분 사이에 기울기 때문입니다. 그래서 팽팽할 때만 5분이 값어치가 있다가 정확한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제목의 답입니다. 경기의 약 10퍼센트는 10분에 이미 끝나 있습니다. 절반쯤 되는 팽팽한 경기는 그 6할이 10분에서 15분 사이에 갈립니다. 초반에 다 기운다도 틀렸고, 끝까지 모른다도 틀렸습니다. 경기 성격에 따라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모델이 화면에서 무엇이 되는지, 그리고 한계를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실제 화면을 보여드리겠습니다. 주소는 p4.sumzip.com 입니다. 소환사 이름과 태그를 넣고 분석을 누르면 최근 경기 목록이 나옵니다. 경기 한 판을 펼치면 우세승·역전패·역전승·열세패 중 어디에 해당하는지와 10분 시점 승률이 나옵니다. 이 판정을 믿어도 되나를 열면 그 구간의 적중률과 승리요인 순위가 보이고, 마지막으로 그래서 뭘 했어야 했나를 열면 코칭이 나옵니다. 여기 뜨는 확률은 전부 학습된 모델이 낸 값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서비스는 세 가지를 보여줍니다. 첫째가 판정입니다. 10분의 유불리와 실제 결과를 교차하면 경기가 네 갈래로 나뉩니다. 우세승, 역전패, 역전승, 열세패입니다. 같은 패배라도 처방이 정반대입니다. 열세패는 시작을 고쳐야 하고 역전패는 앞선 판을 끝내는 법을 배워야 합니다. 이 구분은 10분 시점 예측이 있어야만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그대로 말씀드립니다. 팽팽한 경기는 10분 정보로 못 맞힙니다. 코칭의 했다면은 인과 증명이 아니라 관찰 데이터로 계산한 가정입니다. 수집 시점 패치와 다이아 티어에 한정되고, 시점 비교는 프로 경기 결과입니다. 경기 유형 네 개는 설명 편의로 고른 값이고, 정성 테스트는 한 명에게만 했습니다. 확률의 정확함도 Brier로만 확인했고 구간별 신뢰도 곡선까지는 그리지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게임을 모르셔도 오늘부터 쓸 수 있는 관전 포인트 세 가지를 드리겠습니다. 골드 차이, 경험치 차이, 드래곤입니다. 킬이 목록에 없는 이유는 킬의 가치가 이미 돈 차이 안에 들어 있기 때문입니다. 한 줄로 요약하면, 골드차 4천이면 끝난 경기, 1천 미만이면 이제 시작입니다. 들어주셔서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본론에 들어가기 전에 전체 구조를 한 장으로 보여드리겠습니다. 위 줄이 한 번만 하는 일, 아래 줄이 매번 하는 일이고 가운데 금색 상자가 둘을 잇습니다. 공부는 딱 한 번 해서 2.2킬로바이트 파일 하나를 남기고, 서비스는 그 파일만 읽습니다. 데이터는 MariaDB 에 넣었고, 사용자가 넣는 건 이름인데 모델이 받는 건 숫자 13개라 그 사이를 riot_api 가 메웁니다. 지금부터 이 그림을 왼쪽 위에서 오른쪽 아래로 훑어가겠습니다.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notesSlide" Target="../notesSlides/notesSlide2.xml"/><Relationship Id="rId8" Type="http://schemas.openxmlformats.org/officeDocument/2006/relationships/image" Target="../media/image36.png"/><Relationship Id="rId9" Type="http://schemas.openxmlformats.org/officeDocument/2006/relationships/image" Target="../media/image38.jpg"/><Relationship Id="rId10" Type="http://schemas.openxmlformats.org/officeDocument/2006/relationships/image" Target="../media/image39.jpg"/><Relationship Id="rId11" Type="http://schemas.openxmlformats.org/officeDocument/2006/relationships/image" Target="../media/image40.jpg"/><Relationship Id="rId12" Type="http://schemas.openxmlformats.org/officeDocument/2006/relationships/image" Target="../media/image41.jpg"/><Relationship Id="rId13" Type="http://schemas.openxmlformats.org/officeDocument/2006/relationships/image" Target="../media/image42.jpg"/><Relationship Id="rId14"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6.xml"/><Relationship Id="rId8" Type="http://schemas.openxmlformats.org/officeDocument/2006/relationships/image" Target="../media/image13.jpg"/><Relationship Id="rId9" Type="http://schemas.openxmlformats.org/officeDocument/2006/relationships/image" Target="../media/image50.png"/><Relationship Id="rId10"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xml"/><Relationship Id="rId4" Type="http://schemas.openxmlformats.org/officeDocument/2006/relationships/image" Target="../media/image36.png"/><Relationship Id="rId5"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7.xml"/><Relationship Id="rId4" Type="http://schemas.openxmlformats.org/officeDocument/2006/relationships/image" Target="../media/image36.png"/><Relationship Id="rId5"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5.png"/><Relationship Id="rId4"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9.png"/><Relationship Id="rId4"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8.xml"/><Relationship Id="rId4" Type="http://schemas.openxmlformats.org/officeDocument/2006/relationships/image" Target="../media/image36.png"/><Relationship Id="rId5"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1.png"/><Relationship Id="rId4"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2.png"/><Relationship Id="rId4" Type="http://schemas.openxmlformats.org/officeDocument/2006/relationships/notesSlide" Target="../notesSlides/notesSlide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9.xml"/><Relationship Id="rId4" Type="http://schemas.openxmlformats.org/officeDocument/2006/relationships/image" Target="../media/image36.png"/><Relationship Id="rId5"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6.png"/><Relationship Id="rId4"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7.png"/><Relationship Id="rId4" Type="http://schemas.openxmlformats.org/officeDocument/2006/relationships/notesSlide" Target="../notesSlides/notesSlide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4.xml"/><Relationship Id="rId4" Type="http://schemas.openxmlformats.org/officeDocument/2006/relationships/image" Target="../media/image36.png"/><Relationship Id="rId5"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alphaModFix amt="50000"/>
          </a:blip>
          <a:stretch>
            <a:fillRect/>
          </a:stretch>
        </p:blipFill>
        <p:spPr>
          <a:xfrm>
            <a:off x="0" y="0"/>
            <a:ext cx="12191969" cy="6858000"/>
          </a:xfrm>
          <a:prstGeom prst="rect">
            <a:avLst/>
          </a:prstGeom>
        </p:spPr>
      </p:pic>
      <p:sp>
        <p:nvSpPr>
          <p:cNvPr id="4" name="Rectangle 3"/>
          <p:cNvSpPr/>
          <p:nvPr/>
        </p:nvSpPr>
        <p:spPr>
          <a:xfrm>
            <a:off x="0" y="0"/>
            <a:ext cx="6858000" cy="6858000"/>
          </a:xfrm>
          <a:prstGeom prst="rect">
            <a:avLst/>
          </a:prstGeom>
          <a:gradFill rotWithShape="1">
            <a:gsLst>
              <a:gs pos="0">
                <a:srgbClr val="010A13">
                  <a:alpha val="92000"/>
                </a:srgbClr>
              </a:gs>
              <a:gs pos="100000">
                <a:srgbClr val="0A1428">
                  <a:alpha val="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960120"/>
            <a:ext cx="5577840" cy="5212080"/>
          </a:xfrm>
          <a:prstGeom prst="rect">
            <a:avLst/>
          </a:prstGeom>
          <a:solidFill>
            <a:srgbClr val="010A13">
              <a:alpha val="82000"/>
            </a:srgbClr>
          </a:solid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960120"/>
            <a:ext cx="5577840"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exagon 8"/>
          <p:cNvSpPr/>
          <p:nvPr/>
        </p:nvSpPr>
        <p:spPr>
          <a:xfrm rot="5400000">
            <a:off x="3063240" y="1234440"/>
            <a:ext cx="914400" cy="914400"/>
          </a:xfrm>
          <a:prstGeom prst="hexagon">
            <a:avLst/>
          </a:prstGeom>
          <a:solidFill>
            <a:srgbClr val="0F3D52"/>
          </a:solidFill>
          <a:ln w="222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267712"/>
            <a:ext cx="5358384" cy="256032"/>
          </a:xfrm>
          <a:prstGeom prst="rect">
            <a:avLst/>
          </a:prstGeom>
          <a:noFill/>
        </p:spPr>
        <p:txBody>
          <a:bodyPr wrap="square" anchor="t" lIns="0" rIns="0" tIns="0" bIns="0">
            <a:spAutoFit/>
          </a:bodyPr>
          <a:lstStyle/>
          <a:p>
            <a:pPr algn="ctr">
              <a:lnSpc>
                <a:spcPct val="125000"/>
              </a:lnSpc>
              <a:spcAft>
                <a:spcPts val="0"/>
              </a:spcAft>
            </a:pPr>
            <a:r>
              <a:rPr sz="1400" b="1" spc="350">
                <a:solidFill>
                  <a:srgbClr val="C89B3C"/>
                </a:solidFill>
                <a:latin typeface="맑은 고딕"/>
              </a:rPr>
              <a:t>LOL . EX</a:t>
            </a:r>
          </a:p>
        </p:txBody>
      </p:sp>
      <p:sp>
        <p:nvSpPr>
          <p:cNvPr id="11" name="TextBox 10"/>
          <p:cNvSpPr txBox="1"/>
          <p:nvPr/>
        </p:nvSpPr>
        <p:spPr>
          <a:xfrm>
            <a:off x="841248" y="2679192"/>
            <a:ext cx="5358384" cy="1115568"/>
          </a:xfrm>
          <a:prstGeom prst="rect">
            <a:avLst/>
          </a:prstGeom>
          <a:noFill/>
        </p:spPr>
        <p:txBody>
          <a:bodyPr wrap="square" anchor="t" lIns="0" rIns="0" tIns="0" bIns="0">
            <a:spAutoFit/>
          </a:bodyPr>
          <a:lstStyle/>
          <a:p>
            <a:pPr algn="ctr">
              <a:lnSpc>
                <a:spcPct val="124000"/>
              </a:lnSpc>
              <a:spcAft>
                <a:spcPts val="0"/>
              </a:spcAft>
            </a:pPr>
            <a:r>
              <a:rPr sz="3400" b="1" spc="50">
                <a:solidFill>
                  <a:srgbClr val="F0E6D2"/>
                </a:solidFill>
                <a:latin typeface="맑은 고딕"/>
              </a:rPr>
              <a:t>LoL 경기는</a:t>
            </a:r>
            <a:br>
              <a:rPr sz="3400" b="1" spc="50">
                <a:solidFill>
                  <a:srgbClr val="F0E6D2"/>
                </a:solidFill>
                <a:latin typeface="맑은 고딕"/>
              </a:rPr>
            </a:br>
            <a:r>
              <a:rPr sz="3400" b="1" spc="50">
                <a:solidFill>
                  <a:srgbClr val="F0E6D2"/>
                </a:solidFill>
                <a:latin typeface="맑은 고딕"/>
              </a:rPr>
              <a:t>언제 승부가 결정되는가?</a:t>
            </a:r>
          </a:p>
        </p:txBody>
      </p:sp>
      <p:sp>
        <p:nvSpPr>
          <p:cNvPr id="12" name="Rectangle 11"/>
          <p:cNvSpPr/>
          <p:nvPr/>
        </p:nvSpPr>
        <p:spPr>
          <a:xfrm>
            <a:off x="2903220" y="3968496"/>
            <a:ext cx="123444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33087"/>
            <a:ext cx="5120640" cy="566928"/>
          </a:xfrm>
          <a:prstGeom prst="rect">
            <a:avLst/>
          </a:prstGeom>
          <a:noFill/>
        </p:spPr>
        <p:txBody>
          <a:bodyPr wrap="square" anchor="t" lIns="0" rIns="0" tIns="0" bIns="0">
            <a:spAutoFit/>
          </a:bodyPr>
          <a:lstStyle/>
          <a:p>
            <a:pPr algn="ctr">
              <a:lnSpc>
                <a:spcPct val="135000"/>
              </a:lnSpc>
              <a:spcAft>
                <a:spcPts val="0"/>
              </a:spcAft>
            </a:pPr>
            <a:r>
              <a:rPr sz="1500" b="0">
                <a:solidFill>
                  <a:srgbClr val="B8B4A9"/>
                </a:solidFill>
                <a:latin typeface="맑은 고딕"/>
              </a:rPr>
              <a:t>인게임 시점별 경기 데이터 기반</a:t>
            </a:r>
            <a:br>
              <a:rPr sz="1500" b="0">
                <a:solidFill>
                  <a:srgbClr val="B8B4A9"/>
                </a:solidFill>
                <a:latin typeface="맑은 고딕"/>
              </a:rPr>
            </a:br>
            <a:r>
              <a:rPr sz="1500" b="0">
                <a:solidFill>
                  <a:srgbClr val="B8B4A9"/>
                </a:solidFill>
                <a:latin typeface="맑은 고딕"/>
              </a:rPr>
              <a:t>승패 예측 및 핵심 승리요인 분석</a:t>
            </a:r>
          </a:p>
        </p:txBody>
      </p:sp>
      <p:sp>
        <p:nvSpPr>
          <p:cNvPr id="14" name="Rectangle 13"/>
          <p:cNvSpPr/>
          <p:nvPr/>
        </p:nvSpPr>
        <p:spPr>
          <a:xfrm>
            <a:off x="1261872" y="4919472"/>
            <a:ext cx="4517136" cy="603504"/>
          </a:xfrm>
          <a:prstGeom prst="rect">
            <a:avLst/>
          </a:prstGeom>
          <a:solidFill>
            <a:srgbClr val="A48135">
              <a:alpha val="90000"/>
            </a:srgbClr>
          </a:solidFill>
          <a:ln w="2222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61872" y="4919472"/>
            <a:ext cx="4517136" cy="603504"/>
          </a:xfrm>
          <a:prstGeom prst="rect">
            <a:avLst/>
          </a:prstGeom>
          <a:noFill/>
        </p:spPr>
        <p:txBody>
          <a:bodyPr wrap="square" anchor="ctr" lIns="0" rIns="0" tIns="0" bIns="0">
            <a:spAutoFit/>
          </a:bodyPr>
          <a:lstStyle/>
          <a:p>
            <a:pPr algn="ctr">
              <a:lnSpc>
                <a:spcPct val="125000"/>
              </a:lnSpc>
              <a:spcAft>
                <a:spcPts val="0"/>
              </a:spcAft>
            </a:pPr>
            <a:r>
              <a:rPr sz="1800" b="1" spc="250">
                <a:solidFill>
                  <a:srgbClr val="F0E6D2"/>
                </a:solidFill>
                <a:latin typeface="맑은 고딕"/>
              </a:rPr>
              <a:t>게임 시작</a:t>
            </a:r>
          </a:p>
        </p:txBody>
      </p:sp>
      <p:sp>
        <p:nvSpPr>
          <p:cNvPr id="16" name="TextBox 15"/>
          <p:cNvSpPr txBox="1"/>
          <p:nvPr/>
        </p:nvSpPr>
        <p:spPr>
          <a:xfrm>
            <a:off x="841248" y="5724144"/>
            <a:ext cx="5358384" cy="219456"/>
          </a:xfrm>
          <a:prstGeom prst="rect">
            <a:avLst/>
          </a:prstGeom>
          <a:noFill/>
        </p:spPr>
        <p:txBody>
          <a:bodyPr wrap="square" anchor="t" lIns="0" rIns="0" tIns="0" bIns="0">
            <a:spAutoFit/>
          </a:bodyPr>
          <a:lstStyle/>
          <a:p>
            <a:pPr algn="ctr">
              <a:lnSpc>
                <a:spcPct val="125000"/>
              </a:lnSpc>
              <a:spcAft>
                <a:spcPts val="0"/>
              </a:spcAft>
            </a:pPr>
            <a:r>
              <a:rPr sz="1250" b="0" spc="100">
                <a:solidFill>
                  <a:srgbClr val="AE9B70"/>
                </a:solidFill>
                <a:latin typeface="맑은 고딕"/>
              </a:rPr>
              <a:t>4조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gameflow-background-dark.jpg"/>
          <p:cNvPicPr>
            <a:picLocks noChangeAspect="1"/>
          </p:cNvPicPr>
          <p:nvPr/>
        </p:nvPicPr>
        <p:blipFill>
          <a:blip r:embed="rId14"/>
          <a:stretch>
            <a:fillRect/>
          </a:stretch>
        </p:blipFill>
        <p:spPr>
          <a:xfrm>
            <a:off x="0" y="0"/>
            <a:ext cx="12191969" cy="6858000"/>
          </a:xfrm>
          <a:prstGeom prst="rect">
            <a:avLst/>
          </a:prstGeom>
        </p:spPr>
      </p:pic>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72824" y="530352"/>
            <a:ext cx="4846320" cy="630936"/>
          </a:xfrm>
          <a:prstGeom prst="rect">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3496161"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8485494"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9128" y="530352"/>
            <a:ext cx="4553712" cy="630936"/>
          </a:xfrm>
          <a:prstGeom prst="rect">
            <a:avLst/>
          </a:prstGeom>
          <a:noFill/>
        </p:spPr>
        <p:txBody>
          <a:bodyPr wrap="square" anchor="ctr" lIns="0" rIns="0" tIns="0" bIns="0">
            <a:spAutoFit/>
          </a:bodyPr>
          <a:lstStyle/>
          <a:p>
            <a:pPr algn="ctr">
              <a:lnSpc>
                <a:spcPct val="125000"/>
              </a:lnSpc>
              <a:spcAft>
                <a:spcPts val="0"/>
              </a:spcAft>
            </a:pPr>
            <a:r>
              <a:rPr sz="2800" b="1" spc="120">
                <a:solidFill>
                  <a:srgbClr val="F0E6D2"/>
                </a:solidFill>
                <a:latin typeface="맑은 고딕"/>
              </a:rPr>
              <a:t>4조 팀원소개</a:t>
            </a:r>
          </a:p>
        </p:txBody>
      </p:sp>
      <p:pic>
        <p:nvPicPr>
          <p:cNvPr id="64" name="Picture 63" descr="c_Ezreal_636.jpg"/>
          <p:cNvPicPr>
            <a:picLocks noChangeAspect="1"/>
          </p:cNvPicPr>
          <p:nvPr/>
        </p:nvPicPr>
        <p:blipFill>
          <a:blip r:embed="rId9"/>
          <a:stretch>
            <a:fillRect/>
          </a:stretch>
        </p:blipFill>
        <p:spPr>
          <a:xfrm>
            <a:off x="868680" y="1750000"/>
            <a:ext cx="1920240" cy="3017520"/>
          </a:xfrm>
          <a:prstGeom prst="rect">
            <a:avLst/>
          </a:prstGeom>
        </p:spPr>
      </p:pic>
      <p:sp>
        <p:nvSpPr>
          <p:cNvPr id="12" name="Rectangle 11"/>
          <p:cNvSpPr/>
          <p:nvPr/>
        </p:nvSpPr>
        <p:spPr>
          <a:xfrm>
            <a:off x="868680" y="1750000"/>
            <a:ext cx="1920240" cy="3017520"/>
          </a:xfrm>
          <a:prstGeom prst="rect">
            <a:avLst/>
          </a:prstGeom>
          <a:noFill/>
          <a:ln w="254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정상천</a:t>
            </a:r>
          </a:p>
        </p:txBody>
      </p:sp>
      <p:pic>
        <p:nvPicPr>
          <p:cNvPr id="65" name="Picture 64" descr="c_Yasuo_636.jpg"/>
          <p:cNvPicPr>
            <a:picLocks noChangeAspect="1"/>
          </p:cNvPicPr>
          <p:nvPr/>
        </p:nvPicPr>
        <p:blipFill>
          <a:blip r:embed="rId10"/>
          <a:stretch>
            <a:fillRect/>
          </a:stretch>
        </p:blipFill>
        <p:spPr>
          <a:xfrm>
            <a:off x="3697224" y="1750000"/>
            <a:ext cx="1920240" cy="3017520"/>
          </a:xfrm>
          <a:prstGeom prst="rect">
            <a:avLst/>
          </a:prstGeom>
        </p:spPr>
      </p:pic>
      <p:sp>
        <p:nvSpPr>
          <p:cNvPr id="19" name="Rectangle 18"/>
          <p:cNvSpPr/>
          <p:nvPr/>
        </p:nvSpPr>
        <p:spPr>
          <a:xfrm>
            <a:off x="3697224"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97224"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이제민</a:t>
            </a:r>
          </a:p>
        </p:txBody>
      </p:sp>
      <p:pic>
        <p:nvPicPr>
          <p:cNvPr id="66" name="Picture 65" descr="c_Lux_636.jpg"/>
          <p:cNvPicPr>
            <a:picLocks noChangeAspect="1"/>
          </p:cNvPicPr>
          <p:nvPr/>
        </p:nvPicPr>
        <p:blipFill>
          <a:blip r:embed="rId11"/>
          <a:stretch>
            <a:fillRect/>
          </a:stretch>
        </p:blipFill>
        <p:spPr>
          <a:xfrm>
            <a:off x="6525767" y="1750000"/>
            <a:ext cx="1920240" cy="3017520"/>
          </a:xfrm>
          <a:prstGeom prst="rect">
            <a:avLst/>
          </a:prstGeom>
        </p:spPr>
      </p:pic>
      <p:sp>
        <p:nvSpPr>
          <p:cNvPr id="26" name="Rectangle 25"/>
          <p:cNvSpPr/>
          <p:nvPr/>
        </p:nvSpPr>
        <p:spPr>
          <a:xfrm>
            <a:off x="6525767"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25767"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박예은</a:t>
            </a:r>
          </a:p>
        </p:txBody>
      </p:sp>
      <p:pic>
        <p:nvPicPr>
          <p:cNvPr id="67" name="Picture 66" descr="c_LeeSin_636.jpg"/>
          <p:cNvPicPr>
            <a:picLocks noChangeAspect="1"/>
          </p:cNvPicPr>
          <p:nvPr/>
        </p:nvPicPr>
        <p:blipFill>
          <a:blip r:embed="rId12"/>
          <a:stretch>
            <a:fillRect/>
          </a:stretch>
        </p:blipFill>
        <p:spPr>
          <a:xfrm>
            <a:off x="9354311" y="1750000"/>
            <a:ext cx="1920240" cy="3017520"/>
          </a:xfrm>
          <a:prstGeom prst="rect">
            <a:avLst/>
          </a:prstGeom>
        </p:spPr>
      </p:pic>
      <p:sp>
        <p:nvSpPr>
          <p:cNvPr id="33" name="Rectangle 32"/>
          <p:cNvSpPr/>
          <p:nvPr/>
        </p:nvSpPr>
        <p:spPr>
          <a:xfrm>
            <a:off x="9354311" y="1750000"/>
            <a:ext cx="1920240" cy="3017520"/>
          </a:xfrm>
          <a:prstGeom prst="rect">
            <a:avLst/>
          </a:prstGeom>
          <a:noFill/>
          <a:ln w="15875">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54311" y="4800000"/>
            <a:ext cx="1920240" cy="600000"/>
          </a:xfrm>
          <a:prstGeom prst="rect">
            <a:avLst/>
          </a:prstGeom>
          <a:noFill/>
        </p:spPr>
        <p:txBody>
          <a:bodyPr wrap="square" anchor="t" lIns="0" rIns="0" tIns="0" bIns="0">
            <a:spAutoFit/>
          </a:bodyPr>
          <a:lstStyle/>
          <a:p>
            <a:pPr algn="ctr">
              <a:lnSpc>
                <a:spcPct val="125000"/>
              </a:lnSpc>
              <a:spcAft>
                <a:spcPts val="0"/>
              </a:spcAft>
            </a:pPr>
            <a:r>
              <a:rPr sz="2700" b="1">
                <a:solidFill>
                  <a:srgbClr val="F0E6D2"/>
                </a:solidFill>
                <a:latin typeface="맑은 고딕"/>
              </a:rPr>
              <a:t>임의석</a:t>
            </a:r>
          </a:p>
        </p:txBody>
      </p:sp>
      <p:sp>
        <p:nvSpPr>
          <p:cNvPr id="49" name="Rectangle 48"/>
          <p:cNvSpPr/>
          <p:nvPr/>
        </p:nvSpPr>
        <p:spPr>
          <a:xfrm>
            <a:off x="868680"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8680"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8407"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2" name="Rectangle 51"/>
          <p:cNvSpPr/>
          <p:nvPr/>
        </p:nvSpPr>
        <p:spPr>
          <a:xfrm>
            <a:off x="3697224"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97224"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06952"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5" name="Rectangle 54"/>
          <p:cNvSpPr/>
          <p:nvPr/>
        </p:nvSpPr>
        <p:spPr>
          <a:xfrm>
            <a:off x="6525767"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25767"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35495"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58" name="Rectangle 57"/>
          <p:cNvSpPr/>
          <p:nvPr/>
        </p:nvSpPr>
        <p:spPr>
          <a:xfrm>
            <a:off x="9354311" y="5450000"/>
            <a:ext cx="1920240" cy="109728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354311" y="5450000"/>
            <a:ext cx="1920240" cy="32004"/>
          </a:xfrm>
          <a:prstGeom prst="rect">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64039" y="5486576"/>
            <a:ext cx="1700784" cy="1060704"/>
          </a:xfrm>
          <a:prstGeom prst="rect">
            <a:avLst/>
          </a:prstGeom>
          <a:noFill/>
        </p:spPr>
        <p:txBody>
          <a:bodyPr wrap="square" anchor="ctr" lIns="0" rIns="0" tIns="0" bIns="0">
            <a:spAutoFit/>
          </a:bodyPr>
          <a:lstStyle/>
          <a:p>
            <a:pPr algn="ctr">
              <a:lnSpc>
                <a:spcPct val="130000"/>
              </a:lnSpc>
              <a:spcAft>
                <a:spcPts val="0"/>
              </a:spcAft>
            </a:pPr>
            <a:r>
              <a:rPr sz="2300" b="0">
                <a:solidFill>
                  <a:srgbClr val="73726E"/>
                </a:solidFill>
                <a:latin typeface="맑은 고딕"/>
              </a:rPr>
              <a:t>업무 분장</a:t>
            </a:r>
          </a:p>
        </p:txBody>
      </p:sp>
      <p:sp>
        <p:nvSpPr>
          <p:cNvPr id="69" name="TextBox 68"/>
          <p:cNvSpPr txBox="1"/>
          <p:nvPr/>
        </p:nvSpPr>
        <p:spPr>
          <a:xfrm>
            <a:off x="10972800" y="6574536"/>
            <a:ext cx="868680" cy="201168"/>
          </a:xfrm>
          <a:prstGeom prst="rect">
            <a:avLst/>
          </a:prstGeom>
          <a:noFill/>
        </p:spPr>
        <p:txBody>
          <a:bodyPr wrap="square" anchor="ctr" lIns="0" rIns="0" tIns="0" bIns="0">
            <a:spAutoFit/>
          </a:bodyPr>
          <a:lstStyle/>
          <a:p>
            <a:pPr algn="r"/>
            <a:fld id="{1CACCC3C-4A82-4A37-951B-951CA975B863}" type="slidenum">
              <a:rPr lang="ko-KR" sz="950">
                <a:solidFill>
                  <a:srgbClr val="73726E"/>
                </a:solidFill>
                <a:latin typeface="맑은 고딕"/>
                <a:ea typeface="맑은 고딕"/>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ameflow-background-dark.jpg"/>
          <p:cNvPicPr>
            <a:picLocks noChangeAspect="1"/>
          </p:cNvPicPr>
          <p:nvPr/>
        </p:nvPicPr>
        <p:blipFill>
          <a:blip r:embed="rId3"/>
          <a:stretch>
            <a:fillRect/>
          </a:stretch>
        </p:blipFill>
        <p:spPr>
          <a:xfrm>
            <a:off x="0" y="0"/>
            <a:ext cx="12191969" cy="6858000"/>
          </a:xfrm>
          <a:prstGeom prst="rect">
            <a:avLst/>
          </a:prstGeom>
        </p:spPr>
      </p:pic>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72824" y="530352"/>
            <a:ext cx="4846320" cy="630936"/>
          </a:xfrm>
          <a:prstGeom prst="rect">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3496161"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8485494" y="530352"/>
            <a:ext cx="210312" cy="630936"/>
          </a:xfrm>
          <a:prstGeom prst="diamond">
            <a:avLst/>
          </a:prstGeom>
          <a:solidFill>
            <a:srgbClr val="3138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19128" y="530352"/>
            <a:ext cx="4553712" cy="630936"/>
          </a:xfrm>
          <a:prstGeom prst="rect">
            <a:avLst/>
          </a:prstGeom>
          <a:noFill/>
        </p:spPr>
        <p:txBody>
          <a:bodyPr wrap="square" anchor="ctr" lIns="0" rIns="0" tIns="0" bIns="0">
            <a:spAutoFit/>
          </a:bodyPr>
          <a:lstStyle/>
          <a:p>
            <a:pPr algn="ctr">
              <a:lnSpc>
                <a:spcPct val="125000"/>
              </a:lnSpc>
              <a:spcAft>
                <a:spcPts val="0"/>
              </a:spcAft>
            </a:pPr>
            <a:r>
              <a:rPr sz="2800" b="1" spc="120">
                <a:solidFill>
                  <a:srgbClr val="F0E6D2"/>
                </a:solidFill>
                <a:latin typeface="맑은 고딕"/>
              </a:rPr>
              <a:t>발표 순서</a:t>
            </a:r>
          </a:p>
        </p:txBody>
      </p:sp>
      <p:sp>
        <p:nvSpPr>
          <p:cNvPr id="10" name="Rectangle 9"/>
          <p:cNvSpPr/>
          <p:nvPr/>
        </p:nvSpPr>
        <p:spPr>
          <a:xfrm>
            <a:off x="868680" y="13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1350000"/>
            <a:ext cx="45720" cy="95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0000" y="15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000" y="15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1</a:t>
            </a:r>
          </a:p>
        </p:txBody>
      </p:sp>
      <p:sp>
        <p:nvSpPr>
          <p:cNvPr id="14" name="TextBox 13"/>
          <p:cNvSpPr txBox="1"/>
          <p:nvPr/>
        </p:nvSpPr>
        <p:spPr>
          <a:xfrm>
            <a:off x="1850000" y="13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데이터 검증 및 분석</a:t>
            </a:r>
          </a:p>
        </p:txBody>
      </p:sp>
      <p:sp>
        <p:nvSpPr>
          <p:cNvPr id="15" name="Diamond 14"/>
          <p:cNvSpPr/>
          <p:nvPr/>
        </p:nvSpPr>
        <p:spPr>
          <a:xfrm>
            <a:off x="7000000" y="18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000" y="13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검증 · 분할 · 시험지 봉인</a:t>
            </a:r>
          </a:p>
        </p:txBody>
      </p:sp>
      <p:sp>
        <p:nvSpPr>
          <p:cNvPr id="17" name="Rectangle 16"/>
          <p:cNvSpPr/>
          <p:nvPr/>
        </p:nvSpPr>
        <p:spPr>
          <a:xfrm>
            <a:off x="868680" y="240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240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0000" y="257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0000" y="257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2</a:t>
            </a:r>
          </a:p>
        </p:txBody>
      </p:sp>
      <p:sp>
        <p:nvSpPr>
          <p:cNvPr id="21" name="TextBox 20"/>
          <p:cNvSpPr txBox="1"/>
          <p:nvPr/>
        </p:nvSpPr>
        <p:spPr>
          <a:xfrm>
            <a:off x="1850000" y="240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1  |  승패 예측과 원인 분석</a:t>
            </a:r>
          </a:p>
        </p:txBody>
      </p:sp>
      <p:sp>
        <p:nvSpPr>
          <p:cNvPr id="22" name="Diamond 21"/>
          <p:cNvSpPr/>
          <p:nvPr/>
        </p:nvSpPr>
        <p:spPr>
          <a:xfrm>
            <a:off x="7000000" y="285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0000" y="240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10분 정보로 얼마나 맞히나 · 무엇이 승패를 가르나</a:t>
            </a:r>
          </a:p>
        </p:txBody>
      </p:sp>
      <p:sp>
        <p:nvSpPr>
          <p:cNvPr id="24" name="Rectangle 23"/>
          <p:cNvSpPr/>
          <p:nvPr/>
        </p:nvSpPr>
        <p:spPr>
          <a:xfrm>
            <a:off x="868680" y="34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345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0000" y="36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0000" y="36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3</a:t>
            </a:r>
          </a:p>
        </p:txBody>
      </p:sp>
      <p:sp>
        <p:nvSpPr>
          <p:cNvPr id="28" name="TextBox 27"/>
          <p:cNvSpPr txBox="1"/>
          <p:nvPr/>
        </p:nvSpPr>
        <p:spPr>
          <a:xfrm>
            <a:off x="1850000" y="34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2  |  문제 확인 : 재분석 및 군집화</a:t>
            </a:r>
          </a:p>
        </p:txBody>
      </p:sp>
      <p:sp>
        <p:nvSpPr>
          <p:cNvPr id="29" name="Diamond 28"/>
          <p:cNvSpPr/>
          <p:nvPr/>
        </p:nvSpPr>
        <p:spPr>
          <a:xfrm>
            <a:off x="7000000" y="39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50000" y="34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가중치가 왜 이상한가 · 원인은 무엇인가</a:t>
            </a:r>
            <a:br>
              <a:rPr sz="1250" b="0">
                <a:solidFill>
                  <a:srgbClr val="C8C5BC"/>
                </a:solidFill>
                <a:latin typeface="맑은 고딕"/>
              </a:rPr>
            </a:br>
            <a:r>
              <a:rPr sz="1800" b="0">
                <a:solidFill>
                  <a:srgbClr val="C8C5BC"/>
                </a:solidFill>
                <a:latin typeface="맑은 고딕"/>
              </a:rPr>
              <a:t>어떤 성격의 판이었나</a:t>
            </a:r>
          </a:p>
        </p:txBody>
      </p:sp>
      <p:sp>
        <p:nvSpPr>
          <p:cNvPr id="31" name="Rectangle 30"/>
          <p:cNvSpPr/>
          <p:nvPr/>
        </p:nvSpPr>
        <p:spPr>
          <a:xfrm>
            <a:off x="868680" y="450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8680" y="450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50000" y="467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0000" y="467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4</a:t>
            </a:r>
          </a:p>
        </p:txBody>
      </p:sp>
      <p:sp>
        <p:nvSpPr>
          <p:cNvPr id="35" name="TextBox 34"/>
          <p:cNvSpPr txBox="1"/>
          <p:nvPr/>
        </p:nvSpPr>
        <p:spPr>
          <a:xfrm>
            <a:off x="1850000" y="450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Phase 3  |  시점 비교 (10분 vs 15분)</a:t>
            </a:r>
          </a:p>
        </p:txBody>
      </p:sp>
      <p:sp>
        <p:nvSpPr>
          <p:cNvPr id="36" name="Diamond 35"/>
          <p:cNvSpPr/>
          <p:nvPr/>
        </p:nvSpPr>
        <p:spPr>
          <a:xfrm>
            <a:off x="7000000" y="495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50000" y="450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5분을 더 보면 무엇이 달라지나</a:t>
            </a:r>
          </a:p>
        </p:txBody>
      </p:sp>
      <p:sp>
        <p:nvSpPr>
          <p:cNvPr id="38" name="Rectangle 37"/>
          <p:cNvSpPr/>
          <p:nvPr/>
        </p:nvSpPr>
        <p:spPr>
          <a:xfrm>
            <a:off x="868680" y="5550000"/>
            <a:ext cx="10424160" cy="950000"/>
          </a:xfrm>
          <a:prstGeom prst="rect">
            <a:avLst/>
          </a:prstGeom>
          <a:solidFill>
            <a:srgbClr val="10223E">
              <a:alpha val="82000"/>
            </a:srgbClr>
          </a:solidFill>
          <a:ln w="12700">
            <a:solidFill>
              <a:srgbClr val="474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8680" y="5550000"/>
            <a:ext cx="45720" cy="950000"/>
          </a:xfrm>
          <a:prstGeom prst="rect">
            <a:avLst/>
          </a:prstGeom>
          <a:solidFill>
            <a:srgbClr val="786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50000" y="5725000"/>
            <a:ext cx="600000" cy="600000"/>
          </a:xfrm>
          <a:prstGeom prst="rect">
            <a:avLst/>
          </a:prstGeom>
          <a:solidFill>
            <a:srgbClr val="010A13">
              <a:alpha val="72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0000" y="5725000"/>
            <a:ext cx="600000" cy="600000"/>
          </a:xfrm>
          <a:prstGeom prst="rect">
            <a:avLst/>
          </a:prstGeom>
          <a:noFill/>
        </p:spPr>
        <p:txBody>
          <a:bodyPr wrap="square" anchor="ctr" lIns="0" rIns="0" tIns="0" bIns="0">
            <a:spAutoFit/>
          </a:bodyPr>
          <a:lstStyle/>
          <a:p>
            <a:pPr algn="ctr">
              <a:lnSpc>
                <a:spcPct val="125000"/>
              </a:lnSpc>
              <a:spcAft>
                <a:spcPts val="0"/>
              </a:spcAft>
            </a:pPr>
            <a:r>
              <a:rPr sz="2100" b="1" spc="100">
                <a:solidFill>
                  <a:srgbClr val="F0E6D2"/>
                </a:solidFill>
                <a:latin typeface="맑은 고딕"/>
              </a:rPr>
              <a:t>5</a:t>
            </a:r>
          </a:p>
        </p:txBody>
      </p:sp>
      <p:sp>
        <p:nvSpPr>
          <p:cNvPr id="42" name="TextBox 41"/>
          <p:cNvSpPr txBox="1"/>
          <p:nvPr/>
        </p:nvSpPr>
        <p:spPr>
          <a:xfrm>
            <a:off x="1850000" y="5550000"/>
            <a:ext cx="5050000" cy="950000"/>
          </a:xfrm>
          <a:prstGeom prst="rect">
            <a:avLst/>
          </a:prstGeom>
          <a:noFill/>
        </p:spPr>
        <p:txBody>
          <a:bodyPr wrap="square" anchor="ctr" lIns="0" rIns="0" tIns="0" bIns="0">
            <a:spAutoFit/>
          </a:bodyPr>
          <a:lstStyle/>
          <a:p>
            <a:pPr algn="l">
              <a:lnSpc>
                <a:spcPct val="125000"/>
              </a:lnSpc>
              <a:spcAft>
                <a:spcPts val="0"/>
              </a:spcAft>
            </a:pPr>
            <a:r>
              <a:rPr sz="2100" b="1" spc="60">
                <a:solidFill>
                  <a:srgbClr val="F0E6D2"/>
                </a:solidFill>
                <a:latin typeface="맑은 고딕"/>
              </a:rPr>
              <a:t>서비스 · 향후</a:t>
            </a:r>
          </a:p>
        </p:txBody>
      </p:sp>
      <p:sp>
        <p:nvSpPr>
          <p:cNvPr id="43" name="Diamond 42"/>
          <p:cNvSpPr/>
          <p:nvPr/>
        </p:nvSpPr>
        <p:spPr>
          <a:xfrm>
            <a:off x="7000000" y="6004426"/>
            <a:ext cx="41148" cy="41148"/>
          </a:xfrm>
          <a:prstGeom prst="diamond">
            <a:avLst/>
          </a:prstGeom>
          <a:solidFill>
            <a:srgbClr val="8F7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50000" y="5550000"/>
            <a:ext cx="4142840" cy="950000"/>
          </a:xfrm>
          <a:prstGeom prst="rect">
            <a:avLst/>
          </a:prstGeom>
          <a:noFill/>
        </p:spPr>
        <p:txBody>
          <a:bodyPr wrap="square" anchor="ctr" lIns="0" rIns="0" tIns="0" bIns="0">
            <a:spAutoFit/>
          </a:bodyPr>
          <a:lstStyle/>
          <a:p>
            <a:pPr algn="l">
              <a:lnSpc>
                <a:spcPct val="125000"/>
              </a:lnSpc>
              <a:spcAft>
                <a:spcPts val="0"/>
              </a:spcAft>
            </a:pPr>
            <a:r>
              <a:rPr sz="1800" b="0">
                <a:solidFill>
                  <a:srgbClr val="C8C5BC"/>
                </a:solidFill>
                <a:latin typeface="맑은 고딕"/>
              </a:rPr>
              <a:t>모델이 화면이 되기까지 · 다음에 할 것</a:t>
            </a:r>
          </a:p>
        </p:txBody>
      </p:sp>
      <p:sp>
        <p:nvSpPr>
          <p:cNvPr id="45" name="TextBox 44"/>
          <p:cNvSpPr txBox="1"/>
          <p:nvPr/>
        </p:nvSpPr>
        <p:spPr>
          <a:xfrm>
            <a:off x="10972800" y="6574536"/>
            <a:ext cx="868680" cy="201168"/>
          </a:xfrm>
          <a:prstGeom prst="rect">
            <a:avLst/>
          </a:prstGeom>
          <a:noFill/>
        </p:spPr>
        <p:txBody>
          <a:bodyPr wrap="square" anchor="ctr" lIns="0" rIns="0" tIns="0" bIns="0">
            <a:spAutoFit/>
          </a:bodyPr>
          <a:lstStyle/>
          <a:p>
            <a:pPr algn="r"/>
            <a:fld id="{014BF072-317D-4658-B4A3-97D511F1B695}" type="slidenum">
              <a:rPr lang="ko-KR" sz="950">
                <a:solidFill>
                  <a:srgbClr val="73726E"/>
                </a:solidFill>
                <a:latin typeface="맑은 고딕"/>
                <a:ea typeface="맑은 고딕"/>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진행 구조 — 3단계 설계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1" cy="2377440"/>
        </p:xfrm>
        <a:graphic>
          <a:graphicData uri="http://schemas.openxmlformats.org/drawingml/2006/table">
            <a:tbl>
              <a:tblPr>
                <a:tableStyleId>{5C22544A-7EE6-4342-B048-85BDC9FD1C3A}</a:tableStyleId>
              </a:tblPr>
              <a:tblGrid>
                <a:gridCol w="1191794"/>
                <a:gridCol w="2108559"/>
                <a:gridCol w="4217118"/>
                <a:gridCol w="3117000"/>
              </a:tblGrid>
              <a:tr h="402336">
                <a:tc>
                  <a:txBody>
                    <a:bodyPr/>
                    <a:lstStyle/>
                    <a:p>
                      <a:pPr algn="l"/>
                      <a:r>
                        <a:rPr sz="1150" b="1">
                          <a:solidFill>
                            <a:srgbClr val="F0E6D2"/>
                          </a:solidFill>
                          <a:latin typeface="맑은 고딕"/>
                        </a:rPr>
                        <a:t/>
                      </a:r>
                    </a:p>
                  </a:txBody>
                  <a:tcPr marL="91440" marR="91440" anchor="ctr">
                    <a:solidFill>
                      <a:srgbClr val="3C3F3E"/>
                    </a:solidFill>
                  </a:tcPr>
                </a:tc>
                <a:tc>
                  <a:txBody>
                    <a:bodyPr/>
                    <a:lstStyle/>
                    <a:p>
                      <a:pPr algn="ctr"/>
                      <a:r>
                        <a:rPr sz="1150" b="1">
                          <a:solidFill>
                            <a:srgbClr val="F0E6D2"/>
                          </a:solidFill>
                          <a:latin typeface="맑은 고딕"/>
                        </a:rPr>
                        <a:t>단계</a:t>
                      </a:r>
                    </a:p>
                  </a:txBody>
                  <a:tcPr marL="91440" marR="91440" anchor="ctr">
                    <a:solidFill>
                      <a:srgbClr val="3C3F3E"/>
                    </a:solidFill>
                  </a:tcPr>
                </a:tc>
                <a:tc>
                  <a:txBody>
                    <a:bodyPr/>
                    <a:lstStyle/>
                    <a:p>
                      <a:pPr algn="ctr"/>
                      <a:r>
                        <a:rPr sz="1150" b="1">
                          <a:solidFill>
                            <a:srgbClr val="F0E6D2"/>
                          </a:solidFill>
                          <a:latin typeface="맑은 고딕"/>
                        </a:rPr>
                        <a:t>한 일</a:t>
                      </a:r>
                    </a:p>
                  </a:txBody>
                  <a:tcPr marL="91440" marR="91440" anchor="ctr">
                    <a:solidFill>
                      <a:srgbClr val="3C3F3E"/>
                    </a:solidFill>
                  </a:tcPr>
                </a:tc>
                <a:tc>
                  <a:txBody>
                    <a:bodyPr/>
                    <a:lstStyle/>
                    <a:p>
                      <a:pPr algn="ctr"/>
                      <a:r>
                        <a:rPr sz="1150" b="1">
                          <a:solidFill>
                            <a:srgbClr val="F0E6D2"/>
                          </a:solidFill>
                          <a:latin typeface="맑은 고딕"/>
                        </a:rPr>
                        <a:t>답하는 질문</a:t>
                      </a:r>
                    </a:p>
                  </a:txBody>
                  <a:tcPr marL="91440" marR="91440" anchor="ctr">
                    <a:solidFill>
                      <a:srgbClr val="3C3F3E"/>
                    </a:solidFill>
                  </a:tcPr>
                </a:tc>
              </a:tr>
              <a:tr h="658368">
                <a:tc>
                  <a:txBody>
                    <a:bodyPr/>
                    <a:lstStyle/>
                    <a:p>
                      <a:pPr algn="l"/>
                      <a:r>
                        <a:rPr sz="1150" b="0">
                          <a:solidFill>
                            <a:srgbClr val="C1BEB4"/>
                          </a:solidFill>
                          <a:latin typeface="맑은 고딕"/>
                        </a:rPr>
                        <a:t>Phase 1</a:t>
                      </a:r>
                    </a:p>
                  </a:txBody>
                  <a:tcPr marL="91440" marR="91440" anchor="ctr">
                    <a:solidFill>
                      <a:srgbClr val="10223E"/>
                    </a:solidFill>
                  </a:tcPr>
                </a:tc>
                <a:tc>
                  <a:txBody>
                    <a:bodyPr/>
                    <a:lstStyle/>
                    <a:p>
                      <a:pPr algn="ctr"/>
                      <a:r>
                        <a:rPr sz="1150" b="0">
                          <a:solidFill>
                            <a:srgbClr val="C1BEB4"/>
                          </a:solidFill>
                          <a:latin typeface="맑은 고딕"/>
                        </a:rPr>
                        <a:t>승패 예측과 원인 분석</a:t>
                      </a:r>
                    </a:p>
                  </a:txBody>
                  <a:tcPr marL="91440" marR="91440" anchor="ctr">
                    <a:solidFill>
                      <a:srgbClr val="10223E"/>
                    </a:solidFill>
                  </a:tcPr>
                </a:tc>
                <a:tc>
                  <a:txBody>
                    <a:bodyPr/>
                    <a:lstStyle/>
                    <a:p>
                      <a:pPr algn="ctr"/>
                      <a:r>
                        <a:rPr sz="1150" b="0">
                          <a:solidFill>
                            <a:srgbClr val="C1BEB4"/>
                          </a:solidFill>
                          <a:latin typeface="맑은 고딕"/>
                        </a:rPr>
                        <a:t>데이터를 검증·정리하고, 모델 8종을 비교해 학습하고,</a:t>
                      </a:r>
                      <a:br>
                        <a:rPr sz="1150" b="0">
                          <a:solidFill>
                            <a:srgbClr val="C1BEB4"/>
                          </a:solidFill>
                          <a:latin typeface="맑은 고딕"/>
                        </a:rPr>
                      </a:br>
                      <a:r>
                        <a:rPr sz="1150" b="0">
                          <a:solidFill>
                            <a:srgbClr val="C1BEB4"/>
                          </a:solidFill>
                          <a:latin typeface="맑은 고딕"/>
                        </a:rPr>
                        <a:t>무엇이 승패를 갈랐는지 해석</a:t>
                      </a:r>
                    </a:p>
                  </a:txBody>
                  <a:tcPr marL="91440" marR="91440" anchor="ctr">
                    <a:solidFill>
                      <a:srgbClr val="10223E"/>
                    </a:solidFill>
                  </a:tcPr>
                </a:tc>
                <a:tc>
                  <a:txBody>
                    <a:bodyPr/>
                    <a:lstStyle/>
                    <a:p>
                      <a:pPr algn="ctr"/>
                      <a:r>
                        <a:rPr sz="1150" b="0">
                          <a:solidFill>
                            <a:srgbClr val="C1BEB4"/>
                          </a:solidFill>
                          <a:latin typeface="맑은 고딕"/>
                        </a:rPr>
                        <a:t>10분 정보로 얼마나 맞히나?</a:t>
                      </a:r>
                      <a:br>
                        <a:rPr sz="1150" b="0">
                          <a:solidFill>
                            <a:srgbClr val="C1BEB4"/>
                          </a:solidFill>
                          <a:latin typeface="맑은 고딕"/>
                        </a:rPr>
                      </a:br>
                      <a:r>
                        <a:rPr sz="1150" b="0">
                          <a:solidFill>
                            <a:srgbClr val="C1BEB4"/>
                          </a:solidFill>
                          <a:latin typeface="맑은 고딕"/>
                        </a:rPr>
                        <a:t>무엇이 승패를 가르나?</a:t>
                      </a:r>
                    </a:p>
                  </a:txBody>
                  <a:tcPr marL="91440" marR="91440" anchor="ctr">
                    <a:solidFill>
                      <a:srgbClr val="10223E"/>
                    </a:solidFill>
                  </a:tcPr>
                </a:tc>
              </a:tr>
              <a:tr h="658368">
                <a:tc>
                  <a:txBody>
                    <a:bodyPr/>
                    <a:lstStyle/>
                    <a:p>
                      <a:pPr algn="l"/>
                      <a:r>
                        <a:rPr sz="1150" b="0">
                          <a:solidFill>
                            <a:srgbClr val="C1BEB4"/>
                          </a:solidFill>
                          <a:latin typeface="맑은 고딕"/>
                        </a:rPr>
                        <a:t>Phase 2</a:t>
                      </a:r>
                    </a:p>
                  </a:txBody>
                  <a:tcPr marL="91440" marR="91440" anchor="ctr">
                    <a:solidFill>
                      <a:srgbClr val="09172B"/>
                    </a:solidFill>
                  </a:tcPr>
                </a:tc>
                <a:tc>
                  <a:txBody>
                    <a:bodyPr/>
                    <a:lstStyle/>
                    <a:p>
                      <a:pPr algn="ctr"/>
                      <a:r>
                        <a:rPr sz="1150" b="0">
                          <a:solidFill>
                            <a:srgbClr val="C1BEB4"/>
                          </a:solidFill>
                          <a:latin typeface="맑은 고딕"/>
                        </a:rPr>
                        <a:t>골드를 빼고 재분석</a:t>
                      </a:r>
                    </a:p>
                  </a:txBody>
                  <a:tcPr marL="91440" marR="91440" anchor="ctr">
                    <a:solidFill>
                      <a:srgbClr val="09172B"/>
                    </a:solidFill>
                  </a:tcPr>
                </a:tc>
                <a:tc>
                  <a:txBody>
                    <a:bodyPr/>
                    <a:lstStyle/>
                    <a:p>
                      <a:pPr algn="ctr"/>
                      <a:r>
                        <a:rPr sz="1150" b="0">
                          <a:solidFill>
                            <a:srgbClr val="C1BEB4"/>
                          </a:solidFill>
                          <a:latin typeface="맑은 고딕"/>
                        </a:rPr>
                        <a:t>시각화에서 상관이 유난히 강한 지표를 발견하고,</a:t>
                      </a:r>
                      <a:br>
                        <a:rPr sz="1150" b="0">
                          <a:solidFill>
                            <a:srgbClr val="C1BEB4"/>
                          </a:solidFill>
                          <a:latin typeface="맑은 고딕"/>
                        </a:rPr>
                      </a:br>
                      <a:r>
                        <a:rPr sz="1150" b="0">
                          <a:solidFill>
                            <a:srgbClr val="C1BEB4"/>
                          </a:solidFill>
                          <a:latin typeface="맑은 고딕"/>
                        </a:rPr>
                        <a:t>그 지표를 빼고 다시 학습해 비교</a:t>
                      </a:r>
                    </a:p>
                  </a:txBody>
                  <a:tcPr marL="91440" marR="91440" anchor="ctr">
                    <a:solidFill>
                      <a:srgbClr val="09172B"/>
                    </a:solidFill>
                  </a:tcPr>
                </a:tc>
                <a:tc>
                  <a:txBody>
                    <a:bodyPr/>
                    <a:lstStyle/>
                    <a:p>
                      <a:pPr algn="ctr"/>
                      <a:r>
                        <a:rPr sz="1150" b="0">
                          <a:solidFill>
                            <a:srgbClr val="C1BEB4"/>
                          </a:solidFill>
                          <a:latin typeface="맑은 고딕"/>
                        </a:rPr>
                        <a:t>가중치가 왜 이상하게 나왔나?</a:t>
                      </a:r>
                      <a:br>
                        <a:rPr sz="1150" b="0">
                          <a:solidFill>
                            <a:srgbClr val="C1BEB4"/>
                          </a:solidFill>
                          <a:latin typeface="맑은 고딕"/>
                        </a:rPr>
                      </a:br>
                      <a:r>
                        <a:rPr sz="1150" b="0">
                          <a:solidFill>
                            <a:srgbClr val="C1BEB4"/>
                          </a:solidFill>
                          <a:latin typeface="맑은 고딕"/>
                        </a:rPr>
                        <a:t>빼면 무엇이 달라지나?</a:t>
                      </a:r>
                    </a:p>
                  </a:txBody>
                  <a:tcPr marL="91440" marR="91440" anchor="ctr">
                    <a:solidFill>
                      <a:srgbClr val="09172B"/>
                    </a:solidFill>
                  </a:tcPr>
                </a:tc>
              </a:tr>
              <a:tr h="658368">
                <a:tc>
                  <a:txBody>
                    <a:bodyPr/>
                    <a:lstStyle/>
                    <a:p>
                      <a:pPr algn="l"/>
                      <a:r>
                        <a:rPr sz="1150" b="0">
                          <a:solidFill>
                            <a:srgbClr val="C1BEB4"/>
                          </a:solidFill>
                          <a:latin typeface="맑은 고딕"/>
                        </a:rPr>
                        <a:t>Phase 3</a:t>
                      </a:r>
                    </a:p>
                  </a:txBody>
                  <a:tcPr marL="91440" marR="91440" anchor="ctr">
                    <a:solidFill>
                      <a:srgbClr val="10223E"/>
                    </a:solidFill>
                  </a:tcPr>
                </a:tc>
                <a:tc>
                  <a:txBody>
                    <a:bodyPr/>
                    <a:lstStyle/>
                    <a:p>
                      <a:pPr algn="ctr"/>
                      <a:r>
                        <a:rPr sz="1150" b="0">
                          <a:solidFill>
                            <a:srgbClr val="C1BEB4"/>
                          </a:solidFill>
                          <a:latin typeface="맑은 고딕"/>
                        </a:rPr>
                        <a:t>시점 비교</a:t>
                      </a:r>
                    </a:p>
                  </a:txBody>
                  <a:tcPr marL="91440" marR="91440" anchor="ctr">
                    <a:solidFill>
                      <a:srgbClr val="10223E"/>
                    </a:solidFill>
                  </a:tcPr>
                </a:tc>
                <a:tc>
                  <a:txBody>
                    <a:bodyPr/>
                    <a:lstStyle/>
                    <a:p>
                      <a:pPr algn="ctr"/>
                      <a:r>
                        <a:rPr sz="1150" b="0">
                          <a:solidFill>
                            <a:srgbClr val="C1BEB4"/>
                          </a:solidFill>
                          <a:latin typeface="맑은 고딕"/>
                        </a:rPr>
                        <a:t>추가 데이터로 10분 모델과 15분 모델을 같은 조건에서 비교</a:t>
                      </a:r>
                    </a:p>
                  </a:txBody>
                  <a:tcPr marL="91440" marR="91440" anchor="ctr">
                    <a:solidFill>
                      <a:srgbClr val="10223E"/>
                    </a:solidFill>
                  </a:tcPr>
                </a:tc>
                <a:tc>
                  <a:txBody>
                    <a:bodyPr/>
                    <a:lstStyle/>
                    <a:p>
                      <a:pPr algn="ctr"/>
                      <a:r>
                        <a:rPr sz="1150" b="0">
                          <a:solidFill>
                            <a:srgbClr val="C1BEB4"/>
                          </a:solidFill>
                          <a:latin typeface="맑은 고딕"/>
                        </a:rPr>
                        <a:t>5분을 더 보면 무엇이 달라지나?</a:t>
                      </a:r>
                    </a:p>
                  </a:txBody>
                  <a:tcPr marL="91440" marR="91440" anchor="ctr">
                    <a:solidFill>
                      <a:srgbClr val="10223E"/>
                    </a:solidFill>
                  </a:tcPr>
                </a:tc>
              </a:tr>
            </a:tbl>
          </a:graphicData>
        </a:graphic>
      </p:graphicFrame>
      <p:sp>
        <p:nvSpPr>
          <p:cNvPr id="16" name="TextBox 15"/>
          <p:cNvSpPr txBox="1"/>
          <p:nvPr/>
        </p:nvSpPr>
        <p:spPr>
          <a:xfrm>
            <a:off x="777240" y="4093076"/>
            <a:ext cx="10607040" cy="2039111"/>
          </a:xfrm>
          <a:prstGeom prst="rect">
            <a:avLst/>
          </a:prstGeom>
          <a:noFill/>
        </p:spPr>
        <p:txBody>
          <a:bodyPr wrap="square" anchor="t" lIns="0" rIns="0" tIns="0" bIns="0">
            <a:spAutoFit/>
          </a:bodyPr>
          <a:lstStyle/>
          <a:p>
            <a:pPr algn="l">
              <a:lnSpc>
                <a:spcPct val="132000"/>
              </a:lnSpc>
              <a:spcAft>
                <a:spcPts val="700"/>
              </a:spcAft>
            </a:pPr>
            <a:r>
              <a:rPr sz="1250" b="0">
                <a:solidFill>
                  <a:srgbClr val="C8C5BC"/>
                </a:solidFill>
                <a:latin typeface="맑은 고딕"/>
              </a:rPr>
              <a:t>•  Phase 1 — 10분 정보로 승패를 맞히고, 무엇이 가르는지 본다</a:t>
            </a:r>
          </a:p>
          <a:p>
            <a:pPr algn="l">
              <a:lnSpc>
                <a:spcPct val="132000"/>
              </a:lnSpc>
              <a:spcAft>
                <a:spcPts val="700"/>
              </a:spcAft>
            </a:pPr>
            <a:r>
              <a:rPr sz="1250" b="1">
                <a:solidFill>
                  <a:srgbClr val="F0E6D2"/>
                </a:solidFill>
                <a:latin typeface="맑은 고딕"/>
              </a:rPr>
              <a:t>◆  그런데 가중치에 이상한 곳이 보인다 → Phase 2의 질문</a:t>
            </a:r>
          </a:p>
          <a:p>
            <a:pPr algn="l">
              <a:lnSpc>
                <a:spcPct val="132000"/>
              </a:lnSpc>
              <a:spcAft>
                <a:spcPts val="700"/>
              </a:spcAft>
            </a:pPr>
            <a:r>
              <a:rPr sz="1250" b="0">
                <a:solidFill>
                  <a:srgbClr val="C8C5BC"/>
                </a:solidFill>
                <a:latin typeface="맑은 고딕"/>
              </a:rPr>
              <a:t>•  Phase 2 — 왜 그런지 원인을 파고든다</a:t>
            </a:r>
          </a:p>
          <a:p>
            <a:pPr algn="l">
              <a:lnSpc>
                <a:spcPct val="132000"/>
              </a:lnSpc>
              <a:spcAft>
                <a:spcPts val="700"/>
              </a:spcAft>
            </a:pPr>
            <a:r>
              <a:rPr sz="1250" b="1">
                <a:solidFill>
                  <a:srgbClr val="F0E6D2"/>
                </a:solidFill>
                <a:latin typeface="맑은 고딕"/>
              </a:rPr>
              <a:t>◆  10분 안에서 안 오르는 상한 → 시점을 바꾸는 Phase 3</a:t>
            </a:r>
          </a:p>
        </p:txBody>
      </p:sp>
      <p:sp>
        <p:nvSpPr>
          <p:cNvPr id="17" name="TextBox 16"/>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a:t>
            </a:r>
          </a:p>
        </p:txBody>
      </p:sp>
      <p:sp>
        <p:nvSpPr>
          <p:cNvPr id="18" name="TextBox 17"/>
          <p:cNvSpPr txBox="1"/>
          <p:nvPr/>
        </p:nvSpPr>
        <p:spPr>
          <a:xfrm>
            <a:off x="10972800" y="6574536"/>
            <a:ext cx="868680" cy="201168"/>
          </a:xfrm>
          <a:prstGeom prst="rect">
            <a:avLst/>
          </a:prstGeom>
          <a:noFill/>
        </p:spPr>
        <p:txBody>
          <a:bodyPr wrap="square" anchor="ctr" lIns="0" rIns="0" tIns="0" bIns="0">
            <a:spAutoFit/>
          </a:bodyPr>
          <a:lstStyle/>
          <a:p>
            <a:pPr algn="r"/>
            <a:fld id="{EF9C4F39-962C-49D9-A5DB-E168070AD03D}" type="slidenum">
              <a:rPr lang="ko-KR" sz="950">
                <a:solidFill>
                  <a:srgbClr val="73726E"/>
                </a:solidFill>
                <a:latin typeface="맑은 고딕"/>
                <a:ea typeface="맑은 고딕"/>
              </a:rPr>
              <a:t>16</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게임 기초 — 30초 요약</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골드  ( 돈 )</a:t>
            </a:r>
          </a:p>
          <a:p>
            <a:pPr algn="l">
              <a:lnSpc>
                <a:spcPct val="132000"/>
              </a:lnSpc>
              <a:spcAft>
                <a:spcPts val="0"/>
              </a:spcAft>
            </a:pPr>
            <a:r>
              <a:rPr sz="1100" b="0">
                <a:solidFill>
                  <a:srgbClr val="C8C5BC"/>
                </a:solidFill>
                <a:latin typeface="맑은 고딕"/>
              </a:rPr>
              <a:t>장비를 사는 재화.</a:t>
            </a:r>
            <a:br>
              <a:rPr sz="1100" b="0">
                <a:solidFill>
                  <a:srgbClr val="C8C5BC"/>
                </a:solidFill>
                <a:latin typeface="맑은 고딕"/>
              </a:rPr>
            </a:br>
            <a:r>
              <a:rPr sz="1100" b="0">
                <a:solidFill>
                  <a:srgbClr val="C8C5BC"/>
                </a:solidFill>
                <a:latin typeface="맑은 고딕"/>
              </a:rPr>
              <a:t>이 게임의 모든 활약이 결국</a:t>
            </a:r>
            <a:br>
              <a:rPr sz="1100" b="0">
                <a:solidFill>
                  <a:srgbClr val="C8C5BC"/>
                </a:solidFill>
                <a:latin typeface="맑은 고딕"/>
              </a:rPr>
            </a:br>
            <a:r>
              <a:rPr sz="1100" b="0">
                <a:solidFill>
                  <a:srgbClr val="C8C5BC"/>
                </a:solidFill>
                <a:latin typeface="맑은 고딕"/>
              </a:rPr>
              <a:t>여기로 모인다</a:t>
            </a:r>
          </a:p>
        </p:txBody>
      </p:sp>
      <p:pic>
        <p:nvPicPr>
          <p:cNvPr id="18" name="Picture 17" descr="item_sword.png"/>
          <p:cNvPicPr>
            <a:picLocks noChangeAspect="1"/>
          </p:cNvPicPr>
          <p:nvPr/>
        </p:nvPicPr>
        <p:blipFill>
          <a:blip r:embed="rId3"/>
          <a:stretch>
            <a:fillRect/>
          </a:stretch>
        </p:blipFill>
        <p:spPr>
          <a:xfrm>
            <a:off x="1837943" y="2975709"/>
            <a:ext cx="402336" cy="402336"/>
          </a:xfrm>
          <a:prstGeom prst="rect">
            <a:avLst/>
          </a:prstGeom>
        </p:spPr>
      </p:pic>
      <p:sp>
        <p:nvSpPr>
          <p:cNvPr id="19" name="Rectangle 18"/>
          <p:cNvSpPr/>
          <p:nvPr/>
        </p:nvSpPr>
        <p:spPr>
          <a:xfrm>
            <a:off x="3465576"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65576"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3320"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미니언  ( CS )</a:t>
            </a:r>
          </a:p>
          <a:p>
            <a:pPr algn="l">
              <a:lnSpc>
                <a:spcPct val="132000"/>
              </a:lnSpc>
              <a:spcAft>
                <a:spcPts val="0"/>
              </a:spcAft>
            </a:pPr>
            <a:r>
              <a:rPr sz="1100" b="0">
                <a:solidFill>
                  <a:srgbClr val="C8C5BC"/>
                </a:solidFill>
                <a:latin typeface="맑은 고딕"/>
              </a:rPr>
              <a:t>잡으면 돈을 주는 잔챙이.</a:t>
            </a:r>
            <a:br>
              <a:rPr sz="1100" b="0">
                <a:solidFill>
                  <a:srgbClr val="C8C5BC"/>
                </a:solidFill>
                <a:latin typeface="맑은 고딕"/>
              </a:rPr>
            </a:br>
            <a:r>
              <a:rPr sz="1100" b="0">
                <a:solidFill>
                  <a:srgbClr val="C8C5BC"/>
                </a:solidFill>
                <a:latin typeface="맑은 고딕"/>
              </a:rPr>
              <a:t>돈의 주 수입원 —</a:t>
            </a:r>
            <a:br>
              <a:rPr sz="1100" b="0">
                <a:solidFill>
                  <a:srgbClr val="C8C5BC"/>
                </a:solidFill>
                <a:latin typeface="맑은 고딕"/>
              </a:rPr>
            </a:br>
            <a:r>
              <a:rPr sz="1100" b="0">
                <a:solidFill>
                  <a:srgbClr val="C8C5BC"/>
                </a:solidFill>
                <a:latin typeface="맑은 고딕"/>
              </a:rPr>
              <a:t>싸움 없이도 돈이 앞선다</a:t>
            </a:r>
          </a:p>
        </p:txBody>
      </p:sp>
      <p:pic>
        <p:nvPicPr>
          <p:cNvPr id="22" name="Picture 21" descr="minion_melee.png"/>
          <p:cNvPicPr>
            <a:picLocks noChangeAspect="1"/>
          </p:cNvPicPr>
          <p:nvPr/>
        </p:nvPicPr>
        <p:blipFill>
          <a:blip r:embed="rId4"/>
          <a:stretch>
            <a:fillRect/>
          </a:stretch>
        </p:blipFill>
        <p:spPr>
          <a:xfrm>
            <a:off x="4526280" y="2975709"/>
            <a:ext cx="402336" cy="402336"/>
          </a:xfrm>
          <a:prstGeom prst="rect">
            <a:avLst/>
          </a:prstGeom>
        </p:spPr>
      </p:pic>
      <p:sp>
        <p:nvSpPr>
          <p:cNvPr id="23" name="Rectangle 22"/>
          <p:cNvSpPr/>
          <p:nvPr/>
        </p:nvSpPr>
        <p:spPr>
          <a:xfrm>
            <a:off x="6153912"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3912"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5"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경험치  ( 레벨 )</a:t>
            </a:r>
          </a:p>
          <a:p>
            <a:pPr algn="l">
              <a:lnSpc>
                <a:spcPct val="132000"/>
              </a:lnSpc>
              <a:spcAft>
                <a:spcPts val="0"/>
              </a:spcAft>
            </a:pPr>
            <a:r>
              <a:rPr sz="1100" b="0">
                <a:solidFill>
                  <a:srgbClr val="C8C5BC"/>
                </a:solidFill>
                <a:latin typeface="맑은 고딕"/>
              </a:rPr>
              <a:t>레벨이 오르면 스킬이 강해진다.</a:t>
            </a:r>
          </a:p>
        </p:txBody>
      </p:sp>
      <p:sp>
        <p:nvSpPr>
          <p:cNvPr id="26" name="Rectangle 25"/>
          <p:cNvSpPr/>
          <p:nvPr/>
        </p:nvSpPr>
        <p:spPr>
          <a:xfrm>
            <a:off x="8842248" y="1280160"/>
            <a:ext cx="2523744" cy="210312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42248" y="1280160"/>
            <a:ext cx="41148" cy="21031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9992" y="1477316"/>
            <a:ext cx="2048256" cy="1353312"/>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드래곤 · 전령  ( 오브젝트 )</a:t>
            </a:r>
          </a:p>
          <a:p>
            <a:pPr algn="l">
              <a:lnSpc>
                <a:spcPct val="132000"/>
              </a:lnSpc>
              <a:spcAft>
                <a:spcPts val="0"/>
              </a:spcAft>
            </a:pPr>
            <a:r>
              <a:rPr sz="1100" b="0">
                <a:solidFill>
                  <a:srgbClr val="C8C5BC"/>
                </a:solidFill>
                <a:latin typeface="맑은 고딕"/>
              </a:rPr>
              <a:t>맵의 중립 목표물.</a:t>
            </a:r>
            <a:br>
              <a:rPr sz="1100" b="0">
                <a:solidFill>
                  <a:srgbClr val="C8C5BC"/>
                </a:solidFill>
                <a:latin typeface="맑은 고딕"/>
              </a:rPr>
            </a:br>
            <a:r>
              <a:rPr sz="1100" b="0">
                <a:solidFill>
                  <a:srgbClr val="C8C5BC"/>
                </a:solidFill>
                <a:latin typeface="맑은 고딕"/>
              </a:rPr>
              <a:t>드래곤은 팀 전체가 강해지고</a:t>
            </a:r>
            <a:br>
              <a:rPr sz="1100" b="0">
                <a:solidFill>
                  <a:srgbClr val="C8C5BC"/>
                </a:solidFill>
                <a:latin typeface="맑은 고딕"/>
              </a:rPr>
            </a:br>
            <a:r>
              <a:rPr sz="1100" b="0">
                <a:solidFill>
                  <a:srgbClr val="C8C5BC"/>
                </a:solidFill>
                <a:latin typeface="맑은 고딕"/>
              </a:rPr>
              <a:t>전령은 타워를 미는 데 쓴다</a:t>
            </a:r>
          </a:p>
        </p:txBody>
      </p:sp>
      <p:pic>
        <p:nvPicPr>
          <p:cNvPr id="29" name="Picture 28" descr="obj_dragon.png"/>
          <p:cNvPicPr>
            <a:picLocks noChangeAspect="1"/>
          </p:cNvPicPr>
          <p:nvPr/>
        </p:nvPicPr>
        <p:blipFill>
          <a:blip r:embed="rId5"/>
          <a:stretch>
            <a:fillRect/>
          </a:stretch>
        </p:blipFill>
        <p:spPr>
          <a:xfrm>
            <a:off x="9646920" y="2975709"/>
            <a:ext cx="402336" cy="402336"/>
          </a:xfrm>
          <a:prstGeom prst="rect">
            <a:avLst/>
          </a:prstGeom>
        </p:spPr>
      </p:pic>
      <p:pic>
        <p:nvPicPr>
          <p:cNvPr id="30" name="Picture 29" descr="obj_herald.png"/>
          <p:cNvPicPr>
            <a:picLocks noChangeAspect="1"/>
          </p:cNvPicPr>
          <p:nvPr/>
        </p:nvPicPr>
        <p:blipFill>
          <a:blip r:embed="rId6"/>
          <a:stretch>
            <a:fillRect/>
          </a:stretch>
        </p:blipFill>
        <p:spPr>
          <a:xfrm>
            <a:off x="10158984" y="2975709"/>
            <a:ext cx="402336" cy="402336"/>
          </a:xfrm>
          <a:prstGeom prst="rect">
            <a:avLst/>
          </a:prstGeom>
        </p:spPr>
      </p:pic>
      <p:sp>
        <p:nvSpPr>
          <p:cNvPr id="31" name="TextBox 30"/>
          <p:cNvSpPr txBox="1"/>
          <p:nvPr/>
        </p:nvSpPr>
        <p:spPr>
          <a:xfrm>
            <a:off x="4750000" y="3675616"/>
            <a:ext cx="6661712" cy="1224384"/>
          </a:xfrm>
          <a:prstGeom prst="rect">
            <a:avLst/>
          </a:prstGeom>
          <a:noFill/>
        </p:spPr>
        <p:txBody>
          <a:bodyPr wrap="square" anchor="t" lIns="0" rIns="0" tIns="0" bIns="0">
            <a:spAutoFit/>
          </a:bodyPr>
          <a:lstStyle/>
          <a:p>
            <a:pPr algn="l">
              <a:lnSpc>
                <a:spcPct val="132000"/>
              </a:lnSpc>
              <a:spcAft>
                <a:spcPts val="1100"/>
              </a:spcAft>
            </a:pPr>
            <a:r>
              <a:rPr sz="1350" b="0">
                <a:solidFill>
                  <a:srgbClr val="C8C5BC"/>
                </a:solidFill>
                <a:latin typeface="맑은 고딕"/>
              </a:rPr>
              <a:t>•  미니언과 챔피언을 처치하여 골드를 얻어서 아이템을 구매하고 강해져서 상대방 넥서스를 부수는 게임</a:t>
            </a:r>
          </a:p>
          <a:p>
            <a:pPr algn="l">
              <a:lnSpc>
                <a:spcPct val="132000"/>
              </a:lnSpc>
              <a:spcAft>
                <a:spcPts val="1100"/>
              </a:spcAft>
            </a:pPr>
            <a:r>
              <a:rPr sz="1350" b="1">
                <a:solidFill>
                  <a:srgbClr val="F0E6D2"/>
                </a:solidFill>
                <a:latin typeface="맑은 고딕"/>
              </a:rPr>
              <a:t>◆  경기 내내 이 숫자들이 양 팀에 쌓인다 → 10분 시점에는 이미 "중간 성적표"가 있다</a:t>
            </a:r>
          </a:p>
        </p:txBody>
      </p:sp>
      <p:sp>
        <p:nvSpPr>
          <p:cNvPr id="32" name="Rectangle 31"/>
          <p:cNvSpPr/>
          <p:nvPr/>
        </p:nvSpPr>
        <p:spPr>
          <a:xfrm>
            <a:off x="4750000" y="5000000"/>
            <a:ext cx="6661712" cy="108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0000" y="5000000"/>
            <a:ext cx="45720" cy="108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7743" y="5000000"/>
            <a:ext cx="6243969" cy="1080000"/>
          </a:xfrm>
          <a:prstGeom prst="rect">
            <a:avLst/>
          </a:prstGeom>
          <a:noFill/>
        </p:spPr>
        <p:txBody>
          <a:bodyPr wrap="square" anchor="ctr" lIns="0" rIns="0" tIns="0" bIns="0">
            <a:spAutoFit/>
          </a:bodyPr>
          <a:lstStyle/>
          <a:p>
            <a:pPr algn="l">
              <a:lnSpc>
                <a:spcPct val="132000"/>
              </a:lnSpc>
              <a:spcAft>
                <a:spcPts val="0"/>
              </a:spcAft>
            </a:pPr>
            <a:r>
              <a:rPr sz="1400" b="1">
                <a:solidFill>
                  <a:srgbClr val="F0E6D2"/>
                </a:solidFill>
                <a:latin typeface="맑은 고딕"/>
              </a:rPr>
              <a:t>킬도, 미니언도, 타워도 전부 돈이 됩니다.</a:t>
            </a:r>
            <a:br>
              <a:rPr sz="1400" b="1">
                <a:solidFill>
                  <a:srgbClr val="F0E6D2"/>
                </a:solidFill>
                <a:latin typeface="맑은 고딕"/>
              </a:rPr>
            </a:br>
            <a:r>
              <a:rPr sz="1400" b="1">
                <a:solidFill>
                  <a:srgbClr val="F0E6D2"/>
                </a:solidFill>
                <a:latin typeface="맑은 고딕"/>
              </a:rPr>
              <a:t>그래서 이 게임의 모든 활약은 결국 "돈 차이" 하나로 모입니다 — 오늘 발표의 첫 번째 열쇠입니다.</a:t>
            </a:r>
          </a:p>
        </p:txBody>
      </p:sp>
      <p:sp>
        <p:nvSpPr>
          <p:cNvPr id="35" name="TextBox 34"/>
          <p:cNvSpPr txBox="1"/>
          <p:nvPr/>
        </p:nvSpPr>
        <p:spPr>
          <a:xfrm>
            <a:off x="10972800" y="6574536"/>
            <a:ext cx="868680" cy="201168"/>
          </a:xfrm>
          <a:prstGeom prst="rect">
            <a:avLst/>
          </a:prstGeom>
          <a:noFill/>
        </p:spPr>
        <p:txBody>
          <a:bodyPr wrap="square" anchor="ctr" lIns="0" rIns="0" tIns="0" bIns="0">
            <a:spAutoFit/>
          </a:bodyPr>
          <a:lstStyle/>
          <a:p>
            <a:pPr algn="r"/>
            <a:fld id="{BE5397A6-1CB4-4E64-A77A-632668EC94F4}" type="slidenum">
              <a:rPr lang="ko-KR" sz="950">
                <a:solidFill>
                  <a:srgbClr val="73726E"/>
                </a:solidFill>
                <a:latin typeface="맑은 고딕"/>
                <a:ea typeface="맑은 고딕"/>
              </a:rPr>
              <a:t>4</a:t>
            </a:fld>
          </a:p>
        </p:txBody>
      </p:sp>
      <p:sp>
        <p:nvSpPr>
          <p:cNvPr id="36" name="Rectangle 14"/>
          <p:cNvSpPr/>
          <p:nvPr/>
        </p:nvSpPr>
        <p:spPr>
          <a:xfrm>
            <a:off x="731520" y="3629896"/>
            <a:ext cx="3738720" cy="23914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jpg"/>
          <p:cNvPicPr>
            <a:picLocks noChangeAspect="1"/>
          </p:cNvPicPr>
          <p:nvPr/>
        </p:nvPicPr>
        <p:blipFill>
          <a:blip r:embed="rId8"/>
          <a:stretch>
            <a:fillRect/>
          </a:stretch>
        </p:blipFill>
        <p:spPr>
          <a:xfrm>
            <a:off x="777240" y="3675616"/>
            <a:ext cx="3647280" cy="2300000"/>
          </a:xfrm>
          <a:prstGeom prst="rect">
            <a:avLst/>
          </a:prstGeom>
        </p:spPr>
      </p:pic>
      <p:sp>
        <p:nvSpPr>
          <p:cNvPr id="38" name="Rectangle 16"/>
          <p:cNvSpPr/>
          <p:nvPr/>
        </p:nvSpPr>
        <p:spPr>
          <a:xfrm>
            <a:off x="777240" y="3675616"/>
            <a:ext cx="3647280" cy="2300000"/>
          </a:xfrm>
          <a:prstGeom prst="rect">
            <a:avLst/>
          </a:prstGeom>
          <a:no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17"/>
          <p:cNvSpPr/>
          <p:nvPr/>
        </p:nvSpPr>
        <p:spPr>
          <a:xfrm>
            <a:off x="1560000" y="5760000"/>
            <a:ext cx="70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18"/>
          <p:cNvSpPr txBox="1"/>
          <p:nvPr/>
        </p:nvSpPr>
        <p:spPr>
          <a:xfrm>
            <a:off x="1560000" y="5760000"/>
            <a:ext cx="70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파란 팀 본진</a:t>
            </a:r>
          </a:p>
        </p:txBody>
      </p:sp>
      <p:sp>
        <p:nvSpPr>
          <p:cNvPr id="41" name="Rectangle 19"/>
          <p:cNvSpPr/>
          <p:nvPr/>
        </p:nvSpPr>
        <p:spPr>
          <a:xfrm>
            <a:off x="3454482" y="3944861"/>
            <a:ext cx="70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20"/>
          <p:cNvSpPr txBox="1"/>
          <p:nvPr/>
        </p:nvSpPr>
        <p:spPr>
          <a:xfrm>
            <a:off x="3454482" y="3944861"/>
            <a:ext cx="70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빨간 팀 본진</a:t>
            </a:r>
          </a:p>
        </p:txBody>
      </p:sp>
      <p:sp>
        <p:nvSpPr>
          <p:cNvPr id="43" name="Rectangle 21"/>
          <p:cNvSpPr/>
          <p:nvPr/>
        </p:nvSpPr>
        <p:spPr>
          <a:xfrm>
            <a:off x="1990000" y="4170000"/>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22"/>
          <p:cNvSpPr txBox="1"/>
          <p:nvPr/>
        </p:nvSpPr>
        <p:spPr>
          <a:xfrm>
            <a:off x="1990000" y="4170000"/>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탑</a:t>
            </a:r>
          </a:p>
        </p:txBody>
      </p:sp>
      <p:sp>
        <p:nvSpPr>
          <p:cNvPr id="45" name="Rectangle 23"/>
          <p:cNvSpPr/>
          <p:nvPr/>
        </p:nvSpPr>
        <p:spPr>
          <a:xfrm>
            <a:off x="2374406" y="4878415"/>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24"/>
          <p:cNvSpPr txBox="1"/>
          <p:nvPr/>
        </p:nvSpPr>
        <p:spPr>
          <a:xfrm>
            <a:off x="2374406" y="4878415"/>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미드</a:t>
            </a:r>
          </a:p>
        </p:txBody>
      </p:sp>
      <p:sp>
        <p:nvSpPr>
          <p:cNvPr id="47" name="Rectangle 25"/>
          <p:cNvSpPr/>
          <p:nvPr/>
        </p:nvSpPr>
        <p:spPr>
          <a:xfrm>
            <a:off x="3103862" y="5664566"/>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26"/>
          <p:cNvSpPr txBox="1"/>
          <p:nvPr/>
        </p:nvSpPr>
        <p:spPr>
          <a:xfrm>
            <a:off x="3103862" y="5664566"/>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바텀</a:t>
            </a:r>
          </a:p>
        </p:txBody>
      </p:sp>
      <p:sp>
        <p:nvSpPr>
          <p:cNvPr id="49" name="Rectangle 27"/>
          <p:cNvSpPr/>
          <p:nvPr/>
        </p:nvSpPr>
        <p:spPr>
          <a:xfrm>
            <a:off x="1790842" y="4927549"/>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28"/>
          <p:cNvSpPr txBox="1"/>
          <p:nvPr/>
        </p:nvSpPr>
        <p:spPr>
          <a:xfrm>
            <a:off x="1790842" y="4927549"/>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정글</a:t>
            </a:r>
          </a:p>
        </p:txBody>
      </p:sp>
      <p:sp>
        <p:nvSpPr>
          <p:cNvPr id="51" name="Rectangle 29"/>
          <p:cNvSpPr/>
          <p:nvPr/>
        </p:nvSpPr>
        <p:spPr>
          <a:xfrm>
            <a:off x="2994444" y="5296058"/>
            <a:ext cx="380000" cy="190000"/>
          </a:xfrm>
          <a:prstGeom prst="rect">
            <a:avLst/>
          </a:prstGeom>
          <a:solidFill>
            <a:srgbClr val="010A13">
              <a:alpha val="84000"/>
            </a:srgbClr>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30"/>
          <p:cNvSpPr txBox="1"/>
          <p:nvPr/>
        </p:nvSpPr>
        <p:spPr>
          <a:xfrm>
            <a:off x="2994444" y="5296058"/>
            <a:ext cx="380000" cy="190000"/>
          </a:xfrm>
          <a:prstGeom prst="rect">
            <a:avLst/>
          </a:prstGeom>
          <a:noFill/>
        </p:spPr>
        <p:txBody>
          <a:bodyPr wrap="square" anchor="ctr" lIns="0" rIns="0" tIns="0" bIns="0">
            <a:spAutoFit/>
          </a:bodyPr>
          <a:lstStyle/>
          <a:p>
            <a:pPr algn="ctr">
              <a:lnSpc>
                <a:spcPct val="125000"/>
              </a:lnSpc>
              <a:spcAft>
                <a:spcPts val="0"/>
              </a:spcAft>
            </a:pPr>
            <a:r>
              <a:rPr sz="800" b="1">
                <a:solidFill>
                  <a:srgbClr val="F0E6D2"/>
                </a:solidFill>
                <a:latin typeface="맑은 고딕"/>
              </a:rPr>
              <a:t>정글</a:t>
            </a:r>
          </a:p>
        </p:txBody>
      </p:sp>
      <p:sp>
        <p:nvSpPr>
          <p:cNvPr id="53" name="TextBox 3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그림 · Riot 소환사의 협곡 조감도 (ppt/assets/rift_aerial.jpg)</a:t>
            </a:r>
          </a:p>
        </p:txBody>
      </p:sp>
      <p:pic>
        <p:nvPicPr>
          <p:cNvPr id="54" name="Picture 53" descr="image.png"/>
          <p:cNvPicPr>
            <a:picLocks noChangeAspect="1"/>
          </p:cNvPicPr>
          <p:nvPr/>
        </p:nvPicPr>
        <p:blipFill>
          <a:blip r:embed="rId5"/>
          <a:stretch>
            <a:fillRect/>
          </a:stretch>
        </p:blipFill>
        <p:spPr>
          <a:xfrm>
            <a:off x="2835608" y="4994616"/>
            <a:ext cx="260000" cy="260000"/>
          </a:xfrm>
          <a:prstGeom prst="rect">
            <a:avLst/>
          </a:prstGeom>
        </p:spPr>
      </p:pic>
      <p:pic>
        <p:nvPicPr>
          <p:cNvPr id="55" name="Picture 54" descr="image.png"/>
          <p:cNvPicPr>
            <a:picLocks noChangeAspect="1"/>
          </p:cNvPicPr>
          <p:nvPr/>
        </p:nvPicPr>
        <p:blipFill>
          <a:blip r:embed="rId6"/>
          <a:stretch>
            <a:fillRect/>
          </a:stretch>
        </p:blipFill>
        <p:spPr>
          <a:xfrm>
            <a:off x="2252043" y="4442616"/>
            <a:ext cx="260000" cy="260000"/>
          </a:xfrm>
          <a:prstGeom prst="rect">
            <a:avLst/>
          </a:prstGeom>
        </p:spPr>
      </p:pic>
      <p:pic>
        <p:nvPicPr>
          <p:cNvPr id="56" name="Picture 55" descr="nexus_blue.png"/>
          <p:cNvPicPr>
            <a:picLocks noChangeAspect="1"/>
          </p:cNvPicPr>
          <p:nvPr/>
        </p:nvPicPr>
        <p:blipFill>
          <a:blip r:embed="rId9"/>
          <a:stretch>
            <a:fillRect/>
          </a:stretch>
        </p:blipFill>
        <p:spPr>
          <a:xfrm>
            <a:off x="1267277" y="5500616"/>
            <a:ext cx="260000" cy="260000"/>
          </a:xfrm>
          <a:prstGeom prst="rect">
            <a:avLst/>
          </a:prstGeom>
        </p:spPr>
      </p:pic>
      <p:pic>
        <p:nvPicPr>
          <p:cNvPr id="57" name="Picture 56" descr="nexus_red.png"/>
          <p:cNvPicPr>
            <a:picLocks noChangeAspect="1"/>
          </p:cNvPicPr>
          <p:nvPr/>
        </p:nvPicPr>
        <p:blipFill>
          <a:blip r:embed="rId10"/>
          <a:stretch>
            <a:fillRect/>
          </a:stretch>
        </p:blipFill>
        <p:spPr>
          <a:xfrm>
            <a:off x="3528591" y="4143616"/>
            <a:ext cx="260000" cy="26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10A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LOLEX 전체 구조</a:t>
            </a:r>
          </a:p>
        </p:txBody>
      </p:sp>
      <p:sp>
        <p:nvSpPr>
          <p:cNvPr id="63"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45336"/>
            <a:ext cx="50292" cy="23774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1520" y="1517904"/>
            <a:ext cx="5486400" cy="292608"/>
          </a:xfrm>
          <a:prstGeom prst="rect">
            <a:avLst/>
          </a:prstGeom>
          <a:noFill/>
        </p:spPr>
        <p:txBody>
          <a:bodyPr wrap="square" anchor="t" lIns="0" rIns="0" tIns="0" bIns="0">
            <a:spAutoFit/>
          </a:bodyPr>
          <a:lstStyle/>
          <a:p>
            <a:pPr algn="l">
              <a:spcBef>
                <a:spcPts val="0"/>
              </a:spcBef>
            </a:pPr>
            <a:r>
              <a:rPr sz="1350" b="1">
                <a:solidFill>
                  <a:srgbClr val="C89B3C"/>
                </a:solidFill>
                <a:latin typeface="맑은 고딕"/>
                <a:ea typeface="맑은 고딕"/>
              </a:rPr>
              <a:t>① 한 번만 하는 일 — 학습 (사람이 손으로 돌린다)</a:t>
            </a:r>
          </a:p>
        </p:txBody>
      </p:sp>
      <p:sp>
        <p:nvSpPr>
          <p:cNvPr id="9" name="Rectangle 8"/>
          <p:cNvSpPr/>
          <p:nvPr/>
        </p:nvSpPr>
        <p:spPr>
          <a:xfrm>
            <a:off x="56692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데이터</a:t>
            </a:r>
          </a:p>
          <a:p>
            <a:pPr algn="l">
              <a:lnSpc>
                <a:spcPct val="100000"/>
              </a:lnSpc>
              <a:spcBef>
                <a:spcPts val="500"/>
              </a:spcBef>
            </a:pPr>
            <a:r>
              <a:rPr sz="1250" b="1">
                <a:solidFill>
                  <a:srgbClr val="F0E6D2"/>
                </a:solidFill>
                <a:latin typeface="맑은 고딕"/>
                <a:ea typeface="맑은 고딕"/>
              </a:rPr>
              <a:t>Kaggle 다이아랭크</a:t>
            </a:r>
            <a:br>
              <a:rPr sz="1250" b="1">
                <a:solidFill>
                  <a:srgbClr val="F0E6D2"/>
                </a:solidFill>
                <a:latin typeface="맑은 고딕"/>
                <a:ea typeface="맑은 고딕"/>
              </a:rPr>
            </a:br>
            <a:r>
              <a:rPr sz="1250" b="1">
                <a:solidFill>
                  <a:srgbClr val="F0E6D2"/>
                </a:solidFill>
                <a:latin typeface="맑은 고딕"/>
                <a:ea typeface="맑은 고딕"/>
              </a:rPr>
              <a:t>9,879경기</a:t>
            </a:r>
          </a:p>
        </p:txBody>
      </p:sp>
      <p:sp>
        <p:nvSpPr>
          <p:cNvPr id="12" name="Right Arrow 11"/>
          <p:cNvSpPr/>
          <p:nvPr/>
        </p:nvSpPr>
        <p:spPr>
          <a:xfrm>
            <a:off x="2606040"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9864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89864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04495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적재</a:t>
            </a:r>
          </a:p>
          <a:p>
            <a:pPr algn="l">
              <a:lnSpc>
                <a:spcPct val="100000"/>
              </a:lnSpc>
              <a:spcBef>
                <a:spcPts val="500"/>
              </a:spcBef>
            </a:pPr>
            <a:r>
              <a:rPr sz="1250" b="1">
                <a:solidFill>
                  <a:srgbClr val="F0E6D2"/>
                </a:solidFill>
                <a:latin typeface="맑은 고딕"/>
                <a:ea typeface="맑은 고딕"/>
              </a:rPr>
              <a:t>MariaDB</a:t>
            </a:r>
          </a:p>
        </p:txBody>
      </p:sp>
      <p:sp>
        <p:nvSpPr>
          <p:cNvPr id="16" name="Right Arrow 15"/>
          <p:cNvSpPr/>
          <p:nvPr/>
        </p:nvSpPr>
        <p:spPr>
          <a:xfrm>
            <a:off x="4937759"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23036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23036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7667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분할</a:t>
            </a:r>
          </a:p>
          <a:p>
            <a:pPr algn="l">
              <a:lnSpc>
                <a:spcPct val="100000"/>
              </a:lnSpc>
              <a:spcBef>
                <a:spcPts val="500"/>
              </a:spcBef>
            </a:pPr>
            <a:r>
              <a:rPr sz="1250" b="1">
                <a:solidFill>
                  <a:srgbClr val="F0E6D2"/>
                </a:solidFill>
                <a:latin typeface="맑은 고딕"/>
                <a:ea typeface="맑은 고딕"/>
              </a:rPr>
              <a:t>학습 7,903</a:t>
            </a:r>
            <a:br>
              <a:rPr sz="1250" b="1">
                <a:solidFill>
                  <a:srgbClr val="F0E6D2"/>
                </a:solidFill>
                <a:latin typeface="맑은 고딕"/>
                <a:ea typeface="맑은 고딕"/>
              </a:rPr>
            </a:br>
            <a:r>
              <a:rPr sz="1250" b="1">
                <a:solidFill>
                  <a:srgbClr val="F0E6D2"/>
                </a:solidFill>
                <a:latin typeface="맑은 고딕"/>
                <a:ea typeface="맑은 고딕"/>
              </a:rPr>
              <a:t>시험 1,976</a:t>
            </a:r>
          </a:p>
        </p:txBody>
      </p:sp>
      <p:sp>
        <p:nvSpPr>
          <p:cNvPr id="20" name="Right Arrow 19"/>
          <p:cNvSpPr/>
          <p:nvPr/>
        </p:nvSpPr>
        <p:spPr>
          <a:xfrm>
            <a:off x="7269480"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562088"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562088"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08392"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피처</a:t>
            </a:r>
          </a:p>
          <a:p>
            <a:pPr algn="l">
              <a:lnSpc>
                <a:spcPct val="100000"/>
              </a:lnSpc>
              <a:spcBef>
                <a:spcPts val="500"/>
              </a:spcBef>
            </a:pPr>
            <a:r>
              <a:rPr sz="1250" b="1">
                <a:solidFill>
                  <a:srgbClr val="F0E6D2"/>
                </a:solidFill>
                <a:latin typeface="맑은 고딕"/>
                <a:ea typeface="맑은 고딕"/>
              </a:rPr>
              <a:t>38개 → 13개</a:t>
            </a:r>
          </a:p>
        </p:txBody>
      </p:sp>
      <p:sp>
        <p:nvSpPr>
          <p:cNvPr id="24" name="Right Arrow 23"/>
          <p:cNvSpPr/>
          <p:nvPr/>
        </p:nvSpPr>
        <p:spPr>
          <a:xfrm>
            <a:off x="9601199" y="2276856"/>
            <a:ext cx="256031" cy="237744"/>
          </a:xfrm>
          <a:prstGeom prst="right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893807" y="1883664"/>
            <a:ext cx="2002536" cy="1024128"/>
          </a:xfrm>
          <a:prstGeom prst="rect">
            <a:avLst/>
          </a:prstGeom>
          <a:solidFill>
            <a:srgbClr val="10223E"/>
          </a:solidFill>
          <a:ln w="127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893807" y="1883664"/>
            <a:ext cx="2002536" cy="45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40111" y="2039112"/>
            <a:ext cx="1709928" cy="749808"/>
          </a:xfrm>
          <a:prstGeom prst="rect">
            <a:avLst/>
          </a:prstGeom>
          <a:noFill/>
        </p:spPr>
        <p:txBody>
          <a:bodyPr wrap="square" anchor="t" lIns="0" rIns="0" tIns="0" bIns="0">
            <a:spAutoFit/>
          </a:bodyPr>
          <a:lstStyle/>
          <a:p>
            <a:pPr algn="l">
              <a:spcBef>
                <a:spcPts val="0"/>
              </a:spcBef>
            </a:pPr>
            <a:r>
              <a:rPr sz="1000" b="1">
                <a:solidFill>
                  <a:srgbClr val="C89B3C"/>
                </a:solidFill>
                <a:latin typeface="맑은 고딕"/>
                <a:ea typeface="맑은 고딕"/>
              </a:rPr>
              <a:t>학습</a:t>
            </a:r>
          </a:p>
          <a:p>
            <a:pPr algn="l">
              <a:lnSpc>
                <a:spcPct val="100000"/>
              </a:lnSpc>
              <a:spcBef>
                <a:spcPts val="500"/>
              </a:spcBef>
            </a:pPr>
            <a:r>
              <a:rPr sz="1250" b="1">
                <a:solidFill>
                  <a:srgbClr val="F0E6D2"/>
                </a:solidFill>
                <a:latin typeface="맑은 고딕"/>
                <a:ea typeface="맑은 고딕"/>
              </a:rPr>
              <a:t>로지스틱 회귀</a:t>
            </a:r>
          </a:p>
        </p:txBody>
      </p:sp>
      <p:sp>
        <p:nvSpPr>
          <p:cNvPr id="28" name="Down Arrow 27"/>
          <p:cNvSpPr/>
          <p:nvPr/>
        </p:nvSpPr>
        <p:spPr>
          <a:xfrm>
            <a:off x="5943600" y="2962656"/>
            <a:ext cx="310896" cy="310896"/>
          </a:xfrm>
          <a:prstGeom prst="down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904487" y="3218688"/>
            <a:ext cx="4389120" cy="786384"/>
          </a:xfrm>
          <a:prstGeom prst="rect">
            <a:avLst/>
          </a:prstGeom>
          <a:solidFill>
            <a:srgbClr val="0A1428"/>
          </a:solidFill>
          <a:ln w="25400">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087368" y="3337560"/>
            <a:ext cx="4023359" cy="548640"/>
          </a:xfrm>
          <a:prstGeom prst="rect">
            <a:avLst/>
          </a:prstGeom>
          <a:noFill/>
        </p:spPr>
        <p:txBody>
          <a:bodyPr wrap="square" anchor="t" lIns="0" rIns="0" tIns="0" bIns="0">
            <a:spAutoFit/>
          </a:bodyPr>
          <a:lstStyle/>
          <a:p>
            <a:pPr algn="ctr">
              <a:spcBef>
                <a:spcPts val="0"/>
              </a:spcBef>
            </a:pPr>
            <a:r>
              <a:rPr sz="1500" b="1">
                <a:solidFill>
                  <a:srgbClr val="C89B3C"/>
                </a:solidFill>
                <a:latin typeface="맑은 고딕"/>
                <a:ea typeface="맑은 고딕"/>
              </a:rPr>
              <a:t>artifacts/model.joblib  ·  2.2KB</a:t>
            </a:r>
          </a:p>
          <a:p>
            <a:pPr algn="ctr">
              <a:spcBef>
                <a:spcPts val="400"/>
              </a:spcBef>
            </a:pPr>
            <a:r>
              <a:rPr sz="1050" b="0">
                <a:solidFill>
                  <a:srgbClr val="A09B8C"/>
                </a:solidFill>
                <a:latin typeface="맑은 고딕"/>
                <a:ea typeface="맑은 고딕"/>
              </a:rPr>
              <a:t>학습이 남긴 전부 — 계수 13개 + 표준화 값. 이 파일이 두 세계를 잇는 유일한 다리다.</a:t>
            </a:r>
          </a:p>
        </p:txBody>
      </p:sp>
      <p:sp>
        <p:nvSpPr>
          <p:cNvPr id="31" name="Rectangle 30"/>
          <p:cNvSpPr/>
          <p:nvPr/>
        </p:nvSpPr>
        <p:spPr>
          <a:xfrm>
            <a:off x="566928" y="4251960"/>
            <a:ext cx="50292" cy="237744"/>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1520" y="4224528"/>
            <a:ext cx="5486400" cy="292608"/>
          </a:xfrm>
          <a:prstGeom prst="rect">
            <a:avLst/>
          </a:prstGeom>
          <a:noFill/>
        </p:spPr>
        <p:txBody>
          <a:bodyPr wrap="square" anchor="t" lIns="0" rIns="0" tIns="0" bIns="0">
            <a:spAutoFit/>
          </a:bodyPr>
          <a:lstStyle/>
          <a:p>
            <a:pPr algn="l">
              <a:spcBef>
                <a:spcPts val="0"/>
              </a:spcBef>
            </a:pPr>
            <a:r>
              <a:rPr sz="1350" b="1">
                <a:solidFill>
                  <a:srgbClr val="0AC8B9"/>
                </a:solidFill>
                <a:latin typeface="맑은 고딕"/>
                <a:ea typeface="맑은 고딕"/>
              </a:rPr>
              <a:t>② 매번 하는 일 — 서비스 (사용자가 검색할 때마다)</a:t>
            </a:r>
          </a:p>
        </p:txBody>
      </p:sp>
      <p:sp>
        <p:nvSpPr>
          <p:cNvPr id="33" name="Rectangle 32"/>
          <p:cNvSpPr/>
          <p:nvPr/>
        </p:nvSpPr>
        <p:spPr>
          <a:xfrm>
            <a:off x="566928"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13232"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사용자</a:t>
            </a:r>
          </a:p>
          <a:p>
            <a:pPr algn="l">
              <a:lnSpc>
                <a:spcPct val="100000"/>
              </a:lnSpc>
              <a:spcBef>
                <a:spcPts val="500"/>
              </a:spcBef>
            </a:pPr>
            <a:r>
              <a:rPr sz="1200" b="1">
                <a:solidFill>
                  <a:srgbClr val="F0E6D2"/>
                </a:solidFill>
                <a:latin typeface="맑은 고딕"/>
                <a:ea typeface="맑은 고딕"/>
              </a:rPr>
              <a:t>브라우저</a:t>
            </a:r>
          </a:p>
          <a:p>
            <a:pPr algn="l">
              <a:lnSpc>
                <a:spcPct val="105000"/>
              </a:lnSpc>
              <a:spcBef>
                <a:spcPts val="500"/>
              </a:spcBef>
            </a:pPr>
            <a:r>
              <a:rPr sz="1000" b="0">
                <a:solidFill>
                  <a:srgbClr val="A09B8C"/>
                </a:solidFill>
                <a:latin typeface="맑은 고딕"/>
                <a:ea typeface="맑은 고딕"/>
              </a:rPr>
              <a:t>소환사 이름을 넣는다</a:t>
            </a:r>
          </a:p>
        </p:txBody>
      </p:sp>
      <p:sp>
        <p:nvSpPr>
          <p:cNvPr id="36" name="Right Arrow 35"/>
          <p:cNvSpPr/>
          <p:nvPr/>
        </p:nvSpPr>
        <p:spPr>
          <a:xfrm>
            <a:off x="2556662"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849270"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849270"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995574"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화면</a:t>
            </a:r>
          </a:p>
          <a:p>
            <a:pPr algn="l">
              <a:lnSpc>
                <a:spcPct val="100000"/>
              </a:lnSpc>
              <a:spcBef>
                <a:spcPts val="500"/>
              </a:spcBef>
            </a:pPr>
            <a:r>
              <a:rPr sz="1200" b="1">
                <a:solidFill>
                  <a:srgbClr val="F0E6D2"/>
                </a:solidFill>
                <a:latin typeface="맑은 고딕"/>
                <a:ea typeface="맑은 고딕"/>
              </a:rPr>
              <a:t>web/frontend.py</a:t>
            </a:r>
          </a:p>
          <a:p>
            <a:pPr algn="l">
              <a:lnSpc>
                <a:spcPct val="105000"/>
              </a:lnSpc>
              <a:spcBef>
                <a:spcPts val="500"/>
              </a:spcBef>
            </a:pPr>
            <a:r>
              <a:rPr sz="1000" b="0">
                <a:solidFill>
                  <a:srgbClr val="A09B8C"/>
                </a:solidFill>
                <a:latin typeface="맑은 고딕"/>
                <a:ea typeface="맑은 고딕"/>
              </a:rPr>
              <a:t>보여주기·중계만 한다</a:t>
            </a:r>
          </a:p>
        </p:txBody>
      </p:sp>
      <p:sp>
        <p:nvSpPr>
          <p:cNvPr id="40" name="Right Arrow 39"/>
          <p:cNvSpPr/>
          <p:nvPr/>
        </p:nvSpPr>
        <p:spPr>
          <a:xfrm>
            <a:off x="4839004"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5131612"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131612"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277916"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입구</a:t>
            </a:r>
          </a:p>
          <a:p>
            <a:pPr algn="l">
              <a:lnSpc>
                <a:spcPct val="100000"/>
              </a:lnSpc>
              <a:spcBef>
                <a:spcPts val="500"/>
              </a:spcBef>
            </a:pPr>
            <a:r>
              <a:rPr sz="1200" b="1">
                <a:solidFill>
                  <a:srgbClr val="F0E6D2"/>
                </a:solidFill>
                <a:latin typeface="맑은 고딕"/>
                <a:ea typeface="맑은 고딕"/>
              </a:rPr>
              <a:t>web/app.py</a:t>
            </a:r>
          </a:p>
          <a:p>
            <a:pPr algn="l">
              <a:lnSpc>
                <a:spcPct val="105000"/>
              </a:lnSpc>
              <a:spcBef>
                <a:spcPts val="500"/>
              </a:spcBef>
            </a:pPr>
            <a:r>
              <a:rPr sz="1000" b="0">
                <a:solidFill>
                  <a:srgbClr val="A09B8C"/>
                </a:solidFill>
                <a:latin typeface="맑은 고딕"/>
                <a:ea typeface="맑은 고딕"/>
              </a:rPr>
              <a:t>/api/summoner</a:t>
            </a:r>
            <a:br>
              <a:rPr sz="1000" b="0">
                <a:solidFill>
                  <a:srgbClr val="A09B8C"/>
                </a:solidFill>
                <a:latin typeface="맑은 고딕"/>
                <a:ea typeface="맑은 고딕"/>
              </a:rPr>
            </a:br>
            <a:r>
              <a:rPr sz="1000" b="0">
                <a:solidFill>
                  <a:srgbClr val="A09B8C"/>
                </a:solidFill>
                <a:latin typeface="맑은 고딕"/>
                <a:ea typeface="맑은 고딕"/>
              </a:rPr>
              <a:t>/api/predict · /api/coach</a:t>
            </a:r>
          </a:p>
        </p:txBody>
      </p:sp>
      <p:sp>
        <p:nvSpPr>
          <p:cNvPr id="44" name="Right Arrow 43"/>
          <p:cNvSpPr/>
          <p:nvPr/>
        </p:nvSpPr>
        <p:spPr>
          <a:xfrm>
            <a:off x="7121347"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413955"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7413955"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60259"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수집</a:t>
            </a:r>
          </a:p>
          <a:p>
            <a:pPr algn="l">
              <a:lnSpc>
                <a:spcPct val="100000"/>
              </a:lnSpc>
              <a:spcBef>
                <a:spcPts val="500"/>
              </a:spcBef>
            </a:pPr>
            <a:r>
              <a:rPr sz="1200" b="1">
                <a:solidFill>
                  <a:srgbClr val="F0E6D2"/>
                </a:solidFill>
                <a:latin typeface="맑은 고딕"/>
                <a:ea typeface="맑은 고딕"/>
              </a:rPr>
              <a:t>src/riot_api.py</a:t>
            </a:r>
          </a:p>
          <a:p>
            <a:pPr algn="l">
              <a:lnSpc>
                <a:spcPct val="105000"/>
              </a:lnSpc>
              <a:spcBef>
                <a:spcPts val="500"/>
              </a:spcBef>
            </a:pPr>
            <a:r>
              <a:rPr sz="1000" b="0">
                <a:solidFill>
                  <a:srgbClr val="A09B8C"/>
                </a:solidFill>
                <a:latin typeface="맑은 고딕"/>
                <a:ea typeface="맑은 고딕"/>
              </a:rPr>
              <a:t>Riot 서버에서 최근 경기</a:t>
            </a:r>
            <a:br>
              <a:rPr sz="1000" b="0">
                <a:solidFill>
                  <a:srgbClr val="A09B8C"/>
                </a:solidFill>
                <a:latin typeface="맑은 고딕"/>
                <a:ea typeface="맑은 고딕"/>
              </a:rPr>
            </a:br>
            <a:r>
              <a:rPr sz="1000" b="0">
                <a:solidFill>
                  <a:srgbClr val="A09B8C"/>
                </a:solidFill>
                <a:latin typeface="맑은 고딕"/>
                <a:ea typeface="맑은 고딕"/>
              </a:rPr>
              <a:t>10분으로 되감아 숫자 13개</a:t>
            </a:r>
          </a:p>
        </p:txBody>
      </p:sp>
      <p:sp>
        <p:nvSpPr>
          <p:cNvPr id="48" name="Right Arrow 47"/>
          <p:cNvSpPr/>
          <p:nvPr/>
        </p:nvSpPr>
        <p:spPr>
          <a:xfrm>
            <a:off x="9403689" y="4960620"/>
            <a:ext cx="237744" cy="237744"/>
          </a:xfrm>
          <a:prstGeom prst="rightArrow">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9696297" y="4553712"/>
            <a:ext cx="1934870" cy="1051560"/>
          </a:xfrm>
          <a:prstGeom prst="rect">
            <a:avLst/>
          </a:prstGeom>
          <a:solidFill>
            <a:srgbClr val="10223E"/>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9696297" y="4553712"/>
            <a:ext cx="1934870" cy="45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842601" y="4709160"/>
            <a:ext cx="1642262" cy="777239"/>
          </a:xfrm>
          <a:prstGeom prst="rect">
            <a:avLst/>
          </a:prstGeom>
          <a:noFill/>
        </p:spPr>
        <p:txBody>
          <a:bodyPr wrap="square" anchor="t" lIns="0" rIns="0" tIns="0" bIns="0">
            <a:spAutoFit/>
          </a:bodyPr>
          <a:lstStyle/>
          <a:p>
            <a:pPr algn="l">
              <a:spcBef>
                <a:spcPts val="0"/>
              </a:spcBef>
            </a:pPr>
            <a:r>
              <a:rPr sz="1000" b="1">
                <a:solidFill>
                  <a:srgbClr val="0AC8B9"/>
                </a:solidFill>
                <a:latin typeface="맑은 고딕"/>
                <a:ea typeface="맑은 고딕"/>
              </a:rPr>
              <a:t>계산</a:t>
            </a:r>
          </a:p>
          <a:p>
            <a:pPr algn="l">
              <a:lnSpc>
                <a:spcPct val="100000"/>
              </a:lnSpc>
              <a:spcBef>
                <a:spcPts val="500"/>
              </a:spcBef>
            </a:pPr>
            <a:r>
              <a:rPr sz="1200" b="1">
                <a:solidFill>
                  <a:srgbClr val="F0E6D2"/>
                </a:solidFill>
                <a:latin typeface="맑은 고딕"/>
                <a:ea typeface="맑은 고딕"/>
              </a:rPr>
              <a:t>lolwin/predict.py</a:t>
            </a:r>
          </a:p>
          <a:p>
            <a:pPr algn="l">
              <a:lnSpc>
                <a:spcPct val="105000"/>
              </a:lnSpc>
              <a:spcBef>
                <a:spcPts val="500"/>
              </a:spcBef>
            </a:pPr>
            <a:r>
              <a:rPr sz="1000" b="0">
                <a:solidFill>
                  <a:srgbClr val="A09B8C"/>
                </a:solidFill>
                <a:latin typeface="맑은 고딕"/>
                <a:ea typeface="맑은 고딕"/>
              </a:rPr>
              <a:t>여기서만 확률이 나온다</a:t>
            </a:r>
          </a:p>
        </p:txBody>
      </p:sp>
      <p:sp>
        <p:nvSpPr>
          <p:cNvPr id="52" name="Rectangle 51"/>
          <p:cNvSpPr/>
          <p:nvPr/>
        </p:nvSpPr>
        <p:spPr>
          <a:xfrm>
            <a:off x="7457846" y="4005072"/>
            <a:ext cx="25603" cy="2743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7470648" y="4266590"/>
            <a:ext cx="3193084" cy="25603"/>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0650931" y="4279392"/>
            <a:ext cx="25603" cy="7315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Down Arrow 54"/>
          <p:cNvSpPr/>
          <p:nvPr/>
        </p:nvSpPr>
        <p:spPr>
          <a:xfrm>
            <a:off x="10526572" y="4352544"/>
            <a:ext cx="274320" cy="201168"/>
          </a:xfrm>
          <a:prstGeom prst="downArrow">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66928" y="5742432"/>
            <a:ext cx="45720" cy="31089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77240" y="5733288"/>
            <a:ext cx="10881360" cy="329184"/>
          </a:xfrm>
          <a:prstGeom prst="rect">
            <a:avLst/>
          </a:prstGeom>
          <a:noFill/>
        </p:spPr>
        <p:txBody>
          <a:bodyPr wrap="square" anchor="ctr" lIns="0" rIns="0" tIns="0" bIns="0">
            <a:spAutoFit/>
          </a:bodyPr>
          <a:lstStyle/>
          <a:p>
            <a:pPr algn="l">
              <a:spcBef>
                <a:spcPts val="0"/>
              </a:spcBef>
            </a:pPr>
            <a:r>
              <a:rPr sz="1250" b="0">
                <a:solidFill>
                  <a:srgbClr val="F0E6D2"/>
                </a:solidFill>
                <a:latin typeface="맑은 고딕"/>
                <a:ea typeface="맑은 고딕"/>
              </a:rPr>
              <a:t>계산은 lolwin/predict.py 한 곳에서만 일어난다 — web/ 어디에도 sklearn·joblib import 가 없다.</a:t>
            </a:r>
          </a:p>
        </p:txBody>
      </p:sp>
      <p:sp>
        <p:nvSpPr>
          <p:cNvPr id="58" name="Rectangle 57"/>
          <p:cNvSpPr/>
          <p:nvPr/>
        </p:nvSpPr>
        <p:spPr>
          <a:xfrm>
            <a:off x="566928" y="6181344"/>
            <a:ext cx="45720" cy="310896"/>
          </a:xfrm>
          <a:prstGeom prst="rect">
            <a:avLst/>
          </a:prstGeom>
          <a:solidFill>
            <a:srgbClr val="6B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77240" y="6172200"/>
            <a:ext cx="10881360" cy="329184"/>
          </a:xfrm>
          <a:prstGeom prst="rect">
            <a:avLst/>
          </a:prstGeom>
          <a:noFill/>
        </p:spPr>
        <p:txBody>
          <a:bodyPr wrap="square" anchor="ctr" lIns="0" rIns="0" tIns="0" bIns="0">
            <a:spAutoFit/>
          </a:bodyPr>
          <a:lstStyle/>
          <a:p>
            <a:pPr algn="l">
              <a:spcBef>
                <a:spcPts val="0"/>
              </a:spcBef>
            </a:pPr>
            <a:r>
              <a:rPr sz="1250" b="0">
                <a:solidFill>
                  <a:srgbClr val="F0E6D2"/>
                </a:solidFill>
                <a:latin typeface="맑은 고딕"/>
                <a:ea typeface="맑은 고딕"/>
              </a:rPr>
              <a:t>사용자가 넣는 것은 "이름" 인데 모델이 받는 것은 "숫자 13개" 다 — 그 사이를 src/riot_api.py 가 메운다.</a:t>
            </a:r>
          </a:p>
        </p:txBody>
      </p:sp>
      <p:sp>
        <p:nvSpPr>
          <p:cNvPr id="60" name="Rectangle 59"/>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972800" y="6574536"/>
            <a:ext cx="868680" cy="201168"/>
          </a:xfrm>
          <a:prstGeom prst="rect">
            <a:avLst/>
          </a:prstGeom>
          <a:noFill/>
        </p:spPr>
        <p:txBody>
          <a:bodyPr wrap="square" anchor="ctr" lIns="0" rIns="0" tIns="0" bIns="0">
            <a:spAutoFit/>
          </a:bodyPr>
          <a:lstStyle/>
          <a:p>
            <a:pPr algn="r"/>
            <a:fld id="{B967F0E6-4C22-481A-83CD-431A2094EAB9}" type="slidenum">
              <a:rPr lang="ko-KR" sz="950">
                <a:solidFill>
                  <a:srgbClr val="73726E"/>
                </a:solidFill>
                <a:latin typeface="맑은 고딕"/>
                <a:ea typeface="맑은 고딕"/>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flow.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01</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데이터 검증 및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986CE189-8B93-4C25-863C-FFE4A4D88C00}" type="slidenum">
              <a:rPr lang="ko-KR" sz="950">
                <a:solidFill>
                  <a:srgbClr val="73726E"/>
                </a:solidFill>
                <a:latin typeface="맑은 고딕"/>
                <a:ea typeface="맑은 고딕"/>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개요와 사전 검증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777240" y="1371600"/>
          <a:ext cx="10634472" cy="3803904"/>
        </p:xfrm>
        <a:graphic>
          <a:graphicData uri="http://schemas.openxmlformats.org/drawingml/2006/table">
            <a:tbl>
              <a:tblPr>
                <a:tableStyleId>{5C22544A-7EE6-4342-B048-85BDC9FD1C3A}</a:tableStyleId>
              </a:tblPr>
              <a:tblGrid>
                <a:gridCol w="1828800"/>
                <a:gridCol w="3840480"/>
                <a:gridCol w="4965192"/>
              </a:tblGrid>
              <a:tr h="512064">
                <a:tc>
                  <a:txBody>
                    <a:bodyPr/>
                    <a:lstStyle/>
                    <a:p>
                      <a:pPr algn="l"/>
                      <a:r>
                        <a:rPr sz="1400" b="1">
                          <a:solidFill>
                            <a:srgbClr val="F0E6D2"/>
                          </a:solidFill>
                          <a:latin typeface="맑은 고딕"/>
                        </a:rPr>
                        <a:t>항목</a:t>
                      </a:r>
                    </a:p>
                  </a:txBody>
                  <a:tcPr marL="91440" marR="91440" anchor="ctr">
                    <a:solidFill>
                      <a:srgbClr val="3C3F3E"/>
                    </a:solidFill>
                  </a:tcPr>
                </a:tc>
                <a:tc>
                  <a:txBody>
                    <a:bodyPr/>
                    <a:lstStyle/>
                    <a:p>
                      <a:pPr algn="ctr"/>
                      <a:r>
                        <a:rPr sz="1400" b="1">
                          <a:solidFill>
                            <a:srgbClr val="F0E6D2"/>
                          </a:solidFill>
                          <a:latin typeface="맑은 고딕"/>
                        </a:rPr>
                        <a:t>값</a:t>
                      </a:r>
                    </a:p>
                  </a:txBody>
                  <a:tcPr marL="91440" marR="91440" anchor="ctr">
                    <a:solidFill>
                      <a:srgbClr val="3C3F3E"/>
                    </a:solidFill>
                  </a:tcPr>
                </a:tc>
                <a:tc>
                  <a:txBody>
                    <a:bodyPr/>
                    <a:lstStyle/>
                    <a:p>
                      <a:pPr algn="ctr"/>
                      <a:r>
                        <a:rPr sz="1400" b="1">
                          <a:solidFill>
                            <a:srgbClr val="F0E6D2"/>
                          </a:solidFill>
                          <a:latin typeface="맑은 고딕"/>
                        </a:rPr>
                        <a:t>경기에 영향을 미치는 요인</a:t>
                      </a:r>
                    </a:p>
                  </a:txBody>
                  <a:tcPr marL="91440" marR="91440" anchor="ctr">
                    <a:solidFill>
                      <a:srgbClr val="3C3F3E"/>
                    </a:solidFill>
                  </a:tcPr>
                </a:tc>
              </a:tr>
              <a:tr h="658368">
                <a:tc>
                  <a:txBody>
                    <a:bodyPr/>
                    <a:lstStyle/>
                    <a:p>
                      <a:pPr algn="l"/>
                      <a:r>
                        <a:rPr sz="1400" b="0">
                          <a:solidFill>
                            <a:srgbClr val="C1BEB4"/>
                          </a:solidFill>
                          <a:latin typeface="맑은 고딕"/>
                        </a:rPr>
                        <a:t>데이터 출처</a:t>
                      </a:r>
                    </a:p>
                  </a:txBody>
                  <a:tcPr marL="91440" marR="91440" anchor="ctr">
                    <a:solidFill>
                      <a:srgbClr val="10223E"/>
                    </a:solidFill>
                  </a:tcPr>
                </a:tc>
                <a:tc>
                  <a:txBody>
                    <a:bodyPr/>
                    <a:lstStyle/>
                    <a:p>
                      <a:pPr algn="ctr"/>
                      <a:r>
                        <a:rPr sz="1400" b="0">
                          <a:solidFill>
                            <a:srgbClr val="C1BEB4"/>
                          </a:solidFill>
                          <a:latin typeface="맑은 고딕"/>
                        </a:rPr>
                        <a:t>Kaggle · LoL Diamond Ranked Games (10 min)</a:t>
                      </a:r>
                    </a:p>
                  </a:txBody>
                  <a:tcPr marL="91440" marR="91440" anchor="ctr">
                    <a:solidFill>
                      <a:srgbClr val="10223E"/>
                    </a:solidFill>
                  </a:tcPr>
                </a:tc>
                <a:tc>
                  <a:txBody>
                    <a:bodyPr/>
                    <a:lstStyle/>
                    <a:p>
                      <a:pPr algn="ctr"/>
                      <a:r>
                        <a:rPr sz="1400" b="0">
                          <a:solidFill>
                            <a:srgbClr val="C1BEB4"/>
                          </a:solidFill>
                          <a:latin typeface="맑은 고딕"/>
                        </a:rPr>
                        <a:t>다이아는 상위 구간이라 실력 편차가 작다</a:t>
                      </a:r>
                    </a:p>
                  </a:txBody>
                  <a:tcPr marL="91440" marR="91440" anchor="ctr">
                    <a:solidFill>
                      <a:srgbClr val="10223E"/>
                    </a:solidFill>
                  </a:tcPr>
                </a:tc>
              </a:tr>
              <a:tr h="658368">
                <a:tc>
                  <a:txBody>
                    <a:bodyPr/>
                    <a:lstStyle/>
                    <a:p>
                      <a:pPr algn="l"/>
                      <a:r>
                        <a:rPr sz="1400" b="0">
                          <a:solidFill>
                            <a:srgbClr val="C1BEB4"/>
                          </a:solidFill>
                          <a:latin typeface="맑은 고딕"/>
                        </a:rPr>
                        <a:t>규모</a:t>
                      </a:r>
                    </a:p>
                  </a:txBody>
                  <a:tcPr marL="91440" marR="91440" anchor="ctr">
                    <a:solidFill>
                      <a:srgbClr val="09172B"/>
                    </a:solidFill>
                  </a:tcPr>
                </a:tc>
                <a:tc>
                  <a:txBody>
                    <a:bodyPr/>
                    <a:lstStyle/>
                    <a:p>
                      <a:pPr algn="ctr"/>
                      <a:r>
                        <a:rPr sz="1400" b="0">
                          <a:solidFill>
                            <a:srgbClr val="C1BEB4"/>
                          </a:solidFill>
                          <a:latin typeface="맑은 고딕"/>
                        </a:rPr>
                        <a:t>9,879행 × 40컬럼</a:t>
                      </a:r>
                    </a:p>
                  </a:txBody>
                  <a:tcPr marL="91440" marR="91440" anchor="ctr">
                    <a:solidFill>
                      <a:srgbClr val="09172B"/>
                    </a:solidFill>
                  </a:tcPr>
                </a:tc>
                <a:tc>
                  <a:txBody>
                    <a:bodyPr/>
                    <a:lstStyle/>
                    <a:p>
                      <a:pPr algn="ctr"/>
                      <a:r>
                        <a:rPr sz="1400" b="0">
                          <a:solidFill>
                            <a:srgbClr val="C1BEB4"/>
                          </a:solidFill>
                          <a:latin typeface="맑은 고딕"/>
                        </a:rPr>
                        <a:t>한 행 = 경기 한 판 · gameId 와 정답(blueWins)을 뺀</a:t>
                      </a:r>
                      <a:br>
                        <a:rPr sz="1400" b="0">
                          <a:solidFill>
                            <a:srgbClr val="C1BEB4"/>
                          </a:solidFill>
                          <a:latin typeface="맑은 고딕"/>
                        </a:rPr>
                      </a:br>
                      <a:r>
                        <a:rPr sz="1400" b="0">
                          <a:solidFill>
                            <a:srgbClr val="C1BEB4"/>
                          </a:solidFill>
                          <a:latin typeface="맑은 고딕"/>
                        </a:rPr>
                        <a:t>지표 후보는 38개</a:t>
                      </a:r>
                    </a:p>
                  </a:txBody>
                  <a:tcPr marL="91440" marR="91440" anchor="ctr">
                    <a:solidFill>
                      <a:srgbClr val="09172B"/>
                    </a:solidFill>
                  </a:tcPr>
                </a:tc>
              </a:tr>
              <a:tr h="658368">
                <a:tc>
                  <a:txBody>
                    <a:bodyPr/>
                    <a:lstStyle/>
                    <a:p>
                      <a:pPr algn="l"/>
                      <a:r>
                        <a:rPr sz="1400" b="0">
                          <a:solidFill>
                            <a:srgbClr val="C1BEB4"/>
                          </a:solidFill>
                          <a:latin typeface="맑은 고딕"/>
                        </a:rPr>
                        <a:t>결측 / 중복</a:t>
                      </a:r>
                    </a:p>
                  </a:txBody>
                  <a:tcPr marL="91440" marR="91440" anchor="ctr">
                    <a:solidFill>
                      <a:srgbClr val="10223E"/>
                    </a:solidFill>
                  </a:tcPr>
                </a:tc>
                <a:tc>
                  <a:txBody>
                    <a:bodyPr/>
                    <a:lstStyle/>
                    <a:p>
                      <a:pPr algn="ctr"/>
                      <a:r>
                        <a:rPr sz="1400" b="0">
                          <a:solidFill>
                            <a:srgbClr val="C1BEB4"/>
                          </a:solidFill>
                          <a:latin typeface="맑은 고딕"/>
                        </a:rPr>
                        <a:t>0건 / 0건</a:t>
                      </a:r>
                    </a:p>
                  </a:txBody>
                  <a:tcPr marL="91440" marR="91440" anchor="ctr">
                    <a:solidFill>
                      <a:srgbClr val="10223E"/>
                    </a:solidFill>
                  </a:tcPr>
                </a:tc>
                <a:tc>
                  <a:txBody>
                    <a:bodyPr/>
                    <a:lstStyle/>
                    <a:p>
                      <a:pPr algn="ctr"/>
                      <a:r>
                        <a:rPr sz="1400" b="0">
                          <a:solidFill>
                            <a:srgbClr val="C1BEB4"/>
                          </a:solidFill>
                          <a:latin typeface="맑은 고딕"/>
                        </a:rPr>
                        <a:t>채우거나 지울 것이 없었다 — 직접 확인</a:t>
                      </a:r>
                    </a:p>
                  </a:txBody>
                  <a:tcPr marL="91440" marR="91440" anchor="ctr">
                    <a:solidFill>
                      <a:srgbClr val="10223E"/>
                    </a:solidFill>
                  </a:tcPr>
                </a:tc>
              </a:tr>
              <a:tr h="658368">
                <a:tc>
                  <a:txBody>
                    <a:bodyPr/>
                    <a:lstStyle/>
                    <a:p>
                      <a:pPr algn="l"/>
                      <a:r>
                        <a:rPr sz="1400" b="1">
                          <a:solidFill>
                            <a:srgbClr val="F0E6D2"/>
                          </a:solidFill>
                          <a:latin typeface="맑은 고딕"/>
                        </a:rPr>
                        <a:t>승패 비율</a:t>
                      </a:r>
                    </a:p>
                  </a:txBody>
                  <a:tcPr marL="91440" marR="91440" anchor="ctr">
                    <a:solidFill>
                      <a:srgbClr val="2D353E"/>
                    </a:solidFill>
                  </a:tcPr>
                </a:tc>
                <a:tc>
                  <a:txBody>
                    <a:bodyPr/>
                    <a:lstStyle/>
                    <a:p>
                      <a:pPr algn="ctr"/>
                      <a:r>
                        <a:rPr sz="1400" b="1">
                          <a:solidFill>
                            <a:srgbClr val="F0E6D2"/>
                          </a:solidFill>
                          <a:latin typeface="맑은 고딕"/>
                        </a:rPr>
                        <a:t>50.10 : 49.90</a:t>
                      </a:r>
                    </a:p>
                  </a:txBody>
                  <a:tcPr marL="91440" marR="91440" anchor="ctr">
                    <a:solidFill>
                      <a:srgbClr val="2D353E"/>
                    </a:solidFill>
                  </a:tcPr>
                </a:tc>
                <a:tc>
                  <a:txBody>
                    <a:bodyPr/>
                    <a:lstStyle/>
                    <a:p>
                      <a:pPr algn="ctr"/>
                      <a:r>
                        <a:rPr sz="1400" b="1">
                          <a:solidFill>
                            <a:srgbClr val="F0E6D2"/>
                          </a:solidFill>
                          <a:latin typeface="맑은 고딕"/>
                        </a:rPr>
                        <a:t>거의 반반</a:t>
                      </a:r>
                    </a:p>
                  </a:txBody>
                  <a:tcPr marL="91440" marR="91440" anchor="ctr">
                    <a:solidFill>
                      <a:srgbClr val="2D353E"/>
                    </a:solidFill>
                  </a:tcPr>
                </a:tc>
              </a:tr>
              <a:tr h="658368">
                <a:tc>
                  <a:txBody>
                    <a:bodyPr/>
                    <a:lstStyle/>
                    <a:p>
                      <a:pPr algn="l"/>
                      <a:r>
                        <a:rPr sz="1400" b="0">
                          <a:solidFill>
                            <a:srgbClr val="C1BEB4"/>
                          </a:solidFill>
                          <a:latin typeface="맑은 고딕"/>
                        </a:rPr>
                        <a:t>학습 / 시험</a:t>
                      </a:r>
                    </a:p>
                  </a:txBody>
                  <a:tcPr marL="91440" marR="91440" anchor="ctr">
                    <a:solidFill>
                      <a:srgbClr val="10223E"/>
                    </a:solidFill>
                  </a:tcPr>
                </a:tc>
                <a:tc>
                  <a:txBody>
                    <a:bodyPr/>
                    <a:lstStyle/>
                    <a:p>
                      <a:pPr algn="ctr"/>
                      <a:r>
                        <a:rPr sz="1400" b="0">
                          <a:solidFill>
                            <a:srgbClr val="C1BEB4"/>
                          </a:solidFill>
                          <a:latin typeface="맑은 고딕"/>
                        </a:rPr>
                        <a:t>7,903 / 1,976</a:t>
                      </a:r>
                    </a:p>
                  </a:txBody>
                  <a:tcPr marL="91440" marR="91440" anchor="ctr">
                    <a:solidFill>
                      <a:srgbClr val="10223E"/>
                    </a:solidFill>
                  </a:tcPr>
                </a:tc>
                <a:tc>
                  <a:txBody>
                    <a:bodyPr/>
                    <a:lstStyle/>
                    <a:p>
                      <a:pPr algn="ctr"/>
                      <a:r>
                        <a:rPr sz="1400" b="0">
                          <a:solidFill>
                            <a:srgbClr val="C1BEB4"/>
                          </a:solidFill>
                          <a:latin typeface="맑은 고딕"/>
                        </a:rPr>
                        <a:t>학습데이터와 시험데이터를 나누고 시험지 봉인</a:t>
                      </a:r>
                    </a:p>
                  </a:txBody>
                  <a:tcPr marL="91440" marR="91440" anchor="ctr">
                    <a:solidFill>
                      <a:srgbClr val="10223E"/>
                    </a:solidFill>
                  </a:tcPr>
                </a:tc>
              </a:tr>
            </a:tbl>
          </a:graphicData>
        </a:graphic>
      </p:graphicFrame>
      <p:sp>
        <p:nvSpPr>
          <p:cNvPr id="16" name="TextBox 1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runs.csv · data/splits/    |    개념 → STUDY 3번 분할과 누수</a:t>
            </a:r>
          </a:p>
        </p:txBody>
      </p:sp>
      <p:sp>
        <p:nvSpPr>
          <p:cNvPr id="17" name="TextBox 16"/>
          <p:cNvSpPr txBox="1"/>
          <p:nvPr/>
        </p:nvSpPr>
        <p:spPr>
          <a:xfrm>
            <a:off x="10972800" y="6574536"/>
            <a:ext cx="868680" cy="201168"/>
          </a:xfrm>
          <a:prstGeom prst="rect">
            <a:avLst/>
          </a:prstGeom>
          <a:noFill/>
        </p:spPr>
        <p:txBody>
          <a:bodyPr wrap="square" anchor="ctr" lIns="0" rIns="0" tIns="0" bIns="0">
            <a:spAutoFit/>
          </a:bodyPr>
          <a:lstStyle/>
          <a:p>
            <a:pPr algn="r"/>
            <a:fld id="{48AC4041-8962-47DA-94E5-B03D28FFFCB0}" type="slidenum">
              <a:rPr lang="ko-KR" sz="950">
                <a:solidFill>
                  <a:srgbClr val="73726E"/>
                </a:solidFill>
                <a:latin typeface="맑은 고딕"/>
                <a:ea typeface="맑은 고딕"/>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분할</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00000"/>
            <a:ext cx="10634472" cy="713232"/>
          </a:xfrm>
          <a:prstGeom prst="rect">
            <a:avLst/>
          </a:prstGeom>
          <a:solidFill>
            <a:srgbClr val="010A13">
              <a:alpha val="80000"/>
            </a:srgbClr>
          </a:solidFill>
          <a:ln w="12700">
            <a:solidFill>
              <a:srgbClr val="6958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418294"/>
            <a:ext cx="10058400" cy="512064"/>
          </a:xfrm>
          <a:prstGeom prst="rect">
            <a:avLst/>
          </a:prstGeom>
          <a:noFill/>
        </p:spPr>
        <p:txBody>
          <a:bodyPr wrap="square" anchor="t" lIns="0" rIns="0" tIns="0" bIns="0">
            <a:spAutoFit/>
          </a:bodyPr>
          <a:lstStyle/>
          <a:p>
            <a:pPr algn="l">
              <a:lnSpc>
                <a:spcPct val="125000"/>
              </a:lnSpc>
              <a:spcAft>
                <a:spcPts val="400"/>
              </a:spcAft>
            </a:pPr>
            <a:r>
              <a:rPr sz="1250" b="1">
                <a:solidFill>
                  <a:srgbClr val="F0E6D2"/>
                </a:solidFill>
                <a:latin typeface="맑은 고딕"/>
              </a:rPr>
              <a:t>X_tr, X_te, y_tr, y_te = train_test_split(X, y, test_size=0.2, random_state=42, stratify=y)</a:t>
            </a:r>
          </a:p>
          <a:p>
            <a:pPr algn="l">
              <a:lnSpc>
                <a:spcPct val="125000"/>
              </a:lnSpc>
              <a:spcAft>
                <a:spcPts val="0"/>
              </a:spcAft>
            </a:pPr>
            <a:r>
              <a:rPr sz="1000" b="0">
                <a:solidFill>
                  <a:srgbClr val="8A877D"/>
                </a:solidFill>
                <a:latin typeface="맑은 고딕"/>
              </a:rPr>
              <a:t>test_size=0.2 → 시험 20% 봉인    ·    random_state=42 → 시드 고정    ·    stratify=y → 승패 비율 유지</a:t>
            </a:r>
          </a:p>
        </p:txBody>
      </p:sp>
      <p:sp>
        <p:nvSpPr>
          <p:cNvPr id="18" name="TextBox 17"/>
          <p:cNvSpPr txBox="1"/>
          <p:nvPr/>
        </p:nvSpPr>
        <p:spPr>
          <a:xfrm>
            <a:off x="777240" y="4150000"/>
            <a:ext cx="10607040" cy="1700000"/>
          </a:xfrm>
          <a:prstGeom prst="rect">
            <a:avLst/>
          </a:prstGeom>
          <a:noFill/>
        </p:spPr>
        <p:txBody>
          <a:bodyPr wrap="square" anchor="t" lIns="0" rIns="0" tIns="0" bIns="0">
            <a:spAutoFit/>
          </a:bodyPr>
          <a:lstStyle/>
          <a:p>
            <a:pPr algn="l">
              <a:lnSpc>
                <a:spcPct val="132000"/>
              </a:lnSpc>
              <a:spcAft>
                <a:spcPts val="600"/>
              </a:spcAft>
            </a:pPr>
            <a:r>
              <a:rPr sz="1300" b="1">
                <a:solidFill>
                  <a:srgbClr val="F0E6D2"/>
                </a:solidFill>
                <a:latin typeface="맑은 고딕"/>
              </a:rPr>
              <a:t>◆  시험지 1,976판은 여기서 봉인하고, 마지막 홀드아웃 평가까지 한 번도 열지 않습니다</a:t>
            </a:r>
          </a:p>
          <a:p>
            <a:pPr algn="l">
              <a:lnSpc>
                <a:spcPct val="130000"/>
              </a:lnSpc>
              <a:spcAft>
                <a:spcPts val="300"/>
              </a:spcAft>
            </a:pPr>
            <a:r>
              <a:rPr sz="1000" b="0">
                <a:solidFill>
                  <a:srgbClr val="8E8B80"/>
                </a:solidFill>
                <a:latin typeface="맑은 고딕"/>
              </a:rPr>
              <a:t>     그 사이 EDA 도, 피처 정리도, 모델 8종 비교도 전부 학습셋 7,903행만 보고 했다</a:t>
            </a:r>
          </a:p>
          <a:p>
            <a:pPr algn="l">
              <a:lnSpc>
                <a:spcPct val="132000"/>
              </a:lnSpc>
              <a:spcAft>
                <a:spcPts val="600"/>
              </a:spcAft>
            </a:pPr>
            <a:r>
              <a:rPr sz="1300" b="1">
                <a:solidFill>
                  <a:srgbClr val="F0E6D2"/>
                </a:solidFill>
                <a:latin typeface="맑은 고딕"/>
              </a:rPr>
              <a:t>◆  층화 (stratify) — 승패 비율을 학습 · 시험 양쪽에 똑같이 맞춘다</a:t>
            </a:r>
          </a:p>
          <a:p>
            <a:pPr algn="l">
              <a:lnSpc>
                <a:spcPct val="130000"/>
              </a:lnSpc>
              <a:spcAft>
                <a:spcPts val="300"/>
              </a:spcAft>
            </a:pPr>
            <a:r>
              <a:rPr sz="1000" b="0">
                <a:solidFill>
                  <a:srgbClr val="8E8B80"/>
                </a:solidFill>
                <a:latin typeface="맑은 고딕"/>
              </a:rPr>
              <a:t>     한쪽만 승률이 치우치면 두 점수를 견줄 수 없다 — 학습 0.4991 / 시험 0.4990</a:t>
            </a:r>
          </a:p>
          <a:p>
            <a:pPr algn="l">
              <a:lnSpc>
                <a:spcPct val="132000"/>
              </a:lnSpc>
              <a:spcAft>
                <a:spcPts val="600"/>
              </a:spcAft>
            </a:pPr>
            <a:r>
              <a:rPr sz="1300" b="1">
                <a:solidFill>
                  <a:srgbClr val="F0E6D2"/>
                </a:solidFill>
                <a:latin typeface="맑은 고딕"/>
              </a:rPr>
              <a:t>◆  교차검증도 층화 — 5조각 전부 승패 비율 유지</a:t>
            </a:r>
          </a:p>
        </p:txBody>
      </p:sp>
      <p:sp>
        <p:nvSpPr>
          <p:cNvPr id="19" name="TextBox 18"/>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재현 · src/day1_baseline.py 「3. 층화 분할」 · data/splits/    |    잘 나뉘었는지는 뒤 「분할 진단 4종」에서 기계로 확인합니다</a:t>
            </a:r>
          </a:p>
        </p:txBody>
      </p:sp>
      <p:sp>
        <p:nvSpPr>
          <p:cNvPr id="20" name="TextBox 19"/>
          <p:cNvSpPr txBox="1"/>
          <p:nvPr/>
        </p:nvSpPr>
        <p:spPr>
          <a:xfrm>
            <a:off x="10972800" y="6574536"/>
            <a:ext cx="868680" cy="201168"/>
          </a:xfrm>
          <a:prstGeom prst="rect">
            <a:avLst/>
          </a:prstGeom>
          <a:noFill/>
        </p:spPr>
        <p:txBody>
          <a:bodyPr wrap="square" anchor="ctr" lIns="0" rIns="0" tIns="0" bIns="0">
            <a:spAutoFit/>
          </a:bodyPr>
          <a:lstStyle/>
          <a:p>
            <a:pPr algn="r"/>
            <a:fld id="{975B6BA6-42C8-46DF-AF98-1FE7171F03F6}" type="slidenum">
              <a:rPr lang="ko-KR" sz="950">
                <a:solidFill>
                  <a:srgbClr val="73726E"/>
                </a:solidFill>
                <a:latin typeface="맑은 고딕"/>
                <a:ea typeface="맑은 고딕"/>
              </a:rPr>
              <a:t>9</a:t>
            </a:fld>
          </a:p>
        </p:txBody>
      </p:sp>
      <p:sp>
        <p:nvSpPr>
          <p:cNvPr id="23" name="Rectangle 31"/>
          <p:cNvSpPr/>
          <p:nvPr/>
        </p:nvSpPr>
        <p:spPr>
          <a:xfrm>
            <a:off x="777240" y="1280160"/>
            <a:ext cx="10634472" cy="56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32"/>
          <p:cNvSpPr/>
          <p:nvPr/>
        </p:nvSpPr>
        <p:spPr>
          <a:xfrm>
            <a:off x="777240" y="1280160"/>
            <a:ext cx="45720" cy="56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4"/>
          <p:cNvSpPr txBox="1"/>
          <p:nvPr/>
        </p:nvSpPr>
        <p:spPr>
          <a:xfrm>
            <a:off x="1014983" y="1280160"/>
            <a:ext cx="10216729" cy="560000"/>
          </a:xfrm>
          <a:prstGeom prst="rect">
            <a:avLst/>
          </a:prstGeom>
          <a:noFill/>
        </p:spPr>
        <p:txBody>
          <a:bodyPr wrap="square" anchor="ctr" lIns="0" rIns="0" tIns="0" bIns="0">
            <a:spAutoFit/>
          </a:bodyPr>
          <a:lstStyle/>
          <a:p>
            <a:pPr algn="l">
              <a:lnSpc>
                <a:spcPct val="132000"/>
              </a:lnSpc>
              <a:spcAft>
                <a:spcPts val="0"/>
              </a:spcAft>
            </a:pPr>
            <a:r>
              <a:rPr sz="2200" b="1">
                <a:solidFill>
                  <a:srgbClr val="C89B3C"/>
                </a:solidFill>
                <a:latin typeface="맑은 고딕"/>
              </a:rPr>
              <a:t>◆  가장 중요한 규칙 — 분할 우선</a:t>
            </a:r>
          </a:p>
        </p:txBody>
      </p:sp>
      <p:sp>
        <p:nvSpPr>
          <p:cNvPr id="22" name="TextBox 17"/>
          <p:cNvSpPr txBox="1"/>
          <p:nvPr/>
        </p:nvSpPr>
        <p:spPr>
          <a:xfrm>
            <a:off x="777240" y="1930160"/>
            <a:ext cx="10607040" cy="1300000"/>
          </a:xfrm>
          <a:prstGeom prst="rect">
            <a:avLst/>
          </a:prstGeom>
          <a:noFill/>
        </p:spPr>
        <p:txBody>
          <a:bodyPr wrap="square" anchor="t" lIns="0" rIns="0" tIns="0" bIns="0">
            <a:spAutoFit/>
          </a:bodyPr>
          <a:lstStyle/>
          <a:p>
            <a:pPr algn="l">
              <a:lnSpc>
                <a:spcPct val="132000"/>
              </a:lnSpc>
              <a:spcAft>
                <a:spcPts val="600"/>
              </a:spcAft>
            </a:pPr>
            <a:r>
              <a:rPr sz="1300" b="1">
                <a:solidFill>
                  <a:srgbClr val="F0E6D2"/>
                </a:solidFill>
                <a:latin typeface="맑은 고딕"/>
              </a:rPr>
              <a:t>◆  왜 먼저인가 — 시험지를 먼저 떼어 놓지 않으면 정답이 새어 들어간다</a:t>
            </a:r>
          </a:p>
          <a:p>
            <a:pPr algn="l">
              <a:lnSpc>
                <a:spcPct val="130000"/>
              </a:lnSpc>
              <a:spcAft>
                <a:spcPts val="300"/>
              </a:spcAft>
            </a:pPr>
            <a:r>
              <a:rPr sz="1000" b="0">
                <a:solidFill>
                  <a:srgbClr val="8E8B80"/>
                </a:solidFill>
                <a:latin typeface="맑은 고딕"/>
              </a:rPr>
              <a:t>     나누기 전에 전체 데이터를 만지면 시험지 정보가 새어 든다(누수) — 점수만 좋아 보이고 실전은 못 맞힌다</a:t>
            </a:r>
          </a:p>
          <a:p>
            <a:pPr algn="l">
              <a:lnSpc>
                <a:spcPct val="132000"/>
              </a:lnSpc>
              <a:spcAft>
                <a:spcPts val="600"/>
              </a:spcAft>
            </a:pPr>
            <a:r>
              <a:rPr sz="1300" b="1">
                <a:solidFill>
                  <a:srgbClr val="F0E6D2"/>
                </a:solidFill>
                <a:latin typeface="맑은 고딕"/>
              </a:rPr>
              <a:t>◆  어떻게 나눴나 — 9,879판을 8 : 2 로, 학습 7,903판 / 시험 1,976판</a:t>
            </a:r>
          </a:p>
          <a:p>
            <a:pPr algn="l">
              <a:lnSpc>
                <a:spcPct val="130000"/>
              </a:lnSpc>
              <a:spcAft>
                <a:spcPts val="300"/>
              </a:spcAft>
            </a:pPr>
            <a:r>
              <a:rPr sz="1000" b="0">
                <a:solidFill>
                  <a:srgbClr val="8E8B80"/>
                </a:solidFill>
                <a:latin typeface="맑은 고딕"/>
              </a:rPr>
              <a:t>     20% = 운에 흔들리지 않는 크기 · 시드 고정 = 누가 돌려도 같은 분할 · 인덱스는 data/splits/ 저장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데이터 분할 진단 결과</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2041828"/>
            <a:ext cx="10725914" cy="3579016"/>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090663"/>
            <a:ext cx="10634472" cy="3481346"/>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lit_check.png"/>
          <p:cNvPicPr>
            <a:picLocks noChangeAspect="1"/>
          </p:cNvPicPr>
          <p:nvPr/>
        </p:nvPicPr>
        <p:blipFill>
          <a:blip r:embed="rId3"/>
          <a:stretch>
            <a:fillRect/>
          </a:stretch>
        </p:blipFill>
        <p:spPr>
          <a:xfrm>
            <a:off x="886968" y="2220882"/>
            <a:ext cx="10415016" cy="3220908"/>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BD3A8F6E-6463-4340-8A44-D46927A492F0}" type="slidenum">
              <a:rPr lang="ko-KR" sz="950">
                <a:solidFill>
                  <a:srgbClr val="73726E"/>
                </a:solidFill>
                <a:latin typeface="맑은 고딕"/>
                <a:ea typeface="맑은 고딕"/>
              </a:rPr>
              <a:t>15</a:t>
            </a:fld>
          </a:p>
        </p:txBody>
      </p:sp>
      <p:sp>
        <p:nvSpPr>
          <p:cNvPr id="26" name="TextBox 17"/>
          <p:cNvSpPr txBox="1"/>
          <p:nvPr/>
        </p:nvSpPr>
        <p:spPr>
          <a:xfrm>
            <a:off x="777240" y="5700844"/>
            <a:ext cx="1063447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8 대 2로 나뉘고 겹침 0건 · 가운데: 승패 비율이 전체·학습·시험 모두 0.499 · 오른쪽: 골드차 분포가 포개진다 — 네 가지 모두 통과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1. 데이터 검증 및 분석   |   </a:t>
            </a:r>
            <a:r>
              <a:rPr sz="2500" b="1" spc="80">
                <a:solidFill>
                  <a:srgbClr val="F0E6D2"/>
                </a:solidFill>
                <a:latin typeface="맑은 고딕"/>
              </a:rPr>
              <a:t>피처 13개 정의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5230367" cy="2944368"/>
        </p:xfrm>
        <a:graphic>
          <a:graphicData uri="http://schemas.openxmlformats.org/drawingml/2006/table">
            <a:tbl>
              <a:tblPr>
                <a:tableStyleId>{5C22544A-7EE6-4342-B048-85BDC9FD1C3A}</a:tableStyleId>
              </a:tblPr>
              <a:tblGrid>
                <a:gridCol w="1920240"/>
                <a:gridCol w="3310127"/>
              </a:tblGrid>
              <a:tr h="384048">
                <a:tc>
                  <a:txBody>
                    <a:bodyPr/>
                    <a:lstStyle/>
                    <a:p>
                      <a:pPr algn="l"/>
                      <a:r>
                        <a:rPr sz="1150" b="1">
                          <a:solidFill>
                            <a:srgbClr val="F0E6D2"/>
                          </a:solidFill>
                          <a:latin typeface="맑은 고딕"/>
                        </a:rPr>
                        <a:t>성장 지표 (7개) — 결국 돈과 레벨로 모인다</a:t>
                      </a:r>
                    </a:p>
                  </a:txBody>
                  <a:tcPr marL="91440" marR="91440" anchor="ctr">
                    <a:solidFill>
                      <a:srgbClr val="3C3F3E"/>
                    </a:solidFill>
                  </a:tcPr>
                </a:tc>
                <a:tc>
                  <a:txBody>
                    <a:bodyPr/>
                    <a:lstStyle/>
                    <a:p>
                      <a:pPr algn="ctr"/>
                      <a:r>
                        <a:rPr sz="1150" b="1">
                          <a:solidFill>
                            <a:srgbClr val="F0E6D2"/>
                          </a:solidFill>
                          <a:latin typeface="맑은 고딕"/>
                        </a:rPr>
                        <a:t>무엇을 세나</a:t>
                      </a:r>
                    </a:p>
                  </a:txBody>
                  <a:tcPr marL="91440" marR="91440" anchor="ctr">
                    <a:solidFill>
                      <a:srgbClr val="3C3F3E"/>
                    </a:solidFill>
                  </a:tcPr>
                </a:tc>
              </a:tr>
              <a:tr h="365760">
                <a:tc>
                  <a:txBody>
                    <a:bodyPr/>
                    <a:lstStyle/>
                    <a:p>
                      <a:pPr algn="l"/>
                      <a:r>
                        <a:rPr sz="1150" b="1">
                          <a:solidFill>
                            <a:srgbClr val="F0E6D2"/>
                          </a:solidFill>
                          <a:latin typeface="맑은 고딕"/>
                        </a:rPr>
                        <a:t>골드(돈) 차이 (GoldDiff)</a:t>
                      </a:r>
                    </a:p>
                  </a:txBody>
                  <a:tcPr marL="91440" marR="91440" anchor="ctr">
                    <a:solidFill>
                      <a:srgbClr val="2D353E"/>
                    </a:solidFill>
                  </a:tcPr>
                </a:tc>
                <a:tc>
                  <a:txBody>
                    <a:bodyPr/>
                    <a:lstStyle/>
                    <a:p>
                      <a:pPr algn="ctr"/>
                      <a:r>
                        <a:rPr sz="1150" b="1">
                          <a:solidFill>
                            <a:srgbClr val="F0E6D2"/>
                          </a:solidFill>
                          <a:latin typeface="맑은 고딕"/>
                        </a:rPr>
                        <a:t>10분까지 번 돈의 차</a:t>
                      </a:r>
                    </a:p>
                  </a:txBody>
                  <a:tcPr marL="91440" marR="91440" anchor="ctr">
                    <a:solidFill>
                      <a:srgbClr val="2D353E"/>
                    </a:solidFill>
                  </a:tcPr>
                </a:tc>
              </a:tr>
              <a:tr h="365760">
                <a:tc>
                  <a:txBody>
                    <a:bodyPr/>
                    <a:lstStyle/>
                    <a:p>
                      <a:pPr algn="l"/>
                      <a:r>
                        <a:rPr sz="1150" b="0">
                          <a:solidFill>
                            <a:srgbClr val="C1BEB4"/>
                          </a:solidFill>
                          <a:latin typeface="맑은 고딕"/>
                        </a:rPr>
                        <a:t>경험치 차이 (ExpDiff)</a:t>
                      </a:r>
                    </a:p>
                  </a:txBody>
                  <a:tcPr marL="91440" marR="91440" anchor="ctr">
                    <a:solidFill>
                      <a:srgbClr val="09172B"/>
                    </a:solidFill>
                  </a:tcPr>
                </a:tc>
                <a:tc>
                  <a:txBody>
                    <a:bodyPr/>
                    <a:lstStyle/>
                    <a:p>
                      <a:pPr algn="ctr"/>
                      <a:r>
                        <a:rPr sz="1150" b="0">
                          <a:solidFill>
                            <a:srgbClr val="C1BEB4"/>
                          </a:solidFill>
                          <a:latin typeface="맑은 고딕"/>
                        </a:rPr>
                        <a:t>쌓은 경험치의 차</a:t>
                      </a:r>
                    </a:p>
                  </a:txBody>
                  <a:tcPr marL="91440" marR="91440" anchor="ctr">
                    <a:solidFill>
                      <a:srgbClr val="09172B"/>
                    </a:solidFill>
                  </a:tcPr>
                </a:tc>
              </a:tr>
              <a:tr h="365760">
                <a:tc>
                  <a:txBody>
                    <a:bodyPr/>
                    <a:lstStyle/>
                    <a:p>
                      <a:pPr algn="l"/>
                      <a:r>
                        <a:rPr sz="1150" b="0">
                          <a:solidFill>
                            <a:srgbClr val="C1BEB4"/>
                          </a:solidFill>
                          <a:latin typeface="맑은 고딕"/>
                        </a:rPr>
                        <a:t>평균 레벨 차이 (AvgLevelDiff)</a:t>
                      </a:r>
                    </a:p>
                  </a:txBody>
                  <a:tcPr marL="91440" marR="91440" anchor="ctr">
                    <a:solidFill>
                      <a:srgbClr val="10223E"/>
                    </a:solidFill>
                  </a:tcPr>
                </a:tc>
                <a:tc>
                  <a:txBody>
                    <a:bodyPr/>
                    <a:lstStyle/>
                    <a:p>
                      <a:pPr algn="ctr"/>
                      <a:r>
                        <a:rPr sz="1150" b="0">
                          <a:solidFill>
                            <a:srgbClr val="C1BEB4"/>
                          </a:solidFill>
                          <a:latin typeface="맑은 고딕"/>
                        </a:rPr>
                        <a:t>다섯 명 평균 레벨의 차</a:t>
                      </a:r>
                    </a:p>
                  </a:txBody>
                  <a:tcPr marL="91440" marR="91440" anchor="ctr">
                    <a:solidFill>
                      <a:srgbClr val="10223E"/>
                    </a:solidFill>
                  </a:tcPr>
                </a:tc>
              </a:tr>
              <a:tr h="365760">
                <a:tc>
                  <a:txBody>
                    <a:bodyPr/>
                    <a:lstStyle/>
                    <a:p>
                      <a:pPr algn="l"/>
                      <a:r>
                        <a:rPr sz="1150" b="0">
                          <a:solidFill>
                            <a:srgbClr val="C1BEB4"/>
                          </a:solidFill>
                          <a:latin typeface="맑은 고딕"/>
                        </a:rPr>
                        <a:t>미니언(CS) 차이 (TotalMinionsKilledDiff)</a:t>
                      </a:r>
                    </a:p>
                  </a:txBody>
                  <a:tcPr marL="91440" marR="91440" anchor="ctr">
                    <a:solidFill>
                      <a:srgbClr val="09172B"/>
                    </a:solidFill>
                  </a:tcPr>
                </a:tc>
                <a:tc>
                  <a:txBody>
                    <a:bodyPr/>
                    <a:lstStyle/>
                    <a:p>
                      <a:pPr algn="ctr"/>
                      <a:r>
                        <a:rPr sz="1150" b="0">
                          <a:solidFill>
                            <a:srgbClr val="C1BEB4"/>
                          </a:solidFill>
                          <a:latin typeface="맑은 고딕"/>
                        </a:rPr>
                        <a:t>잡은 미니언 수의 차 — 돈의 주 수입원</a:t>
                      </a:r>
                    </a:p>
                  </a:txBody>
                  <a:tcPr marL="91440" marR="91440" anchor="ctr">
                    <a:solidFill>
                      <a:srgbClr val="09172B"/>
                    </a:solidFill>
                  </a:tcPr>
                </a:tc>
              </a:tr>
              <a:tr h="365760">
                <a:tc>
                  <a:txBody>
                    <a:bodyPr/>
                    <a:lstStyle/>
                    <a:p>
                      <a:pPr algn="l"/>
                      <a:r>
                        <a:rPr sz="1150" b="0">
                          <a:solidFill>
                            <a:srgbClr val="C1BEB4"/>
                          </a:solidFill>
                          <a:latin typeface="맑은 고딕"/>
                        </a:rPr>
                        <a:t>정글 몬스터 차이 (TotalJungleMinionsKilledDiff)</a:t>
                      </a:r>
                    </a:p>
                  </a:txBody>
                  <a:tcPr marL="91440" marR="91440" anchor="ctr">
                    <a:solidFill>
                      <a:srgbClr val="10223E"/>
                    </a:solidFill>
                  </a:tcPr>
                </a:tc>
                <a:tc>
                  <a:txBody>
                    <a:bodyPr/>
                    <a:lstStyle/>
                    <a:p>
                      <a:pPr algn="ctr"/>
                      <a:r>
                        <a:rPr sz="1150" b="0">
                          <a:solidFill>
                            <a:srgbClr val="C1BEB4"/>
                          </a:solidFill>
                          <a:latin typeface="맑은 고딕"/>
                        </a:rPr>
                        <a:t>숲에서 잡은 몬스터 수의 차</a:t>
                      </a:r>
                    </a:p>
                  </a:txBody>
                  <a:tcPr marL="91440" marR="91440" anchor="ctr">
                    <a:solidFill>
                      <a:srgbClr val="10223E"/>
                    </a:solidFill>
                  </a:tcPr>
                </a:tc>
              </a:tr>
              <a:tr h="365760">
                <a:tc>
                  <a:txBody>
                    <a:bodyPr/>
                    <a:lstStyle/>
                    <a:p>
                      <a:pPr algn="l"/>
                      <a:r>
                        <a:rPr sz="1150" b="0">
                          <a:solidFill>
                            <a:srgbClr val="C1BEB4"/>
                          </a:solidFill>
                          <a:latin typeface="맑은 고딕"/>
                        </a:rPr>
                        <a:t>킬 차이 (KillsDiff)</a:t>
                      </a:r>
                    </a:p>
                  </a:txBody>
                  <a:tcPr marL="91440" marR="91440" anchor="ctr">
                    <a:solidFill>
                      <a:srgbClr val="09172B"/>
                    </a:solidFill>
                  </a:tcPr>
                </a:tc>
                <a:tc>
                  <a:txBody>
                    <a:bodyPr/>
                    <a:lstStyle/>
                    <a:p>
                      <a:pPr algn="ctr"/>
                      <a:r>
                        <a:rPr sz="1150" b="0">
                          <a:solidFill>
                            <a:srgbClr val="C1BEB4"/>
                          </a:solidFill>
                          <a:latin typeface="맑은 고딕"/>
                        </a:rPr>
                        <a:t>상대를 쓰러뜨린 횟수의 차</a:t>
                      </a:r>
                    </a:p>
                  </a:txBody>
                  <a:tcPr marL="91440" marR="91440" anchor="ctr">
                    <a:solidFill>
                      <a:srgbClr val="09172B"/>
                    </a:solidFill>
                  </a:tcPr>
                </a:tc>
              </a:tr>
              <a:tr h="365760">
                <a:tc>
                  <a:txBody>
                    <a:bodyPr/>
                    <a:lstStyle/>
                    <a:p>
                      <a:pPr algn="l"/>
                      <a:r>
                        <a:rPr sz="1150" b="0">
                          <a:solidFill>
                            <a:srgbClr val="C1BEB4"/>
                          </a:solidFill>
                          <a:latin typeface="맑은 고딕"/>
                        </a:rPr>
                        <a:t>어시스트 차이 (AssistsDiff)</a:t>
                      </a:r>
                    </a:p>
                  </a:txBody>
                  <a:tcPr marL="91440" marR="91440" anchor="ctr">
                    <a:solidFill>
                      <a:srgbClr val="10223E"/>
                    </a:solidFill>
                  </a:tcPr>
                </a:tc>
                <a:tc>
                  <a:txBody>
                    <a:bodyPr/>
                    <a:lstStyle/>
                    <a:p>
                      <a:pPr algn="ctr"/>
                      <a:r>
                        <a:rPr sz="1150" b="0">
                          <a:solidFill>
                            <a:srgbClr val="C1BEB4"/>
                          </a:solidFill>
                          <a:latin typeface="맑은 고딕"/>
                        </a:rPr>
                        <a:t>킬을 거든 횟수의 차</a:t>
                      </a:r>
                    </a:p>
                  </a:txBody>
                  <a:tcPr marL="91440" marR="91440" anchor="ctr">
                    <a:solidFill>
                      <a:srgbClr val="10223E"/>
                    </a:solidFill>
                  </a:tcPr>
                </a:tc>
              </a:tr>
            </a:tbl>
          </a:graphicData>
        </a:graphic>
      </p:graphicFrame>
      <p:graphicFrame>
        <p:nvGraphicFramePr>
          <p:cNvPr id="16" name="Table 15"/>
          <p:cNvGraphicFramePr>
            <a:graphicFrameLocks noGrp="1"/>
          </p:cNvGraphicFramePr>
          <p:nvPr/>
        </p:nvGraphicFramePr>
        <p:xfrm>
          <a:off x="6181344" y="1280160"/>
          <a:ext cx="5230367" cy="2578608"/>
        </p:xfrm>
        <a:graphic>
          <a:graphicData uri="http://schemas.openxmlformats.org/drawingml/2006/table">
            <a:tbl>
              <a:tblPr>
                <a:tableStyleId>{5C22544A-7EE6-4342-B048-85BDC9FD1C3A}</a:tableStyleId>
              </a:tblPr>
              <a:tblGrid>
                <a:gridCol w="1828799"/>
                <a:gridCol w="3401568"/>
              </a:tblGrid>
              <a:tr h="384048">
                <a:tc>
                  <a:txBody>
                    <a:bodyPr/>
                    <a:lstStyle/>
                    <a:p>
                      <a:pPr algn="l"/>
                      <a:r>
                        <a:rPr sz="1150" b="1">
                          <a:solidFill>
                            <a:srgbClr val="F0E6D2"/>
                          </a:solidFill>
                          <a:latin typeface="맑은 고딕"/>
                        </a:rPr>
                        <a:t>오브젝트 · 시야 (6개)</a:t>
                      </a:r>
                    </a:p>
                  </a:txBody>
                  <a:tcPr marL="91440" marR="91440" anchor="ctr">
                    <a:solidFill>
                      <a:srgbClr val="3C3F3E"/>
                    </a:solidFill>
                  </a:tcPr>
                </a:tc>
                <a:tc>
                  <a:txBody>
                    <a:bodyPr/>
                    <a:lstStyle/>
                    <a:p>
                      <a:pPr algn="ctr"/>
                      <a:r>
                        <a:rPr sz="1150" b="1">
                          <a:solidFill>
                            <a:srgbClr val="F0E6D2"/>
                          </a:solidFill>
                          <a:latin typeface="맑은 고딕"/>
                        </a:rPr>
                        <a:t>무엇을 세나</a:t>
                      </a:r>
                    </a:p>
                  </a:txBody>
                  <a:tcPr marL="91440" marR="91440" anchor="ctr">
                    <a:solidFill>
                      <a:srgbClr val="3C3F3E"/>
                    </a:solidFill>
                  </a:tcPr>
                </a:tc>
              </a:tr>
              <a:tr h="365760">
                <a:tc>
                  <a:txBody>
                    <a:bodyPr/>
                    <a:lstStyle/>
                    <a:p>
                      <a:pPr algn="l"/>
                      <a:r>
                        <a:rPr sz="1150" b="0">
                          <a:solidFill>
                            <a:srgbClr val="C1BEB4"/>
                          </a:solidFill>
                          <a:latin typeface="맑은 고딕"/>
                        </a:rPr>
                        <a:t>드래곤 차이 (DragonsDiff)</a:t>
                      </a:r>
                    </a:p>
                  </a:txBody>
                  <a:tcPr marL="91440" marR="91440" anchor="ctr">
                    <a:solidFill>
                      <a:srgbClr val="10223E"/>
                    </a:solidFill>
                  </a:tcPr>
                </a:tc>
                <a:tc>
                  <a:txBody>
                    <a:bodyPr/>
                    <a:lstStyle/>
                    <a:p>
                      <a:pPr algn="ctr"/>
                      <a:r>
                        <a:rPr sz="1150" b="0">
                          <a:solidFill>
                            <a:srgbClr val="C1BEB4"/>
                          </a:solidFill>
                          <a:latin typeface="맑은 고딕"/>
                        </a:rPr>
                        <a:t>잡은 드래곤 수의 차 — 팀 전체가 강해진다</a:t>
                      </a:r>
                    </a:p>
                  </a:txBody>
                  <a:tcPr marL="91440" marR="91440" anchor="ctr">
                    <a:solidFill>
                      <a:srgbClr val="10223E"/>
                    </a:solidFill>
                  </a:tcPr>
                </a:tc>
              </a:tr>
              <a:tr h="365760">
                <a:tc>
                  <a:txBody>
                    <a:bodyPr/>
                    <a:lstStyle/>
                    <a:p>
                      <a:pPr algn="l"/>
                      <a:r>
                        <a:rPr sz="1150" b="0">
                          <a:solidFill>
                            <a:srgbClr val="C1BEB4"/>
                          </a:solidFill>
                          <a:latin typeface="맑은 고딕"/>
                        </a:rPr>
                        <a:t>전령 차이 (HeraldsDiff)</a:t>
                      </a:r>
                    </a:p>
                  </a:txBody>
                  <a:tcPr marL="91440" marR="91440" anchor="ctr">
                    <a:solidFill>
                      <a:srgbClr val="09172B"/>
                    </a:solidFill>
                  </a:tcPr>
                </a:tc>
                <a:tc>
                  <a:txBody>
                    <a:bodyPr/>
                    <a:lstStyle/>
                    <a:p>
                      <a:pPr algn="ctr"/>
                      <a:r>
                        <a:rPr sz="1150" b="0">
                          <a:solidFill>
                            <a:srgbClr val="C1BEB4"/>
                          </a:solidFill>
                          <a:latin typeface="맑은 고딕"/>
                        </a:rPr>
                        <a:t>잡은 전령 수의 차 — 타워를 미는 데 쓴다</a:t>
                      </a:r>
                    </a:p>
                  </a:txBody>
                  <a:tcPr marL="91440" marR="91440" anchor="ctr">
                    <a:solidFill>
                      <a:srgbClr val="09172B"/>
                    </a:solidFill>
                  </a:tcPr>
                </a:tc>
              </a:tr>
              <a:tr h="365760">
                <a:tc>
                  <a:txBody>
                    <a:bodyPr/>
                    <a:lstStyle/>
                    <a:p>
                      <a:pPr algn="l"/>
                      <a:r>
                        <a:rPr sz="1150" b="0">
                          <a:solidFill>
                            <a:srgbClr val="C1BEB4"/>
                          </a:solidFill>
                          <a:latin typeface="맑은 고딕"/>
                        </a:rPr>
                        <a:t>타워 파괴 차이 (TowersDestroyedDiff)</a:t>
                      </a:r>
                    </a:p>
                  </a:txBody>
                  <a:tcPr marL="91440" marR="91440" anchor="ctr">
                    <a:solidFill>
                      <a:srgbClr val="10223E"/>
                    </a:solidFill>
                  </a:tcPr>
                </a:tc>
                <a:tc>
                  <a:txBody>
                    <a:bodyPr/>
                    <a:lstStyle/>
                    <a:p>
                      <a:pPr algn="ctr"/>
                      <a:r>
                        <a:rPr sz="1150" b="0">
                          <a:solidFill>
                            <a:srgbClr val="C1BEB4"/>
                          </a:solidFill>
                          <a:latin typeface="맑은 고딕"/>
                        </a:rPr>
                        <a:t>부순 타워 수의 차</a:t>
                      </a:r>
                    </a:p>
                  </a:txBody>
                  <a:tcPr marL="91440" marR="91440" anchor="ctr">
                    <a:solidFill>
                      <a:srgbClr val="10223E"/>
                    </a:solidFill>
                  </a:tcPr>
                </a:tc>
              </a:tr>
              <a:tr h="365760">
                <a:tc>
                  <a:txBody>
                    <a:bodyPr/>
                    <a:lstStyle/>
                    <a:p>
                      <a:pPr algn="l"/>
                      <a:r>
                        <a:rPr sz="1150" b="0">
                          <a:solidFill>
                            <a:srgbClr val="C1BEB4"/>
                          </a:solidFill>
                          <a:latin typeface="맑은 고딕"/>
                        </a:rPr>
                        <a:t>첫 킬 (FirstBlood)</a:t>
                      </a:r>
                    </a:p>
                  </a:txBody>
                  <a:tcPr marL="91440" marR="91440" anchor="ctr">
                    <a:solidFill>
                      <a:srgbClr val="09172B"/>
                    </a:solidFill>
                  </a:tcPr>
                </a:tc>
                <a:tc>
                  <a:txBody>
                    <a:bodyPr/>
                    <a:lstStyle/>
                    <a:p>
                      <a:pPr algn="ctr"/>
                      <a:r>
                        <a:rPr sz="1150" b="0">
                          <a:solidFill>
                            <a:srgbClr val="C1BEB4"/>
                          </a:solidFill>
                          <a:latin typeface="맑은 고딕"/>
                        </a:rPr>
                        <a:t>첫 킬을 누가 냈나 — 유일하게 0 / 1</a:t>
                      </a:r>
                    </a:p>
                  </a:txBody>
                  <a:tcPr marL="91440" marR="91440" anchor="ctr">
                    <a:solidFill>
                      <a:srgbClr val="09172B"/>
                    </a:solidFill>
                  </a:tcPr>
                </a:tc>
              </a:tr>
              <a:tr h="365760">
                <a:tc>
                  <a:txBody>
                    <a:bodyPr/>
                    <a:lstStyle/>
                    <a:p>
                      <a:pPr algn="l"/>
                      <a:r>
                        <a:rPr sz="1150" b="0">
                          <a:solidFill>
                            <a:srgbClr val="C1BEB4"/>
                          </a:solidFill>
                          <a:latin typeface="맑은 고딕"/>
                        </a:rPr>
                        <a:t>와드 설치 차이 (WardsPlacedDiff)</a:t>
                      </a:r>
                    </a:p>
                  </a:txBody>
                  <a:tcPr marL="91440" marR="91440" anchor="ctr">
                    <a:solidFill>
                      <a:srgbClr val="10223E"/>
                    </a:solidFill>
                  </a:tcPr>
                </a:tc>
                <a:tc>
                  <a:txBody>
                    <a:bodyPr/>
                    <a:lstStyle/>
                    <a:p>
                      <a:pPr algn="ctr"/>
                      <a:r>
                        <a:rPr sz="1150" b="0">
                          <a:solidFill>
                            <a:srgbClr val="C1BEB4"/>
                          </a:solidFill>
                          <a:latin typeface="맑은 고딕"/>
                        </a:rPr>
                        <a:t>시야를 밝히는 물건을 놓은 수의 차</a:t>
                      </a:r>
                    </a:p>
                  </a:txBody>
                  <a:tcPr marL="91440" marR="91440" anchor="ctr">
                    <a:solidFill>
                      <a:srgbClr val="10223E"/>
                    </a:solidFill>
                  </a:tcPr>
                </a:tc>
              </a:tr>
              <a:tr h="365760">
                <a:tc>
                  <a:txBody>
                    <a:bodyPr/>
                    <a:lstStyle/>
                    <a:p>
                      <a:pPr algn="l"/>
                      <a:r>
                        <a:rPr sz="1150" b="0">
                          <a:solidFill>
                            <a:srgbClr val="C1BEB4"/>
                          </a:solidFill>
                          <a:latin typeface="맑은 고딕"/>
                        </a:rPr>
                        <a:t>와드 제거 차이 (WardsDestroyedDiff)</a:t>
                      </a:r>
                    </a:p>
                  </a:txBody>
                  <a:tcPr marL="91440" marR="91440" anchor="ctr">
                    <a:solidFill>
                      <a:srgbClr val="09172B"/>
                    </a:solidFill>
                  </a:tcPr>
                </a:tc>
                <a:tc>
                  <a:txBody>
                    <a:bodyPr/>
                    <a:lstStyle/>
                    <a:p>
                      <a:pPr algn="ctr"/>
                      <a:r>
                        <a:rPr sz="1150" b="0">
                          <a:solidFill>
                            <a:srgbClr val="C1BEB4"/>
                          </a:solidFill>
                          <a:latin typeface="맑은 고딕"/>
                        </a:rPr>
                        <a:t>상대 와드를 지운 수의 차</a:t>
                      </a:r>
                    </a:p>
                  </a:txBody>
                  <a:tcPr marL="91440" marR="91440" anchor="ctr">
                    <a:solidFill>
                      <a:srgbClr val="09172B"/>
                    </a:solidFill>
                  </a:tcPr>
                </a:tc>
              </a:tr>
            </a:tbl>
          </a:graphicData>
        </a:graphic>
      </p:graphicFrame>
      <p:sp>
        <p:nvSpPr>
          <p:cNvPr id="17" name="TextBox 16"/>
          <p:cNvSpPr txBox="1"/>
          <p:nvPr/>
        </p:nvSpPr>
        <p:spPr>
          <a:xfrm>
            <a:off x="777240" y="4612111"/>
            <a:ext cx="10607040" cy="400000"/>
          </a:xfrm>
          <a:prstGeom prst="rect">
            <a:avLst/>
          </a:prstGeom>
          <a:noFill/>
        </p:spPr>
        <p:txBody>
          <a:bodyPr wrap="square" anchor="t" lIns="0" rIns="0" tIns="0" bIns="0">
            <a:spAutoFit/>
          </a:bodyPr>
          <a:lstStyle/>
          <a:p>
            <a:pPr algn="l">
              <a:lnSpc>
                <a:spcPct val="132000"/>
              </a:lnSpc>
              <a:spcAft>
                <a:spcPts val="700"/>
              </a:spcAft>
            </a:pPr>
            <a:r>
              <a:rPr sz="1250" b="0">
                <a:solidFill>
                  <a:srgbClr val="C8C5BC"/>
                </a:solidFill>
                <a:latin typeface="맑은 고딕"/>
              </a:rPr>
              <a:t>•  후보 38개 중 중복 11개(거울·상수배·합계)를 덜어내고, "블루 − 레드" 차이 13개로 합쳤습니다</a:t>
            </a:r>
          </a:p>
          <a:p>
            <a:pPr algn="l">
              <a:lnSpc>
                <a:spcPct val="132000"/>
              </a:lnSpc>
              <a:spcAft>
                <a:spcPts val="700"/>
              </a:spcAft>
            </a:pPr>
            <a:r>
              <a:rPr sz="1250" b="0">
                <a:solidFill>
                  <a:srgbClr val="C8C5BC"/>
                </a:solidFill>
                <a:latin typeface="맑은 고딕"/>
              </a:rPr>
              <a:t>•  절반으로 줄었는데 정확도는 올랐습니다 (0.7334 → 0.7369) — 전부 "양수면 파란 팀 우세"</a:t>
            </a:r>
          </a:p>
        </p:txBody>
      </p:sp>
      <p:sp>
        <p:nvSpPr>
          <p:cNvPr id="18" name="Rectangle 17"/>
          <p:cNvSpPr/>
          <p:nvPr/>
        </p:nvSpPr>
        <p:spPr>
          <a:xfrm>
            <a:off x="777240" y="5000000"/>
            <a:ext cx="10634472" cy="7600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00000"/>
            <a:ext cx="45720" cy="760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000000"/>
            <a:ext cx="10588752" cy="760000"/>
          </a:xfrm>
          <a:prstGeom prst="rect">
            <a:avLst/>
          </a:prstGeom>
          <a:noFill/>
        </p:spPr>
        <p:txBody>
          <a:bodyPr wrap="square" anchor="ctr" lIns="0" rIns="0" tIns="0" bIns="0">
            <a:spAutoFit/>
          </a:bodyPr>
          <a:lstStyle/>
          <a:p>
            <a:pPr algn="ctr">
              <a:lnSpc>
                <a:spcPct val="132000"/>
              </a:lnSpc>
              <a:spcAft>
                <a:spcPts val="0"/>
              </a:spcAft>
            </a:pPr>
            <a:r>
              <a:rPr sz="2000" b="1">
                <a:solidFill>
                  <a:srgbClr val="F0E6D2"/>
                </a:solidFill>
                <a:latin typeface="맑은 고딕"/>
              </a:rPr>
              <a:t>컬럼 40 → 차이 피처 13</a:t>
            </a:r>
          </a:p>
        </p:txBody>
      </p:sp>
      <p:sp>
        <p:nvSpPr>
          <p:cNvPr id="21" name="TextBox 20"/>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정본 · lolwin/features.py (DIFF13 · KOREAN)    |    같은 정의로 DB 뷰 SQL 도 생성한다</a:t>
            </a:r>
          </a:p>
        </p:txBody>
      </p:sp>
      <p:sp>
        <p:nvSpPr>
          <p:cNvPr id="22" name="TextBox 21"/>
          <p:cNvSpPr txBox="1"/>
          <p:nvPr/>
        </p:nvSpPr>
        <p:spPr>
          <a:xfrm>
            <a:off x="10972800" y="6574536"/>
            <a:ext cx="868680" cy="201168"/>
          </a:xfrm>
          <a:prstGeom prst="rect">
            <a:avLst/>
          </a:prstGeom>
          <a:noFill/>
        </p:spPr>
        <p:txBody>
          <a:bodyPr wrap="square" anchor="ctr" lIns="0" rIns="0" tIns="0" bIns="0">
            <a:spAutoFit/>
          </a:bodyPr>
          <a:lstStyle/>
          <a:p>
            <a:pPr algn="r"/>
            <a:fld id="{82DABF4E-2023-4EBB-BFA0-537BD2D6ED0A}" type="slidenum">
              <a:rPr lang="ko-KR" sz="950">
                <a:solidFill>
                  <a:srgbClr val="73726E"/>
                </a:solidFill>
                <a:latin typeface="맑은 고딕"/>
                <a:ea typeface="맑은 고딕"/>
              </a:rPr>
              <a:t>10</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02</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1  |  승패 예측과 원인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C4941FC5-EFCD-4A44-ACD9-AA6481582B65}" type="slidenum">
              <a:rPr lang="ko-KR" sz="950">
                <a:solidFill>
                  <a:srgbClr val="73726E"/>
                </a:solidFill>
                <a:latin typeface="맑은 고딕"/>
                <a:ea typeface="맑은 고딕"/>
              </a:rPr>
              <a:t>17</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진행 틀 — CRISP-DM 다섯 단계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1148" cy="18288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①  업무 이해</a:t>
            </a:r>
          </a:p>
          <a:p>
            <a:pPr algn="l">
              <a:lnSpc>
                <a:spcPct val="132000"/>
              </a:lnSpc>
              <a:spcAft>
                <a:spcPts val="0"/>
              </a:spcAft>
            </a:pPr>
            <a:r>
              <a:rPr sz="1050" b="0">
                <a:solidFill>
                  <a:srgbClr val="C8C5BC"/>
                </a:solidFill>
                <a:latin typeface="맑은 고딕"/>
              </a:rPr>
              <a:t>풀 문제와 기능을 먼저 정했다 —</a:t>
            </a:r>
            <a:br>
              <a:rPr sz="1050" b="0">
                <a:solidFill>
                  <a:srgbClr val="C8C5BC"/>
                </a:solidFill>
                <a:latin typeface="맑은 고딕"/>
              </a:rPr>
            </a:br>
            <a:r>
              <a:rPr sz="1050" b="0">
                <a:solidFill>
                  <a:srgbClr val="C8C5BC"/>
                </a:solidFill>
                <a:latin typeface="맑은 고딕"/>
              </a:rPr>
              <a:t>"승률 + 이유 + 경고 + 코칭".</a:t>
            </a:r>
            <a:br>
              <a:rPr sz="1050" b="0">
                <a:solidFill>
                  <a:srgbClr val="C8C5BC"/>
                </a:solidFill>
                <a:latin typeface="맑은 고딕"/>
              </a:rPr>
            </a:br>
            <a:r>
              <a:rPr sz="1050" b="0">
                <a:solidFill>
                  <a:srgbClr val="C8C5BC"/>
                </a:solidFill>
                <a:latin typeface="맑은 고딕"/>
              </a:rPr>
              <a:t>"이유를 반드시 낸다"가 이후를 결정</a:t>
            </a:r>
          </a:p>
        </p:txBody>
      </p:sp>
      <p:sp>
        <p:nvSpPr>
          <p:cNvPr id="18" name="Rectangle 17"/>
          <p:cNvSpPr/>
          <p:nvPr/>
        </p:nvSpPr>
        <p:spPr>
          <a:xfrm>
            <a:off x="3465576"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65576"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②  데이터 이해 · 준비</a:t>
            </a:r>
          </a:p>
          <a:p>
            <a:pPr algn="l">
              <a:lnSpc>
                <a:spcPct val="132000"/>
              </a:lnSpc>
              <a:spcAft>
                <a:spcPts val="0"/>
              </a:spcAft>
            </a:pPr>
            <a:r>
              <a:rPr sz="1050" b="0">
                <a:solidFill>
                  <a:srgbClr val="C8C5BC"/>
                </a:solidFill>
                <a:latin typeface="맑은 고딕"/>
              </a:rPr>
              <a:t>검증 → 분할 봉인 → 13개 차이 피처.</a:t>
            </a:r>
            <a:br>
              <a:rPr sz="1050" b="0">
                <a:solidFill>
                  <a:srgbClr val="C8C5BC"/>
                </a:solidFill>
                <a:latin typeface="맑은 고딕"/>
              </a:rPr>
            </a:br>
            <a:r>
              <a:rPr sz="1050" b="0">
                <a:solidFill>
                  <a:srgbClr val="C8C5BC"/>
                </a:solidFill>
                <a:latin typeface="맑은 고딕"/>
              </a:rPr>
              <a:t>앞 섹션에서 끝냈다</a:t>
            </a:r>
          </a:p>
        </p:txBody>
      </p:sp>
      <p:sp>
        <p:nvSpPr>
          <p:cNvPr id="21" name="Rectangle 20"/>
          <p:cNvSpPr/>
          <p:nvPr/>
        </p:nvSpPr>
        <p:spPr>
          <a:xfrm>
            <a:off x="6153912"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③  모델링</a:t>
            </a:r>
          </a:p>
          <a:p>
            <a:pPr algn="l">
              <a:lnSpc>
                <a:spcPct val="132000"/>
              </a:lnSpc>
              <a:spcAft>
                <a:spcPts val="0"/>
              </a:spcAft>
            </a:pPr>
            <a:r>
              <a:rPr sz="1050" b="0">
                <a:solidFill>
                  <a:srgbClr val="C8C5BC"/>
                </a:solidFill>
                <a:latin typeface="맑은 고딕"/>
              </a:rPr>
              <a:t>후보 8종을 같은 조건에서 비교.</a:t>
            </a:r>
            <a:br>
              <a:rPr sz="1050" b="0">
                <a:solidFill>
                  <a:srgbClr val="C8C5BC"/>
                </a:solidFill>
                <a:latin typeface="맑은 고딕"/>
              </a:rPr>
            </a:br>
            <a:r>
              <a:rPr sz="1050" b="0">
                <a:solidFill>
                  <a:srgbClr val="C8C5BC"/>
                </a:solidFill>
                <a:latin typeface="맑은 고딕"/>
              </a:rPr>
              <a:t>"이유를 낼 수 있는가"가 마지막 기준</a:t>
            </a:r>
          </a:p>
        </p:txBody>
      </p:sp>
      <p:sp>
        <p:nvSpPr>
          <p:cNvPr id="24" name="Rectangle 23"/>
          <p:cNvSpPr/>
          <p:nvPr/>
        </p:nvSpPr>
        <p:spPr>
          <a:xfrm>
            <a:off x="8842248" y="1280160"/>
            <a:ext cx="2523744" cy="1828800"/>
          </a:xfrm>
          <a:prstGeom prst="rect">
            <a:avLst/>
          </a:prstGeom>
          <a:solidFill>
            <a:srgbClr val="10223E">
              <a:alpha val="88000"/>
            </a:srgbClr>
          </a:solidFill>
          <a:ln w="12700">
            <a:solidFill>
              <a:srgbClr val="4B49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42248" y="1280160"/>
            <a:ext cx="41148" cy="18288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79992" y="1536463"/>
            <a:ext cx="2048256" cy="1463040"/>
          </a:xfrm>
          <a:prstGeom prst="rect">
            <a:avLst/>
          </a:prstGeom>
          <a:noFill/>
        </p:spPr>
        <p:txBody>
          <a:bodyPr wrap="square" anchor="t" lIns="0" rIns="0" tIns="0" bIns="0">
            <a:spAutoFit/>
          </a:bodyPr>
          <a:lstStyle/>
          <a:p>
            <a:pPr algn="l">
              <a:lnSpc>
                <a:spcPct val="125000"/>
              </a:lnSpc>
              <a:spcAft>
                <a:spcPts val="900"/>
              </a:spcAft>
            </a:pPr>
            <a:r>
              <a:rPr sz="1500" b="1">
                <a:solidFill>
                  <a:srgbClr val="F0E6D2"/>
                </a:solidFill>
                <a:latin typeface="맑은 고딕"/>
              </a:rPr>
              <a:t>④  평가</a:t>
            </a:r>
          </a:p>
          <a:p>
            <a:pPr algn="l">
              <a:lnSpc>
                <a:spcPct val="132000"/>
              </a:lnSpc>
              <a:spcAft>
                <a:spcPts val="0"/>
              </a:spcAft>
            </a:pPr>
            <a:r>
              <a:rPr sz="1050" b="0">
                <a:solidFill>
                  <a:srgbClr val="C8C5BC"/>
                </a:solidFill>
                <a:latin typeface="맑은 고딕"/>
              </a:rPr>
              <a:t>교차검증 · 시드 10회 · 홀드아웃 —</a:t>
            </a:r>
            <a:br>
              <a:rPr sz="1050" b="0">
                <a:solidFill>
                  <a:srgbClr val="C8C5BC"/>
                </a:solidFill>
                <a:latin typeface="맑은 고딕"/>
              </a:rPr>
            </a:br>
            <a:r>
              <a:rPr sz="1050" b="0">
                <a:solidFill>
                  <a:srgbClr val="C8C5BC"/>
                </a:solidFill>
                <a:latin typeface="맑은 고딕"/>
              </a:rPr>
              <a:t>이 장 다음부터 순서대로</a:t>
            </a:r>
          </a:p>
        </p:txBody>
      </p:sp>
      <p:sp>
        <p:nvSpPr>
          <p:cNvPr id="27" name="TextBox 26"/>
          <p:cNvSpPr txBox="1"/>
          <p:nvPr/>
        </p:nvSpPr>
        <p:spPr>
          <a:xfrm>
            <a:off x="777240" y="3872772"/>
            <a:ext cx="10607040" cy="2221991"/>
          </a:xfrm>
          <a:prstGeom prst="rect">
            <a:avLst/>
          </a:prstGeom>
          <a:noFill/>
        </p:spPr>
        <p:txBody>
          <a:bodyPr wrap="square" anchor="t" lIns="0" rIns="0" tIns="0" bIns="0">
            <a:spAutoFit/>
          </a:bodyPr>
          <a:lstStyle/>
          <a:p>
            <a:pPr algn="l">
              <a:lnSpc>
                <a:spcPct val="132000"/>
              </a:lnSpc>
              <a:spcAft>
                <a:spcPts val="1000"/>
              </a:spcAft>
            </a:pPr>
            <a:r>
              <a:rPr sz="1350" b="1">
                <a:solidFill>
                  <a:srgbClr val="F0E6D2"/>
                </a:solidFill>
                <a:latin typeface="맑은 고딕"/>
              </a:rPr>
              <a:t>◆  CRISP-DM 여섯 단계 중 배포를 뺀 다섯을 이 순서대로 밟았습니다</a:t>
            </a:r>
          </a:p>
          <a:p>
            <a:pPr algn="l">
              <a:lnSpc>
                <a:spcPct val="132000"/>
              </a:lnSpc>
              <a:spcAft>
                <a:spcPts val="1000"/>
              </a:spcAft>
            </a:pPr>
            <a:r>
              <a:rPr sz="1350" b="0">
                <a:solidFill>
                  <a:srgbClr val="C8C5BC"/>
                </a:solidFill>
                <a:latin typeface="맑은 고딕"/>
              </a:rPr>
              <a:t>•  기능(업무 이해)이 모델을 정하고, 모델이 피처 형태를 정했습니다</a:t>
            </a:r>
          </a:p>
          <a:p>
            <a:pPr algn="l">
              <a:lnSpc>
                <a:spcPct val="132000"/>
              </a:lnSpc>
              <a:spcAft>
                <a:spcPts val="1000"/>
              </a:spcAft>
            </a:pPr>
            <a:r>
              <a:rPr sz="1350" b="0">
                <a:solidFill>
                  <a:srgbClr val="C8C5BC"/>
                </a:solidFill>
                <a:latin typeface="맑은 고딕"/>
              </a:rPr>
              <a:t>•  분할을 별도 단계로 둔 것이 우리 변형입니다 — 잘못돼도 오류가 안 나는 유일한 단계라서</a:t>
            </a:r>
          </a:p>
        </p:txBody>
      </p:sp>
      <p:sp>
        <p:nvSpPr>
          <p:cNvPr id="28" name="Rectangle 27"/>
          <p:cNvSpPr/>
          <p:nvPr/>
        </p:nvSpPr>
        <p:spPr>
          <a:xfrm>
            <a:off x="777240" y="5450027"/>
            <a:ext cx="10634472" cy="56692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450027"/>
            <a:ext cx="45720" cy="56692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3" y="5450027"/>
            <a:ext cx="10177272" cy="566928"/>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"이유를 반드시 낸다"는 조건이 서비스의 코칭 기능이 됩니다 — 랜덤포레스트였다면 그 기능이 없습니다.</a:t>
            </a:r>
          </a:p>
        </p:txBody>
      </p:sp>
      <p:sp>
        <p:nvSpPr>
          <p:cNvPr id="31" name="TextBox 30"/>
          <p:cNvSpPr txBox="1"/>
          <p:nvPr/>
        </p:nvSpPr>
        <p:spPr>
          <a:xfrm>
            <a:off x="10972800" y="6574536"/>
            <a:ext cx="868680" cy="201168"/>
          </a:xfrm>
          <a:prstGeom prst="rect">
            <a:avLst/>
          </a:prstGeom>
          <a:noFill/>
        </p:spPr>
        <p:txBody>
          <a:bodyPr wrap="square" anchor="ctr" lIns="0" rIns="0" tIns="0" bIns="0">
            <a:spAutoFit/>
          </a:bodyPr>
          <a:lstStyle/>
          <a:p>
            <a:pPr algn="r"/>
            <a:fld id="{9E0733CB-9231-4295-B788-F147390BD9ED}" type="slidenum">
              <a:rPr lang="ko-KR" sz="950">
                <a:solidFill>
                  <a:srgbClr val="73726E"/>
                </a:solidFill>
                <a:latin typeface="맑은 고딕"/>
                <a:ea typeface="맑은 고딕"/>
              </a:rPr>
              <a:t>18</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모델 8종 비교 — 동일 조건</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5120640"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5029200"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odel_choice_1_scores.png"/>
          <p:cNvPicPr>
            <a:picLocks noChangeAspect="1"/>
          </p:cNvPicPr>
          <p:nvPr/>
        </p:nvPicPr>
        <p:blipFill>
          <a:blip r:embed="rId3"/>
          <a:stretch>
            <a:fillRect/>
          </a:stretch>
        </p:blipFill>
        <p:spPr>
          <a:xfrm>
            <a:off x="1666011" y="1446200"/>
            <a:ext cx="3251657" cy="1975104"/>
          </a:xfrm>
          <a:prstGeom prst="rect">
            <a:avLst/>
          </a:prstGeom>
        </p:spPr>
      </p:pic>
      <p:sp>
        <p:nvSpPr>
          <p:cNvPr id="18" name="TextBox 17"/>
          <p:cNvSpPr txBox="1"/>
          <p:nvPr/>
        </p:nvSpPr>
        <p:spPr>
          <a:xfrm>
            <a:off x="777240" y="3800063"/>
            <a:ext cx="50292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1 — 점수로 줄 세우기</a:t>
            </a:r>
          </a:p>
        </p:txBody>
      </p:sp>
      <p:sp>
        <p:nvSpPr>
          <p:cNvPr id="19" name="Rectangle 18"/>
          <p:cNvSpPr/>
          <p:nvPr/>
        </p:nvSpPr>
        <p:spPr>
          <a:xfrm>
            <a:off x="6217920" y="1280160"/>
            <a:ext cx="5239512"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328995"/>
            <a:ext cx="5148072"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odel_choice_2_overfit.png"/>
          <p:cNvPicPr>
            <a:picLocks noChangeAspect="1"/>
          </p:cNvPicPr>
          <p:nvPr/>
        </p:nvPicPr>
        <p:blipFill>
          <a:blip r:embed="rId4"/>
          <a:stretch>
            <a:fillRect/>
          </a:stretch>
        </p:blipFill>
        <p:spPr>
          <a:xfrm>
            <a:off x="7126125" y="1446200"/>
            <a:ext cx="3423100" cy="1975104"/>
          </a:xfrm>
          <a:prstGeom prst="rect">
            <a:avLst/>
          </a:prstGeom>
        </p:spPr>
      </p:pic>
      <p:sp>
        <p:nvSpPr>
          <p:cNvPr id="22" name="TextBox 21"/>
          <p:cNvSpPr txBox="1"/>
          <p:nvPr/>
        </p:nvSpPr>
        <p:spPr>
          <a:xfrm>
            <a:off x="6263640" y="3800063"/>
            <a:ext cx="514807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2 — 배웠나, 외웠나</a:t>
            </a:r>
          </a:p>
        </p:txBody>
      </p:sp>
      <p:graphicFrame>
        <p:nvGraphicFramePr>
          <p:cNvPr id="23" name="Table 22"/>
          <p:cNvGraphicFramePr>
            <a:graphicFrameLocks noGrp="1"/>
          </p:cNvGraphicFramePr>
          <p:nvPr/>
        </p:nvGraphicFramePr>
        <p:xfrm>
          <a:off x="777240" y="4161446"/>
          <a:ext cx="10634470" cy="1847088"/>
        </p:xfrm>
        <a:graphic>
          <a:graphicData uri="http://schemas.openxmlformats.org/drawingml/2006/table">
            <a:tbl>
              <a:tblPr>
                <a:tableStyleId>{5C22544A-7EE6-4342-B048-85BDC9FD1C3A}</a:tableStyleId>
              </a:tblPr>
              <a:tblGrid>
                <a:gridCol w="2883924"/>
                <a:gridCol w="2703679"/>
                <a:gridCol w="2433311"/>
                <a:gridCol w="2613556"/>
              </a:tblGrid>
              <a:tr h="310896">
                <a:tc>
                  <a:txBody>
                    <a:bodyPr/>
                    <a:lstStyle/>
                    <a:p>
                      <a:pPr algn="l"/>
                      <a:r>
                        <a:rPr sz="1150" b="1">
                          <a:solidFill>
                            <a:srgbClr val="F0E6D2"/>
                          </a:solidFill>
                          <a:latin typeface="맑은 고딕"/>
                        </a:rPr>
                        <a:t>모델</a:t>
                      </a:r>
                    </a:p>
                  </a:txBody>
                  <a:tcPr marL="91440" marR="91440" anchor="ctr">
                    <a:solidFill>
                      <a:srgbClr val="3C3F3E"/>
                    </a:solidFill>
                  </a:tcPr>
                </a:tc>
                <a:tc>
                  <a:txBody>
                    <a:bodyPr/>
                    <a:lstStyle/>
                    <a:p>
                      <a:pPr algn="ctr"/>
                      <a:r>
                        <a:rPr sz="1150" b="1">
                          <a:solidFill>
                            <a:srgbClr val="F0E6D2"/>
                          </a:solidFill>
                          <a:latin typeface="맑은 고딕"/>
                        </a:rPr>
                        <a:t>교차검증 정확도</a:t>
                      </a:r>
                    </a:p>
                  </a:txBody>
                  <a:tcPr marL="91440" marR="91440" anchor="ctr">
                    <a:solidFill>
                      <a:srgbClr val="3C3F3E"/>
                    </a:solidFill>
                  </a:tcPr>
                </a:tc>
                <a:tc>
                  <a:txBody>
                    <a:bodyPr/>
                    <a:lstStyle/>
                    <a:p>
                      <a:pPr algn="ctr"/>
                      <a:r>
                        <a:rPr sz="1150" b="1">
                          <a:solidFill>
                            <a:srgbClr val="F0E6D2"/>
                          </a:solidFill>
                          <a:latin typeface="맑은 고딕"/>
                        </a:rPr>
                        <a:t>연습 − 검증 격차</a:t>
                      </a:r>
                    </a:p>
                  </a:txBody>
                  <a:tcPr marL="91440" marR="91440" anchor="ctr">
                    <a:solidFill>
                      <a:srgbClr val="3C3F3E"/>
                    </a:solidFill>
                  </a:tcPr>
                </a:tc>
                <a:tc>
                  <a:txBody>
                    <a:bodyPr/>
                    <a:lstStyle/>
                    <a:p>
                      <a:pPr algn="ctr"/>
                      <a:r>
                        <a:rPr sz="1150" b="1">
                          <a:solidFill>
                            <a:srgbClr val="F0E6D2"/>
                          </a:solidFill>
                          <a:latin typeface="맑은 고딕"/>
                        </a:rPr>
                        <a:t>판정</a:t>
                      </a:r>
                    </a:p>
                  </a:txBody>
                  <a:tcPr marL="91440" marR="91440" anchor="ctr">
                    <a:solidFill>
                      <a:srgbClr val="3C3F3E"/>
                    </a:solidFill>
                  </a:tcPr>
                </a:tc>
              </a:tr>
              <a:tr h="256032">
                <a:tc>
                  <a:txBody>
                    <a:bodyPr/>
                    <a:lstStyle/>
                    <a:p>
                      <a:pPr algn="l"/>
                      <a:r>
                        <a:rPr sz="1150" b="1">
                          <a:solidFill>
                            <a:srgbClr val="F0E6D2"/>
                          </a:solidFill>
                          <a:latin typeface="맑은 고딕"/>
                        </a:rPr>
                        <a:t>로지스틱 회귀</a:t>
                      </a:r>
                    </a:p>
                  </a:txBody>
                  <a:tcPr marL="91440" marR="91440" anchor="ctr">
                    <a:solidFill>
                      <a:srgbClr val="2D353E"/>
                    </a:solidFill>
                  </a:tcPr>
                </a:tc>
                <a:tc>
                  <a:txBody>
                    <a:bodyPr/>
                    <a:lstStyle/>
                    <a:p>
                      <a:pPr algn="ctr"/>
                      <a:r>
                        <a:rPr sz="1150" b="1">
                          <a:solidFill>
                            <a:srgbClr val="F0E6D2"/>
                          </a:solidFill>
                          <a:latin typeface="맑은 고딕"/>
                        </a:rPr>
                        <a:t>0.7280 ± 0.0163</a:t>
                      </a:r>
                    </a:p>
                  </a:txBody>
                  <a:tcPr marL="91440" marR="91440" anchor="ctr">
                    <a:solidFill>
                      <a:srgbClr val="2D353E"/>
                    </a:solidFill>
                  </a:tcPr>
                </a:tc>
                <a:tc>
                  <a:txBody>
                    <a:bodyPr/>
                    <a:lstStyle/>
                    <a:p>
                      <a:pPr algn="ctr"/>
                      <a:r>
                        <a:rPr sz="1150" b="1">
                          <a:solidFill>
                            <a:srgbClr val="F0E6D2"/>
                          </a:solidFill>
                          <a:latin typeface="맑은 고딕"/>
                        </a:rPr>
                        <a:t>+0.0047</a:t>
                      </a:r>
                    </a:p>
                  </a:txBody>
                  <a:tcPr marL="91440" marR="91440" anchor="ctr">
                    <a:solidFill>
                      <a:srgbClr val="2D353E"/>
                    </a:solidFill>
                  </a:tcPr>
                </a:tc>
                <a:tc>
                  <a:txBody>
                    <a:bodyPr/>
                    <a:lstStyle/>
                    <a:p>
                      <a:pPr algn="ctr"/>
                      <a:r>
                        <a:rPr sz="1150" b="1">
                          <a:solidFill>
                            <a:srgbClr val="F0E6D2"/>
                          </a:solidFill>
                          <a:latin typeface="맑은 고딕"/>
                        </a:rPr>
                        <a:t>채택</a:t>
                      </a:r>
                    </a:p>
                  </a:txBody>
                  <a:tcPr marL="91440" marR="91440" anchor="ctr">
                    <a:solidFill>
                      <a:srgbClr val="2D353E"/>
                    </a:solidFill>
                  </a:tcPr>
                </a:tc>
              </a:tr>
              <a:tr h="256032">
                <a:tc>
                  <a:txBody>
                    <a:bodyPr/>
                    <a:lstStyle/>
                    <a:p>
                      <a:pPr algn="l"/>
                      <a:r>
                        <a:rPr sz="1150" b="0">
                          <a:solidFill>
                            <a:srgbClr val="C1BEB4"/>
                          </a:solidFill>
                          <a:latin typeface="맑은 고딕"/>
                        </a:rPr>
                        <a:t>랜덤포레스트</a:t>
                      </a:r>
                    </a:p>
                  </a:txBody>
                  <a:tcPr marL="91440" marR="91440" anchor="ctr">
                    <a:solidFill>
                      <a:srgbClr val="09172B"/>
                    </a:solidFill>
                  </a:tcPr>
                </a:tc>
                <a:tc>
                  <a:txBody>
                    <a:bodyPr/>
                    <a:lstStyle/>
                    <a:p>
                      <a:pPr algn="ctr"/>
                      <a:r>
                        <a:rPr sz="1150" b="0">
                          <a:solidFill>
                            <a:srgbClr val="C1BEB4"/>
                          </a:solidFill>
                          <a:latin typeface="맑은 고딕"/>
                        </a:rPr>
                        <a:t>0.7191 (연습 1.0000)</a:t>
                      </a:r>
                    </a:p>
                  </a:txBody>
                  <a:tcPr marL="91440" marR="91440" anchor="ctr">
                    <a:solidFill>
                      <a:srgbClr val="09172B"/>
                    </a:solidFill>
                  </a:tcPr>
                </a:tc>
                <a:tc>
                  <a:txBody>
                    <a:bodyPr/>
                    <a:lstStyle/>
                    <a:p>
                      <a:pPr algn="ctr"/>
                      <a:r>
                        <a:rPr sz="1150" b="0">
                          <a:solidFill>
                            <a:srgbClr val="C1BEB4"/>
                          </a:solidFill>
                          <a:latin typeface="맑은 고딕"/>
                        </a:rPr>
                        <a:t>+0.2809</a:t>
                      </a:r>
                    </a:p>
                  </a:txBody>
                  <a:tcPr marL="91440" marR="91440" anchor="ctr">
                    <a:solidFill>
                      <a:srgbClr val="09172B"/>
                    </a:solidFill>
                  </a:tcPr>
                </a:tc>
                <a:tc>
                  <a:txBody>
                    <a:bodyPr/>
                    <a:lstStyle/>
                    <a:p>
                      <a:pPr algn="ctr"/>
                      <a:r>
                        <a:rPr sz="1150" b="0">
                          <a:solidFill>
                            <a:srgbClr val="C1BEB4"/>
                          </a:solidFill>
                          <a:latin typeface="맑은 고딕"/>
                        </a:rPr>
                        <a:t>통째로 외움</a:t>
                      </a:r>
                    </a:p>
                  </a:txBody>
                  <a:tcPr marL="91440" marR="91440" anchor="ctr">
                    <a:solidFill>
                      <a:srgbClr val="09172B"/>
                    </a:solidFill>
                  </a:tcPr>
                </a:tc>
              </a:tr>
              <a:tr h="256032">
                <a:tc>
                  <a:txBody>
                    <a:bodyPr/>
                    <a:lstStyle/>
                    <a:p>
                      <a:pPr algn="l"/>
                      <a:r>
                        <a:rPr sz="1150" b="0">
                          <a:solidFill>
                            <a:srgbClr val="C1BEB4"/>
                          </a:solidFill>
                          <a:latin typeface="맑은 고딕"/>
                        </a:rPr>
                        <a:t>GaussianNB</a:t>
                      </a:r>
                    </a:p>
                  </a:txBody>
                  <a:tcPr marL="91440" marR="91440" anchor="ctr">
                    <a:solidFill>
                      <a:srgbClr val="10223E"/>
                    </a:solidFill>
                  </a:tcPr>
                </a:tc>
                <a:tc>
                  <a:txBody>
                    <a:bodyPr/>
                    <a:lstStyle/>
                    <a:p>
                      <a:pPr algn="ctr"/>
                      <a:r>
                        <a:rPr sz="1150" b="0">
                          <a:solidFill>
                            <a:srgbClr val="C1BEB4"/>
                          </a:solidFill>
                          <a:latin typeface="맑은 고딕"/>
                        </a:rPr>
                        <a:t>0.7250</a:t>
                      </a:r>
                    </a:p>
                  </a:txBody>
                  <a:tcPr marL="91440" marR="91440" anchor="ctr">
                    <a:solidFill>
                      <a:srgbClr val="10223E"/>
                    </a:solidFill>
                  </a:tcPr>
                </a:tc>
                <a:tc>
                  <a:txBody>
                    <a:bodyPr/>
                    <a:lstStyle/>
                    <a:p>
                      <a:pPr algn="ctr"/>
                      <a:r>
                        <a:rPr sz="1150" b="0">
                          <a:solidFill>
                            <a:srgbClr val="C1BEB4"/>
                          </a:solidFill>
                          <a:latin typeface="맑은 고딕"/>
                        </a:rPr>
                        <a:t>+0.0006</a:t>
                      </a:r>
                    </a:p>
                  </a:txBody>
                  <a:tcPr marL="91440" marR="91440" anchor="ctr">
                    <a:solidFill>
                      <a:srgbClr val="10223E"/>
                    </a:solidFill>
                  </a:tcPr>
                </a:tc>
                <a:tc>
                  <a:txBody>
                    <a:bodyPr/>
                    <a:lstStyle/>
                    <a:p>
                      <a:pPr algn="ctr"/>
                      <a:r>
                        <a:rPr sz="1150" b="0">
                          <a:solidFill>
                            <a:srgbClr val="C1BEB4"/>
                          </a:solidFill>
                          <a:latin typeface="맑은 고딕"/>
                        </a:rPr>
                        <a:t>2위</a:t>
                      </a:r>
                    </a:p>
                  </a:txBody>
                  <a:tcPr marL="91440" marR="91440" anchor="ctr">
                    <a:solidFill>
                      <a:srgbClr val="10223E"/>
                    </a:solidFill>
                  </a:tcPr>
                </a:tc>
              </a:tr>
              <a:tr h="256032">
                <a:tc>
                  <a:txBody>
                    <a:bodyPr/>
                    <a:lstStyle/>
                    <a:p>
                      <a:pPr algn="l"/>
                      <a:r>
                        <a:rPr sz="1150" b="0">
                          <a:solidFill>
                            <a:srgbClr val="C1BEB4"/>
                          </a:solidFill>
                          <a:latin typeface="맑은 고딕"/>
                        </a:rPr>
                        <a:t>SVM (RBF)</a:t>
                      </a:r>
                    </a:p>
                  </a:txBody>
                  <a:tcPr marL="91440" marR="91440" anchor="ctr">
                    <a:solidFill>
                      <a:srgbClr val="09172B"/>
                    </a:solidFill>
                  </a:tcPr>
                </a:tc>
                <a:tc>
                  <a:txBody>
                    <a:bodyPr/>
                    <a:lstStyle/>
                    <a:p>
                      <a:pPr algn="ctr"/>
                      <a:r>
                        <a:rPr sz="1150" b="0">
                          <a:solidFill>
                            <a:srgbClr val="C1BEB4"/>
                          </a:solidFill>
                          <a:latin typeface="맑은 고딕"/>
                        </a:rPr>
                        <a:t>0.7226</a:t>
                      </a:r>
                    </a:p>
                  </a:txBody>
                  <a:tcPr marL="91440" marR="91440" anchor="ctr">
                    <a:solidFill>
                      <a:srgbClr val="09172B"/>
                    </a:solidFill>
                  </a:tcPr>
                </a:tc>
                <a:tc>
                  <a:txBody>
                    <a:bodyPr/>
                    <a:lstStyle/>
                    <a:p>
                      <a:pPr algn="ctr"/>
                      <a:r>
                        <a:rPr sz="1150" b="0">
                          <a:solidFill>
                            <a:srgbClr val="C1BEB4"/>
                          </a:solidFill>
                          <a:latin typeface="맑은 고딕"/>
                        </a:rPr>
                        <a:t>+0.0431</a:t>
                      </a:r>
                    </a:p>
                  </a:txBody>
                  <a:tcPr marL="91440" marR="91440" anchor="ctr">
                    <a:solidFill>
                      <a:srgbClr val="09172B"/>
                    </a:solidFill>
                  </a:tcPr>
                </a:tc>
                <a:tc>
                  <a:txBody>
                    <a:bodyPr/>
                    <a:lstStyle/>
                    <a:p>
                      <a:pPr algn="ctr"/>
                      <a:r>
                        <a:rPr sz="1150" b="0">
                          <a:solidFill>
                            <a:srgbClr val="C1BEB4"/>
                          </a:solidFill>
                          <a:latin typeface="맑은 고딕"/>
                        </a:rPr>
                        <a:t>기준 초과</a:t>
                      </a:r>
                    </a:p>
                  </a:txBody>
                  <a:tcPr marL="91440" marR="91440" anchor="ctr">
                    <a:solidFill>
                      <a:srgbClr val="09172B"/>
                    </a:solidFill>
                  </a:tcPr>
                </a:tc>
              </a:tr>
              <a:tr h="256032">
                <a:tc>
                  <a:txBody>
                    <a:bodyPr/>
                    <a:lstStyle/>
                    <a:p>
                      <a:pPr algn="l"/>
                      <a:r>
                        <a:rPr sz="1150" b="0">
                          <a:solidFill>
                            <a:srgbClr val="C1BEB4"/>
                          </a:solidFill>
                          <a:latin typeface="맑은 고딕"/>
                        </a:rPr>
                        <a:t>HistGB · 결정트리 · KNN</a:t>
                      </a:r>
                    </a:p>
                  </a:txBody>
                  <a:tcPr marL="91440" marR="91440" anchor="ctr">
                    <a:solidFill>
                      <a:srgbClr val="10223E"/>
                    </a:solidFill>
                  </a:tcPr>
                </a:tc>
                <a:tc>
                  <a:txBody>
                    <a:bodyPr/>
                    <a:lstStyle/>
                    <a:p>
                      <a:pPr algn="ctr"/>
                      <a:r>
                        <a:rPr sz="1150" b="0">
                          <a:solidFill>
                            <a:srgbClr val="C1BEB4"/>
                          </a:solidFill>
                          <a:latin typeface="맑은 고딕"/>
                        </a:rPr>
                        <a:t>0.7116 ~ 0.7206</a:t>
                      </a:r>
                    </a:p>
                  </a:txBody>
                  <a:tcPr marL="91440" marR="91440" anchor="ctr">
                    <a:solidFill>
                      <a:srgbClr val="10223E"/>
                    </a:solidFill>
                  </a:tcPr>
                </a:tc>
                <a:tc>
                  <a:txBody>
                    <a:bodyPr/>
                    <a:lstStyle/>
                    <a:p>
                      <a:pPr algn="ctr"/>
                      <a:r>
                        <a:rPr sz="1150" b="0">
                          <a:solidFill>
                            <a:srgbClr val="C1BEB4"/>
                          </a:solidFill>
                          <a:latin typeface="맑은 고딕"/>
                        </a:rPr>
                        <a:t>최대 +0.1604</a:t>
                      </a:r>
                    </a:p>
                  </a:txBody>
                  <a:tcPr marL="91440" marR="91440" anchor="ctr">
                    <a:solidFill>
                      <a:srgbClr val="10223E"/>
                    </a:solidFill>
                  </a:tcPr>
                </a:tc>
                <a:tc>
                  <a:txBody>
                    <a:bodyPr/>
                    <a:lstStyle/>
                    <a:p>
                      <a:pPr algn="ctr"/>
                      <a:r>
                        <a:rPr sz="1150" b="0">
                          <a:solidFill>
                            <a:srgbClr val="C1BEB4"/>
                          </a:solidFill>
                          <a:latin typeface="맑은 고딕"/>
                        </a:rPr>
                        <a:t>탈락 / 하위</a:t>
                      </a:r>
                    </a:p>
                  </a:txBody>
                  <a:tcPr marL="91440" marR="91440" anchor="ctr">
                    <a:solidFill>
                      <a:srgbClr val="10223E"/>
                    </a:solidFill>
                  </a:tcPr>
                </a:tc>
              </a:tr>
              <a:tr h="256032">
                <a:tc>
                  <a:txBody>
                    <a:bodyPr/>
                    <a:lstStyle/>
                    <a:p>
                      <a:pPr algn="l"/>
                      <a:r>
                        <a:rPr sz="1150" b="0">
                          <a:solidFill>
                            <a:srgbClr val="C1BEB4"/>
                          </a:solidFill>
                          <a:latin typeface="맑은 고딕"/>
                        </a:rPr>
                        <a:t>찍기 (기준선)</a:t>
                      </a:r>
                    </a:p>
                  </a:txBody>
                  <a:tcPr marL="91440" marR="91440" anchor="ctr">
                    <a:solidFill>
                      <a:srgbClr val="09172B"/>
                    </a:solidFill>
                  </a:tcPr>
                </a:tc>
                <a:tc>
                  <a:txBody>
                    <a:bodyPr/>
                    <a:lstStyle/>
                    <a:p>
                      <a:pPr algn="ctr"/>
                      <a:r>
                        <a:rPr sz="1150" b="0">
                          <a:solidFill>
                            <a:srgbClr val="C1BEB4"/>
                          </a:solidFill>
                          <a:latin typeface="맑은 고딕"/>
                        </a:rPr>
                        <a:t>0.5009</a:t>
                      </a:r>
                    </a:p>
                  </a:txBody>
                  <a:tcPr marL="91440" marR="91440" anchor="ctr">
                    <a:solidFill>
                      <a:srgbClr val="09172B"/>
                    </a:solidFill>
                  </a:tcPr>
                </a:tc>
                <a:tc>
                  <a:txBody>
                    <a:bodyPr/>
                    <a:lstStyle/>
                    <a:p>
                      <a:pPr algn="ctr"/>
                      <a:r>
                        <a:rPr sz="1150" b="0">
                          <a:solidFill>
                            <a:srgbClr val="C1BEB4"/>
                          </a:solidFill>
                          <a:latin typeface="맑은 고딕"/>
                        </a:rPr>
                        <a:t>—</a:t>
                      </a:r>
                    </a:p>
                  </a:txBody>
                  <a:tcPr marL="91440" marR="91440" anchor="ctr">
                    <a:solidFill>
                      <a:srgbClr val="09172B"/>
                    </a:solidFill>
                  </a:tcPr>
                </a:tc>
                <a:tc>
                  <a:txBody>
                    <a:bodyPr/>
                    <a:lstStyle/>
                    <a:p>
                      <a:pPr algn="ctr"/>
                      <a:r>
                        <a:rPr sz="1150" b="0">
                          <a:solidFill>
                            <a:srgbClr val="C1BEB4"/>
                          </a:solidFill>
                          <a:latin typeface="맑은 고딕"/>
                        </a:rPr>
                        <a:t>비교 출발선</a:t>
                      </a:r>
                    </a:p>
                  </a:txBody>
                  <a:tcPr marL="91440" marR="91440" anchor="ctr">
                    <a:solidFill>
                      <a:srgbClr val="09172B"/>
                    </a:solidFill>
                  </a:tcPr>
                </a:tc>
              </a:tr>
            </a:tbl>
          </a:graphicData>
        </a:graphic>
      </p:graphicFrame>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runs.csv    |    점수로는 못 고른다 — 1위와 2위가 0.003 차이. 갈라준 건 "외웠나"와 "왜를 말할 수 있나"였다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2DFD1C7F-8D94-413E-8542-F62F4CA64BD9}" type="slidenum">
              <a:rPr lang="ko-KR" sz="950">
                <a:solidFill>
                  <a:srgbClr val="73726E"/>
                </a:solidFill>
                <a:latin typeface="맑은 고딕"/>
                <a:ea typeface="맑은 고딕"/>
              </a:rPr>
              <a:t>19</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모델 채택 — 설명 가능성 기준</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4663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4572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odel_choice_3_gap.png"/>
          <p:cNvPicPr>
            <a:picLocks noChangeAspect="1"/>
          </p:cNvPicPr>
          <p:nvPr/>
        </p:nvPicPr>
        <p:blipFill>
          <a:blip r:embed="rId3"/>
          <a:stretch>
            <a:fillRect/>
          </a:stretch>
        </p:blipFill>
        <p:spPr>
          <a:xfrm>
            <a:off x="955497" y="1446200"/>
            <a:ext cx="4215484" cy="2432304"/>
          </a:xfrm>
          <a:prstGeom prst="rect">
            <a:avLst/>
          </a:prstGeom>
        </p:spPr>
      </p:pic>
      <p:sp>
        <p:nvSpPr>
          <p:cNvPr id="18" name="TextBox 17"/>
          <p:cNvSpPr txBox="1"/>
          <p:nvPr/>
        </p:nvSpPr>
        <p:spPr>
          <a:xfrm>
            <a:off x="777240" y="4288418"/>
            <a:ext cx="4572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3 — 격차를 숫자 하나로</a:t>
            </a:r>
          </a:p>
        </p:txBody>
      </p:sp>
      <p:sp>
        <p:nvSpPr>
          <p:cNvPr id="19" name="Rectangle 18"/>
          <p:cNvSpPr/>
          <p:nvPr/>
        </p:nvSpPr>
        <p:spPr>
          <a:xfrm>
            <a:off x="5760720" y="1280160"/>
            <a:ext cx="4663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06440" y="1328995"/>
            <a:ext cx="4572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odel_choice_4_decision.png"/>
          <p:cNvPicPr>
            <a:picLocks noChangeAspect="1"/>
          </p:cNvPicPr>
          <p:nvPr/>
        </p:nvPicPr>
        <p:blipFill>
          <a:blip r:embed="rId4"/>
          <a:stretch>
            <a:fillRect/>
          </a:stretch>
        </p:blipFill>
        <p:spPr>
          <a:xfrm>
            <a:off x="5982788" y="1446200"/>
            <a:ext cx="4219302" cy="2432304"/>
          </a:xfrm>
          <a:prstGeom prst="rect">
            <a:avLst/>
          </a:prstGeom>
        </p:spPr>
      </p:pic>
      <p:sp>
        <p:nvSpPr>
          <p:cNvPr id="22" name="TextBox 21"/>
          <p:cNvSpPr txBox="1"/>
          <p:nvPr/>
        </p:nvSpPr>
        <p:spPr>
          <a:xfrm>
            <a:off x="5806440" y="4288418"/>
            <a:ext cx="4572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장면 4 — 마지막 기준</a:t>
            </a:r>
          </a:p>
        </p:txBody>
      </p:sp>
      <p:sp>
        <p:nvSpPr>
          <p:cNvPr id="23" name="TextBox 22"/>
          <p:cNvSpPr txBox="1"/>
          <p:nvPr/>
        </p:nvSpPr>
        <p:spPr>
          <a:xfrm>
            <a:off x="777240" y="4708402"/>
            <a:ext cx="10607040" cy="1463039"/>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로지스틱만 세 칸 전부 통과 — 점수 1위 · 안 외움 · 가중치로 "왜"를 설명 가능</a:t>
            </a:r>
          </a:p>
          <a:p>
            <a:pPr algn="l">
              <a:lnSpc>
                <a:spcPct val="132000"/>
              </a:lnSpc>
              <a:spcAft>
                <a:spcPts val="600"/>
              </a:spcAft>
            </a:pPr>
            <a:r>
              <a:rPr sz="1200" b="0">
                <a:solidFill>
                  <a:srgbClr val="C8C5BC"/>
                </a:solidFill>
                <a:latin typeface="맑은 고딕"/>
              </a:rPr>
              <a:t>•  랜덤포레스트는 어떤 지표가 중요한지는 말해도, 그게 유리한 쪽인지 불리한 쪽인지(+/−)를 못 말합니다</a:t>
            </a:r>
          </a:p>
          <a:p>
            <a:pPr algn="l">
              <a:lnSpc>
                <a:spcPct val="130000"/>
              </a:lnSpc>
              <a:spcAft>
                <a:spcPts val="300"/>
              </a:spcAft>
            </a:pPr>
            <a:r>
              <a:rPr sz="900" b="0">
                <a:solidFill>
                  <a:srgbClr val="8E8B80"/>
                </a:solidFill>
                <a:latin typeface="맑은 고딕"/>
              </a:rPr>
              <a:t>     성능이 모델 복잡도의 정확히 역순이었다 — 10분 정보량이 적어 복잡한 모델은 배울 게 없어 외우기만 했다</a:t>
            </a:r>
          </a:p>
          <a:p>
            <a:pPr algn="l">
              <a:lnSpc>
                <a:spcPct val="132000"/>
              </a:lnSpc>
              <a:spcAft>
                <a:spcPts val="600"/>
              </a:spcAft>
            </a:pPr>
            <a:r>
              <a:rPr sz="1200" b="1">
                <a:solidFill>
                  <a:srgbClr val="F0E6D2"/>
                </a:solidFill>
                <a:latin typeface="맑은 고딕"/>
              </a:rPr>
              <a:t>◆  튜닝 없음 — 골드 1개 0.7313 · 2개 0.7328 로 전체와 동급이라 짜낼 여지 없음</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개념 → STUDY 6번 과적합 · 7번 교차검증</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1FF2654B-7CE8-48AD-B248-1DD508F3E1C1}" type="slidenum">
              <a:rPr lang="ko-KR" sz="950">
                <a:solidFill>
                  <a:srgbClr val="73726E"/>
                </a:solidFill>
                <a:latin typeface="맑은 고딕"/>
                <a:ea typeface="맑은 고딕"/>
              </a:rPr>
              <a:t>20</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보충 — 나이브베이즈 탈락 사유</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492240" cy="26517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400800" cy="25603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upplement_nb_proba.png"/>
          <p:cNvPicPr>
            <a:picLocks noChangeAspect="1"/>
          </p:cNvPicPr>
          <p:nvPr/>
        </p:nvPicPr>
        <p:blipFill>
          <a:blip r:embed="rId3"/>
          <a:stretch>
            <a:fillRect/>
          </a:stretch>
        </p:blipFill>
        <p:spPr>
          <a:xfrm>
            <a:off x="1045189" y="1446200"/>
            <a:ext cx="5864901" cy="2340863"/>
          </a:xfrm>
          <a:prstGeom prst="rect">
            <a:avLst/>
          </a:prstGeom>
        </p:spPr>
      </p:pic>
      <p:sp>
        <p:nvSpPr>
          <p:cNvPr id="18" name="TextBox 17"/>
          <p:cNvSpPr txBox="1"/>
          <p:nvPr/>
        </p:nvSpPr>
        <p:spPr>
          <a:xfrm>
            <a:off x="777240" y="4190747"/>
            <a:ext cx="64008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로지스틱: 확률이 고르게 퍼진다  ·  오른쪽 NB: 0과 1 양끝에 쌓인다</a:t>
            </a:r>
          </a:p>
        </p:txBody>
      </p:sp>
      <p:graphicFrame>
        <p:nvGraphicFramePr>
          <p:cNvPr id="19" name="Table 18"/>
          <p:cNvGraphicFramePr>
            <a:graphicFrameLocks noGrp="1"/>
          </p:cNvGraphicFramePr>
          <p:nvPr/>
        </p:nvGraphicFramePr>
        <p:xfrm>
          <a:off x="777240" y="4727936"/>
          <a:ext cx="6400798" cy="1078992"/>
        </p:xfrm>
        <a:graphic>
          <a:graphicData uri="http://schemas.openxmlformats.org/drawingml/2006/table">
            <a:tbl>
              <a:tblPr>
                <a:tableStyleId>{5C22544A-7EE6-4342-B048-85BDC9FD1C3A}</a:tableStyleId>
              </a:tblPr>
              <a:tblGrid>
                <a:gridCol w="1815152"/>
                <a:gridCol w="955343"/>
                <a:gridCol w="955343"/>
                <a:gridCol w="955343"/>
                <a:gridCol w="1719617"/>
              </a:tblGrid>
              <a:tr h="347472">
                <a:tc>
                  <a:txBody>
                    <a:bodyPr/>
                    <a:lstStyle/>
                    <a:p>
                      <a:pPr algn="l"/>
                      <a:r>
                        <a:rPr sz="1100" b="1">
                          <a:solidFill>
                            <a:srgbClr val="F0E6D2"/>
                          </a:solidFill>
                          <a:latin typeface="맑은 고딕"/>
                        </a:rPr>
                        <a:t/>
                      </a:r>
                    </a:p>
                  </a:txBody>
                  <a:tcPr marL="91440" marR="91440" anchor="ctr">
                    <a:solidFill>
                      <a:srgbClr val="3C3F3E"/>
                    </a:solidFill>
                  </a:tcPr>
                </a:tc>
                <a:tc>
                  <a:txBody>
                    <a:bodyPr/>
                    <a:lstStyle/>
                    <a:p>
                      <a:pPr algn="ctr"/>
                      <a:r>
                        <a:rPr sz="1100" b="1">
                          <a:solidFill>
                            <a:srgbClr val="F0E6D2"/>
                          </a:solidFill>
                          <a:latin typeface="맑은 고딕"/>
                        </a:rPr>
                        <a:t>정확도</a:t>
                      </a:r>
                    </a:p>
                  </a:txBody>
                  <a:tcPr marL="91440" marR="91440" anchor="ctr">
                    <a:solidFill>
                      <a:srgbClr val="3C3F3E"/>
                    </a:solidFill>
                  </a:tcPr>
                </a:tc>
                <a:tc>
                  <a:txBody>
                    <a:bodyPr/>
                    <a:lstStyle/>
                    <a:p>
                      <a:pPr algn="ctr"/>
                      <a:r>
                        <a:rPr sz="1100" b="1">
                          <a:solidFill>
                            <a:srgbClr val="F0E6D2"/>
                          </a:solidFill>
                          <a:latin typeface="맑은 고딕"/>
                        </a:rPr>
                        <a:t>AUC</a:t>
                      </a:r>
                    </a:p>
                  </a:txBody>
                  <a:tcPr marL="91440" marR="91440" anchor="ctr">
                    <a:solidFill>
                      <a:srgbClr val="3C3F3E"/>
                    </a:solidFill>
                  </a:tcPr>
                </a:tc>
                <a:tc>
                  <a:txBody>
                    <a:bodyPr/>
                    <a:lstStyle/>
                    <a:p>
                      <a:pPr algn="ctr"/>
                      <a:r>
                        <a:rPr sz="1100" b="1">
                          <a:solidFill>
                            <a:srgbClr val="F0E6D2"/>
                          </a:solidFill>
                          <a:latin typeface="맑은 고딕"/>
                        </a:rPr>
                        <a:t>Brier</a:t>
                      </a:r>
                    </a:p>
                  </a:txBody>
                  <a:tcPr marL="91440" marR="91440" anchor="ctr">
                    <a:solidFill>
                      <a:srgbClr val="3C3F3E"/>
                    </a:solidFill>
                  </a:tcPr>
                </a:tc>
                <a:tc>
                  <a:txBody>
                    <a:bodyPr/>
                    <a:lstStyle/>
                    <a:p>
                      <a:pPr algn="ctr"/>
                      <a:r>
                        <a:rPr sz="1100" b="1">
                          <a:solidFill>
                            <a:srgbClr val="F0E6D2"/>
                          </a:solidFill>
                          <a:latin typeface="맑은 고딕"/>
                        </a:rPr>
                        <a:t>95%↑/5%↓ 확신</a:t>
                      </a:r>
                    </a:p>
                  </a:txBody>
                  <a:tcPr marL="91440" marR="91440" anchor="ctr">
                    <a:solidFill>
                      <a:srgbClr val="3C3F3E"/>
                    </a:solidFill>
                  </a:tcPr>
                </a:tc>
              </a:tr>
              <a:tr h="365760">
                <a:tc>
                  <a:txBody>
                    <a:bodyPr/>
                    <a:lstStyle/>
                    <a:p>
                      <a:pPr algn="l"/>
                      <a:r>
                        <a:rPr sz="1100" b="1">
                          <a:solidFill>
                            <a:srgbClr val="F0E6D2"/>
                          </a:solidFill>
                          <a:latin typeface="맑은 고딕"/>
                        </a:rPr>
                        <a:t>로지스틱 (채택)</a:t>
                      </a:r>
                    </a:p>
                  </a:txBody>
                  <a:tcPr marL="91440" marR="91440" anchor="ctr">
                    <a:solidFill>
                      <a:srgbClr val="2D353E"/>
                    </a:solidFill>
                  </a:tcPr>
                </a:tc>
                <a:tc>
                  <a:txBody>
                    <a:bodyPr/>
                    <a:lstStyle/>
                    <a:p>
                      <a:pPr algn="ctr"/>
                      <a:r>
                        <a:rPr sz="1100" b="1">
                          <a:solidFill>
                            <a:srgbClr val="F0E6D2"/>
                          </a:solidFill>
                          <a:latin typeface="맑은 고딕"/>
                        </a:rPr>
                        <a:t>0.7394</a:t>
                      </a:r>
                    </a:p>
                  </a:txBody>
                  <a:tcPr marL="91440" marR="91440" anchor="ctr">
                    <a:solidFill>
                      <a:srgbClr val="2D353E"/>
                    </a:solidFill>
                  </a:tcPr>
                </a:tc>
                <a:tc>
                  <a:txBody>
                    <a:bodyPr/>
                    <a:lstStyle/>
                    <a:p>
                      <a:pPr algn="ctr"/>
                      <a:r>
                        <a:rPr sz="1100" b="1">
                          <a:solidFill>
                            <a:srgbClr val="F0E6D2"/>
                          </a:solidFill>
                          <a:latin typeface="맑은 고딕"/>
                        </a:rPr>
                        <a:t>0.8150</a:t>
                      </a:r>
                    </a:p>
                  </a:txBody>
                  <a:tcPr marL="91440" marR="91440" anchor="ctr">
                    <a:solidFill>
                      <a:srgbClr val="2D353E"/>
                    </a:solidFill>
                  </a:tcPr>
                </a:tc>
                <a:tc>
                  <a:txBody>
                    <a:bodyPr/>
                    <a:lstStyle/>
                    <a:p>
                      <a:pPr algn="ctr"/>
                      <a:r>
                        <a:rPr sz="1100" b="1">
                          <a:solidFill>
                            <a:srgbClr val="F0E6D2"/>
                          </a:solidFill>
                          <a:latin typeface="맑은 고딕"/>
                        </a:rPr>
                        <a:t>0.1756</a:t>
                      </a:r>
                    </a:p>
                  </a:txBody>
                  <a:tcPr marL="91440" marR="91440" anchor="ctr">
                    <a:solidFill>
                      <a:srgbClr val="2D353E"/>
                    </a:solidFill>
                  </a:tcPr>
                </a:tc>
                <a:tc>
                  <a:txBody>
                    <a:bodyPr/>
                    <a:lstStyle/>
                    <a:p>
                      <a:pPr algn="ctr"/>
                      <a:r>
                        <a:rPr sz="1100" b="1">
                          <a:solidFill>
                            <a:srgbClr val="F0E6D2"/>
                          </a:solidFill>
                          <a:latin typeface="맑은 고딕"/>
                        </a:rPr>
                        <a:t>4.9 %</a:t>
                      </a:r>
                    </a:p>
                  </a:txBody>
                  <a:tcPr marL="91440" marR="91440" anchor="ctr">
                    <a:solidFill>
                      <a:srgbClr val="2D353E"/>
                    </a:solidFill>
                  </a:tcPr>
                </a:tc>
              </a:tr>
              <a:tr h="365760">
                <a:tc>
                  <a:txBody>
                    <a:bodyPr/>
                    <a:lstStyle/>
                    <a:p>
                      <a:pPr algn="l"/>
                      <a:r>
                        <a:rPr sz="1100" b="0">
                          <a:solidFill>
                            <a:srgbClr val="C1BEB4"/>
                          </a:solidFill>
                          <a:latin typeface="맑은 고딕"/>
                        </a:rPr>
                        <a:t>나이브베이즈</a:t>
                      </a:r>
                    </a:p>
                  </a:txBody>
                  <a:tcPr marL="91440" marR="91440" anchor="ctr">
                    <a:solidFill>
                      <a:srgbClr val="09172B"/>
                    </a:solidFill>
                  </a:tcPr>
                </a:tc>
                <a:tc>
                  <a:txBody>
                    <a:bodyPr/>
                    <a:lstStyle/>
                    <a:p>
                      <a:pPr algn="ctr"/>
                      <a:r>
                        <a:rPr sz="1100" b="0">
                          <a:solidFill>
                            <a:srgbClr val="C1BEB4"/>
                          </a:solidFill>
                          <a:latin typeface="맑은 고딕"/>
                        </a:rPr>
                        <a:t>0.7313</a:t>
                      </a:r>
                    </a:p>
                  </a:txBody>
                  <a:tcPr marL="91440" marR="91440" anchor="ctr">
                    <a:solidFill>
                      <a:srgbClr val="09172B"/>
                    </a:solidFill>
                  </a:tcPr>
                </a:tc>
                <a:tc>
                  <a:txBody>
                    <a:bodyPr/>
                    <a:lstStyle/>
                    <a:p>
                      <a:pPr algn="ctr"/>
                      <a:r>
                        <a:rPr sz="1100" b="0">
                          <a:solidFill>
                            <a:srgbClr val="C1BEB4"/>
                          </a:solidFill>
                          <a:latin typeface="맑은 고딕"/>
                        </a:rPr>
                        <a:t>0.8096</a:t>
                      </a:r>
                    </a:p>
                  </a:txBody>
                  <a:tcPr marL="91440" marR="91440" anchor="ctr">
                    <a:solidFill>
                      <a:srgbClr val="09172B"/>
                    </a:solidFill>
                  </a:tcPr>
                </a:tc>
                <a:tc>
                  <a:txBody>
                    <a:bodyPr/>
                    <a:lstStyle/>
                    <a:p>
                      <a:pPr algn="ctr"/>
                      <a:r>
                        <a:rPr sz="1100" b="0">
                          <a:solidFill>
                            <a:srgbClr val="C1BEB4"/>
                          </a:solidFill>
                          <a:latin typeface="맑은 고딕"/>
                        </a:rPr>
                        <a:t>0.2179</a:t>
                      </a:r>
                    </a:p>
                  </a:txBody>
                  <a:tcPr marL="91440" marR="91440" anchor="ctr">
                    <a:solidFill>
                      <a:srgbClr val="09172B"/>
                    </a:solidFill>
                  </a:tcPr>
                </a:tc>
                <a:tc>
                  <a:txBody>
                    <a:bodyPr/>
                    <a:lstStyle/>
                    <a:p>
                      <a:pPr algn="ctr"/>
                      <a:r>
                        <a:rPr sz="1100" b="0">
                          <a:solidFill>
                            <a:srgbClr val="C1BEB4"/>
                          </a:solidFill>
                          <a:latin typeface="맑은 고딕"/>
                        </a:rPr>
                        <a:t>63.6 %</a:t>
                      </a:r>
                    </a:p>
                  </a:txBody>
                  <a:tcPr marL="91440" marR="91440" anchor="ctr">
                    <a:solidFill>
                      <a:srgbClr val="09172B"/>
                    </a:solidFill>
                  </a:tcPr>
                </a:tc>
              </a:tr>
            </a:tbl>
          </a:graphicData>
        </a:graphic>
      </p:graphicFrame>
      <p:sp>
        <p:nvSpPr>
          <p:cNvPr id="20" name="Rectangle 19"/>
          <p:cNvSpPr/>
          <p:nvPr/>
        </p:nvSpPr>
        <p:spPr>
          <a:xfrm>
            <a:off x="7406640" y="1328995"/>
            <a:ext cx="4005072" cy="20116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1328995"/>
            <a:ext cx="45720" cy="20116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4383" y="1328995"/>
            <a:ext cx="3547872" cy="201168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정확도는 대등한데</a:t>
            </a:r>
            <a:br>
              <a:rPr sz="1250" b="1">
                <a:solidFill>
                  <a:srgbClr val="F0E6D2"/>
                </a:solidFill>
                <a:latin typeface="맑은 고딕"/>
              </a:rPr>
            </a:br>
            <a:r>
              <a:rPr sz="1250" b="1">
                <a:solidFill>
                  <a:srgbClr val="F0E6D2"/>
                </a:solidFill>
                <a:latin typeface="맑은 고딕"/>
              </a:rPr>
              <a:t>확률의 얼굴이 완전히 다릅니다.</a:t>
            </a:r>
            <a:br>
              <a:rPr sz="1250" b="1">
                <a:solidFill>
                  <a:srgbClr val="F0E6D2"/>
                </a:solidFill>
                <a:latin typeface="맑은 고딕"/>
              </a:rPr>
            </a:br>
            <a:r>
              <a:rPr sz="1250" b="1">
                <a:solidFill>
                  <a:srgbClr val="F0E6D2"/>
                </a:solidFill>
                <a:latin typeface="맑은 고딕"/>
              </a:rPr>
              <a:t/>
            </a:r>
            <a:br>
              <a:rPr sz="1250" b="1">
                <a:solidFill>
                  <a:srgbClr val="F0E6D2"/>
                </a:solidFill>
                <a:latin typeface="맑은 고딕"/>
              </a:rPr>
            </a:br>
            <a:r>
              <a:rPr sz="1250" b="1">
                <a:solidFill>
                  <a:srgbClr val="F0E6D2"/>
                </a:solidFill>
                <a:latin typeface="맑은 고딕"/>
              </a:rPr>
              <a:t>NB 는 경기 3판 중 2판에</a:t>
            </a:r>
            <a:br>
              <a:rPr sz="1250" b="1">
                <a:solidFill>
                  <a:srgbClr val="F0E6D2"/>
                </a:solidFill>
                <a:latin typeface="맑은 고딕"/>
              </a:rPr>
            </a:br>
            <a:r>
              <a:rPr sz="1250" b="1">
                <a:solidFill>
                  <a:srgbClr val="F0E6D2"/>
                </a:solidFill>
                <a:latin typeface="맑은 고딕"/>
              </a:rPr>
              <a:t>"95% 이상 확신"을 겁니다.</a:t>
            </a:r>
            <a:br>
              <a:rPr sz="1250" b="1">
                <a:solidFill>
                  <a:srgbClr val="F0E6D2"/>
                </a:solidFill>
                <a:latin typeface="맑은 고딕"/>
              </a:rPr>
            </a:br>
            <a:r>
              <a:rPr sz="1250" b="1">
                <a:solidFill>
                  <a:srgbClr val="F0E6D2"/>
                </a:solidFill>
                <a:latin typeface="맑은 고딕"/>
              </a:rPr>
              <a:t>팽팽한 접전에도요.</a:t>
            </a:r>
          </a:p>
        </p:txBody>
      </p:sp>
      <p:sp>
        <p:nvSpPr>
          <p:cNvPr id="23" name="TextBox 22"/>
          <p:cNvSpPr txBox="1"/>
          <p:nvPr/>
        </p:nvSpPr>
        <p:spPr>
          <a:xfrm>
            <a:off x="7406640" y="3897735"/>
            <a:ext cx="4005072" cy="2221991"/>
          </a:xfrm>
          <a:prstGeom prst="rect">
            <a:avLst/>
          </a:prstGeom>
          <a:noFill/>
        </p:spPr>
        <p:txBody>
          <a:bodyPr wrap="square" anchor="t" lIns="0" rIns="0" tIns="0" bIns="0">
            <a:spAutoFit/>
          </a:bodyPr>
          <a:lstStyle/>
          <a:p>
            <a:pPr algn="l">
              <a:lnSpc>
                <a:spcPct val="132000"/>
              </a:lnSpc>
              <a:spcAft>
                <a:spcPts val="500"/>
              </a:spcAft>
            </a:pPr>
            <a:r>
              <a:rPr sz="1100" b="1">
                <a:solidFill>
                  <a:srgbClr val="F0E6D2"/>
                </a:solidFill>
                <a:latin typeface="맑은 고딕"/>
              </a:rPr>
              <a:t>◆  이런 일이 생기는 이유</a:t>
            </a:r>
          </a:p>
          <a:p>
            <a:pPr algn="l">
              <a:lnSpc>
                <a:spcPct val="130000"/>
              </a:lnSpc>
              <a:spcAft>
                <a:spcPts val="200"/>
              </a:spcAft>
            </a:pPr>
            <a:r>
              <a:rPr sz="800" b="0">
                <a:solidFill>
                  <a:srgbClr val="8E8B80"/>
                </a:solidFill>
                <a:latin typeface="맑은 고딕"/>
              </a:rPr>
              <a:t>     NB 는 "지표끼리 독립"이라 가정하고 확률을 곱해 나간다</a:t>
            </a:r>
          </a:p>
          <a:p>
            <a:pPr algn="l">
              <a:lnSpc>
                <a:spcPct val="130000"/>
              </a:lnSpc>
              <a:spcAft>
                <a:spcPts val="200"/>
              </a:spcAft>
            </a:pPr>
            <a:r>
              <a:rPr sz="800" b="0">
                <a:solidFill>
                  <a:srgbClr val="8E8B80"/>
                </a:solidFill>
                <a:latin typeface="맑은 고딕"/>
              </a:rPr>
              <a:t>     우리 지표는 상관 0.9 로 얽혀 있어 같은 증거를 여섯 번 세는 셈 — 51%가 99%로 부푼다</a:t>
            </a:r>
          </a:p>
          <a:p>
            <a:pPr algn="l">
              <a:lnSpc>
                <a:spcPct val="132000"/>
              </a:lnSpc>
              <a:spcAft>
                <a:spcPts val="500"/>
              </a:spcAft>
            </a:pPr>
            <a:r>
              <a:rPr sz="1100" b="1">
                <a:solidFill>
                  <a:srgbClr val="F0E6D2"/>
                </a:solidFill>
                <a:latin typeface="맑은 고딕"/>
              </a:rPr>
              <a:t>◆  분할 10회 반복에서 로지스틱 10전 10승 (평균 +0.009)</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reports/tables/supplement_nb_vs_lr.csv    |    모델을 바꿔도 0.73 상한은 그대로 — 교차 확인용 보조로만 남깁니다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783BCAEC-ECC2-4547-ABE2-9D09166AF093}" type="slidenum">
              <a:rPr lang="ko-KR" sz="950">
                <a:solidFill>
                  <a:srgbClr val="73726E"/>
                </a:solidFill>
                <a:latin typeface="맑은 고딕"/>
                <a:ea typeface="맑은 고딕"/>
              </a:rPr>
              <a:t>21</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안정성 검증 — 교차검증 · 시드 10회 반복</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858000" cy="22860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766560" cy="21945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6_repeat_check.png"/>
          <p:cNvPicPr>
            <a:picLocks noChangeAspect="1"/>
          </p:cNvPicPr>
          <p:nvPr/>
        </p:nvPicPr>
        <p:blipFill>
          <a:blip r:embed="rId3"/>
          <a:stretch>
            <a:fillRect/>
          </a:stretch>
        </p:blipFill>
        <p:spPr>
          <a:xfrm>
            <a:off x="886968" y="1483372"/>
            <a:ext cx="6547104" cy="1905500"/>
          </a:xfrm>
          <a:prstGeom prst="rect">
            <a:avLst/>
          </a:prstGeom>
        </p:spPr>
      </p:pic>
      <p:sp>
        <p:nvSpPr>
          <p:cNvPr id="18" name="TextBox 17"/>
          <p:cNvSpPr txBox="1"/>
          <p:nvPr/>
        </p:nvSpPr>
        <p:spPr>
          <a:xfrm>
            <a:off x="777240" y="3800063"/>
            <a:ext cx="67665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분할부터 다시 하는 시드 10회 반복 — 정확도 · 접전 정확도 · 15분 우세 여부</a:t>
            </a:r>
          </a:p>
        </p:txBody>
      </p:sp>
      <p:sp>
        <p:nvSpPr>
          <p:cNvPr id="19" name="Rectangle 18"/>
          <p:cNvSpPr/>
          <p:nvPr/>
        </p:nvSpPr>
        <p:spPr>
          <a:xfrm>
            <a:off x="7772400" y="1328995"/>
            <a:ext cx="3639312" cy="118872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1328995"/>
            <a:ext cx="45720" cy="11887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1524336"/>
            <a:ext cx="3182112" cy="85953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5-fold 교차검증</a:t>
            </a:r>
          </a:p>
          <a:p>
            <a:pPr algn="l">
              <a:lnSpc>
                <a:spcPct val="100000"/>
              </a:lnSpc>
              <a:spcAft>
                <a:spcPts val="300"/>
              </a:spcAft>
            </a:pPr>
            <a:r>
              <a:rPr sz="1900" b="1">
                <a:solidFill>
                  <a:srgbClr val="0AC8B9"/>
                </a:solidFill>
                <a:latin typeface="맑은 고딕"/>
              </a:rPr>
              <a:t>0.7315 ± 0.0153</a:t>
            </a:r>
          </a:p>
          <a:p>
            <a:pPr algn="l">
              <a:lnSpc>
                <a:spcPct val="125000"/>
              </a:lnSpc>
              <a:spcAft>
                <a:spcPts val="0"/>
              </a:spcAft>
            </a:pPr>
            <a:r>
              <a:rPr sz="1100" b="0">
                <a:solidFill>
                  <a:srgbClr val="8A877D"/>
                </a:solidFill>
                <a:latin typeface="맑은 고딕"/>
              </a:rPr>
              <a:t>격차 +0.0022 — 외우지 않았다</a:t>
            </a:r>
          </a:p>
        </p:txBody>
      </p:sp>
      <p:sp>
        <p:nvSpPr>
          <p:cNvPr id="22" name="Rectangle 21"/>
          <p:cNvSpPr/>
          <p:nvPr/>
        </p:nvSpPr>
        <p:spPr>
          <a:xfrm>
            <a:off x="7772400" y="2969863"/>
            <a:ext cx="3639312" cy="1188720"/>
          </a:xfrm>
          <a:prstGeom prst="rect">
            <a:avLst/>
          </a:prstGeom>
          <a:solidFill>
            <a:srgbClr val="10223E">
              <a:alpha val="92000"/>
            </a:srgbClr>
          </a:solidFill>
          <a:ln w="12700">
            <a:solidFill>
              <a:srgbClr val="5A5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0" y="2969863"/>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1" y="3165204"/>
            <a:ext cx="3182112" cy="85953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시드 10회 반복 평균</a:t>
            </a:r>
          </a:p>
          <a:p>
            <a:pPr algn="l">
              <a:lnSpc>
                <a:spcPct val="100000"/>
              </a:lnSpc>
              <a:spcAft>
                <a:spcPts val="300"/>
              </a:spcAft>
            </a:pPr>
            <a:r>
              <a:rPr sz="1900" b="1">
                <a:solidFill>
                  <a:srgbClr val="F0E6D2"/>
                </a:solidFill>
                <a:latin typeface="맑은 고딕"/>
              </a:rPr>
              <a:t>0.7366 ± 0.0081</a:t>
            </a:r>
          </a:p>
          <a:p>
            <a:pPr algn="l">
              <a:lnSpc>
                <a:spcPct val="125000"/>
              </a:lnSpc>
              <a:spcAft>
                <a:spcPts val="0"/>
              </a:spcAft>
            </a:pPr>
            <a:r>
              <a:rPr sz="1100" b="0">
                <a:solidFill>
                  <a:srgbClr val="8A877D"/>
                </a:solidFill>
                <a:latin typeface="맑은 고딕"/>
              </a:rPr>
              <a:t>0.7277 ~ 0.7520 · 10번 전부 목표 0.70 통과</a:t>
            </a:r>
          </a:p>
        </p:txBody>
      </p:sp>
      <p:sp>
        <p:nvSpPr>
          <p:cNvPr id="25" name="Rectangle 24"/>
          <p:cNvSpPr/>
          <p:nvPr/>
        </p:nvSpPr>
        <p:spPr>
          <a:xfrm>
            <a:off x="777240" y="4483759"/>
            <a:ext cx="6766560"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483759"/>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3" y="4483759"/>
            <a:ext cx="6309360" cy="1188720"/>
          </a:xfrm>
          <a:prstGeom prst="rect">
            <a:avLst/>
          </a:prstGeom>
          <a:noFill/>
        </p:spPr>
        <p:txBody>
          <a:bodyPr wrap="square" anchor="ctr" lIns="0" rIns="0" tIns="0" bIns="0">
            <a:spAutoFit/>
          </a:bodyPr>
          <a:lstStyle/>
          <a:p>
            <a:pPr algn="l">
              <a:lnSpc>
                <a:spcPct val="132000"/>
              </a:lnSpc>
              <a:spcAft>
                <a:spcPts val="0"/>
              </a:spcAft>
            </a:pPr>
            <a:r>
              <a:rPr sz="1250" b="1">
                <a:solidFill>
                  <a:srgbClr val="F0E6D2"/>
                </a:solidFill>
                <a:latin typeface="맑은 고딕"/>
              </a:rPr>
              <a:t>발표에는 0.7366 을 씁니다.</a:t>
            </a:r>
            <a:br>
              <a:rPr sz="1250" b="1">
                <a:solidFill>
                  <a:srgbClr val="F0E6D2"/>
                </a:solidFill>
                <a:latin typeface="맑은 고딕"/>
              </a:rPr>
            </a:br>
            <a:r>
              <a:rPr sz="1250" b="1">
                <a:solidFill>
                  <a:srgbClr val="F0E6D2"/>
                </a:solidFill>
                <a:latin typeface="맑은 고딕"/>
              </a:rPr>
              <a:t>0.7394 는 특정 분할 하나(시드 42)의 값이라, 하나만 골라 말하면</a:t>
            </a:r>
            <a:br>
              <a:rPr sz="1250" b="1">
                <a:solidFill>
                  <a:srgbClr val="F0E6D2"/>
                </a:solidFill>
                <a:latin typeface="맑은 고딕"/>
              </a:rPr>
            </a:br>
            <a:r>
              <a:rPr sz="1250" b="1">
                <a:solidFill>
                  <a:srgbClr val="F0E6D2"/>
                </a:solidFill>
                <a:latin typeface="맑은 고딕"/>
              </a:rPr>
              <a:t>운 좋은 값을 고른 셈이 됩니다. 평균과 흔들림을 함께 말합니다.</a:t>
            </a:r>
          </a:p>
        </p:txBody>
      </p:sp>
      <p:sp>
        <p:nvSpPr>
          <p:cNvPr id="28" name="TextBox 27"/>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reports/tables/repeat_experimentA.csv    |    개념 → STUDY 7번 교차검증</a:t>
            </a:r>
          </a:p>
        </p:txBody>
      </p:sp>
      <p:sp>
        <p:nvSpPr>
          <p:cNvPr id="29" name="TextBox 28"/>
          <p:cNvSpPr txBox="1"/>
          <p:nvPr/>
        </p:nvSpPr>
        <p:spPr>
          <a:xfrm>
            <a:off x="10972800" y="6574536"/>
            <a:ext cx="868680" cy="201168"/>
          </a:xfrm>
          <a:prstGeom prst="rect">
            <a:avLst/>
          </a:prstGeom>
          <a:noFill/>
        </p:spPr>
        <p:txBody>
          <a:bodyPr wrap="square" anchor="ctr" lIns="0" rIns="0" tIns="0" bIns="0">
            <a:spAutoFit/>
          </a:bodyPr>
          <a:lstStyle/>
          <a:p>
            <a:pPr algn="r"/>
            <a:fld id="{4A1774A3-385E-42B6-AA54-854A51BCA136}" type="slidenum">
              <a:rPr lang="ko-KR" sz="950">
                <a:solidFill>
                  <a:srgbClr val="73726E"/>
                </a:solidFill>
                <a:latin typeface="맑은 고딕"/>
                <a:ea typeface="맑은 고딕"/>
              </a:rPr>
              <a:t>23</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홀드아웃 평가 — 봉인해 둔 1,976판을 열다</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3429000" cy="1143000"/>
          </a:xfrm>
          <a:prstGeom prst="rect">
            <a:avLst/>
          </a:prstGeom>
          <a:solidFill>
            <a:srgbClr val="10223E">
              <a:alpha val="92000"/>
            </a:srgbClr>
          </a:solidFill>
          <a:ln w="12700">
            <a:solidFill>
              <a:srgbClr val="5A5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11430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대표 정확도</a:t>
            </a:r>
          </a:p>
          <a:p>
            <a:pPr algn="l">
              <a:lnSpc>
                <a:spcPct val="100000"/>
              </a:lnSpc>
              <a:spcAft>
                <a:spcPts val="300"/>
              </a:spcAft>
            </a:pPr>
            <a:r>
              <a:rPr sz="3000" b="1">
                <a:solidFill>
                  <a:srgbClr val="F0E6D2"/>
                </a:solidFill>
                <a:latin typeface="맑은 고딕"/>
              </a:rPr>
              <a:t>0.7366</a:t>
            </a:r>
          </a:p>
          <a:p>
            <a:pPr algn="l">
              <a:lnSpc>
                <a:spcPct val="125000"/>
              </a:lnSpc>
              <a:spcAft>
                <a:spcPts val="0"/>
              </a:spcAft>
            </a:pPr>
            <a:r>
              <a:rPr sz="1100" b="0">
                <a:solidFill>
                  <a:srgbClr val="8A877D"/>
                </a:solidFill>
                <a:latin typeface="맑은 고딕"/>
              </a:rPr>
              <a:t>찍기 대비 +23.8%p</a:t>
            </a:r>
          </a:p>
        </p:txBody>
      </p:sp>
      <p:sp>
        <p:nvSpPr>
          <p:cNvPr id="18" name="Rectangle 17"/>
          <p:cNvSpPr/>
          <p:nvPr/>
        </p:nvSpPr>
        <p:spPr>
          <a:xfrm>
            <a:off x="4379976" y="1280160"/>
            <a:ext cx="3429000" cy="114300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9976" y="1280160"/>
            <a:ext cx="45720" cy="1143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8"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AUC</a:t>
            </a:r>
          </a:p>
          <a:p>
            <a:pPr algn="l">
              <a:lnSpc>
                <a:spcPct val="100000"/>
              </a:lnSpc>
              <a:spcAft>
                <a:spcPts val="300"/>
              </a:spcAft>
            </a:pPr>
            <a:r>
              <a:rPr sz="3000" b="1">
                <a:solidFill>
                  <a:srgbClr val="0AC8B9"/>
                </a:solidFill>
                <a:latin typeface="맑은 고딕"/>
              </a:rPr>
              <a:t>0.8150</a:t>
            </a:r>
          </a:p>
          <a:p>
            <a:pPr algn="l">
              <a:lnSpc>
                <a:spcPct val="125000"/>
              </a:lnSpc>
              <a:spcAft>
                <a:spcPts val="0"/>
              </a:spcAft>
            </a:pPr>
            <a:r>
              <a:rPr sz="1100" b="0">
                <a:solidFill>
                  <a:srgbClr val="8A877D"/>
                </a:solidFill>
                <a:latin typeface="맑은 고딕"/>
              </a:rPr>
              <a:t>임계값과 무관한 순위 능력</a:t>
            </a:r>
          </a:p>
        </p:txBody>
      </p:sp>
      <p:sp>
        <p:nvSpPr>
          <p:cNvPr id="21" name="Rectangle 20"/>
          <p:cNvSpPr/>
          <p:nvPr/>
        </p:nvSpPr>
        <p:spPr>
          <a:xfrm>
            <a:off x="7982712" y="1280160"/>
            <a:ext cx="3429000" cy="1143000"/>
          </a:xfrm>
          <a:prstGeom prst="rect">
            <a:avLst/>
          </a:prstGeom>
          <a:solidFill>
            <a:srgbClr val="10223E">
              <a:alpha val="92000"/>
            </a:srgbClr>
          </a:solidFill>
          <a:ln w="12700">
            <a:solidFill>
              <a:srgbClr val="0B5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82712" y="1280160"/>
            <a:ext cx="45720" cy="1143000"/>
          </a:xfrm>
          <a:prstGeom prst="rect">
            <a:avLst/>
          </a:prstGeom>
          <a:solidFill>
            <a:srgbClr val="0397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1477316"/>
            <a:ext cx="2971800" cy="81381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F1  /  Brier</a:t>
            </a:r>
          </a:p>
          <a:p>
            <a:pPr algn="l">
              <a:lnSpc>
                <a:spcPct val="100000"/>
              </a:lnSpc>
              <a:spcAft>
                <a:spcPts val="300"/>
              </a:spcAft>
            </a:pPr>
            <a:r>
              <a:rPr sz="2100" b="1">
                <a:solidFill>
                  <a:srgbClr val="0397AB"/>
                </a:solidFill>
                <a:latin typeface="맑은 고딕"/>
              </a:rPr>
              <a:t>0.7352 / 0.1756</a:t>
            </a:r>
          </a:p>
          <a:p>
            <a:pPr algn="l">
              <a:lnSpc>
                <a:spcPct val="125000"/>
              </a:lnSpc>
              <a:spcAft>
                <a:spcPts val="0"/>
              </a:spcAft>
            </a:pPr>
            <a:r>
              <a:rPr sz="1100" b="0">
                <a:solidFill>
                  <a:srgbClr val="8A877D"/>
                </a:solidFill>
                <a:latin typeface="맑은 고딕"/>
              </a:rPr>
              <a:t>쏠림 점검 / 확률 정확도</a:t>
            </a:r>
            <a:br>
              <a:rPr sz="1100" b="0">
                <a:solidFill>
                  <a:srgbClr val="8A877D"/>
                </a:solidFill>
                <a:latin typeface="맑은 고딕"/>
              </a:rPr>
            </a:br>
            <a:r>
              <a:rPr sz="1100" b="0">
                <a:solidFill>
                  <a:srgbClr val="8A877D"/>
                </a:solidFill>
                <a:latin typeface="맑은 고딕"/>
              </a:rPr>
              <a:t>Brier 는 0 에 가까울수록 좋다 (찍기 = 0.25)</a:t>
            </a:r>
          </a:p>
        </p:txBody>
      </p:sp>
      <p:sp>
        <p:nvSpPr>
          <p:cNvPr id="24" name="Rectangle 23"/>
          <p:cNvSpPr/>
          <p:nvPr/>
        </p:nvSpPr>
        <p:spPr>
          <a:xfrm>
            <a:off x="731519" y="2739120"/>
            <a:ext cx="4114800" cy="26060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2788410"/>
            <a:ext cx="4023360" cy="251460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ig1_confusion_matrix.png"/>
          <p:cNvPicPr>
            <a:picLocks noChangeAspect="1"/>
          </p:cNvPicPr>
          <p:nvPr/>
        </p:nvPicPr>
        <p:blipFill>
          <a:blip r:embed="rId3"/>
          <a:stretch>
            <a:fillRect/>
          </a:stretch>
        </p:blipFill>
        <p:spPr>
          <a:xfrm>
            <a:off x="1572884" y="2906704"/>
            <a:ext cx="2432070" cy="2295144"/>
          </a:xfrm>
          <a:prstGeom prst="rect">
            <a:avLst/>
          </a:prstGeom>
        </p:spPr>
      </p:pic>
      <p:sp>
        <p:nvSpPr>
          <p:cNvPr id="27" name="TextBox 26"/>
          <p:cNvSpPr txBox="1"/>
          <p:nvPr/>
        </p:nvSpPr>
        <p:spPr>
          <a:xfrm>
            <a:off x="777240" y="5627469"/>
            <a:ext cx="402336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혼동행렬 — TN 746 · FP 244 / FN 271 · TP 715</a:t>
            </a:r>
          </a:p>
        </p:txBody>
      </p:sp>
      <p:sp>
        <p:nvSpPr>
          <p:cNvPr id="28" name="Rectangle 27"/>
          <p:cNvSpPr/>
          <p:nvPr/>
        </p:nvSpPr>
        <p:spPr>
          <a:xfrm>
            <a:off x="5166360" y="2739120"/>
            <a:ext cx="3291840" cy="260604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2788410"/>
            <a:ext cx="3200400" cy="251460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ig4_roc.png"/>
          <p:cNvPicPr>
            <a:picLocks noChangeAspect="1"/>
          </p:cNvPicPr>
          <p:nvPr/>
        </p:nvPicPr>
        <p:blipFill>
          <a:blip r:embed="rId4"/>
          <a:stretch>
            <a:fillRect/>
          </a:stretch>
        </p:blipFill>
        <p:spPr>
          <a:xfrm>
            <a:off x="5477349" y="2906704"/>
            <a:ext cx="2669861" cy="2295144"/>
          </a:xfrm>
          <a:prstGeom prst="rect">
            <a:avLst/>
          </a:prstGeom>
        </p:spPr>
      </p:pic>
      <p:sp>
        <p:nvSpPr>
          <p:cNvPr id="31" name="TextBox 30"/>
          <p:cNvSpPr txBox="1"/>
          <p:nvPr/>
        </p:nvSpPr>
        <p:spPr>
          <a:xfrm>
            <a:off x="5212080" y="5627469"/>
            <a:ext cx="32004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ROC — 기준을 0~1 로 전부 바꿔가며</a:t>
            </a:r>
          </a:p>
        </p:txBody>
      </p:sp>
      <p:sp>
        <p:nvSpPr>
          <p:cNvPr id="32" name="Rectangle 31"/>
          <p:cNvSpPr/>
          <p:nvPr/>
        </p:nvSpPr>
        <p:spPr>
          <a:xfrm>
            <a:off x="8732520" y="2788410"/>
            <a:ext cx="2679192" cy="25146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32520" y="2788410"/>
            <a:ext cx="45720" cy="25146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70264" y="2788410"/>
            <a:ext cx="2221992" cy="251460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틀리는 방향이</a:t>
            </a:r>
            <a:br>
              <a:rPr sz="1100" b="1">
                <a:solidFill>
                  <a:srgbClr val="F0E6D2"/>
                </a:solidFill>
                <a:latin typeface="맑은 고딕"/>
              </a:rPr>
            </a:br>
            <a:r>
              <a:rPr sz="1100" b="1">
                <a:solidFill>
                  <a:srgbClr val="F0E6D2"/>
                </a:solidFill>
                <a:latin typeface="맑은 고딕"/>
              </a:rPr>
              <a:t>244 대 271 로 대칭입니다.</a:t>
            </a:r>
            <a:br>
              <a:rPr sz="1100" b="1">
                <a:solidFill>
                  <a:srgbClr val="F0E6D2"/>
                </a:solidFill>
                <a:latin typeface="맑은 고딕"/>
              </a:rPr>
            </a:br>
            <a:r>
              <a:rPr sz="1100" b="1">
                <a:solidFill>
                  <a:srgbClr val="F0E6D2"/>
                </a:solidFill>
                <a:latin typeface="맑은 고딕"/>
              </a:rPr>
              <a:t/>
            </a:r>
            <a:br>
              <a:rPr sz="1100" b="1">
                <a:solidFill>
                  <a:srgbClr val="F0E6D2"/>
                </a:solidFill>
                <a:latin typeface="맑은 고딕"/>
              </a:rPr>
            </a:br>
            <a:r>
              <a:rPr sz="1100" b="1">
                <a:solidFill>
                  <a:srgbClr val="F0E6D2"/>
                </a:solidFill>
                <a:latin typeface="맑은 고딕"/>
              </a:rPr>
              <a:t>어느 팀도 편들지 않으므로</a:t>
            </a:r>
            <a:br>
              <a:rPr sz="1100" b="1">
                <a:solidFill>
                  <a:srgbClr val="F0E6D2"/>
                </a:solidFill>
                <a:latin typeface="맑은 고딕"/>
              </a:rPr>
            </a:br>
            <a:r>
              <a:rPr sz="1100" b="1">
                <a:solidFill>
                  <a:srgbClr val="F0E6D2"/>
                </a:solidFill>
                <a:latin typeface="맑은 고딕"/>
              </a:rPr>
              <a:t>임계값 0.5 를</a:t>
            </a:r>
            <a:br>
              <a:rPr sz="1100" b="1">
                <a:solidFill>
                  <a:srgbClr val="F0E6D2"/>
                </a:solidFill>
                <a:latin typeface="맑은 고딕"/>
              </a:rPr>
            </a:br>
            <a:r>
              <a:rPr sz="1100" b="1">
                <a:solidFill>
                  <a:srgbClr val="F0E6D2"/>
                </a:solidFill>
                <a:latin typeface="맑은 고딕"/>
              </a:rPr>
              <a:t>손볼 이유가 없었습니다.</a:t>
            </a:r>
            <a:br>
              <a:rPr sz="1100" b="1">
                <a:solidFill>
                  <a:srgbClr val="F0E6D2"/>
                </a:solidFill>
                <a:latin typeface="맑은 고딕"/>
              </a:rPr>
            </a:br>
            <a:r>
              <a:rPr sz="1100" b="1">
                <a:solidFill>
                  <a:srgbClr val="F0E6D2"/>
                </a:solidFill>
                <a:latin typeface="맑은 고딕"/>
              </a:rPr>
              <a:t/>
            </a:r>
            <a:br>
              <a:rPr sz="1100" b="1">
                <a:solidFill>
                  <a:srgbClr val="F0E6D2"/>
                </a:solidFill>
                <a:latin typeface="맑은 고딕"/>
              </a:rPr>
            </a:br>
            <a:r>
              <a:rPr sz="1100" b="1">
                <a:solidFill>
                  <a:srgbClr val="F0E6D2"/>
                </a:solidFill>
                <a:latin typeface="맑은 고딕"/>
              </a:rPr>
              <a:t>AUC 0.8150 —</a:t>
            </a:r>
            <a:br>
              <a:rPr sz="1100" b="1">
                <a:solidFill>
                  <a:srgbClr val="F0E6D2"/>
                </a:solidFill>
                <a:latin typeface="맑은 고딕"/>
              </a:rPr>
            </a:br>
            <a:r>
              <a:rPr sz="1100" b="1">
                <a:solidFill>
                  <a:srgbClr val="F0E6D2"/>
                </a:solidFill>
                <a:latin typeface="맑은 고딕"/>
              </a:rPr>
              <a:t>승리 경기에 더 높은 확률을</a:t>
            </a:r>
            <a:br>
              <a:rPr sz="1100" b="1">
                <a:solidFill>
                  <a:srgbClr val="F0E6D2"/>
                </a:solidFill>
                <a:latin typeface="맑은 고딕"/>
              </a:rPr>
            </a:br>
            <a:r>
              <a:rPr sz="1100" b="1">
                <a:solidFill>
                  <a:srgbClr val="F0E6D2"/>
                </a:solidFill>
                <a:latin typeface="맑은 고딕"/>
              </a:rPr>
              <a:t>줄 가능성이 81.5%.</a:t>
            </a:r>
          </a:p>
        </p:txBody>
      </p:sp>
      <p:sp>
        <p:nvSpPr>
          <p:cNvPr id="35" name="TextBox 34"/>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artifacts/schema.json · reports/model_report.ipynb    |    개념 → STUDY 8번 평가지표</a:t>
            </a:r>
          </a:p>
        </p:txBody>
      </p:sp>
      <p:sp>
        <p:nvSpPr>
          <p:cNvPr id="36" name="TextBox 35"/>
          <p:cNvSpPr txBox="1"/>
          <p:nvPr/>
        </p:nvSpPr>
        <p:spPr>
          <a:xfrm>
            <a:off x="10972800" y="6574536"/>
            <a:ext cx="868680" cy="201168"/>
          </a:xfrm>
          <a:prstGeom prst="rect">
            <a:avLst/>
          </a:prstGeom>
          <a:noFill/>
        </p:spPr>
        <p:txBody>
          <a:bodyPr wrap="square" anchor="ctr" lIns="0" rIns="0" tIns="0" bIns="0">
            <a:spAutoFit/>
          </a:bodyPr>
          <a:lstStyle/>
          <a:p>
            <a:pPr algn="r"/>
            <a:fld id="{605EFBF7-0774-45D0-9910-57783FCEE6C8}" type="slidenum">
              <a:rPr lang="ko-KR" sz="950">
                <a:solidFill>
                  <a:srgbClr val="73726E"/>
                </a:solidFill>
                <a:latin typeface="맑은 고딕"/>
                <a:ea typeface="맑은 고딕"/>
              </a:rPr>
              <a:t>24</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골드 격차별 승률 분석</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949440" cy="4023359"/>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858000" cy="39319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da1_winrate_curve.png"/>
          <p:cNvPicPr>
            <a:picLocks noChangeAspect="1"/>
          </p:cNvPicPr>
          <p:nvPr/>
        </p:nvPicPr>
        <p:blipFill>
          <a:blip r:embed="rId3"/>
          <a:stretch>
            <a:fillRect/>
          </a:stretch>
        </p:blipFill>
        <p:spPr>
          <a:xfrm>
            <a:off x="886968" y="1459222"/>
            <a:ext cx="6638544" cy="3688080"/>
          </a:xfrm>
          <a:prstGeom prst="rect">
            <a:avLst/>
          </a:prstGeom>
        </p:spPr>
      </p:pic>
      <p:sp>
        <p:nvSpPr>
          <p:cNvPr id="18" name="TextBox 17"/>
          <p:cNvSpPr txBox="1"/>
          <p:nvPr/>
        </p:nvSpPr>
        <p:spPr>
          <a:xfrm>
            <a:off x="777240" y="5655808"/>
            <a:ext cx="6858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가로축: 10분 골드 차이 · 파란 선: 그 구간의 실제 승률 · 회색 막대: 경기 수</a:t>
            </a:r>
          </a:p>
        </p:txBody>
      </p:sp>
      <p:sp>
        <p:nvSpPr>
          <p:cNvPr id="19" name="TextBox 18"/>
          <p:cNvSpPr txBox="1"/>
          <p:nvPr/>
        </p:nvSpPr>
        <p:spPr>
          <a:xfrm>
            <a:off x="7863840" y="1328995"/>
            <a:ext cx="3547872" cy="2100000"/>
          </a:xfrm>
          <a:prstGeom prst="rect">
            <a:avLst/>
          </a:prstGeom>
          <a:noFill/>
        </p:spPr>
        <p:txBody>
          <a:bodyPr wrap="square" anchor="t" lIns="0" rIns="0" tIns="0" bIns="0">
            <a:spAutoFit/>
          </a:bodyPr>
          <a:lstStyle/>
          <a:p>
            <a:pPr algn="l">
              <a:lnSpc>
                <a:spcPct val="132000"/>
              </a:lnSpc>
              <a:spcAft>
                <a:spcPts val="700"/>
              </a:spcAft>
            </a:pPr>
            <a:r>
              <a:rPr sz="1250" b="1">
                <a:solidFill>
                  <a:srgbClr val="F0E6D2"/>
                </a:solidFill>
                <a:latin typeface="맑은 고딕"/>
              </a:rPr>
              <a:t>◆  승률이 S자로 매끄럽게 상승</a:t>
            </a:r>
          </a:p>
          <a:p>
            <a:pPr algn="l">
              <a:lnSpc>
                <a:spcPct val="130000"/>
              </a:lnSpc>
              <a:spcAft>
                <a:spcPts val="400"/>
              </a:spcAft>
            </a:pPr>
            <a:r>
              <a:rPr sz="950" b="0">
                <a:solidFill>
                  <a:srgbClr val="8E8B80"/>
                </a:solidFill>
                <a:latin typeface="맑은 고딕"/>
              </a:rPr>
              <a:t>     5,000 이상 뒤진 경기는 1.7%만 이기고, 5,000 이상 앞선 경기는 99.5% 이긴다 — 가설대로다</a:t>
            </a:r>
          </a:p>
          <a:p>
            <a:pPr algn="l">
              <a:lnSpc>
                <a:spcPct val="132000"/>
              </a:lnSpc>
              <a:spcAft>
                <a:spcPts val="700"/>
              </a:spcAft>
            </a:pPr>
            <a:r>
              <a:rPr sz="1250" b="1">
                <a:solidFill>
                  <a:srgbClr val="F0E6D2"/>
                </a:solidFill>
                <a:latin typeface="맑은 고딕"/>
              </a:rPr>
              <a:t>◆  그런데 중요한 것은 가운데 구간</a:t>
            </a:r>
          </a:p>
          <a:p>
            <a:pPr algn="l">
              <a:lnSpc>
                <a:spcPct val="130000"/>
              </a:lnSpc>
              <a:spcAft>
                <a:spcPts val="400"/>
              </a:spcAft>
            </a:pPr>
            <a:r>
              <a:rPr sz="950" b="0">
                <a:solidFill>
                  <a:srgbClr val="8E8B80"/>
                </a:solidFill>
                <a:latin typeface="맑은 고딕"/>
              </a:rPr>
              <a:t>     경기가 가장 많은 ±1,000 구간이 전체의 33%인데 그 구간 승률은 49.5% — 사실상 동전 던지기</a:t>
            </a:r>
          </a:p>
        </p:txBody>
      </p:sp>
      <p:sp>
        <p:nvSpPr>
          <p:cNvPr id="20" name="Rectangle 19"/>
          <p:cNvSpPr/>
          <p:nvPr/>
        </p:nvSpPr>
        <p:spPr>
          <a:xfrm>
            <a:off x="7863840" y="3500000"/>
            <a:ext cx="3547872" cy="1803519"/>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3500000"/>
            <a:ext cx="45720" cy="1803519"/>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3500000"/>
            <a:ext cx="3090672" cy="1803519"/>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데이터가 가장 많이 몰린 곳에서</a:t>
            </a:r>
            <a:br>
              <a:rPr sz="1200" b="1">
                <a:solidFill>
                  <a:srgbClr val="F0E6D2"/>
                </a:solidFill>
                <a:latin typeface="맑은 고딕"/>
              </a:rPr>
            </a:br>
            <a:r>
              <a:rPr sz="1200" b="1">
                <a:solidFill>
                  <a:srgbClr val="F0E6D2"/>
                </a:solidFill>
                <a:latin typeface="맑은 고딕"/>
              </a:rPr>
              <a:t>골드가 아무 말도 못 합니다.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뒤에 나올 "접전 정확도 0.615"가</a:t>
            </a:r>
            <a:br>
              <a:rPr sz="1200" b="1">
                <a:solidFill>
                  <a:srgbClr val="F0E6D2"/>
                </a:solidFill>
                <a:latin typeface="맑은 고딕"/>
              </a:rPr>
            </a:br>
            <a:r>
              <a:rPr sz="1200" b="1">
                <a:solidFill>
                  <a:srgbClr val="F0E6D2"/>
                </a:solidFill>
                <a:latin typeface="맑은 고딕"/>
              </a:rPr>
              <a:t>이미 여기서 예고됩니다.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reports/figures/eda1_winrate_curve.png (학습셋 7,903행)</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7B3BBF43-80C2-47AA-BF45-127CE35AC4D6}" type="slidenum">
              <a:rPr lang="ko-KR" sz="950">
                <a:solidFill>
                  <a:srgbClr val="73726E"/>
                </a:solidFill>
                <a:latin typeface="맑은 고딕"/>
                <a:ea typeface="맑은 고딕"/>
              </a:rPr>
              <a:t>11</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승리요인 분석 — 유의미 요인 3개</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492240" cy="3794759"/>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400800" cy="37033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2_coefficients.png"/>
          <p:cNvPicPr>
            <a:picLocks noChangeAspect="1"/>
          </p:cNvPicPr>
          <p:nvPr/>
        </p:nvPicPr>
        <p:blipFill>
          <a:blip r:embed="rId3"/>
          <a:stretch>
            <a:fillRect/>
          </a:stretch>
        </p:blipFill>
        <p:spPr>
          <a:xfrm>
            <a:off x="886968" y="1468145"/>
            <a:ext cx="6181344" cy="3442773"/>
          </a:xfrm>
          <a:prstGeom prst="rect">
            <a:avLst/>
          </a:prstGeom>
        </p:spPr>
      </p:pic>
      <p:sp>
        <p:nvSpPr>
          <p:cNvPr id="18" name="TextBox 17"/>
          <p:cNvSpPr txBox="1"/>
          <p:nvPr/>
        </p:nvSpPr>
        <p:spPr>
          <a:xfrm>
            <a:off x="777240" y="5411631"/>
            <a:ext cx="64008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모델이 배운 가중치 13개 — 오른쪽(파랑)이면 블루에 유리</a:t>
            </a:r>
          </a:p>
        </p:txBody>
      </p:sp>
      <p:graphicFrame>
        <p:nvGraphicFramePr>
          <p:cNvPr id="19" name="Table 18"/>
          <p:cNvGraphicFramePr>
            <a:graphicFrameLocks noGrp="1"/>
          </p:cNvGraphicFramePr>
          <p:nvPr/>
        </p:nvGraphicFramePr>
        <p:xfrm>
          <a:off x="7406640" y="1328995"/>
          <a:ext cx="4005070" cy="1554480"/>
        </p:xfrm>
        <a:graphic>
          <a:graphicData uri="http://schemas.openxmlformats.org/drawingml/2006/table">
            <a:tbl>
              <a:tblPr>
                <a:tableStyleId>{5C22544A-7EE6-4342-B048-85BDC9FD1C3A}</a:tableStyleId>
              </a:tblPr>
              <a:tblGrid>
                <a:gridCol w="609467"/>
                <a:gridCol w="1393068"/>
                <a:gridCol w="957734"/>
                <a:gridCol w="1044801"/>
              </a:tblGrid>
              <a:tr h="402336">
                <a:tc>
                  <a:txBody>
                    <a:bodyPr/>
                    <a:lstStyle/>
                    <a:p>
                      <a:pPr algn="l"/>
                      <a:r>
                        <a:rPr sz="1150" b="1">
                          <a:solidFill>
                            <a:srgbClr val="F0E6D2"/>
                          </a:solidFill>
                          <a:latin typeface="맑은 고딕"/>
                        </a:rPr>
                        <a:t>순위</a:t>
                      </a:r>
                    </a:p>
                  </a:txBody>
                  <a:tcPr marL="91440" marR="91440" anchor="ctr">
                    <a:solidFill>
                      <a:srgbClr val="3C3F3E"/>
                    </a:solidFill>
                  </a:tcPr>
                </a:tc>
                <a:tc>
                  <a:txBody>
                    <a:bodyPr/>
                    <a:lstStyle/>
                    <a:p>
                      <a:pPr algn="ctr"/>
                      <a:r>
                        <a:rPr sz="1150" b="1">
                          <a:solidFill>
                            <a:srgbClr val="F0E6D2"/>
                          </a:solidFill>
                          <a:latin typeface="맑은 고딕"/>
                        </a:rPr>
                        <a:t>요인</a:t>
                      </a:r>
                    </a:p>
                  </a:txBody>
                  <a:tcPr marL="91440" marR="91440" anchor="ctr">
                    <a:solidFill>
                      <a:srgbClr val="3C3F3E"/>
                    </a:solidFill>
                  </a:tcPr>
                </a:tc>
                <a:tc>
                  <a:txBody>
                    <a:bodyPr/>
                    <a:lstStyle/>
                    <a:p>
                      <a:pPr algn="ctr"/>
                      <a:r>
                        <a:rPr sz="1150" b="1">
                          <a:solidFill>
                            <a:srgbClr val="F0E6D2"/>
                          </a:solidFill>
                          <a:latin typeface="맑은 고딕"/>
                        </a:rPr>
                        <a:t>표준화 계수</a:t>
                      </a:r>
                    </a:p>
                  </a:txBody>
                  <a:tcPr marL="91440" marR="91440" anchor="ctr">
                    <a:solidFill>
                      <a:srgbClr val="3C3F3E"/>
                    </a:solidFill>
                  </a:tcPr>
                </a:tc>
                <a:tc>
                  <a:txBody>
                    <a:bodyPr/>
                    <a:lstStyle/>
                    <a:p>
                      <a:pPr algn="ctr"/>
                      <a:r>
                        <a:rPr sz="1150" b="1">
                          <a:solidFill>
                            <a:srgbClr val="F0E6D2"/>
                          </a:solidFill>
                          <a:latin typeface="맑은 고딕"/>
                        </a:rPr>
                        <a:t>permutation</a:t>
                      </a:r>
                    </a:p>
                  </a:txBody>
                  <a:tcPr marL="91440" marR="91440" anchor="ctr">
                    <a:solidFill>
                      <a:srgbClr val="3C3F3E"/>
                    </a:solidFill>
                  </a:tcPr>
                </a:tc>
              </a:tr>
              <a:tr h="384048">
                <a:tc>
                  <a:txBody>
                    <a:bodyPr/>
                    <a:lstStyle/>
                    <a:p>
                      <a:pPr algn="l"/>
                      <a:r>
                        <a:rPr sz="1150" b="0">
                          <a:solidFill>
                            <a:srgbClr val="C1BEB4"/>
                          </a:solidFill>
                          <a:latin typeface="맑은 고딕"/>
                        </a:rPr>
                        <a:t>1</a:t>
                      </a:r>
                    </a:p>
                  </a:txBody>
                  <a:tcPr marL="91440" marR="91440" anchor="ctr">
                    <a:solidFill>
                      <a:srgbClr val="10223E"/>
                    </a:solidFill>
                  </a:tcPr>
                </a:tc>
                <a:tc>
                  <a:txBody>
                    <a:bodyPr/>
                    <a:lstStyle/>
                    <a:p>
                      <a:pPr algn="ctr"/>
                      <a:r>
                        <a:rPr sz="1150" b="0">
                          <a:solidFill>
                            <a:srgbClr val="C1BEB4"/>
                          </a:solidFill>
                          <a:latin typeface="맑은 고딕"/>
                        </a:rPr>
                        <a:t>골드(돈) 차이</a:t>
                      </a:r>
                    </a:p>
                  </a:txBody>
                  <a:tcPr marL="91440" marR="91440" anchor="ctr">
                    <a:solidFill>
                      <a:srgbClr val="10223E"/>
                    </a:solidFill>
                  </a:tcPr>
                </a:tc>
                <a:tc>
                  <a:txBody>
                    <a:bodyPr/>
                    <a:lstStyle/>
                    <a:p>
                      <a:pPr algn="ctr"/>
                      <a:r>
                        <a:rPr sz="1150" b="0">
                          <a:solidFill>
                            <a:srgbClr val="C1BEB4"/>
                          </a:solidFill>
                          <a:latin typeface="맑은 고딕"/>
                        </a:rPr>
                        <a:t>+1.231</a:t>
                      </a:r>
                    </a:p>
                  </a:txBody>
                  <a:tcPr marL="91440" marR="91440" anchor="ctr">
                    <a:solidFill>
                      <a:srgbClr val="10223E"/>
                    </a:solidFill>
                  </a:tcPr>
                </a:tc>
                <a:tc>
                  <a:txBody>
                    <a:bodyPr/>
                    <a:lstStyle/>
                    <a:p>
                      <a:pPr algn="ctr"/>
                      <a:r>
                        <a:rPr sz="1150" b="0">
                          <a:solidFill>
                            <a:srgbClr val="C1BEB4"/>
                          </a:solidFill>
                          <a:latin typeface="맑은 고딕"/>
                        </a:rPr>
                        <a:t>0.185</a:t>
                      </a:r>
                    </a:p>
                  </a:txBody>
                  <a:tcPr marL="91440" marR="91440" anchor="ctr">
                    <a:solidFill>
                      <a:srgbClr val="10223E"/>
                    </a:solidFill>
                  </a:tcPr>
                </a:tc>
              </a:tr>
              <a:tr h="384048">
                <a:tc>
                  <a:txBody>
                    <a:bodyPr/>
                    <a:lstStyle/>
                    <a:p>
                      <a:pPr algn="l"/>
                      <a:r>
                        <a:rPr sz="1150" b="0">
                          <a:solidFill>
                            <a:srgbClr val="C1BEB4"/>
                          </a:solidFill>
                          <a:latin typeface="맑은 고딕"/>
                        </a:rPr>
                        <a:t>2</a:t>
                      </a:r>
                    </a:p>
                  </a:txBody>
                  <a:tcPr marL="91440" marR="91440" anchor="ctr">
                    <a:solidFill>
                      <a:srgbClr val="09172B"/>
                    </a:solidFill>
                  </a:tcPr>
                </a:tc>
                <a:tc>
                  <a:txBody>
                    <a:bodyPr/>
                    <a:lstStyle/>
                    <a:p>
                      <a:pPr algn="ctr"/>
                      <a:r>
                        <a:rPr sz="1150" b="0">
                          <a:solidFill>
                            <a:srgbClr val="C1BEB4"/>
                          </a:solidFill>
                          <a:latin typeface="맑은 고딕"/>
                        </a:rPr>
                        <a:t>경험치 차이</a:t>
                      </a:r>
                    </a:p>
                  </a:txBody>
                  <a:tcPr marL="91440" marR="91440" anchor="ctr">
                    <a:solidFill>
                      <a:srgbClr val="09172B"/>
                    </a:solidFill>
                  </a:tcPr>
                </a:tc>
                <a:tc>
                  <a:txBody>
                    <a:bodyPr/>
                    <a:lstStyle/>
                    <a:p>
                      <a:pPr algn="ctr"/>
                      <a:r>
                        <a:rPr sz="1150" b="0">
                          <a:solidFill>
                            <a:srgbClr val="C1BEB4"/>
                          </a:solidFill>
                          <a:latin typeface="맑은 고딕"/>
                        </a:rPr>
                        <a:t>+0.461</a:t>
                      </a:r>
                    </a:p>
                  </a:txBody>
                  <a:tcPr marL="91440" marR="91440" anchor="ctr">
                    <a:solidFill>
                      <a:srgbClr val="09172B"/>
                    </a:solidFill>
                  </a:tcPr>
                </a:tc>
                <a:tc>
                  <a:txBody>
                    <a:bodyPr/>
                    <a:lstStyle/>
                    <a:p>
                      <a:pPr algn="ctr"/>
                      <a:r>
                        <a:rPr sz="1150" b="0">
                          <a:solidFill>
                            <a:srgbClr val="C1BEB4"/>
                          </a:solidFill>
                          <a:latin typeface="맑은 고딕"/>
                        </a:rPr>
                        <a:t>0.032</a:t>
                      </a:r>
                    </a:p>
                  </a:txBody>
                  <a:tcPr marL="91440" marR="91440" anchor="ctr">
                    <a:solidFill>
                      <a:srgbClr val="09172B"/>
                    </a:solidFill>
                  </a:tcPr>
                </a:tc>
              </a:tr>
              <a:tr h="384048">
                <a:tc>
                  <a:txBody>
                    <a:bodyPr/>
                    <a:lstStyle/>
                    <a:p>
                      <a:pPr algn="l"/>
                      <a:r>
                        <a:rPr sz="1150" b="0">
                          <a:solidFill>
                            <a:srgbClr val="C1BEB4"/>
                          </a:solidFill>
                          <a:latin typeface="맑은 고딕"/>
                        </a:rPr>
                        <a:t>3</a:t>
                      </a:r>
                    </a:p>
                  </a:txBody>
                  <a:tcPr marL="91440" marR="91440" anchor="ctr">
                    <a:solidFill>
                      <a:srgbClr val="10223E"/>
                    </a:solidFill>
                  </a:tcPr>
                </a:tc>
                <a:tc>
                  <a:txBody>
                    <a:bodyPr/>
                    <a:lstStyle/>
                    <a:p>
                      <a:pPr algn="ctr"/>
                      <a:r>
                        <a:rPr sz="1150" b="0">
                          <a:solidFill>
                            <a:srgbClr val="C1BEB4"/>
                          </a:solidFill>
                          <a:latin typeface="맑은 고딕"/>
                        </a:rPr>
                        <a:t>드래곤 차이</a:t>
                      </a:r>
                    </a:p>
                  </a:txBody>
                  <a:tcPr marL="91440" marR="91440" anchor="ctr">
                    <a:solidFill>
                      <a:srgbClr val="10223E"/>
                    </a:solidFill>
                  </a:tcPr>
                </a:tc>
                <a:tc>
                  <a:txBody>
                    <a:bodyPr/>
                    <a:lstStyle/>
                    <a:p>
                      <a:pPr algn="ctr"/>
                      <a:r>
                        <a:rPr sz="1150" b="0">
                          <a:solidFill>
                            <a:srgbClr val="C1BEB4"/>
                          </a:solidFill>
                          <a:latin typeface="맑은 고딕"/>
                        </a:rPr>
                        <a:t>+0.267</a:t>
                      </a:r>
                    </a:p>
                  </a:txBody>
                  <a:tcPr marL="91440" marR="91440" anchor="ctr">
                    <a:solidFill>
                      <a:srgbClr val="10223E"/>
                    </a:solidFill>
                  </a:tcPr>
                </a:tc>
                <a:tc>
                  <a:txBody>
                    <a:bodyPr/>
                    <a:lstStyle/>
                    <a:p>
                      <a:pPr algn="ctr"/>
                      <a:r>
                        <a:rPr sz="1150" b="0">
                          <a:solidFill>
                            <a:srgbClr val="C1BEB4"/>
                          </a:solidFill>
                          <a:latin typeface="맑은 고딕"/>
                        </a:rPr>
                        <a:t>0.011</a:t>
                      </a:r>
                    </a:p>
                  </a:txBody>
                  <a:tcPr marL="91440" marR="91440" anchor="ctr">
                    <a:solidFill>
                      <a:srgbClr val="10223E"/>
                    </a:solidFill>
                  </a:tcPr>
                </a:tc>
              </a:tr>
            </a:tbl>
          </a:graphicData>
        </a:graphic>
      </p:graphicFrame>
      <p:sp>
        <p:nvSpPr>
          <p:cNvPr id="20" name="TextBox 19"/>
          <p:cNvSpPr txBox="1"/>
          <p:nvPr/>
        </p:nvSpPr>
        <p:spPr>
          <a:xfrm>
            <a:off x="7406640" y="3087068"/>
            <a:ext cx="4005072" cy="749808"/>
          </a:xfrm>
          <a:prstGeom prst="rect">
            <a:avLst/>
          </a:prstGeom>
          <a:noFill/>
        </p:spPr>
        <p:txBody>
          <a:bodyPr wrap="square" anchor="t" lIns="0" rIns="0" tIns="0" bIns="0">
            <a:spAutoFit/>
          </a:bodyPr>
          <a:lstStyle/>
          <a:p>
            <a:pPr algn="l">
              <a:lnSpc>
                <a:spcPct val="120000"/>
              </a:lnSpc>
              <a:spcAft>
                <a:spcPts val="500"/>
              </a:spcAft>
            </a:pPr>
            <a:r>
              <a:rPr sz="1050" b="0">
                <a:solidFill>
                  <a:srgbClr val="C8C5BC"/>
                </a:solidFill>
                <a:latin typeface="맑은 고딕"/>
              </a:rPr>
              <a:t>표준화 계수 —  다른 지표를 고려한 뒤 남은 몫</a:t>
            </a:r>
          </a:p>
          <a:p>
            <a:pPr algn="l">
              <a:lnSpc>
                <a:spcPct val="120000"/>
              </a:lnSpc>
              <a:spcAft>
                <a:spcPts val="0"/>
              </a:spcAft>
            </a:pPr>
            <a:r>
              <a:rPr sz="1050" b="0">
                <a:solidFill>
                  <a:srgbClr val="C8C5BC"/>
                </a:solidFill>
                <a:latin typeface="맑은 고딕"/>
              </a:rPr>
              <a:t>permutation —  그 지표만 무작위로 섞었을 때 정확도가 떨어지는 폭 (클수록 중요)</a:t>
            </a:r>
          </a:p>
        </p:txBody>
      </p:sp>
      <p:sp>
        <p:nvSpPr>
          <p:cNvPr id="21" name="TextBox 20"/>
          <p:cNvSpPr txBox="1"/>
          <p:nvPr/>
        </p:nvSpPr>
        <p:spPr>
          <a:xfrm>
            <a:off x="7406640" y="3946570"/>
            <a:ext cx="4005072" cy="2176272"/>
          </a:xfrm>
          <a:prstGeom prst="rect">
            <a:avLst/>
          </a:prstGeom>
          <a:noFill/>
        </p:spPr>
        <p:txBody>
          <a:bodyPr wrap="square" anchor="t" lIns="0" rIns="0" tIns="0" bIns="0">
            <a:spAutoFit/>
          </a:bodyPr>
          <a:lstStyle/>
          <a:p>
            <a:pPr algn="l">
              <a:lnSpc>
                <a:spcPct val="132000"/>
              </a:lnSpc>
              <a:spcAft>
                <a:spcPts val="500"/>
              </a:spcAft>
            </a:pPr>
            <a:r>
              <a:rPr sz="1100" b="1">
                <a:solidFill>
                  <a:srgbClr val="F0E6D2"/>
                </a:solidFill>
                <a:latin typeface="맑은 고딕"/>
              </a:rPr>
              <a:t>◆  4위 아래는 permutation 이 0 근처(≤0.0001) 라 순위가 무의미</a:t>
            </a:r>
          </a:p>
        </p:txBody>
      </p:sp>
      <p:sp>
        <p:nvSpPr>
          <p:cNvPr id="22" name="Rectangle 21"/>
          <p:cNvSpPr/>
          <p:nvPr/>
        </p:nvSpPr>
        <p:spPr>
          <a:xfrm>
            <a:off x="7406640" y="4483759"/>
            <a:ext cx="4005072"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06640" y="4483759"/>
            <a:ext cx="45720" cy="11887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44383" y="4483759"/>
            <a:ext cx="3547872" cy="118872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그런데 빨간 막대가 4개 있습니다.</a:t>
            </a:r>
            <a:br>
              <a:rPr sz="1150" b="1">
                <a:solidFill>
                  <a:srgbClr val="F0E6D2"/>
                </a:solidFill>
                <a:latin typeface="맑은 고딕"/>
              </a:rPr>
            </a:br>
            <a:r>
              <a:rPr sz="1150" b="1">
                <a:solidFill>
                  <a:srgbClr val="F0E6D2"/>
                </a:solidFill>
                <a:latin typeface="맑은 고딕"/>
              </a:rPr>
              <a:t>미니언 · 킬 · 어시스트 · 타워가 음수입니다.</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"킬을 많이 한 팀이 불리하다"?</a:t>
            </a:r>
            <a:br>
              <a:rPr sz="1150" b="1">
                <a:solidFill>
                  <a:srgbClr val="F0E6D2"/>
                </a:solidFill>
                <a:latin typeface="맑은 고딕"/>
              </a:rPr>
            </a:br>
            <a:r>
              <a:rPr sz="1150" b="1">
                <a:solidFill>
                  <a:srgbClr val="F0E6D2"/>
                </a:solidFill>
                <a:latin typeface="맑은 고딕"/>
              </a:rPr>
              <a:t>이 그림 하나가 Phase 2를 부릅니다.</a:t>
            </a:r>
          </a:p>
        </p:txBody>
      </p:sp>
      <p:sp>
        <p:nvSpPr>
          <p:cNvPr id="25" name="TextBox 24"/>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reports/tables/win_factor_ranking.csv    |    개념 → STUDY 11번 permutation</a:t>
            </a:r>
          </a:p>
        </p:txBody>
      </p:sp>
      <p:sp>
        <p:nvSpPr>
          <p:cNvPr id="26" name="TextBox 25"/>
          <p:cNvSpPr txBox="1"/>
          <p:nvPr/>
        </p:nvSpPr>
        <p:spPr>
          <a:xfrm>
            <a:off x="10972800" y="6574536"/>
            <a:ext cx="868680" cy="201168"/>
          </a:xfrm>
          <a:prstGeom prst="rect">
            <a:avLst/>
          </a:prstGeom>
          <a:noFill/>
        </p:spPr>
        <p:txBody>
          <a:bodyPr wrap="square" anchor="ctr" lIns="0" rIns="0" tIns="0" bIns="0">
            <a:spAutoFit/>
          </a:bodyPr>
          <a:lstStyle/>
          <a:p>
            <a:pPr algn="r"/>
            <a:fld id="{12D1447C-104A-4D5C-ABB9-339575A32BCD}" type="slidenum">
              <a:rPr lang="ko-KR" sz="950">
                <a:solidFill>
                  <a:srgbClr val="73726E"/>
                </a:solidFill>
                <a:latin typeface="맑은 고딕"/>
                <a:ea typeface="맑은 고딕"/>
              </a:rPr>
              <a:t>25</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2. Phase 1   |   </a:t>
            </a:r>
            <a:r>
              <a:rPr sz="2500" b="1" spc="80">
                <a:solidFill>
                  <a:srgbClr val="F0E6D2"/>
                </a:solidFill>
                <a:latin typeface="맑은 고딕"/>
              </a:rPr>
              <a:t>킬 계수 음수의 원인 — 골드 흐름</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766559" cy="36576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675120" cy="35661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5_gold_flow.png"/>
          <p:cNvPicPr>
            <a:picLocks noChangeAspect="1"/>
          </p:cNvPicPr>
          <p:nvPr/>
        </p:nvPicPr>
        <p:blipFill>
          <a:blip r:embed="rId3"/>
          <a:stretch>
            <a:fillRect/>
          </a:stretch>
        </p:blipFill>
        <p:spPr>
          <a:xfrm>
            <a:off x="886968" y="1514946"/>
            <a:ext cx="6455664" cy="3217981"/>
          </a:xfrm>
          <a:prstGeom prst="rect">
            <a:avLst/>
          </a:prstGeom>
        </p:spPr>
      </p:pic>
      <p:sp>
        <p:nvSpPr>
          <p:cNvPr id="18" name="TextBox 17"/>
          <p:cNvSpPr txBox="1"/>
          <p:nvPr/>
        </p:nvSpPr>
        <p:spPr>
          <a:xfrm>
            <a:off x="777240" y="5265125"/>
            <a:ext cx="667512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킬 · 미니언 · 타워 → 전부 골드로 흘러 들어간다</a:t>
            </a:r>
          </a:p>
        </p:txBody>
      </p:sp>
      <p:sp>
        <p:nvSpPr>
          <p:cNvPr id="19" name="TextBox 18"/>
          <p:cNvSpPr txBox="1"/>
          <p:nvPr/>
        </p:nvSpPr>
        <p:spPr>
          <a:xfrm>
            <a:off x="7863840" y="1328995"/>
            <a:ext cx="3547872" cy="4480560"/>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킬만 따로 보면 승패를 잘 가름</a:t>
            </a:r>
          </a:p>
          <a:p>
            <a:pPr algn="l">
              <a:lnSpc>
                <a:spcPct val="130000"/>
              </a:lnSpc>
              <a:spcAft>
                <a:spcPts val="300"/>
              </a:spcAft>
            </a:pPr>
            <a:r>
              <a:rPr sz="900" b="0">
                <a:solidFill>
                  <a:srgbClr val="8E8B80"/>
                </a:solidFill>
                <a:latin typeface="맑은 고딕"/>
              </a:rPr>
              <a:t>     효과크기 1.09 로 13개 중 3위 · 승패와의 상관 +0.48</a:t>
            </a:r>
          </a:p>
          <a:p>
            <a:pPr algn="l">
              <a:lnSpc>
                <a:spcPct val="132000"/>
              </a:lnSpc>
              <a:spcAft>
                <a:spcPts val="600"/>
              </a:spcAft>
            </a:pPr>
            <a:r>
              <a:rPr sz="1200" b="1">
                <a:solidFill>
                  <a:srgbClr val="F0E6D2"/>
                </a:solidFill>
                <a:latin typeface="맑은 고딕"/>
              </a:rPr>
              <a:t>◆  그런데 골드를 아는 모델에게 킬은 새 정보가 아님</a:t>
            </a:r>
          </a:p>
          <a:p>
            <a:pPr algn="l">
              <a:lnSpc>
                <a:spcPct val="130000"/>
              </a:lnSpc>
              <a:spcAft>
                <a:spcPts val="300"/>
              </a:spcAft>
            </a:pPr>
            <a:r>
              <a:rPr sz="900" b="0">
                <a:solidFill>
                  <a:srgbClr val="8E8B80"/>
                </a:solidFill>
                <a:latin typeface="맑은 고딕"/>
              </a:rPr>
              <a:t>     킬↔골드 상관 +0.92. 남은 몫의 부호가 음수(−0.107)로 나온다</a:t>
            </a:r>
          </a:p>
        </p:txBody>
      </p:sp>
      <p:sp>
        <p:nvSpPr>
          <p:cNvPr id="20" name="Rectangle 19"/>
          <p:cNvSpPr/>
          <p:nvPr/>
        </p:nvSpPr>
        <p:spPr>
          <a:xfrm>
            <a:off x="7863840" y="3751229"/>
            <a:ext cx="3547872" cy="16002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3751229"/>
            <a:ext cx="45720" cy="16002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3751229"/>
            <a:ext cx="3090672" cy="1600200"/>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정확한 해석 —</a:t>
            </a:r>
            <a:br>
              <a:rPr sz="1200" b="1">
                <a:solidFill>
                  <a:srgbClr val="F0E6D2"/>
                </a:solidFill>
                <a:latin typeface="맑은 고딕"/>
              </a:rPr>
            </a:br>
            <a:r>
              <a:rPr sz="1200" b="1">
                <a:solidFill>
                  <a:srgbClr val="F0E6D2"/>
                </a:solidFill>
                <a:latin typeface="맑은 고딕"/>
              </a:rPr>
              <a:t>"킬은 돈으로 환산됐을 때만</a:t>
            </a:r>
            <a:br>
              <a:rPr sz="1200" b="1">
                <a:solidFill>
                  <a:srgbClr val="F0E6D2"/>
                </a:solidFill>
                <a:latin typeface="맑은 고딕"/>
              </a:rPr>
            </a:br>
            <a:r>
              <a:rPr sz="1200" b="1">
                <a:solidFill>
                  <a:srgbClr val="F0E6D2"/>
                </a:solidFill>
                <a:latin typeface="맑은 고딕"/>
              </a:rPr>
              <a:t>의미가 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복기할 때도 "싸움을 이겼나"가 아니라</a:t>
            </a:r>
            <a:br>
              <a:rPr sz="1200" b="1">
                <a:solidFill>
                  <a:srgbClr val="F0E6D2"/>
                </a:solidFill>
                <a:latin typeface="맑은 고딕"/>
              </a:rPr>
            </a:br>
            <a:r>
              <a:rPr sz="1200" b="1">
                <a:solidFill>
                  <a:srgbClr val="F0E6D2"/>
                </a:solidFill>
                <a:latin typeface="맑은 고딕"/>
              </a:rPr>
              <a:t>"그 싸움이 돈 격차로 이어졌나"를</a:t>
            </a:r>
            <a:br>
              <a:rPr sz="1200" b="1">
                <a:solidFill>
                  <a:srgbClr val="F0E6D2"/>
                </a:solidFill>
                <a:latin typeface="맑은 고딕"/>
              </a:rPr>
            </a:br>
            <a:r>
              <a:rPr sz="1200" b="1">
                <a:solidFill>
                  <a:srgbClr val="F0E6D2"/>
                </a:solidFill>
                <a:latin typeface="맑은 고딕"/>
              </a:rPr>
              <a:t>봐야 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reports/figures/fig5_gold_flow.png · docs/data_analysis.md 3장    |    개념 → STUDY 10번 다중공선성</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10C9CF98-5F2D-4CA3-BB46-FDA31F84E610}" type="slidenum">
              <a:rPr lang="ko-KR" sz="950">
                <a:solidFill>
                  <a:srgbClr val="73726E"/>
                </a:solidFill>
                <a:latin typeface="맑은 고딕"/>
                <a:ea typeface="맑은 고딕"/>
              </a:rPr>
              <a:t>26</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03</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2  |  골드를 빼고 다시 분석</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A1336444-458C-4F92-8F03-EEC29F23267F}" type="slidenum">
              <a:rPr lang="ko-KR" sz="950">
                <a:solidFill>
                  <a:srgbClr val="73726E"/>
                </a:solidFill>
                <a:latin typeface="맑은 고딕"/>
                <a:ea typeface="맑은 고딕"/>
              </a:rPr>
              <a:t>28</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다중공선성 진단 — 중복의 중심</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7040879" cy="32004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949440" cy="31089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hase2_correlation.png"/>
          <p:cNvPicPr>
            <a:picLocks noChangeAspect="1"/>
          </p:cNvPicPr>
          <p:nvPr/>
        </p:nvPicPr>
        <p:blipFill>
          <a:blip r:embed="rId3"/>
          <a:stretch>
            <a:fillRect/>
          </a:stretch>
        </p:blipFill>
        <p:spPr>
          <a:xfrm>
            <a:off x="1022097" y="1446200"/>
            <a:ext cx="6459725" cy="2889504"/>
          </a:xfrm>
          <a:prstGeom prst="rect">
            <a:avLst/>
          </a:prstGeom>
        </p:spPr>
      </p:pic>
      <p:sp>
        <p:nvSpPr>
          <p:cNvPr id="18" name="TextBox 17"/>
          <p:cNvSpPr txBox="1"/>
          <p:nvPr/>
        </p:nvSpPr>
        <p:spPr>
          <a:xfrm>
            <a:off x="777240" y="4776771"/>
            <a:ext cx="694944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지표끼리 얼마나 겹치는가  ·  오른쪽: 그 겹침이 계수를 어떻게 망가뜨렸는가</a:t>
            </a:r>
          </a:p>
        </p:txBody>
      </p:sp>
      <p:graphicFrame>
        <p:nvGraphicFramePr>
          <p:cNvPr id="19" name="Table 18"/>
          <p:cNvGraphicFramePr>
            <a:graphicFrameLocks noGrp="1"/>
          </p:cNvGraphicFramePr>
          <p:nvPr/>
        </p:nvGraphicFramePr>
        <p:xfrm>
          <a:off x="7955279" y="1328995"/>
          <a:ext cx="3456431" cy="1682496"/>
        </p:xfrm>
        <a:graphic>
          <a:graphicData uri="http://schemas.openxmlformats.org/drawingml/2006/table">
            <a:tbl>
              <a:tblPr>
                <a:tableStyleId>{5C22544A-7EE6-4342-B048-85BDC9FD1C3A}</a:tableStyleId>
              </a:tblPr>
              <a:tblGrid>
                <a:gridCol w="2335427"/>
                <a:gridCol w="1121004"/>
              </a:tblGrid>
              <a:tr h="365760">
                <a:tc>
                  <a:txBody>
                    <a:bodyPr/>
                    <a:lstStyle/>
                    <a:p>
                      <a:pPr algn="l"/>
                      <a:r>
                        <a:rPr sz="1100" b="1">
                          <a:solidFill>
                            <a:srgbClr val="F0E6D2"/>
                          </a:solidFill>
                          <a:latin typeface="맑은 고딕"/>
                        </a:rPr>
                        <a:t>상관 0.7 이상 (8쌍 중 4)</a:t>
                      </a:r>
                    </a:p>
                  </a:txBody>
                  <a:tcPr marL="91440" marR="91440" anchor="ctr">
                    <a:solidFill>
                      <a:srgbClr val="3C3F3E"/>
                    </a:solidFill>
                  </a:tcPr>
                </a:tc>
                <a:tc>
                  <a:txBody>
                    <a:bodyPr/>
                    <a:lstStyle/>
                    <a:p>
                      <a:pPr algn="ctr"/>
                      <a:r>
                        <a:rPr sz="1100" b="1">
                          <a:solidFill>
                            <a:srgbClr val="F0E6D2"/>
                          </a:solidFill>
                          <a:latin typeface="맑은 고딕"/>
                        </a:rPr>
                        <a:t>상관</a:t>
                      </a:r>
                    </a:p>
                  </a:txBody>
                  <a:tcPr marL="91440" marR="91440" anchor="ctr">
                    <a:solidFill>
                      <a:srgbClr val="3C3F3E"/>
                    </a:solidFill>
                  </a:tcPr>
                </a:tc>
              </a:tr>
              <a:tr h="329184">
                <a:tc>
                  <a:txBody>
                    <a:bodyPr/>
                    <a:lstStyle/>
                    <a:p>
                      <a:pPr algn="l"/>
                      <a:r>
                        <a:rPr sz="1100" b="0">
                          <a:solidFill>
                            <a:srgbClr val="C1BEB4"/>
                          </a:solidFill>
                          <a:latin typeface="맑은 고딕"/>
                        </a:rPr>
                        <a:t>ExpDiff ↔ AvgLevelDiff</a:t>
                      </a:r>
                    </a:p>
                  </a:txBody>
                  <a:tcPr marL="91440" marR="91440" anchor="ctr">
                    <a:solidFill>
                      <a:srgbClr val="10223E"/>
                    </a:solidFill>
                  </a:tcPr>
                </a:tc>
                <a:tc>
                  <a:txBody>
                    <a:bodyPr/>
                    <a:lstStyle/>
                    <a:p>
                      <a:pPr algn="ctr"/>
                      <a:r>
                        <a:rPr sz="1100" b="0">
                          <a:solidFill>
                            <a:srgbClr val="C1BEB4"/>
                          </a:solidFill>
                          <a:latin typeface="맑은 고딕"/>
                        </a:rPr>
                        <a:t>+0.920</a:t>
                      </a:r>
                    </a:p>
                  </a:txBody>
                  <a:tcPr marL="91440" marR="91440" anchor="ctr">
                    <a:solidFill>
                      <a:srgbClr val="10223E"/>
                    </a:solidFill>
                  </a:tcPr>
                </a:tc>
              </a:tr>
              <a:tr h="329184">
                <a:tc>
                  <a:txBody>
                    <a:bodyPr/>
                    <a:lstStyle/>
                    <a:p>
                      <a:pPr algn="l"/>
                      <a:r>
                        <a:rPr sz="1100" b="0">
                          <a:solidFill>
                            <a:srgbClr val="C1BEB4"/>
                          </a:solidFill>
                          <a:latin typeface="맑은 고딕"/>
                        </a:rPr>
                        <a:t>KillsDiff ↔ GoldDiff</a:t>
                      </a:r>
                    </a:p>
                  </a:txBody>
                  <a:tcPr marL="91440" marR="91440" anchor="ctr">
                    <a:solidFill>
                      <a:srgbClr val="09172B"/>
                    </a:solidFill>
                  </a:tcPr>
                </a:tc>
                <a:tc>
                  <a:txBody>
                    <a:bodyPr/>
                    <a:lstStyle/>
                    <a:p>
                      <a:pPr algn="ctr"/>
                      <a:r>
                        <a:rPr sz="1100" b="0">
                          <a:solidFill>
                            <a:srgbClr val="C1BEB4"/>
                          </a:solidFill>
                          <a:latin typeface="맑은 고딕"/>
                        </a:rPr>
                        <a:t>+0.918</a:t>
                      </a:r>
                    </a:p>
                  </a:txBody>
                  <a:tcPr marL="91440" marR="91440" anchor="ctr">
                    <a:solidFill>
                      <a:srgbClr val="09172B"/>
                    </a:solidFill>
                  </a:tcPr>
                </a:tc>
              </a:tr>
              <a:tr h="329184">
                <a:tc>
                  <a:txBody>
                    <a:bodyPr/>
                    <a:lstStyle/>
                    <a:p>
                      <a:pPr algn="l"/>
                      <a:r>
                        <a:rPr sz="1100" b="0">
                          <a:solidFill>
                            <a:srgbClr val="C1BEB4"/>
                          </a:solidFill>
                          <a:latin typeface="맑은 고딕"/>
                        </a:rPr>
                        <a:t>GoldDiff ↔ ExpDiff</a:t>
                      </a:r>
                    </a:p>
                  </a:txBody>
                  <a:tcPr marL="91440" marR="91440" anchor="ctr">
                    <a:solidFill>
                      <a:srgbClr val="10223E"/>
                    </a:solidFill>
                  </a:tcPr>
                </a:tc>
                <a:tc>
                  <a:txBody>
                    <a:bodyPr/>
                    <a:lstStyle/>
                    <a:p>
                      <a:pPr algn="ctr"/>
                      <a:r>
                        <a:rPr sz="1100" b="0">
                          <a:solidFill>
                            <a:srgbClr val="C1BEB4"/>
                          </a:solidFill>
                          <a:latin typeface="맑은 고딕"/>
                        </a:rPr>
                        <a:t>+0.896</a:t>
                      </a:r>
                    </a:p>
                  </a:txBody>
                  <a:tcPr marL="91440" marR="91440" anchor="ctr">
                    <a:solidFill>
                      <a:srgbClr val="10223E"/>
                    </a:solidFill>
                  </a:tcPr>
                </a:tc>
              </a:tr>
              <a:tr h="329184">
                <a:tc>
                  <a:txBody>
                    <a:bodyPr/>
                    <a:lstStyle/>
                    <a:p>
                      <a:pPr algn="l"/>
                      <a:r>
                        <a:rPr sz="1100" b="0">
                          <a:solidFill>
                            <a:srgbClr val="C1BEB4"/>
                          </a:solidFill>
                          <a:latin typeface="맑은 고딕"/>
                        </a:rPr>
                        <a:t>GoldDiff ↔ AvgLevelDiff</a:t>
                      </a:r>
                    </a:p>
                  </a:txBody>
                  <a:tcPr marL="91440" marR="91440" anchor="ctr">
                    <a:solidFill>
                      <a:srgbClr val="09172B"/>
                    </a:solidFill>
                  </a:tcPr>
                </a:tc>
                <a:tc>
                  <a:txBody>
                    <a:bodyPr/>
                    <a:lstStyle/>
                    <a:p>
                      <a:pPr algn="ctr"/>
                      <a:r>
                        <a:rPr sz="1100" b="0">
                          <a:solidFill>
                            <a:srgbClr val="C1BEB4"/>
                          </a:solidFill>
                          <a:latin typeface="맑은 고딕"/>
                        </a:rPr>
                        <a:t>+0.834</a:t>
                      </a:r>
                    </a:p>
                  </a:txBody>
                  <a:tcPr marL="91440" marR="91440" anchor="ctr">
                    <a:solidFill>
                      <a:srgbClr val="09172B"/>
                    </a:solidFill>
                  </a:tcPr>
                </a:tc>
              </a:tr>
            </a:tbl>
          </a:graphicData>
        </a:graphic>
      </p:graphicFrame>
      <p:graphicFrame>
        <p:nvGraphicFramePr>
          <p:cNvPr id="20" name="Table 19"/>
          <p:cNvGraphicFramePr>
            <a:graphicFrameLocks noGrp="1"/>
          </p:cNvGraphicFramePr>
          <p:nvPr/>
        </p:nvGraphicFramePr>
        <p:xfrm>
          <a:off x="7955279" y="3360546"/>
          <a:ext cx="3456431" cy="1353312"/>
        </p:xfrm>
        <a:graphic>
          <a:graphicData uri="http://schemas.openxmlformats.org/drawingml/2006/table">
            <a:tbl>
              <a:tblPr>
                <a:tableStyleId>{5C22544A-7EE6-4342-B048-85BDC9FD1C3A}</a:tableStyleId>
              </a:tblPr>
              <a:tblGrid>
                <a:gridCol w="2335427"/>
                <a:gridCol w="1121004"/>
              </a:tblGrid>
              <a:tr h="365760">
                <a:tc>
                  <a:txBody>
                    <a:bodyPr/>
                    <a:lstStyle/>
                    <a:p>
                      <a:pPr algn="l"/>
                      <a:r>
                        <a:rPr sz="1100" b="1">
                          <a:solidFill>
                            <a:srgbClr val="F0E6D2"/>
                          </a:solidFill>
                          <a:latin typeface="맑은 고딕"/>
                        </a:rPr>
                        <a:t>VIF &gt; 10 = 중복 의심</a:t>
                      </a:r>
                    </a:p>
                  </a:txBody>
                  <a:tcPr marL="91440" marR="91440" anchor="ctr">
                    <a:solidFill>
                      <a:srgbClr val="3C3F3E"/>
                    </a:solidFill>
                  </a:tcPr>
                </a:tc>
                <a:tc>
                  <a:txBody>
                    <a:bodyPr/>
                    <a:lstStyle/>
                    <a:p>
                      <a:pPr algn="ctr"/>
                      <a:r>
                        <a:rPr sz="1100" b="1">
                          <a:solidFill>
                            <a:srgbClr val="F0E6D2"/>
                          </a:solidFill>
                          <a:latin typeface="맑은 고딕"/>
                        </a:rPr>
                        <a:t>VIF</a:t>
                      </a:r>
                    </a:p>
                  </a:txBody>
                  <a:tcPr marL="91440" marR="91440" anchor="ctr">
                    <a:solidFill>
                      <a:srgbClr val="3C3F3E"/>
                    </a:solidFill>
                  </a:tcPr>
                </a:tc>
              </a:tr>
              <a:tr h="329184">
                <a:tc>
                  <a:txBody>
                    <a:bodyPr/>
                    <a:lstStyle/>
                    <a:p>
                      <a:pPr algn="l"/>
                      <a:r>
                        <a:rPr sz="1100" b="0">
                          <a:solidFill>
                            <a:srgbClr val="C1BEB4"/>
                          </a:solidFill>
                          <a:latin typeface="맑은 고딕"/>
                        </a:rPr>
                        <a:t>GoldDiff</a:t>
                      </a:r>
                    </a:p>
                  </a:txBody>
                  <a:tcPr marL="91440" marR="91440" anchor="ctr">
                    <a:solidFill>
                      <a:srgbClr val="10223E"/>
                    </a:solidFill>
                  </a:tcPr>
                </a:tc>
                <a:tc>
                  <a:txBody>
                    <a:bodyPr/>
                    <a:lstStyle/>
                    <a:p>
                      <a:pPr algn="ctr"/>
                      <a:r>
                        <a:rPr sz="1100" b="0">
                          <a:solidFill>
                            <a:srgbClr val="C1BEB4"/>
                          </a:solidFill>
                          <a:latin typeface="맑은 고딕"/>
                        </a:rPr>
                        <a:t>23.37</a:t>
                      </a:r>
                    </a:p>
                  </a:txBody>
                  <a:tcPr marL="91440" marR="91440" anchor="ctr">
                    <a:solidFill>
                      <a:srgbClr val="10223E"/>
                    </a:solidFill>
                  </a:tcPr>
                </a:tc>
              </a:tr>
              <a:tr h="329184">
                <a:tc>
                  <a:txBody>
                    <a:bodyPr/>
                    <a:lstStyle/>
                    <a:p>
                      <a:pPr algn="l"/>
                      <a:r>
                        <a:rPr sz="1100" b="0">
                          <a:solidFill>
                            <a:srgbClr val="C1BEB4"/>
                          </a:solidFill>
                          <a:latin typeface="맑은 고딕"/>
                        </a:rPr>
                        <a:t>KillsDiff</a:t>
                      </a:r>
                    </a:p>
                  </a:txBody>
                  <a:tcPr marL="91440" marR="91440" anchor="ctr">
                    <a:solidFill>
                      <a:srgbClr val="09172B"/>
                    </a:solidFill>
                  </a:tcPr>
                </a:tc>
                <a:tc>
                  <a:txBody>
                    <a:bodyPr/>
                    <a:lstStyle/>
                    <a:p>
                      <a:pPr algn="ctr"/>
                      <a:r>
                        <a:rPr sz="1100" b="0">
                          <a:solidFill>
                            <a:srgbClr val="C1BEB4"/>
                          </a:solidFill>
                          <a:latin typeface="맑은 고딕"/>
                        </a:rPr>
                        <a:t>14.07</a:t>
                      </a:r>
                    </a:p>
                  </a:txBody>
                  <a:tcPr marL="91440" marR="91440" anchor="ctr">
                    <a:solidFill>
                      <a:srgbClr val="09172B"/>
                    </a:solidFill>
                  </a:tcPr>
                </a:tc>
              </a:tr>
              <a:tr h="329184">
                <a:tc>
                  <a:txBody>
                    <a:bodyPr/>
                    <a:lstStyle/>
                    <a:p>
                      <a:pPr algn="l"/>
                      <a:r>
                        <a:rPr sz="1100" b="0">
                          <a:solidFill>
                            <a:srgbClr val="C1BEB4"/>
                          </a:solidFill>
                          <a:latin typeface="맑은 고딕"/>
                        </a:rPr>
                        <a:t>ExpDiff</a:t>
                      </a:r>
                    </a:p>
                  </a:txBody>
                  <a:tcPr marL="91440" marR="91440" anchor="ctr">
                    <a:solidFill>
                      <a:srgbClr val="10223E"/>
                    </a:solidFill>
                  </a:tcPr>
                </a:tc>
                <a:tc>
                  <a:txBody>
                    <a:bodyPr/>
                    <a:lstStyle/>
                    <a:p>
                      <a:pPr algn="ctr"/>
                      <a:r>
                        <a:rPr sz="1100" b="0">
                          <a:solidFill>
                            <a:srgbClr val="C1BEB4"/>
                          </a:solidFill>
                          <a:latin typeface="맑은 고딕"/>
                        </a:rPr>
                        <a:t>12.92</a:t>
                      </a:r>
                    </a:p>
                  </a:txBody>
                  <a:tcPr marL="91440" marR="91440" anchor="ctr">
                    <a:solidFill>
                      <a:srgbClr val="10223E"/>
                    </a:solidFill>
                  </a:tcPr>
                </a:tc>
              </a:tr>
            </a:tbl>
          </a:graphicData>
        </a:graphic>
      </p:graphicFrame>
      <p:sp>
        <p:nvSpPr>
          <p:cNvPr id="21" name="Rectangle 20"/>
          <p:cNvSpPr/>
          <p:nvPr/>
        </p:nvSpPr>
        <p:spPr>
          <a:xfrm>
            <a:off x="7955279" y="4874442"/>
            <a:ext cx="3456432" cy="9601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4874442"/>
            <a:ext cx="45720" cy="9601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93023" y="4874442"/>
            <a:ext cx="2999232" cy="96012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성장 지표끼리 상관 0.9 — 한 몸처럼 움직입니다.</a:t>
            </a:r>
            <a:br>
              <a:rPr sz="1100" b="1">
                <a:solidFill>
                  <a:srgbClr val="F0E6D2"/>
                </a:solidFill>
                <a:latin typeface="맑은 고딕"/>
              </a:rPr>
            </a:br>
            <a:r>
              <a:rPr sz="1100" b="1">
                <a:solidFill>
                  <a:srgbClr val="F0E6D2"/>
                </a:solidFill>
                <a:latin typeface="맑은 고딕"/>
              </a:rPr>
              <a:t>그 결과 승패와 관련 있는 5개의 가중치가 음수 —</a:t>
            </a:r>
            <a:br>
              <a:rPr sz="1100" b="1">
                <a:solidFill>
                  <a:srgbClr val="F0E6D2"/>
                </a:solidFill>
                <a:latin typeface="맑은 고딕"/>
              </a:rPr>
            </a:br>
            <a:r>
              <a:rPr sz="1100" b="1">
                <a:solidFill>
                  <a:srgbClr val="F0E6D2"/>
                </a:solidFill>
                <a:latin typeface="맑은 고딕"/>
              </a:rPr>
              <a:t>킬·어시스트·미니언·타워·정글 몹.</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reports/phase2_feature_reduction.md    |    골드는 킬·미니언·타워의 보상을 한 번에 담는 지표다</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89EE5E85-840D-455A-B64F-EE7BAC24C4FD}" type="slidenum">
              <a:rPr lang="ko-KR" sz="950">
                <a:solidFill>
                  <a:srgbClr val="73726E"/>
                </a:solidFill>
                <a:latin typeface="맑은 고딕"/>
                <a:ea typeface="맑은 고딕"/>
              </a:rPr>
              <a:t>29</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골드 제외 재학습 — 계수 변화</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675120" cy="27889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583680" cy="26974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7_phase2_without_gold.png"/>
          <p:cNvPicPr>
            <a:picLocks noChangeAspect="1"/>
          </p:cNvPicPr>
          <p:nvPr/>
        </p:nvPicPr>
        <p:blipFill>
          <a:blip r:embed="rId3"/>
          <a:stretch>
            <a:fillRect/>
          </a:stretch>
        </p:blipFill>
        <p:spPr>
          <a:xfrm>
            <a:off x="1041550" y="1446200"/>
            <a:ext cx="6055058" cy="2478024"/>
          </a:xfrm>
          <a:prstGeom prst="rect">
            <a:avLst/>
          </a:prstGeom>
        </p:spPr>
      </p:pic>
      <p:sp>
        <p:nvSpPr>
          <p:cNvPr id="18" name="TextBox 17"/>
          <p:cNvSpPr txBox="1"/>
          <p:nvPr/>
        </p:nvSpPr>
        <p:spPr>
          <a:xfrm>
            <a:off x="777240" y="4337253"/>
            <a:ext cx="658368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계수가 어떻게 바뀌었나  ·  오른쪽: 그 대가로 점수를 얼마나 잃었나</a:t>
            </a:r>
          </a:p>
        </p:txBody>
      </p:sp>
      <p:graphicFrame>
        <p:nvGraphicFramePr>
          <p:cNvPr id="19" name="Table 18"/>
          <p:cNvGraphicFramePr>
            <a:graphicFrameLocks noGrp="1"/>
          </p:cNvGraphicFramePr>
          <p:nvPr/>
        </p:nvGraphicFramePr>
        <p:xfrm>
          <a:off x="7589520" y="1328995"/>
          <a:ext cx="3822191" cy="2450592"/>
        </p:xfrm>
        <a:graphic>
          <a:graphicData uri="http://schemas.openxmlformats.org/drawingml/2006/table">
            <a:tbl>
              <a:tblPr>
                <a:tableStyleId>{5C22544A-7EE6-4342-B048-85BDC9FD1C3A}</a:tableStyleId>
              </a:tblPr>
              <a:tblGrid>
                <a:gridCol w="1820091"/>
                <a:gridCol w="1001050"/>
                <a:gridCol w="1001050"/>
              </a:tblGrid>
              <a:tr h="365760">
                <a:tc>
                  <a:txBody>
                    <a:bodyPr/>
                    <a:lstStyle/>
                    <a:p>
                      <a:pPr algn="l"/>
                      <a:r>
                        <a:rPr sz="1100" b="1">
                          <a:solidFill>
                            <a:srgbClr val="F0E6D2"/>
                          </a:solidFill>
                          <a:latin typeface="맑은 고딕"/>
                        </a:rPr>
                        <a:t>지표</a:t>
                      </a:r>
                    </a:p>
                  </a:txBody>
                  <a:tcPr marL="91440" marR="91440" anchor="ctr">
                    <a:solidFill>
                      <a:srgbClr val="3C3F3E"/>
                    </a:solidFill>
                  </a:tcPr>
                </a:tc>
                <a:tc>
                  <a:txBody>
                    <a:bodyPr/>
                    <a:lstStyle/>
                    <a:p>
                      <a:pPr algn="ctr"/>
                      <a:r>
                        <a:rPr sz="1100" b="1">
                          <a:solidFill>
                            <a:srgbClr val="F0E6D2"/>
                          </a:solidFill>
                          <a:latin typeface="맑은 고딕"/>
                        </a:rPr>
                        <a:t>골드 포함</a:t>
                      </a:r>
                    </a:p>
                  </a:txBody>
                  <a:tcPr marL="91440" marR="91440" anchor="ctr">
                    <a:solidFill>
                      <a:srgbClr val="3C3F3E"/>
                    </a:solidFill>
                  </a:tcPr>
                </a:tc>
                <a:tc>
                  <a:txBody>
                    <a:bodyPr/>
                    <a:lstStyle/>
                    <a:p>
                      <a:pPr algn="ctr"/>
                      <a:r>
                        <a:rPr sz="1100" b="1">
                          <a:solidFill>
                            <a:srgbClr val="F0E6D2"/>
                          </a:solidFill>
                          <a:latin typeface="맑은 고딕"/>
                        </a:rPr>
                        <a:t>골드 제외</a:t>
                      </a:r>
                    </a:p>
                  </a:txBody>
                  <a:tcPr marL="91440" marR="91440" anchor="ctr">
                    <a:solidFill>
                      <a:srgbClr val="3C3F3E"/>
                    </a:solidFill>
                  </a:tcPr>
                </a:tc>
              </a:tr>
              <a:tr h="347472">
                <a:tc>
                  <a:txBody>
                    <a:bodyPr/>
                    <a:lstStyle/>
                    <a:p>
                      <a:pPr algn="l"/>
                      <a:r>
                        <a:rPr sz="1100" b="1">
                          <a:solidFill>
                            <a:srgbClr val="F0E6D2"/>
                          </a:solidFill>
                          <a:latin typeface="맑은 고딕"/>
                        </a:rPr>
                        <a:t>킬 차이</a:t>
                      </a:r>
                    </a:p>
                  </a:txBody>
                  <a:tcPr marL="91440" marR="91440" anchor="ctr">
                    <a:solidFill>
                      <a:srgbClr val="2D353E"/>
                    </a:solidFill>
                  </a:tcPr>
                </a:tc>
                <a:tc>
                  <a:txBody>
                    <a:bodyPr/>
                    <a:lstStyle/>
                    <a:p>
                      <a:pPr algn="ctr"/>
                      <a:r>
                        <a:rPr sz="1100" b="1">
                          <a:solidFill>
                            <a:srgbClr val="F0E6D2"/>
                          </a:solidFill>
                          <a:latin typeface="맑은 고딕"/>
                        </a:rPr>
                        <a:t>−0.107</a:t>
                      </a:r>
                    </a:p>
                  </a:txBody>
                  <a:tcPr marL="91440" marR="91440" anchor="ctr">
                    <a:solidFill>
                      <a:srgbClr val="2D353E"/>
                    </a:solidFill>
                  </a:tcPr>
                </a:tc>
                <a:tc>
                  <a:txBody>
                    <a:bodyPr/>
                    <a:lstStyle/>
                    <a:p>
                      <a:pPr algn="ctr"/>
                      <a:r>
                        <a:rPr sz="1100" b="1">
                          <a:solidFill>
                            <a:srgbClr val="F0E6D2"/>
                          </a:solidFill>
                          <a:latin typeface="맑은 고딕"/>
                        </a:rPr>
                        <a:t>+0.508</a:t>
                      </a:r>
                    </a:p>
                  </a:txBody>
                  <a:tcPr marL="91440" marR="91440" anchor="ctr">
                    <a:solidFill>
                      <a:srgbClr val="2D353E"/>
                    </a:solidFill>
                  </a:tcPr>
                </a:tc>
              </a:tr>
              <a:tr h="347472">
                <a:tc>
                  <a:txBody>
                    <a:bodyPr/>
                    <a:lstStyle/>
                    <a:p>
                      <a:pPr algn="l"/>
                      <a:r>
                        <a:rPr sz="1100" b="0">
                          <a:solidFill>
                            <a:srgbClr val="C1BEB4"/>
                          </a:solidFill>
                          <a:latin typeface="맑은 고딕"/>
                        </a:rPr>
                        <a:t>미니언 차이</a:t>
                      </a:r>
                    </a:p>
                  </a:txBody>
                  <a:tcPr marL="91440" marR="91440" anchor="ctr">
                    <a:solidFill>
                      <a:srgbClr val="09172B"/>
                    </a:solidFill>
                  </a:tcPr>
                </a:tc>
                <a:tc>
                  <a:txBody>
                    <a:bodyPr/>
                    <a:lstStyle/>
                    <a:p>
                      <a:pPr algn="ctr"/>
                      <a:r>
                        <a:rPr sz="1100" b="0">
                          <a:solidFill>
                            <a:srgbClr val="C1BEB4"/>
                          </a:solidFill>
                          <a:latin typeface="맑은 고딕"/>
                        </a:rPr>
                        <a:t>−0.157</a:t>
                      </a:r>
                    </a:p>
                  </a:txBody>
                  <a:tcPr marL="91440" marR="91440" anchor="ctr">
                    <a:solidFill>
                      <a:srgbClr val="09172B"/>
                    </a:solidFill>
                  </a:tcPr>
                </a:tc>
                <a:tc>
                  <a:txBody>
                    <a:bodyPr/>
                    <a:lstStyle/>
                    <a:p>
                      <a:pPr algn="ctr"/>
                      <a:r>
                        <a:rPr sz="1100" b="0">
                          <a:solidFill>
                            <a:srgbClr val="C1BEB4"/>
                          </a:solidFill>
                          <a:latin typeface="맑은 고딕"/>
                        </a:rPr>
                        <a:t>+0.114</a:t>
                      </a:r>
                    </a:p>
                  </a:txBody>
                  <a:tcPr marL="91440" marR="91440" anchor="ctr">
                    <a:solidFill>
                      <a:srgbClr val="09172B"/>
                    </a:solidFill>
                  </a:tcPr>
                </a:tc>
              </a:tr>
              <a:tr h="347472">
                <a:tc>
                  <a:txBody>
                    <a:bodyPr/>
                    <a:lstStyle/>
                    <a:p>
                      <a:pPr algn="l"/>
                      <a:r>
                        <a:rPr sz="1100" b="0">
                          <a:solidFill>
                            <a:srgbClr val="C1BEB4"/>
                          </a:solidFill>
                          <a:latin typeface="맑은 고딕"/>
                        </a:rPr>
                        <a:t>어시스트 차이</a:t>
                      </a:r>
                    </a:p>
                  </a:txBody>
                  <a:tcPr marL="91440" marR="91440" anchor="ctr">
                    <a:solidFill>
                      <a:srgbClr val="10223E"/>
                    </a:solidFill>
                  </a:tcPr>
                </a:tc>
                <a:tc>
                  <a:txBody>
                    <a:bodyPr/>
                    <a:lstStyle/>
                    <a:p>
                      <a:pPr algn="ctr"/>
                      <a:r>
                        <a:rPr sz="1100" b="0">
                          <a:solidFill>
                            <a:srgbClr val="C1BEB4"/>
                          </a:solidFill>
                          <a:latin typeface="맑은 고딕"/>
                        </a:rPr>
                        <a:t>−0.079</a:t>
                      </a:r>
                    </a:p>
                  </a:txBody>
                  <a:tcPr marL="91440" marR="91440" anchor="ctr">
                    <a:solidFill>
                      <a:srgbClr val="10223E"/>
                    </a:solidFill>
                  </a:tcPr>
                </a:tc>
                <a:tc>
                  <a:txBody>
                    <a:bodyPr/>
                    <a:lstStyle/>
                    <a:p>
                      <a:pPr algn="ctr"/>
                      <a:r>
                        <a:rPr sz="1100" b="0">
                          <a:solidFill>
                            <a:srgbClr val="C1BEB4"/>
                          </a:solidFill>
                          <a:latin typeface="맑은 고딕"/>
                        </a:rPr>
                        <a:t>+0.096</a:t>
                      </a:r>
                    </a:p>
                  </a:txBody>
                  <a:tcPr marL="91440" marR="91440" anchor="ctr">
                    <a:solidFill>
                      <a:srgbClr val="10223E"/>
                    </a:solidFill>
                  </a:tcPr>
                </a:tc>
              </a:tr>
              <a:tr h="347472">
                <a:tc>
                  <a:txBody>
                    <a:bodyPr/>
                    <a:lstStyle/>
                    <a:p>
                      <a:pPr algn="l"/>
                      <a:r>
                        <a:rPr sz="1100" b="0">
                          <a:solidFill>
                            <a:srgbClr val="C1BEB4"/>
                          </a:solidFill>
                          <a:latin typeface="맑은 고딕"/>
                        </a:rPr>
                        <a:t>타워 차이</a:t>
                      </a:r>
                    </a:p>
                  </a:txBody>
                  <a:tcPr marL="91440" marR="91440" anchor="ctr">
                    <a:solidFill>
                      <a:srgbClr val="09172B"/>
                    </a:solidFill>
                  </a:tcPr>
                </a:tc>
                <a:tc>
                  <a:txBody>
                    <a:bodyPr/>
                    <a:lstStyle/>
                    <a:p>
                      <a:pPr algn="ctr"/>
                      <a:r>
                        <a:rPr sz="1100" b="0">
                          <a:solidFill>
                            <a:srgbClr val="C1BEB4"/>
                          </a:solidFill>
                          <a:latin typeface="맑은 고딕"/>
                        </a:rPr>
                        <a:t>−0.064</a:t>
                      </a:r>
                    </a:p>
                  </a:txBody>
                  <a:tcPr marL="91440" marR="91440" anchor="ctr">
                    <a:solidFill>
                      <a:srgbClr val="09172B"/>
                    </a:solidFill>
                  </a:tcPr>
                </a:tc>
                <a:tc>
                  <a:txBody>
                    <a:bodyPr/>
                    <a:lstStyle/>
                    <a:p>
                      <a:pPr algn="ctr"/>
                      <a:r>
                        <a:rPr sz="1100" b="0">
                          <a:solidFill>
                            <a:srgbClr val="C1BEB4"/>
                          </a:solidFill>
                          <a:latin typeface="맑은 고딕"/>
                        </a:rPr>
                        <a:t>+0.114</a:t>
                      </a:r>
                    </a:p>
                  </a:txBody>
                  <a:tcPr marL="91440" marR="91440" anchor="ctr">
                    <a:solidFill>
                      <a:srgbClr val="09172B"/>
                    </a:solidFill>
                  </a:tcPr>
                </a:tc>
              </a:tr>
              <a:tr h="347472">
                <a:tc>
                  <a:txBody>
                    <a:bodyPr/>
                    <a:lstStyle/>
                    <a:p>
                      <a:pPr algn="l"/>
                      <a:r>
                        <a:rPr sz="1100" b="0">
                          <a:solidFill>
                            <a:srgbClr val="C1BEB4"/>
                          </a:solidFill>
                          <a:latin typeface="맑은 고딕"/>
                        </a:rPr>
                        <a:t>정글 몹 차이</a:t>
                      </a:r>
                    </a:p>
                  </a:txBody>
                  <a:tcPr marL="91440" marR="91440" anchor="ctr">
                    <a:solidFill>
                      <a:srgbClr val="10223E"/>
                    </a:solidFill>
                  </a:tcPr>
                </a:tc>
                <a:tc>
                  <a:txBody>
                    <a:bodyPr/>
                    <a:lstStyle/>
                    <a:p>
                      <a:pPr algn="ctr"/>
                      <a:r>
                        <a:rPr sz="1100" b="0">
                          <a:solidFill>
                            <a:srgbClr val="C1BEB4"/>
                          </a:solidFill>
                          <a:latin typeface="맑은 고딕"/>
                        </a:rPr>
                        <a:t>−0.000</a:t>
                      </a:r>
                    </a:p>
                  </a:txBody>
                  <a:tcPr marL="91440" marR="91440" anchor="ctr">
                    <a:solidFill>
                      <a:srgbClr val="10223E"/>
                    </a:solidFill>
                  </a:tcPr>
                </a:tc>
                <a:tc>
                  <a:txBody>
                    <a:bodyPr/>
                    <a:lstStyle/>
                    <a:p>
                      <a:pPr algn="ctr"/>
                      <a:r>
                        <a:rPr sz="1100" b="0">
                          <a:solidFill>
                            <a:srgbClr val="C1BEB4"/>
                          </a:solidFill>
                          <a:latin typeface="맑은 고딕"/>
                        </a:rPr>
                        <a:t>+0.107</a:t>
                      </a:r>
                    </a:p>
                  </a:txBody>
                  <a:tcPr marL="91440" marR="91440" anchor="ctr">
                    <a:solidFill>
                      <a:srgbClr val="10223E"/>
                    </a:solidFill>
                  </a:tcPr>
                </a:tc>
              </a:tr>
              <a:tr h="347472">
                <a:tc>
                  <a:txBody>
                    <a:bodyPr/>
                    <a:lstStyle/>
                    <a:p>
                      <a:pPr algn="l"/>
                      <a:r>
                        <a:rPr sz="1100" b="0">
                          <a:solidFill>
                            <a:srgbClr val="C1BEB4"/>
                          </a:solidFill>
                          <a:latin typeface="맑은 고딕"/>
                        </a:rPr>
                        <a:t>(참고) 경험치</a:t>
                      </a:r>
                    </a:p>
                  </a:txBody>
                  <a:tcPr marL="91440" marR="91440" anchor="ctr">
                    <a:solidFill>
                      <a:srgbClr val="09172B"/>
                    </a:solidFill>
                  </a:tcPr>
                </a:tc>
                <a:tc>
                  <a:txBody>
                    <a:bodyPr/>
                    <a:lstStyle/>
                    <a:p>
                      <a:pPr algn="ctr"/>
                      <a:r>
                        <a:rPr sz="1100" b="0">
                          <a:solidFill>
                            <a:srgbClr val="C1BEB4"/>
                          </a:solidFill>
                          <a:latin typeface="맑은 고딕"/>
                        </a:rPr>
                        <a:t>+0.461</a:t>
                      </a:r>
                    </a:p>
                  </a:txBody>
                  <a:tcPr marL="91440" marR="91440" anchor="ctr">
                    <a:solidFill>
                      <a:srgbClr val="09172B"/>
                    </a:solidFill>
                  </a:tcPr>
                </a:tc>
                <a:tc>
                  <a:txBody>
                    <a:bodyPr/>
                    <a:lstStyle/>
                    <a:p>
                      <a:pPr algn="ctr"/>
                      <a:r>
                        <a:rPr sz="1100" b="0">
                          <a:solidFill>
                            <a:srgbClr val="C1BEB4"/>
                          </a:solidFill>
                          <a:latin typeface="맑은 고딕"/>
                        </a:rPr>
                        <a:t>+0.650</a:t>
                      </a:r>
                    </a:p>
                  </a:txBody>
                  <a:tcPr marL="91440" marR="91440" anchor="ctr">
                    <a:solidFill>
                      <a:srgbClr val="09172B"/>
                    </a:solidFill>
                  </a:tcPr>
                </a:tc>
              </a:tr>
            </a:tbl>
          </a:graphicData>
        </a:graphic>
      </p:graphicFrame>
      <p:sp>
        <p:nvSpPr>
          <p:cNvPr id="20" name="Rectangle 19"/>
          <p:cNvSpPr/>
          <p:nvPr/>
        </p:nvSpPr>
        <p:spPr>
          <a:xfrm>
            <a:off x="7589520" y="4532594"/>
            <a:ext cx="3822191" cy="11887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4532594"/>
            <a:ext cx="45720" cy="11887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7264" y="4532594"/>
            <a:ext cx="3364991" cy="1188720"/>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음수로 눌려 있던 5개가</a:t>
            </a:r>
            <a:br>
              <a:rPr sz="1200" b="1">
                <a:solidFill>
                  <a:srgbClr val="F0E6D2"/>
                </a:solidFill>
                <a:latin typeface="맑은 고딕"/>
              </a:rPr>
            </a:br>
            <a:r>
              <a:rPr sz="1200" b="1">
                <a:solidFill>
                  <a:srgbClr val="F0E6D2"/>
                </a:solidFill>
                <a:latin typeface="맑은 고딕"/>
              </a:rPr>
              <a:t>전부 양수로 올라왔습니다.</a:t>
            </a:r>
            <a:br>
              <a:rPr sz="1200" b="1">
                <a:solidFill>
                  <a:srgbClr val="F0E6D2"/>
                </a:solidFill>
                <a:latin typeface="맑은 고딕"/>
              </a:rPr>
            </a:br>
            <a:r>
              <a:rPr sz="1200" b="1">
                <a:solidFill>
                  <a:srgbClr val="F0E6D2"/>
                </a:solidFill>
                <a:latin typeface="맑은 고딕"/>
              </a:rPr>
              <a:t/>
            </a:r>
            <a:br>
              <a:rPr sz="1200" b="1">
                <a:solidFill>
                  <a:srgbClr val="F0E6D2"/>
                </a:solidFill>
                <a:latin typeface="맑은 고딕"/>
              </a:rPr>
            </a:br>
            <a:r>
              <a:rPr sz="1200" b="1">
                <a:solidFill>
                  <a:srgbClr val="F0E6D2"/>
                </a:solidFill>
                <a:latin typeface="맑은 고딕"/>
              </a:rPr>
              <a:t>킬은 방향이 바뀌면서</a:t>
            </a:r>
            <a:br>
              <a:rPr sz="1200" b="1">
                <a:solidFill>
                  <a:srgbClr val="F0E6D2"/>
                </a:solidFill>
                <a:latin typeface="맑은 고딕"/>
              </a:rPr>
            </a:br>
            <a:r>
              <a:rPr sz="1200" b="1">
                <a:solidFill>
                  <a:srgbClr val="F0E6D2"/>
                </a:solidFill>
                <a:latin typeface="맑은 고딕"/>
              </a:rPr>
              <a:t>크기도 5배가 됐습니다.</a:t>
            </a:r>
          </a:p>
        </p:txBody>
      </p:sp>
      <p:sp>
        <p:nvSpPr>
          <p:cNvPr id="23" name="TextBox 22"/>
          <p:cNvSpPr txBox="1"/>
          <p:nvPr/>
        </p:nvSpPr>
        <p:spPr>
          <a:xfrm>
            <a:off x="777240" y="4825607"/>
            <a:ext cx="6583680" cy="1353311"/>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킬이 승패와 무관했던 것이 아니라, 골드가 킬의 몫까지 흡수</a:t>
            </a:r>
          </a:p>
          <a:p>
            <a:pPr algn="l">
              <a:lnSpc>
                <a:spcPct val="130000"/>
              </a:lnSpc>
              <a:spcAft>
                <a:spcPts val="300"/>
              </a:spcAft>
            </a:pPr>
            <a:r>
              <a:rPr sz="950" b="0">
                <a:solidFill>
                  <a:srgbClr val="8E8B80"/>
                </a:solidFill>
                <a:latin typeface="맑은 고딕"/>
              </a:rPr>
              <a:t>     정글 몹은 원래 −0.000(사실상 0)이었는데 +0.107 이 됐다 — 골드에 가려 목소리가 없던 지표</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reports/tables/phase2_coef_shift.csv</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97A37F07-6C98-4A3C-9FAF-CDC750A56C47}" type="slidenum">
              <a:rPr lang="ko-KR" sz="950">
                <a:solidFill>
                  <a:srgbClr val="73726E"/>
                </a:solidFill>
                <a:latin typeface="맑은 고딕"/>
                <a:ea typeface="맑은 고딕"/>
              </a:rPr>
              <a:t>30</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골드 제외의 대가 — 정확도 0.002 하락</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777240" y="1280160"/>
          <a:ext cx="10634470" cy="2340864"/>
        </p:xfrm>
        <a:graphic>
          <a:graphicData uri="http://schemas.openxmlformats.org/drawingml/2006/table">
            <a:tbl>
              <a:tblPr>
                <a:tableStyleId>{5C22544A-7EE6-4342-B048-85BDC9FD1C3A}</a:tableStyleId>
              </a:tblPr>
              <a:tblGrid>
                <a:gridCol w="2750294"/>
                <a:gridCol w="1100117"/>
                <a:gridCol w="1558500"/>
                <a:gridCol w="1558500"/>
                <a:gridCol w="3667059"/>
              </a:tblGrid>
              <a:tr h="438912">
                <a:tc>
                  <a:txBody>
                    <a:bodyPr/>
                    <a:lstStyle/>
                    <a:p>
                      <a:pPr algn="l"/>
                      <a:r>
                        <a:rPr sz="1300" b="1">
                          <a:solidFill>
                            <a:srgbClr val="F0E6D2"/>
                          </a:solidFill>
                          <a:latin typeface="맑은 고딕"/>
                        </a:rPr>
                        <a:t>구성</a:t>
                      </a:r>
                    </a:p>
                  </a:txBody>
                  <a:tcPr marL="91440" marR="91440" anchor="ctr">
                    <a:solidFill>
                      <a:srgbClr val="3C3F3E"/>
                    </a:solidFill>
                  </a:tcPr>
                </a:tc>
                <a:tc>
                  <a:txBody>
                    <a:bodyPr/>
                    <a:lstStyle/>
                    <a:p>
                      <a:pPr algn="ctr"/>
                      <a:r>
                        <a:rPr sz="1300" b="1">
                          <a:solidFill>
                            <a:srgbClr val="F0E6D2"/>
                          </a:solidFill>
                          <a:latin typeface="맑은 고딕"/>
                        </a:rPr>
                        <a:t>지표 수</a:t>
                      </a:r>
                    </a:p>
                  </a:txBody>
                  <a:tcPr marL="91440" marR="91440" anchor="ctr">
                    <a:solidFill>
                      <a:srgbClr val="3C3F3E"/>
                    </a:solidFill>
                  </a:tcPr>
                </a:tc>
                <a:tc>
                  <a:txBody>
                    <a:bodyPr/>
                    <a:lstStyle/>
                    <a:p>
                      <a:pPr algn="ctr"/>
                      <a:r>
                        <a:rPr sz="1300" b="1">
                          <a:solidFill>
                            <a:srgbClr val="F0E6D2"/>
                          </a:solidFill>
                          <a:latin typeface="맑은 고딕"/>
                        </a:rPr>
                        <a:t>교차검증</a:t>
                      </a:r>
                    </a:p>
                  </a:txBody>
                  <a:tcPr marL="91440" marR="91440" anchor="ctr">
                    <a:solidFill>
                      <a:srgbClr val="3C3F3E"/>
                    </a:solidFill>
                  </a:tcPr>
                </a:tc>
                <a:tc>
                  <a:txBody>
                    <a:bodyPr/>
                    <a:lstStyle/>
                    <a:p>
                      <a:pPr algn="ctr"/>
                      <a:r>
                        <a:rPr sz="1300" b="1">
                          <a:solidFill>
                            <a:srgbClr val="F0E6D2"/>
                          </a:solidFill>
                          <a:latin typeface="맑은 고딕"/>
                        </a:rPr>
                        <a:t>홀드아웃</a:t>
                      </a:r>
                    </a:p>
                  </a:txBody>
                  <a:tcPr marL="91440" marR="91440" anchor="ctr">
                    <a:solidFill>
                      <a:srgbClr val="3C3F3E"/>
                    </a:solidFill>
                  </a:tcPr>
                </a:tc>
                <a:tc>
                  <a:txBody>
                    <a:bodyPr/>
                    <a:lstStyle/>
                    <a:p>
                      <a:pPr algn="ctr"/>
                      <a:r>
                        <a:rPr sz="1300" b="1">
                          <a:solidFill>
                            <a:srgbClr val="F0E6D2"/>
                          </a:solidFill>
                          <a:latin typeface="맑은 고딕"/>
                        </a:rPr>
                        <a:t>1위 요인</a:t>
                      </a:r>
                    </a:p>
                  </a:txBody>
                  <a:tcPr marL="91440" marR="91440" anchor="ctr">
                    <a:solidFill>
                      <a:srgbClr val="3C3F3E"/>
                    </a:solidFill>
                  </a:tcPr>
                </a:tc>
              </a:tr>
              <a:tr h="475488">
                <a:tc>
                  <a:txBody>
                    <a:bodyPr/>
                    <a:lstStyle/>
                    <a:p>
                      <a:pPr algn="l"/>
                      <a:r>
                        <a:rPr sz="1300" b="0">
                          <a:solidFill>
                            <a:srgbClr val="C1BEB4"/>
                          </a:solidFill>
                          <a:latin typeface="맑은 고딕"/>
                        </a:rPr>
                        <a:t>전체 13개</a:t>
                      </a:r>
                    </a:p>
                  </a:txBody>
                  <a:tcPr marL="91440" marR="91440" anchor="ctr">
                    <a:solidFill>
                      <a:srgbClr val="10223E"/>
                    </a:solidFill>
                  </a:tcPr>
                </a:tc>
                <a:tc>
                  <a:txBody>
                    <a:bodyPr/>
                    <a:lstStyle/>
                    <a:p>
                      <a:pPr algn="ctr"/>
                      <a:r>
                        <a:rPr sz="1300" b="0">
                          <a:solidFill>
                            <a:srgbClr val="C1BEB4"/>
                          </a:solidFill>
                          <a:latin typeface="맑은 고딕"/>
                        </a:rPr>
                        <a:t>13</a:t>
                      </a:r>
                    </a:p>
                  </a:txBody>
                  <a:tcPr marL="91440" marR="91440" anchor="ctr">
                    <a:solidFill>
                      <a:srgbClr val="10223E"/>
                    </a:solidFill>
                  </a:tcPr>
                </a:tc>
                <a:tc>
                  <a:txBody>
                    <a:bodyPr/>
                    <a:lstStyle/>
                    <a:p>
                      <a:pPr algn="ctr"/>
                      <a:r>
                        <a:rPr sz="1300" b="0">
                          <a:solidFill>
                            <a:srgbClr val="C1BEB4"/>
                          </a:solidFill>
                          <a:latin typeface="맑은 고딕"/>
                        </a:rPr>
                        <a:t>0.7315</a:t>
                      </a:r>
                    </a:p>
                  </a:txBody>
                  <a:tcPr marL="91440" marR="91440" anchor="ctr">
                    <a:solidFill>
                      <a:srgbClr val="10223E"/>
                    </a:solidFill>
                  </a:tcPr>
                </a:tc>
                <a:tc>
                  <a:txBody>
                    <a:bodyPr/>
                    <a:lstStyle/>
                    <a:p>
                      <a:pPr algn="ctr"/>
                      <a:r>
                        <a:rPr sz="1300" b="0">
                          <a:solidFill>
                            <a:srgbClr val="C1BEB4"/>
                          </a:solidFill>
                          <a:latin typeface="맑은 고딕"/>
                        </a:rPr>
                        <a:t>0.7394</a:t>
                      </a:r>
                    </a:p>
                  </a:txBody>
                  <a:tcPr marL="91440" marR="91440" anchor="ctr">
                    <a:solidFill>
                      <a:srgbClr val="10223E"/>
                    </a:solidFill>
                  </a:tcPr>
                </a:tc>
                <a:tc>
                  <a:txBody>
                    <a:bodyPr/>
                    <a:lstStyle/>
                    <a:p>
                      <a:pPr algn="ctr"/>
                      <a:r>
                        <a:rPr sz="1300" b="0">
                          <a:solidFill>
                            <a:srgbClr val="C1BEB4"/>
                          </a:solidFill>
                          <a:latin typeface="맑은 고딕"/>
                        </a:rPr>
                        <a:t>GoldDiff +1.23</a:t>
                      </a:r>
                    </a:p>
                  </a:txBody>
                  <a:tcPr marL="91440" marR="91440" anchor="ctr">
                    <a:solidFill>
                      <a:srgbClr val="10223E"/>
                    </a:solidFill>
                  </a:tcPr>
                </a:tc>
              </a:tr>
              <a:tr h="475488">
                <a:tc>
                  <a:txBody>
                    <a:bodyPr/>
                    <a:lstStyle/>
                    <a:p>
                      <a:pPr algn="l"/>
                      <a:r>
                        <a:rPr sz="1300" b="1">
                          <a:solidFill>
                            <a:srgbClr val="F0E6D2"/>
                          </a:solidFill>
                          <a:latin typeface="맑은 고딕"/>
                        </a:rPr>
                        <a:t>골드 제외</a:t>
                      </a:r>
                    </a:p>
                  </a:txBody>
                  <a:tcPr marL="91440" marR="91440" anchor="ctr">
                    <a:solidFill>
                      <a:srgbClr val="2D353E"/>
                    </a:solidFill>
                  </a:tcPr>
                </a:tc>
                <a:tc>
                  <a:txBody>
                    <a:bodyPr/>
                    <a:lstStyle/>
                    <a:p>
                      <a:pPr algn="ctr"/>
                      <a:r>
                        <a:rPr sz="1300" b="1">
                          <a:solidFill>
                            <a:srgbClr val="F0E6D2"/>
                          </a:solidFill>
                          <a:latin typeface="맑은 고딕"/>
                        </a:rPr>
                        <a:t>12</a:t>
                      </a:r>
                    </a:p>
                  </a:txBody>
                  <a:tcPr marL="91440" marR="91440" anchor="ctr">
                    <a:solidFill>
                      <a:srgbClr val="2D353E"/>
                    </a:solidFill>
                  </a:tcPr>
                </a:tc>
                <a:tc>
                  <a:txBody>
                    <a:bodyPr/>
                    <a:lstStyle/>
                    <a:p>
                      <a:pPr algn="ctr"/>
                      <a:r>
                        <a:rPr sz="1300" b="1">
                          <a:solidFill>
                            <a:srgbClr val="F0E6D2"/>
                          </a:solidFill>
                          <a:latin typeface="맑은 고딕"/>
                        </a:rPr>
                        <a:t>0.7214</a:t>
                      </a:r>
                    </a:p>
                  </a:txBody>
                  <a:tcPr marL="91440" marR="91440" anchor="ctr">
                    <a:solidFill>
                      <a:srgbClr val="2D353E"/>
                    </a:solidFill>
                  </a:tcPr>
                </a:tc>
                <a:tc>
                  <a:txBody>
                    <a:bodyPr/>
                    <a:lstStyle/>
                    <a:p>
                      <a:pPr algn="ctr"/>
                      <a:r>
                        <a:rPr sz="1300" b="1">
                          <a:solidFill>
                            <a:srgbClr val="F0E6D2"/>
                          </a:solidFill>
                          <a:latin typeface="맑은 고딕"/>
                        </a:rPr>
                        <a:t>0.7373</a:t>
                      </a:r>
                    </a:p>
                  </a:txBody>
                  <a:tcPr marL="91440" marR="91440" anchor="ctr">
                    <a:solidFill>
                      <a:srgbClr val="2D353E"/>
                    </a:solidFill>
                  </a:tcPr>
                </a:tc>
                <a:tc>
                  <a:txBody>
                    <a:bodyPr/>
                    <a:lstStyle/>
                    <a:p>
                      <a:pPr algn="ctr"/>
                      <a:r>
                        <a:rPr sz="1300" b="1">
                          <a:solidFill>
                            <a:srgbClr val="F0E6D2"/>
                          </a:solidFill>
                          <a:latin typeface="맑은 고딕"/>
                        </a:rPr>
                        <a:t>ExpDiff +0.65 · KillsDiff +0.51</a:t>
                      </a:r>
                    </a:p>
                  </a:txBody>
                  <a:tcPr marL="91440" marR="91440" anchor="ctr">
                    <a:solidFill>
                      <a:srgbClr val="2D353E"/>
                    </a:solidFill>
                  </a:tcPr>
                </a:tc>
              </a:tr>
              <a:tr h="475488">
                <a:tc>
                  <a:txBody>
                    <a:bodyPr/>
                    <a:lstStyle/>
                    <a:p>
                      <a:pPr algn="l"/>
                      <a:r>
                        <a:rPr sz="1300" b="0">
                          <a:solidFill>
                            <a:srgbClr val="C1BEB4"/>
                          </a:solidFill>
                          <a:latin typeface="맑은 고딕"/>
                        </a:rPr>
                        <a:t>골드 + 경험치 제외</a:t>
                      </a:r>
                    </a:p>
                  </a:txBody>
                  <a:tcPr marL="91440" marR="91440" anchor="ctr">
                    <a:solidFill>
                      <a:srgbClr val="10223E"/>
                    </a:solidFill>
                  </a:tcPr>
                </a:tc>
                <a:tc>
                  <a:txBody>
                    <a:bodyPr/>
                    <a:lstStyle/>
                    <a:p>
                      <a:pPr algn="ctr"/>
                      <a:r>
                        <a:rPr sz="1300" b="0">
                          <a:solidFill>
                            <a:srgbClr val="C1BEB4"/>
                          </a:solidFill>
                          <a:latin typeface="맑은 고딕"/>
                        </a:rPr>
                        <a:t>11</a:t>
                      </a:r>
                    </a:p>
                  </a:txBody>
                  <a:tcPr marL="91440" marR="91440" anchor="ctr">
                    <a:solidFill>
                      <a:srgbClr val="10223E"/>
                    </a:solidFill>
                  </a:tcPr>
                </a:tc>
                <a:tc>
                  <a:txBody>
                    <a:bodyPr/>
                    <a:lstStyle/>
                    <a:p>
                      <a:pPr algn="ctr"/>
                      <a:r>
                        <a:rPr sz="1300" b="0">
                          <a:solidFill>
                            <a:srgbClr val="C1BEB4"/>
                          </a:solidFill>
                          <a:latin typeface="맑은 고딕"/>
                        </a:rPr>
                        <a:t>0.7197</a:t>
                      </a:r>
                    </a:p>
                  </a:txBody>
                  <a:tcPr marL="91440" marR="91440" anchor="ctr">
                    <a:solidFill>
                      <a:srgbClr val="10223E"/>
                    </a:solidFill>
                  </a:tcPr>
                </a:tc>
                <a:tc>
                  <a:txBody>
                    <a:bodyPr/>
                    <a:lstStyle/>
                    <a:p>
                      <a:pPr algn="ctr"/>
                      <a:r>
                        <a:rPr sz="1300" b="0">
                          <a:solidFill>
                            <a:srgbClr val="C1BEB4"/>
                          </a:solidFill>
                          <a:latin typeface="맑은 고딕"/>
                        </a:rPr>
                        <a:t>0.7328</a:t>
                      </a:r>
                    </a:p>
                  </a:txBody>
                  <a:tcPr marL="91440" marR="91440" anchor="ctr">
                    <a:solidFill>
                      <a:srgbClr val="10223E"/>
                    </a:solidFill>
                  </a:tcPr>
                </a:tc>
                <a:tc>
                  <a:txBody>
                    <a:bodyPr/>
                    <a:lstStyle/>
                    <a:p>
                      <a:pPr algn="ctr"/>
                      <a:r>
                        <a:rPr sz="1300" b="0">
                          <a:solidFill>
                            <a:srgbClr val="C1BEB4"/>
                          </a:solidFill>
                          <a:latin typeface="맑은 고딕"/>
                        </a:rPr>
                        <a:t>KillsDiff +0.79</a:t>
                      </a:r>
                    </a:p>
                  </a:txBody>
                  <a:tcPr marL="91440" marR="91440" anchor="ctr">
                    <a:solidFill>
                      <a:srgbClr val="10223E"/>
                    </a:solidFill>
                  </a:tcPr>
                </a:tc>
              </a:tr>
              <a:tr h="475488">
                <a:tc>
                  <a:txBody>
                    <a:bodyPr/>
                    <a:lstStyle/>
                    <a:p>
                      <a:pPr algn="l"/>
                      <a:r>
                        <a:rPr sz="1300" b="1">
                          <a:solidFill>
                            <a:srgbClr val="F0E6D2"/>
                          </a:solidFill>
                          <a:latin typeface="맑은 고딕"/>
                        </a:rPr>
                        <a:t>성장 지표 전부 제외</a:t>
                      </a:r>
                    </a:p>
                  </a:txBody>
                  <a:tcPr marL="91440" marR="91440" anchor="ctr">
                    <a:solidFill>
                      <a:srgbClr val="2D353E"/>
                    </a:solidFill>
                  </a:tcPr>
                </a:tc>
                <a:tc>
                  <a:txBody>
                    <a:bodyPr/>
                    <a:lstStyle/>
                    <a:p>
                      <a:pPr algn="ctr"/>
                      <a:r>
                        <a:rPr sz="1300" b="1">
                          <a:solidFill>
                            <a:srgbClr val="F0E6D2"/>
                          </a:solidFill>
                          <a:latin typeface="맑은 고딕"/>
                        </a:rPr>
                        <a:t>7</a:t>
                      </a:r>
                    </a:p>
                  </a:txBody>
                  <a:tcPr marL="91440" marR="91440" anchor="ctr">
                    <a:solidFill>
                      <a:srgbClr val="2D353E"/>
                    </a:solidFill>
                  </a:tcPr>
                </a:tc>
                <a:tc>
                  <a:txBody>
                    <a:bodyPr/>
                    <a:lstStyle/>
                    <a:p>
                      <a:pPr algn="ctr"/>
                      <a:r>
                        <a:rPr sz="1300" b="1">
                          <a:solidFill>
                            <a:srgbClr val="F0E6D2"/>
                          </a:solidFill>
                          <a:latin typeface="맑은 고딕"/>
                        </a:rPr>
                        <a:t>0.6409</a:t>
                      </a:r>
                    </a:p>
                  </a:txBody>
                  <a:tcPr marL="91440" marR="91440" anchor="ctr">
                    <a:solidFill>
                      <a:srgbClr val="2D353E"/>
                    </a:solidFill>
                  </a:tcPr>
                </a:tc>
                <a:tc>
                  <a:txBody>
                    <a:bodyPr/>
                    <a:lstStyle/>
                    <a:p>
                      <a:pPr algn="ctr"/>
                      <a:r>
                        <a:rPr sz="1300" b="1">
                          <a:solidFill>
                            <a:srgbClr val="F0E6D2"/>
                          </a:solidFill>
                          <a:latin typeface="맑은 고딕"/>
                        </a:rPr>
                        <a:t>0.6336</a:t>
                      </a:r>
                    </a:p>
                  </a:txBody>
                  <a:tcPr marL="91440" marR="91440" anchor="ctr">
                    <a:solidFill>
                      <a:srgbClr val="2D353E"/>
                    </a:solidFill>
                  </a:tcPr>
                </a:tc>
                <a:tc>
                  <a:txBody>
                    <a:bodyPr/>
                    <a:lstStyle/>
                    <a:p>
                      <a:pPr algn="ctr"/>
                      <a:r>
                        <a:rPr sz="1300" b="1">
                          <a:solidFill>
                            <a:srgbClr val="F0E6D2"/>
                          </a:solidFill>
                          <a:latin typeface="맑은 고딕"/>
                        </a:rPr>
                        <a:t>DragonsDiff +0.37</a:t>
                      </a:r>
                    </a:p>
                  </a:txBody>
                  <a:tcPr marL="91440" marR="91440" anchor="ctr">
                    <a:solidFill>
                      <a:srgbClr val="2D353E"/>
                    </a:solidFill>
                  </a:tcPr>
                </a:tc>
              </a:tr>
            </a:tbl>
          </a:graphicData>
        </a:graphic>
      </p:graphicFrame>
      <p:sp>
        <p:nvSpPr>
          <p:cNvPr id="16" name="TextBox 15"/>
          <p:cNvSpPr txBox="1"/>
          <p:nvPr/>
        </p:nvSpPr>
        <p:spPr>
          <a:xfrm>
            <a:off x="777240" y="3971351"/>
            <a:ext cx="10607040" cy="2130552"/>
          </a:xfrm>
          <a:prstGeom prst="rect">
            <a:avLst/>
          </a:prstGeom>
          <a:noFill/>
        </p:spPr>
        <p:txBody>
          <a:bodyPr wrap="square" anchor="t" lIns="0" rIns="0" tIns="0" bIns="0">
            <a:spAutoFit/>
          </a:bodyPr>
          <a:lstStyle/>
          <a:p>
            <a:pPr algn="l">
              <a:lnSpc>
                <a:spcPct val="132000"/>
              </a:lnSpc>
              <a:spcAft>
                <a:spcPts val="900"/>
              </a:spcAft>
            </a:pPr>
            <a:r>
              <a:rPr sz="1400" b="1">
                <a:solidFill>
                  <a:srgbClr val="F0E6D2"/>
                </a:solidFill>
                <a:latin typeface="맑은 고딕"/>
              </a:rPr>
              <a:t>◆  골드가 특별해서 1위였던 것이 아님</a:t>
            </a:r>
          </a:p>
          <a:p>
            <a:pPr algn="l">
              <a:lnSpc>
                <a:spcPct val="130000"/>
              </a:lnSpc>
              <a:spcAft>
                <a:spcPts val="600"/>
              </a:spcAft>
            </a:pPr>
            <a:r>
              <a:rPr sz="1100" b="0">
                <a:solidFill>
                  <a:srgbClr val="8E8B80"/>
                </a:solidFill>
                <a:latin typeface="맑은 고딕"/>
              </a:rPr>
              <a:t>     다른 지표들이 이미 같은 정보를 담고 있어서, 골드가 없어도 경험치와 킬이 그 자리를 대신 채웁니다</a:t>
            </a:r>
          </a:p>
          <a:p>
            <a:pPr algn="l">
              <a:lnSpc>
                <a:spcPct val="132000"/>
              </a:lnSpc>
              <a:spcAft>
                <a:spcPts val="900"/>
              </a:spcAft>
            </a:pPr>
            <a:r>
              <a:rPr sz="1400" b="1">
                <a:solidFill>
                  <a:srgbClr val="F0E6D2"/>
                </a:solidFill>
                <a:latin typeface="맑은 고딕"/>
              </a:rPr>
              <a:t>◆  어디까지가 진짜 한계인지도 확인</a:t>
            </a:r>
          </a:p>
          <a:p>
            <a:pPr algn="l">
              <a:lnSpc>
                <a:spcPct val="130000"/>
              </a:lnSpc>
              <a:spcAft>
                <a:spcPts val="600"/>
              </a:spcAft>
            </a:pPr>
            <a:r>
              <a:rPr sz="1100" b="0">
                <a:solidFill>
                  <a:srgbClr val="8E8B80"/>
                </a:solidFill>
                <a:latin typeface="맑은 고딕"/>
              </a:rPr>
              <a:t>     성장 지표를 전부 빼면 0.6336 으로 확 떨어집니다 — 드래곤·전령·와드만으로는 안 됩니다</a:t>
            </a:r>
          </a:p>
        </p:txBody>
      </p:sp>
      <p:sp>
        <p:nvSpPr>
          <p:cNvPr id="17" name="Rectangle 16"/>
          <p:cNvSpPr/>
          <p:nvPr/>
        </p:nvSpPr>
        <p:spPr>
          <a:xfrm>
            <a:off x="777240" y="5499317"/>
            <a:ext cx="10634472" cy="54864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499317"/>
            <a:ext cx="45720" cy="5486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5499317"/>
            <a:ext cx="10177272" cy="548640"/>
          </a:xfrm>
          <a:prstGeom prst="rect">
            <a:avLst/>
          </a:prstGeom>
          <a:noFill/>
        </p:spPr>
        <p:txBody>
          <a:bodyPr wrap="square" anchor="ctr" lIns="0" rIns="0" tIns="0" bIns="0">
            <a:spAutoFit/>
          </a:bodyPr>
          <a:lstStyle/>
          <a:p>
            <a:pPr algn="l">
              <a:lnSpc>
                <a:spcPct val="132000"/>
              </a:lnSpc>
              <a:spcAft>
                <a:spcPts val="0"/>
              </a:spcAft>
            </a:pPr>
            <a:r>
              <a:rPr sz="1300" b="1">
                <a:solidFill>
                  <a:srgbClr val="F0E6D2"/>
                </a:solidFill>
                <a:latin typeface="맑은 고딕"/>
              </a:rPr>
              <a:t>"10분 승패는 결국 성장 격차가 가른다"는 Phase 1의 결론이, 지표를 빼는 반대 방향에서도 확인됐습니다.</a:t>
            </a:r>
          </a:p>
        </p:txBody>
      </p:sp>
      <p:sp>
        <p:nvSpPr>
          <p:cNvPr id="20" name="TextBox 19"/>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reports/tables/phase2_without_gold.csv</a:t>
            </a:r>
          </a:p>
        </p:txBody>
      </p:sp>
      <p:sp>
        <p:nvSpPr>
          <p:cNvPr id="21" name="TextBox 20"/>
          <p:cNvSpPr txBox="1"/>
          <p:nvPr/>
        </p:nvSpPr>
        <p:spPr>
          <a:xfrm>
            <a:off x="10972800" y="6574536"/>
            <a:ext cx="868680" cy="201168"/>
          </a:xfrm>
          <a:prstGeom prst="rect">
            <a:avLst/>
          </a:prstGeom>
          <a:noFill/>
        </p:spPr>
        <p:txBody>
          <a:bodyPr wrap="square" anchor="ctr" lIns="0" rIns="0" tIns="0" bIns="0">
            <a:spAutoFit/>
          </a:bodyPr>
          <a:lstStyle/>
          <a:p>
            <a:pPr algn="r"/>
            <a:fld id="{F66CAA6F-B755-4DF6-A514-ECCDC2E04467}" type="slidenum">
              <a:rPr lang="ko-KR" sz="950">
                <a:solidFill>
                  <a:srgbClr val="73726E"/>
                </a:solidFill>
                <a:latin typeface="맑은 고딕"/>
                <a:ea typeface="맑은 고딕"/>
              </a:rPr>
              <a:t>31</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군집 — PCA 는 실패, 부호를 지우고 KMeans</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766559" cy="361188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675120" cy="352044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y2_pca_cluster.png"/>
          <p:cNvPicPr>
            <a:picLocks noChangeAspect="1"/>
          </p:cNvPicPr>
          <p:nvPr/>
        </p:nvPicPr>
        <p:blipFill>
          <a:blip r:embed="rId3"/>
          <a:stretch>
            <a:fillRect/>
          </a:stretch>
        </p:blipFill>
        <p:spPr>
          <a:xfrm>
            <a:off x="886968" y="1955418"/>
            <a:ext cx="6455664" cy="2347514"/>
          </a:xfrm>
          <a:prstGeom prst="rect">
            <a:avLst/>
          </a:prstGeom>
        </p:spPr>
      </p:pic>
      <p:sp>
        <p:nvSpPr>
          <p:cNvPr id="18" name="TextBox 17"/>
          <p:cNvSpPr txBox="1"/>
          <p:nvPr/>
        </p:nvSpPr>
        <p:spPr>
          <a:xfrm>
            <a:off x="777240" y="5216289"/>
            <a:ext cx="667512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축을 하나씩 더할 때마다 얼마나 설명하나  ·  오른쪽: PC1·PC2 평면에 9,879판을 흩뿌리고 두 덩어리로</a:t>
            </a:r>
          </a:p>
        </p:txBody>
      </p:sp>
      <p:sp>
        <p:nvSpPr>
          <p:cNvPr id="19" name="TextBox 18"/>
          <p:cNvSpPr txBox="1"/>
          <p:nvPr/>
        </p:nvSpPr>
        <p:spPr>
          <a:xfrm>
            <a:off x="7863840" y="1328995"/>
            <a:ext cx="3547872" cy="4480560"/>
          </a:xfrm>
          <a:prstGeom prst="rect">
            <a:avLst/>
          </a:prstGeom>
          <a:noFill/>
        </p:spPr>
        <p:txBody>
          <a:bodyPr wrap="square" anchor="t" lIns="0" rIns="0" tIns="0" bIns="0">
            <a:spAutoFit/>
          </a:bodyPr>
          <a:lstStyle/>
          <a:p>
            <a:pPr algn="l">
              <a:lnSpc>
                <a:spcPct val="132000"/>
              </a:lnSpc>
              <a:spcAft>
                <a:spcPts val="600"/>
              </a:spcAft>
            </a:pPr>
            <a:r>
              <a:rPr sz="1200" b="1">
                <a:solidFill>
                  <a:srgbClr val="F0E6D2"/>
                </a:solidFill>
                <a:latin typeface="맑은 고딕"/>
              </a:rPr>
              <a:t>◆  첫 축 하나가 39% 를 설명</a:t>
            </a:r>
          </a:p>
          <a:p>
            <a:pPr algn="l">
              <a:lnSpc>
                <a:spcPct val="130000"/>
              </a:lnSpc>
              <a:spcAft>
                <a:spcPts val="300"/>
              </a:spcAft>
            </a:pPr>
            <a:r>
              <a:rPr sz="900" b="0">
                <a:solidFill>
                  <a:srgbClr val="8E8B80"/>
                </a:solidFill>
                <a:latin typeface="맑은 고딕"/>
              </a:rPr>
              <a:t>     그다음부터는 한 축당 10% 미만 — "정보가 한 방향에 쏠려 있다"는 뜻이라 여기까지는 쓸 만하다</a:t>
            </a:r>
          </a:p>
          <a:p>
            <a:pPr algn="l">
              <a:lnSpc>
                <a:spcPct val="132000"/>
              </a:lnSpc>
              <a:spcAft>
                <a:spcPts val="600"/>
              </a:spcAft>
            </a:pPr>
            <a:r>
              <a:rPr sz="1200" b="1">
                <a:solidFill>
                  <a:srgbClr val="F0E6D2"/>
                </a:solidFill>
                <a:latin typeface="맑은 고딕"/>
              </a:rPr>
              <a:t>◆  그런데 두 덩어리는 PC1 의 0 을 기준으로 세로로 갈렸을 뿐</a:t>
            </a:r>
          </a:p>
          <a:p>
            <a:pPr algn="l">
              <a:lnSpc>
                <a:spcPct val="130000"/>
              </a:lnSpc>
              <a:spcAft>
                <a:spcPts val="300"/>
              </a:spcAft>
            </a:pPr>
            <a:r>
              <a:rPr sz="900" b="0">
                <a:solidFill>
                  <a:srgbClr val="8E8B80"/>
                </a:solidFill>
                <a:latin typeface="맑은 고딕"/>
              </a:rPr>
              <a:t>     결국 "블루가 앞선 판 / 레드가 앞선 판" — 정답을 그대로 되비춘 것이라 새 정보가 없다</a:t>
            </a:r>
          </a:p>
        </p:txBody>
      </p:sp>
      <p:sp>
        <p:nvSpPr>
          <p:cNvPr id="20" name="Rectangle 19"/>
          <p:cNvSpPr/>
          <p:nvPr/>
        </p:nvSpPr>
        <p:spPr>
          <a:xfrm>
            <a:off x="7863840" y="4044241"/>
            <a:ext cx="3547872" cy="13258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4044241"/>
            <a:ext cx="45720" cy="13258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1583" y="4044241"/>
            <a:ext cx="3090672" cy="132588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여기서 의심이 하나 남습니다 —</a:t>
            </a:r>
            <a:br>
              <a:rPr sz="1150" b="1">
                <a:solidFill>
                  <a:srgbClr val="F0E6D2"/>
                </a:solidFill>
                <a:latin typeface="맑은 고딕"/>
              </a:rPr>
            </a:br>
            <a:r>
              <a:rPr sz="1150" b="1">
                <a:solidFill>
                  <a:srgbClr val="F0E6D2"/>
                </a:solidFill>
                <a:latin typeface="맑은 고딕"/>
              </a:rPr>
              <a:t>골드가 워낙 세니까</a:t>
            </a:r>
            <a:br>
              <a:rPr sz="1150" b="1">
                <a:solidFill>
                  <a:srgbClr val="F0E6D2"/>
                </a:solidFill>
                <a:latin typeface="맑은 고딕"/>
              </a:rPr>
            </a:br>
            <a:r>
              <a:rPr sz="1150" b="1">
                <a:solidFill>
                  <a:srgbClr val="F0E6D2"/>
                </a:solidFill>
                <a:latin typeface="맑은 고딕"/>
              </a:rPr>
              <a:t>PCA 가 안 통한 것 아닐까?</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그렇다면 골드를 빼면</a:t>
            </a:r>
            <a:br>
              <a:rPr sz="1150" b="1">
                <a:solidFill>
                  <a:srgbClr val="F0E6D2"/>
                </a:solidFill>
                <a:latin typeface="맑은 고딕"/>
              </a:rPr>
            </a:br>
            <a:r>
              <a:rPr sz="1150" b="1">
                <a:solidFill>
                  <a:srgbClr val="F0E6D2"/>
                </a:solidFill>
                <a:latin typeface="맑은 고딕"/>
              </a:rPr>
              <a:t>다른 구조가 나와야 합니다.</a:t>
            </a:r>
          </a:p>
        </p:txBody>
      </p:sp>
      <p:sp>
        <p:nvSpPr>
          <p:cNvPr id="23" name="TextBox 22"/>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reports/figures/day2_pca_cluster.png    |    개념 → STUDY 12번 PCA · 13번 KMeans</a:t>
            </a:r>
          </a:p>
        </p:txBody>
      </p:sp>
      <p:sp>
        <p:nvSpPr>
          <p:cNvPr id="24" name="TextBox 23"/>
          <p:cNvSpPr txBox="1"/>
          <p:nvPr/>
        </p:nvSpPr>
        <p:spPr>
          <a:xfrm>
            <a:off x="10972800" y="6574536"/>
            <a:ext cx="868680" cy="201168"/>
          </a:xfrm>
          <a:prstGeom prst="rect">
            <a:avLst/>
          </a:prstGeom>
          <a:noFill/>
        </p:spPr>
        <p:txBody>
          <a:bodyPr wrap="square" anchor="ctr" lIns="0" rIns="0" tIns="0" bIns="0">
            <a:spAutoFit/>
          </a:bodyPr>
          <a:lstStyle/>
          <a:p>
            <a:pPr algn="r"/>
            <a:fld id="{AA2A38D7-07A5-4803-9BF1-6534318AFA71}" type="slidenum">
              <a:rPr lang="ko-KR" sz="950">
                <a:solidFill>
                  <a:srgbClr val="73726E"/>
                </a:solidFill>
                <a:latin typeface="맑은 고딕"/>
                <a:ea typeface="맑은 고딕"/>
              </a:rPr>
              <a:t>34</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3. Phase 2   |   </a:t>
            </a:r>
            <a:r>
              <a:rPr sz="2500" b="1" spc="80">
                <a:solidFill>
                  <a:srgbClr val="F0E6D2"/>
                </a:solidFill>
                <a:latin typeface="맑은 고딕"/>
              </a:rPr>
              <a:t>4종 프로파일</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4754879" cy="23317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4663440" cy="22402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y2b_game_types.png"/>
          <p:cNvPicPr>
            <a:picLocks noChangeAspect="1"/>
          </p:cNvPicPr>
          <p:nvPr/>
        </p:nvPicPr>
        <p:blipFill>
          <a:blip r:embed="rId3"/>
          <a:stretch>
            <a:fillRect/>
          </a:stretch>
        </p:blipFill>
        <p:spPr>
          <a:xfrm>
            <a:off x="1497583" y="1446200"/>
            <a:ext cx="3222752" cy="2020824"/>
          </a:xfrm>
          <a:prstGeom prst="rect">
            <a:avLst/>
          </a:prstGeom>
        </p:spPr>
      </p:pic>
      <p:sp>
        <p:nvSpPr>
          <p:cNvPr id="18" name="TextBox 17"/>
          <p:cNvSpPr txBox="1"/>
          <p:nvPr/>
        </p:nvSpPr>
        <p:spPr>
          <a:xfrm>
            <a:off x="777240" y="3848899"/>
            <a:ext cx="466344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기울기(가로) × 싸움 빈도(세로) — X 가 각 유형의 중심</a:t>
            </a:r>
          </a:p>
        </p:txBody>
      </p:sp>
      <p:sp>
        <p:nvSpPr>
          <p:cNvPr id="19" name="Rectangle 18"/>
          <p:cNvSpPr/>
          <p:nvPr/>
        </p:nvSpPr>
        <p:spPr>
          <a:xfrm>
            <a:off x="5806440" y="1280160"/>
            <a:ext cx="5650992" cy="233172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0" y="1328995"/>
            <a:ext cx="5559552" cy="224028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z_3_game_types.png"/>
          <p:cNvPicPr>
            <a:picLocks noChangeAspect="1"/>
          </p:cNvPicPr>
          <p:nvPr/>
        </p:nvPicPr>
        <p:blipFill>
          <a:blip r:embed="rId4"/>
          <a:stretch>
            <a:fillRect/>
          </a:stretch>
        </p:blipFill>
        <p:spPr>
          <a:xfrm>
            <a:off x="5961888" y="1661153"/>
            <a:ext cx="5340096" cy="1618340"/>
          </a:xfrm>
          <a:prstGeom prst="rect">
            <a:avLst/>
          </a:prstGeom>
        </p:spPr>
      </p:pic>
      <p:sp>
        <p:nvSpPr>
          <p:cNvPr id="22" name="TextBox 21"/>
          <p:cNvSpPr txBox="1"/>
          <p:nvPr/>
        </p:nvSpPr>
        <p:spPr>
          <a:xfrm>
            <a:off x="5852160" y="3848899"/>
            <a:ext cx="5559552"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비중 · 평균 골드차 · 10분 리드팀이 실제로 이긴 비율</a:t>
            </a:r>
          </a:p>
        </p:txBody>
      </p:sp>
      <p:graphicFrame>
        <p:nvGraphicFramePr>
          <p:cNvPr id="23" name="Table 22"/>
          <p:cNvGraphicFramePr>
            <a:graphicFrameLocks noGrp="1"/>
          </p:cNvGraphicFramePr>
          <p:nvPr/>
        </p:nvGraphicFramePr>
        <p:xfrm>
          <a:off x="777240" y="4200514"/>
          <a:ext cx="10634469" cy="1426464"/>
        </p:xfrm>
        <a:graphic>
          <a:graphicData uri="http://schemas.openxmlformats.org/drawingml/2006/table">
            <a:tbl>
              <a:tblPr>
                <a:tableStyleId>{5C22544A-7EE6-4342-B048-85BDC9FD1C3A}</a:tableStyleId>
              </a:tblPr>
              <a:tblGrid>
                <a:gridCol w="1430646"/>
                <a:gridCol w="906076"/>
                <a:gridCol w="5054950"/>
                <a:gridCol w="1526022"/>
                <a:gridCol w="1716775"/>
              </a:tblGrid>
              <a:tr h="329184">
                <a:tc>
                  <a:txBody>
                    <a:bodyPr/>
                    <a:lstStyle/>
                    <a:p>
                      <a:pPr algn="l"/>
                      <a:r>
                        <a:rPr sz="1150" b="1">
                          <a:solidFill>
                            <a:srgbClr val="F0E6D2"/>
                          </a:solidFill>
                          <a:latin typeface="맑은 고딕"/>
                        </a:rPr>
                        <a:t>유형</a:t>
                      </a:r>
                    </a:p>
                  </a:txBody>
                  <a:tcPr marL="91440" marR="91440" anchor="ctr">
                    <a:solidFill>
                      <a:srgbClr val="3C3F3E"/>
                    </a:solidFill>
                  </a:tcPr>
                </a:tc>
                <a:tc>
                  <a:txBody>
                    <a:bodyPr/>
                    <a:lstStyle/>
                    <a:p>
                      <a:pPr algn="ctr"/>
                      <a:r>
                        <a:rPr sz="1150" b="1">
                          <a:solidFill>
                            <a:srgbClr val="F0E6D2"/>
                          </a:solidFill>
                          <a:latin typeface="맑은 고딕"/>
                        </a:rPr>
                        <a:t>비중</a:t>
                      </a:r>
                    </a:p>
                  </a:txBody>
                  <a:tcPr marL="91440" marR="91440" anchor="ctr">
                    <a:solidFill>
                      <a:srgbClr val="3C3F3E"/>
                    </a:solidFill>
                  </a:tcPr>
                </a:tc>
                <a:tc>
                  <a:txBody>
                    <a:bodyPr/>
                    <a:lstStyle/>
                    <a:p>
                      <a:pPr algn="ctr"/>
                      <a:r>
                        <a:rPr sz="1150" b="1">
                          <a:solidFill>
                            <a:srgbClr val="F0E6D2"/>
                          </a:solidFill>
                          <a:latin typeface="맑은 고딕"/>
                        </a:rPr>
                        <a:t>어떤 경기인가</a:t>
                      </a:r>
                    </a:p>
                  </a:txBody>
                  <a:tcPr marL="91440" marR="91440" anchor="ctr">
                    <a:solidFill>
                      <a:srgbClr val="3C3F3E"/>
                    </a:solidFill>
                  </a:tcPr>
                </a:tc>
                <a:tc>
                  <a:txBody>
                    <a:bodyPr/>
                    <a:lstStyle/>
                    <a:p>
                      <a:pPr algn="ctr"/>
                      <a:r>
                        <a:rPr sz="1150" b="1">
                          <a:solidFill>
                            <a:srgbClr val="F0E6D2"/>
                          </a:solidFill>
                          <a:latin typeface="맑은 고딕"/>
                        </a:rPr>
                        <a:t>평균 골드차</a:t>
                      </a:r>
                    </a:p>
                  </a:txBody>
                  <a:tcPr marL="91440" marR="91440" anchor="ctr">
                    <a:solidFill>
                      <a:srgbClr val="3C3F3E"/>
                    </a:solidFill>
                  </a:tcPr>
                </a:tc>
                <a:tc>
                  <a:txBody>
                    <a:bodyPr/>
                    <a:lstStyle/>
                    <a:p>
                      <a:pPr algn="ctr"/>
                      <a:r>
                        <a:rPr sz="1150" b="1">
                          <a:solidFill>
                            <a:srgbClr val="F0E6D2"/>
                          </a:solidFill>
                          <a:latin typeface="맑은 고딕"/>
                        </a:rPr>
                        <a:t>리드팀 승률</a:t>
                      </a:r>
                    </a:p>
                  </a:txBody>
                  <a:tcPr marL="91440" marR="91440" anchor="ctr">
                    <a:solidFill>
                      <a:srgbClr val="3C3F3E"/>
                    </a:solidFill>
                  </a:tcPr>
                </a:tc>
              </a:tr>
              <a:tr h="274320">
                <a:tc>
                  <a:txBody>
                    <a:bodyPr/>
                    <a:lstStyle/>
                    <a:p>
                      <a:pPr algn="l"/>
                      <a:r>
                        <a:rPr sz="1150" b="0">
                          <a:solidFill>
                            <a:srgbClr val="C1BEB4"/>
                          </a:solidFill>
                          <a:latin typeface="맑은 고딕"/>
                        </a:rPr>
                        <a:t>운영전</a:t>
                      </a:r>
                    </a:p>
                  </a:txBody>
                  <a:tcPr marL="91440" marR="91440" anchor="ctr">
                    <a:solidFill>
                      <a:srgbClr val="10223E"/>
                    </a:solidFill>
                  </a:tcPr>
                </a:tc>
                <a:tc>
                  <a:txBody>
                    <a:bodyPr/>
                    <a:lstStyle/>
                    <a:p>
                      <a:pPr algn="ctr"/>
                      <a:r>
                        <a:rPr sz="1150" b="0">
                          <a:solidFill>
                            <a:srgbClr val="C1BEB4"/>
                          </a:solidFill>
                          <a:latin typeface="맑은 고딕"/>
                        </a:rPr>
                        <a:t>41 %</a:t>
                      </a:r>
                    </a:p>
                  </a:txBody>
                  <a:tcPr marL="91440" marR="91440" anchor="ctr">
                    <a:solidFill>
                      <a:srgbClr val="10223E"/>
                    </a:solidFill>
                  </a:tcPr>
                </a:tc>
                <a:tc>
                  <a:txBody>
                    <a:bodyPr/>
                    <a:lstStyle/>
                    <a:p>
                      <a:pPr algn="ctr"/>
                      <a:r>
                        <a:rPr sz="1150" b="0">
                          <a:solidFill>
                            <a:srgbClr val="C1BEB4"/>
                          </a:solidFill>
                          <a:latin typeface="맑은 고딕"/>
                        </a:rPr>
                        <a:t>킬이 적고(9회) CS 가 가장 많다(456) — 싸움 없이 조용히 크는 판</a:t>
                      </a:r>
                    </a:p>
                  </a:txBody>
                  <a:tcPr marL="91440" marR="91440" anchor="ctr">
                    <a:solidFill>
                      <a:srgbClr val="10223E"/>
                    </a:solidFill>
                  </a:tcPr>
                </a:tc>
                <a:tc>
                  <a:txBody>
                    <a:bodyPr/>
                    <a:lstStyle/>
                    <a:p>
                      <a:pPr algn="ctr"/>
                      <a:r>
                        <a:rPr sz="1150" b="0">
                          <a:solidFill>
                            <a:srgbClr val="C1BEB4"/>
                          </a:solidFill>
                          <a:latin typeface="맑은 고딕"/>
                        </a:rPr>
                        <a:t>1,367</a:t>
                      </a:r>
                    </a:p>
                  </a:txBody>
                  <a:tcPr marL="91440" marR="91440" anchor="ctr">
                    <a:solidFill>
                      <a:srgbClr val="10223E"/>
                    </a:solidFill>
                  </a:tcPr>
                </a:tc>
                <a:tc>
                  <a:txBody>
                    <a:bodyPr/>
                    <a:lstStyle/>
                    <a:p>
                      <a:pPr algn="ctr"/>
                      <a:r>
                        <a:rPr sz="1150" b="0">
                          <a:solidFill>
                            <a:srgbClr val="C1BEB4"/>
                          </a:solidFill>
                          <a:latin typeface="맑은 고딕"/>
                        </a:rPr>
                        <a:t>69 %</a:t>
                      </a:r>
                    </a:p>
                  </a:txBody>
                  <a:tcPr marL="91440" marR="91440" anchor="ctr">
                    <a:solidFill>
                      <a:srgbClr val="10223E"/>
                    </a:solidFill>
                  </a:tcPr>
                </a:tc>
              </a:tr>
              <a:tr h="274320">
                <a:tc>
                  <a:txBody>
                    <a:bodyPr/>
                    <a:lstStyle/>
                    <a:p>
                      <a:pPr algn="l"/>
                      <a:r>
                        <a:rPr sz="1150" b="0">
                          <a:solidFill>
                            <a:srgbClr val="C1BEB4"/>
                          </a:solidFill>
                          <a:latin typeface="맑은 고딕"/>
                        </a:rPr>
                        <a:t>난타전</a:t>
                      </a:r>
                    </a:p>
                  </a:txBody>
                  <a:tcPr marL="91440" marR="91440" anchor="ctr">
                    <a:solidFill>
                      <a:srgbClr val="09172B"/>
                    </a:solidFill>
                  </a:tcPr>
                </a:tc>
                <a:tc>
                  <a:txBody>
                    <a:bodyPr/>
                    <a:lstStyle/>
                    <a:p>
                      <a:pPr algn="ctr"/>
                      <a:r>
                        <a:rPr sz="1150" b="0">
                          <a:solidFill>
                            <a:srgbClr val="C1BEB4"/>
                          </a:solidFill>
                          <a:latin typeface="맑은 고딕"/>
                        </a:rPr>
                        <a:t>32 %</a:t>
                      </a:r>
                    </a:p>
                  </a:txBody>
                  <a:tcPr marL="91440" marR="91440" anchor="ctr">
                    <a:solidFill>
                      <a:srgbClr val="09172B"/>
                    </a:solidFill>
                  </a:tcPr>
                </a:tc>
                <a:tc>
                  <a:txBody>
                    <a:bodyPr/>
                    <a:lstStyle/>
                    <a:p>
                      <a:pPr algn="ctr"/>
                      <a:r>
                        <a:rPr sz="1150" b="0">
                          <a:solidFill>
                            <a:srgbClr val="C1BEB4"/>
                          </a:solidFill>
                          <a:latin typeface="맑은 고딕"/>
                        </a:rPr>
                        <a:t>킬이 가장 많다(15회) — 계속 싸우는 판</a:t>
                      </a:r>
                    </a:p>
                  </a:txBody>
                  <a:tcPr marL="91440" marR="91440" anchor="ctr">
                    <a:solidFill>
                      <a:srgbClr val="09172B"/>
                    </a:solidFill>
                  </a:tcPr>
                </a:tc>
                <a:tc>
                  <a:txBody>
                    <a:bodyPr/>
                    <a:lstStyle/>
                    <a:p>
                      <a:pPr algn="ctr"/>
                      <a:r>
                        <a:rPr sz="1150" b="0">
                          <a:solidFill>
                            <a:srgbClr val="C1BEB4"/>
                          </a:solidFill>
                          <a:latin typeface="맑은 고딕"/>
                        </a:rPr>
                        <a:t>1,324</a:t>
                      </a:r>
                    </a:p>
                  </a:txBody>
                  <a:tcPr marL="91440" marR="91440" anchor="ctr">
                    <a:solidFill>
                      <a:srgbClr val="09172B"/>
                    </a:solidFill>
                  </a:tcPr>
                </a:tc>
                <a:tc>
                  <a:txBody>
                    <a:bodyPr/>
                    <a:lstStyle/>
                    <a:p>
                      <a:pPr algn="ctr"/>
                      <a:r>
                        <a:rPr sz="1150" b="0">
                          <a:solidFill>
                            <a:srgbClr val="C1BEB4"/>
                          </a:solidFill>
                          <a:latin typeface="맑은 고딕"/>
                        </a:rPr>
                        <a:t>66 %</a:t>
                      </a:r>
                    </a:p>
                  </a:txBody>
                  <a:tcPr marL="91440" marR="91440" anchor="ctr">
                    <a:solidFill>
                      <a:srgbClr val="09172B"/>
                    </a:solidFill>
                  </a:tcPr>
                </a:tc>
              </a:tr>
              <a:tr h="274320">
                <a:tc>
                  <a:txBody>
                    <a:bodyPr/>
                    <a:lstStyle/>
                    <a:p>
                      <a:pPr algn="l"/>
                      <a:r>
                        <a:rPr sz="1150" b="1">
                          <a:solidFill>
                            <a:srgbClr val="F0E6D2"/>
                          </a:solidFill>
                          <a:latin typeface="맑은 고딕"/>
                        </a:rPr>
                        <a:t>일방적 경기</a:t>
                      </a:r>
                    </a:p>
                  </a:txBody>
                  <a:tcPr marL="91440" marR="91440" anchor="ctr">
                    <a:solidFill>
                      <a:srgbClr val="2D353E"/>
                    </a:solidFill>
                  </a:tcPr>
                </a:tc>
                <a:tc>
                  <a:txBody>
                    <a:bodyPr/>
                    <a:lstStyle/>
                    <a:p>
                      <a:pPr algn="ctr"/>
                      <a:r>
                        <a:rPr sz="1150" b="1">
                          <a:solidFill>
                            <a:srgbClr val="F0E6D2"/>
                          </a:solidFill>
                          <a:latin typeface="맑은 고딕"/>
                        </a:rPr>
                        <a:t>19 %</a:t>
                      </a:r>
                    </a:p>
                  </a:txBody>
                  <a:tcPr marL="91440" marR="91440" anchor="ctr">
                    <a:solidFill>
                      <a:srgbClr val="2D353E"/>
                    </a:solidFill>
                  </a:tcPr>
                </a:tc>
                <a:tc>
                  <a:txBody>
                    <a:bodyPr/>
                    <a:lstStyle/>
                    <a:p>
                      <a:pPr algn="ctr"/>
                      <a:r>
                        <a:rPr sz="1150" b="1">
                          <a:solidFill>
                            <a:srgbClr val="F0E6D2"/>
                          </a:solidFill>
                          <a:latin typeface="맑은 고딕"/>
                        </a:rPr>
                        <a:t>골드차가 3배 이상 벌어진 판</a:t>
                      </a:r>
                    </a:p>
                  </a:txBody>
                  <a:tcPr marL="91440" marR="91440" anchor="ctr">
                    <a:solidFill>
                      <a:srgbClr val="2D353E"/>
                    </a:solidFill>
                  </a:tcPr>
                </a:tc>
                <a:tc>
                  <a:txBody>
                    <a:bodyPr/>
                    <a:lstStyle/>
                    <a:p>
                      <a:pPr algn="ctr"/>
                      <a:r>
                        <a:rPr sz="1150" b="1">
                          <a:solidFill>
                            <a:srgbClr val="F0E6D2"/>
                          </a:solidFill>
                          <a:latin typeface="맑은 고딕"/>
                        </a:rPr>
                        <a:t>4,240</a:t>
                      </a:r>
                    </a:p>
                  </a:txBody>
                  <a:tcPr marL="91440" marR="91440" anchor="ctr">
                    <a:solidFill>
                      <a:srgbClr val="2D353E"/>
                    </a:solidFill>
                  </a:tcPr>
                </a:tc>
                <a:tc>
                  <a:txBody>
                    <a:bodyPr/>
                    <a:lstStyle/>
                    <a:p>
                      <a:pPr algn="ctr"/>
                      <a:r>
                        <a:rPr sz="1150" b="1">
                          <a:solidFill>
                            <a:srgbClr val="F0E6D2"/>
                          </a:solidFill>
                          <a:latin typeface="맑은 고딕"/>
                        </a:rPr>
                        <a:t>90 %</a:t>
                      </a:r>
                    </a:p>
                  </a:txBody>
                  <a:tcPr marL="91440" marR="91440" anchor="ctr">
                    <a:solidFill>
                      <a:srgbClr val="2D353E"/>
                    </a:solidFill>
                  </a:tcPr>
                </a:tc>
              </a:tr>
              <a:tr h="274320">
                <a:tc>
                  <a:txBody>
                    <a:bodyPr/>
                    <a:lstStyle/>
                    <a:p>
                      <a:pPr algn="l"/>
                      <a:r>
                        <a:rPr sz="1150" b="0">
                          <a:solidFill>
                            <a:srgbClr val="C1BEB4"/>
                          </a:solidFill>
                          <a:latin typeface="맑은 고딕"/>
                        </a:rPr>
                        <a:t>시야전</a:t>
                      </a:r>
                    </a:p>
                  </a:txBody>
                  <a:tcPr marL="91440" marR="91440" anchor="ctr">
                    <a:solidFill>
                      <a:srgbClr val="09172B"/>
                    </a:solidFill>
                  </a:tcPr>
                </a:tc>
                <a:tc>
                  <a:txBody>
                    <a:bodyPr/>
                    <a:lstStyle/>
                    <a:p>
                      <a:pPr algn="ctr"/>
                      <a:r>
                        <a:rPr sz="1150" b="0">
                          <a:solidFill>
                            <a:srgbClr val="C1BEB4"/>
                          </a:solidFill>
                          <a:latin typeface="맑은 고딕"/>
                        </a:rPr>
                        <a:t>7 %</a:t>
                      </a:r>
                    </a:p>
                  </a:txBody>
                  <a:tcPr marL="91440" marR="91440" anchor="ctr">
                    <a:solidFill>
                      <a:srgbClr val="09172B"/>
                    </a:solidFill>
                  </a:tcPr>
                </a:tc>
                <a:tc>
                  <a:txBody>
                    <a:bodyPr/>
                    <a:lstStyle/>
                    <a:p>
                      <a:pPr algn="ctr"/>
                      <a:r>
                        <a:rPr sz="1150" b="0">
                          <a:solidFill>
                            <a:srgbClr val="C1BEB4"/>
                          </a:solidFill>
                          <a:latin typeface="맑은 고딕"/>
                        </a:rPr>
                        <a:t>와드가 119개로 평균의 3배 — 서로 시야만 재는 판</a:t>
                      </a:r>
                    </a:p>
                  </a:txBody>
                  <a:tcPr marL="91440" marR="91440" anchor="ctr">
                    <a:solidFill>
                      <a:srgbClr val="09172B"/>
                    </a:solidFill>
                  </a:tcPr>
                </a:tc>
                <a:tc>
                  <a:txBody>
                    <a:bodyPr/>
                    <a:lstStyle/>
                    <a:p>
                      <a:pPr algn="ctr"/>
                      <a:r>
                        <a:rPr sz="1150" b="0">
                          <a:solidFill>
                            <a:srgbClr val="C1BEB4"/>
                          </a:solidFill>
                          <a:latin typeface="맑은 고딕"/>
                        </a:rPr>
                        <a:t>1,784</a:t>
                      </a:r>
                    </a:p>
                  </a:txBody>
                  <a:tcPr marL="91440" marR="91440" anchor="ctr">
                    <a:solidFill>
                      <a:srgbClr val="09172B"/>
                    </a:solidFill>
                  </a:tcPr>
                </a:tc>
                <a:tc>
                  <a:txBody>
                    <a:bodyPr/>
                    <a:lstStyle/>
                    <a:p>
                      <a:pPr algn="ctr"/>
                      <a:r>
                        <a:rPr sz="1150" b="0">
                          <a:solidFill>
                            <a:srgbClr val="C1BEB4"/>
                          </a:solidFill>
                          <a:latin typeface="맑은 고딕"/>
                        </a:rPr>
                        <a:t>68 %</a:t>
                      </a:r>
                    </a:p>
                  </a:txBody>
                  <a:tcPr marL="91440" marR="91440" anchor="ctr">
                    <a:solidFill>
                      <a:srgbClr val="09172B"/>
                    </a:solidFill>
                  </a:tcPr>
                </a:tc>
              </a:tr>
            </a:tbl>
          </a:graphicData>
        </a:graphic>
      </p:graphicFrame>
      <p:sp>
        <p:nvSpPr>
          <p:cNvPr id="24" name="Rectangle 23"/>
          <p:cNvSpPr/>
          <p:nvPr/>
        </p:nvSpPr>
        <p:spPr>
          <a:xfrm>
            <a:off x="777240" y="5802314"/>
            <a:ext cx="10634472" cy="438912"/>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802314"/>
            <a:ext cx="45720" cy="43891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3" y="5802314"/>
            <a:ext cx="10177272" cy="438912"/>
          </a:xfrm>
          <a:prstGeom prst="rect">
            <a:avLst/>
          </a:prstGeom>
          <a:noFill/>
        </p:spPr>
        <p:txBody>
          <a:bodyPr wrap="square" anchor="ctr" lIns="0" rIns="0" tIns="0" bIns="0">
            <a:spAutoFit/>
          </a:bodyPr>
          <a:lstStyle/>
          <a:p>
            <a:pPr algn="l">
              <a:lnSpc>
                <a:spcPct val="132000"/>
              </a:lnSpc>
              <a:spcAft>
                <a:spcPts val="0"/>
              </a:spcAft>
            </a:pPr>
            <a:r>
              <a:rPr sz="1200" b="1">
                <a:solidFill>
                  <a:srgbClr val="F0E6D2"/>
                </a:solidFill>
                <a:latin typeface="맑은 고딕"/>
              </a:rPr>
              <a:t>난타전과 운영전은 스타일만 다르고 결과는 같습니다(66% vs 69%) · 일방적 경기만 이미 끝나 있습니다(90%).</a:t>
            </a:r>
          </a:p>
        </p:txBody>
      </p:sp>
      <p:sp>
        <p:nvSpPr>
          <p:cNvPr id="27" name="TextBox 26"/>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reports/tables/day2b_game_type_profile.csv    |    ※ k=4 는 설명 편의로 고른 값(한계)</a:t>
            </a:r>
          </a:p>
        </p:txBody>
      </p:sp>
      <p:sp>
        <p:nvSpPr>
          <p:cNvPr id="28" name="TextBox 27"/>
          <p:cNvSpPr txBox="1"/>
          <p:nvPr/>
        </p:nvSpPr>
        <p:spPr>
          <a:xfrm>
            <a:off x="10972800" y="6574536"/>
            <a:ext cx="868680" cy="201168"/>
          </a:xfrm>
          <a:prstGeom prst="rect">
            <a:avLst/>
          </a:prstGeom>
          <a:noFill/>
        </p:spPr>
        <p:txBody>
          <a:bodyPr wrap="square" anchor="ctr" lIns="0" rIns="0" tIns="0" bIns="0">
            <a:spAutoFit/>
          </a:bodyPr>
          <a:lstStyle/>
          <a:p>
            <a:pPr algn="r"/>
            <a:fld id="{7C1106AE-E1EE-4945-95CC-5902BC53C083}" type="slidenum">
              <a:rPr lang="ko-KR" sz="950">
                <a:solidFill>
                  <a:srgbClr val="73726E"/>
                </a:solidFill>
                <a:latin typeface="맑은 고딕"/>
                <a:ea typeface="맑은 고딕"/>
              </a:rPr>
              <a:t>38</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flow.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04</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Phase 3  |  시점 비교 (10분 vs 15분)</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3DB35A66-36E2-4304-B9B5-472D7B84CD17}" type="slidenum">
              <a:rPr lang="ko-KR" sz="950">
                <a:solidFill>
                  <a:srgbClr val="73726E"/>
                </a:solidFill>
                <a:latin typeface="맑은 고딕"/>
                <a:ea typeface="맑은 고딕"/>
              </a:rPr>
              <a:t>39</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데이터 개요 — 프로 경기 (시점 비교용)</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777240" y="1371600"/>
          <a:ext cx="10634472" cy="3803904"/>
        </p:xfrm>
        <a:graphic>
          <a:graphicData uri="http://schemas.openxmlformats.org/drawingml/2006/table">
            <a:tbl>
              <a:tblPr>
                <a:tableStyleId>{5C22544A-7EE6-4342-B048-85BDC9FD1C3A}</a:tableStyleId>
              </a:tblPr>
              <a:tblGrid>
                <a:gridCol w="1828800"/>
                <a:gridCol w="3840480"/>
                <a:gridCol w="4965192"/>
              </a:tblGrid>
              <a:tr h="512064">
                <a:tc>
                  <a:txBody>
                    <a:bodyPr/>
                    <a:lstStyle/>
                    <a:p>
                      <a:pPr algn="l"/>
                      <a:r>
                        <a:rPr sz="1400" b="1">
                          <a:solidFill>
                            <a:srgbClr val="F0E6D2"/>
                          </a:solidFill>
                          <a:latin typeface="맑은 고딕"/>
                        </a:rPr>
                        <a:t>항목</a:t>
                      </a:r>
                    </a:p>
                  </a:txBody>
                  <a:tcPr marL="91440" marR="91440" anchor="ctr">
                    <a:solidFill>
                      <a:srgbClr val="3C3F3E"/>
                    </a:solidFill>
                  </a:tcPr>
                </a:tc>
                <a:tc>
                  <a:txBody>
                    <a:bodyPr/>
                    <a:lstStyle/>
                    <a:p>
                      <a:pPr algn="ctr"/>
                      <a:r>
                        <a:rPr sz="1400" b="1">
                          <a:solidFill>
                            <a:srgbClr val="F0E6D2"/>
                          </a:solidFill>
                          <a:latin typeface="맑은 고딕"/>
                        </a:rPr>
                        <a:t>값</a:t>
                      </a:r>
                    </a:p>
                  </a:txBody>
                  <a:tcPr marL="91440" marR="91440" anchor="ctr">
                    <a:solidFill>
                      <a:srgbClr val="3C3F3E"/>
                    </a:solidFill>
                  </a:tcPr>
                </a:tc>
                <a:tc>
                  <a:txBody>
                    <a:bodyPr/>
                    <a:lstStyle/>
                    <a:p>
                      <a:pPr algn="ctr"/>
                      <a:r>
                        <a:rPr sz="1400" b="1">
                          <a:solidFill>
                            <a:srgbClr val="F0E6D2"/>
                          </a:solidFill>
                          <a:latin typeface="맑은 고딕"/>
                        </a:rPr>
                        <a:t>비고</a:t>
                      </a:r>
                    </a:p>
                  </a:txBody>
                  <a:tcPr marL="91440" marR="91440" anchor="ctr">
                    <a:solidFill>
                      <a:srgbClr val="3C3F3E"/>
                    </a:solidFill>
                  </a:tcPr>
                </a:tc>
              </a:tr>
              <a:tr h="658368">
                <a:tc>
                  <a:txBody>
                    <a:bodyPr/>
                    <a:lstStyle/>
                    <a:p>
                      <a:pPr algn="l"/>
                      <a:r>
                        <a:rPr sz="1400" b="0">
                          <a:solidFill>
                            <a:srgbClr val="C1BEB4"/>
                          </a:solidFill>
                          <a:latin typeface="맑은 고딕"/>
                        </a:rPr>
                        <a:t>데이터 출처</a:t>
                      </a:r>
                    </a:p>
                  </a:txBody>
                  <a:tcPr marL="91440" marR="91440" anchor="ctr">
                    <a:solidFill>
                      <a:srgbClr val="10223E"/>
                    </a:solidFill>
                  </a:tcPr>
                </a:tc>
                <a:tc>
                  <a:txBody>
                    <a:bodyPr/>
                    <a:lstStyle/>
                    <a:p>
                      <a:pPr algn="ctr"/>
                      <a:r>
                        <a:rPr sz="1400" b="0">
                          <a:solidFill>
                            <a:srgbClr val="C1BEB4"/>
                          </a:solidFill>
                          <a:latin typeface="맑은 고딕"/>
                        </a:rPr>
                        <a:t>Oracle's Elixir · 2022 프로 경기</a:t>
                      </a:r>
                    </a:p>
                  </a:txBody>
                  <a:tcPr marL="91440" marR="91440" anchor="ctr">
                    <a:solidFill>
                      <a:srgbClr val="10223E"/>
                    </a:solidFill>
                  </a:tcPr>
                </a:tc>
                <a:tc>
                  <a:txBody>
                    <a:bodyPr/>
                    <a:lstStyle/>
                    <a:p>
                      <a:pPr algn="ctr"/>
                      <a:r>
                        <a:rPr sz="1400" b="0">
                          <a:solidFill>
                            <a:srgbClr val="C1BEB4"/>
                          </a:solidFill>
                          <a:latin typeface="맑은 고딕"/>
                        </a:rPr>
                        <a:t>다이아가 아니라 프로 — Phase 1 점수와 직접 비교 금지</a:t>
                      </a:r>
                    </a:p>
                  </a:txBody>
                  <a:tcPr marL="91440" marR="91440" anchor="ctr">
                    <a:solidFill>
                      <a:srgbClr val="10223E"/>
                    </a:solidFill>
                  </a:tcPr>
                </a:tc>
              </a:tr>
              <a:tr h="658368">
                <a:tc>
                  <a:txBody>
                    <a:bodyPr/>
                    <a:lstStyle/>
                    <a:p>
                      <a:pPr algn="l"/>
                      <a:r>
                        <a:rPr sz="1400" b="0">
                          <a:solidFill>
                            <a:srgbClr val="C1BEB4"/>
                          </a:solidFill>
                          <a:latin typeface="맑은 고딕"/>
                        </a:rPr>
                        <a:t>규모</a:t>
                      </a:r>
                    </a:p>
                  </a:txBody>
                  <a:tcPr marL="91440" marR="91440" anchor="ctr">
                    <a:solidFill>
                      <a:srgbClr val="09172B"/>
                    </a:solidFill>
                  </a:tcPr>
                </a:tc>
                <a:tc>
                  <a:txBody>
                    <a:bodyPr/>
                    <a:lstStyle/>
                    <a:p>
                      <a:pPr algn="ctr"/>
                      <a:r>
                        <a:rPr sz="1400" b="0">
                          <a:solidFill>
                            <a:srgbClr val="C1BEB4"/>
                          </a:solidFill>
                          <a:latin typeface="맑은 고딕"/>
                        </a:rPr>
                        <a:t>원본 150,588행 → 10,656판</a:t>
                      </a:r>
                    </a:p>
                  </a:txBody>
                  <a:tcPr marL="91440" marR="91440" anchor="ctr">
                    <a:solidFill>
                      <a:srgbClr val="09172B"/>
                    </a:solidFill>
                  </a:tcPr>
                </a:tc>
                <a:tc>
                  <a:txBody>
                    <a:bodyPr/>
                    <a:lstStyle/>
                    <a:p>
                      <a:pPr algn="ctr"/>
                      <a:r>
                        <a:rPr sz="1400" b="0">
                          <a:solidFill>
                            <a:srgbClr val="C1BEB4"/>
                          </a:solidFill>
                          <a:latin typeface="맑은 고딕"/>
                        </a:rPr>
                        <a:t>10분·15분 기록이 둘 다 있는 경기만</a:t>
                      </a:r>
                      <a:br>
                        <a:rPr sz="1400" b="0">
                          <a:solidFill>
                            <a:srgbClr val="C1BEB4"/>
                          </a:solidFill>
                          <a:latin typeface="맑은 고딕"/>
                        </a:rPr>
                      </a:br>
                      <a:r>
                        <a:rPr sz="1400" b="0">
                          <a:solidFill>
                            <a:srgbClr val="C1BEB4"/>
                          </a:solidFill>
                          <a:latin typeface="맑은 고딕"/>
                        </a:rPr>
                        <a:t/>
                      </a:r>
                    </a:p>
                  </a:txBody>
                  <a:tcPr marL="91440" marR="91440" anchor="ctr">
                    <a:solidFill>
                      <a:srgbClr val="09172B"/>
                    </a:solidFill>
                  </a:tcPr>
                </a:tc>
              </a:tr>
              <a:tr h="658368">
                <a:tc>
                  <a:txBody>
                    <a:bodyPr/>
                    <a:lstStyle/>
                    <a:p>
                      <a:pPr algn="l"/>
                      <a:r>
                        <a:rPr sz="1400" b="0">
                          <a:solidFill>
                            <a:srgbClr val="C1BEB4"/>
                          </a:solidFill>
                          <a:latin typeface="맑은 고딕"/>
                        </a:rPr>
                        <a:t>한 경기 = 한 줄</a:t>
                      </a:r>
                    </a:p>
                  </a:txBody>
                  <a:tcPr marL="91440" marR="91440" anchor="ctr">
                    <a:solidFill>
                      <a:srgbClr val="10223E"/>
                    </a:solidFill>
                  </a:tcPr>
                </a:tc>
                <a:tc>
                  <a:txBody>
                    <a:bodyPr/>
                    <a:lstStyle/>
                    <a:p>
                      <a:pPr algn="ctr"/>
                      <a:r>
                        <a:rPr sz="1400" b="0">
                          <a:solidFill>
                            <a:srgbClr val="C1BEB4"/>
                          </a:solidFill>
                          <a:latin typeface="맑은 고딕"/>
                        </a:rPr>
                        <a:t>블루 줄만 남김</a:t>
                      </a:r>
                    </a:p>
                  </a:txBody>
                  <a:tcPr marL="91440" marR="91440" anchor="ctr">
                    <a:solidFill>
                      <a:srgbClr val="10223E"/>
                    </a:solidFill>
                  </a:tcPr>
                </a:tc>
                <a:tc>
                  <a:txBody>
                    <a:bodyPr/>
                    <a:lstStyle/>
                    <a:p>
                      <a:pPr algn="ctr"/>
                      <a:r>
                        <a:rPr sz="1400" b="0">
                          <a:solidFill>
                            <a:srgbClr val="C1BEB4"/>
                          </a:solidFill>
                          <a:latin typeface="맑은 고딕"/>
                        </a:rPr>
                        <a:t>그대로 쓰면 같은 경기가 학습·시험 양쪽에 들어간다</a:t>
                      </a:r>
                    </a:p>
                  </a:txBody>
                  <a:tcPr marL="91440" marR="91440" anchor="ctr">
                    <a:solidFill>
                      <a:srgbClr val="10223E"/>
                    </a:solidFill>
                  </a:tcPr>
                </a:tc>
              </a:tr>
              <a:tr h="658368">
                <a:tc>
                  <a:txBody>
                    <a:bodyPr/>
                    <a:lstStyle/>
                    <a:p>
                      <a:pPr algn="l"/>
                      <a:r>
                        <a:rPr sz="1400" b="1">
                          <a:solidFill>
                            <a:srgbClr val="F0E6D2"/>
                          </a:solidFill>
                          <a:latin typeface="맑은 고딕"/>
                        </a:rPr>
                        <a:t>지표</a:t>
                      </a:r>
                    </a:p>
                  </a:txBody>
                  <a:tcPr marL="91440" marR="91440" anchor="ctr">
                    <a:solidFill>
                      <a:srgbClr val="2D353E"/>
                    </a:solidFill>
                  </a:tcPr>
                </a:tc>
                <a:tc>
                  <a:txBody>
                    <a:bodyPr/>
                    <a:lstStyle/>
                    <a:p>
                      <a:pPr algn="ctr"/>
                      <a:r>
                        <a:rPr sz="1400" b="1">
                          <a:solidFill>
                            <a:srgbClr val="F0E6D2"/>
                          </a:solidFill>
                          <a:latin typeface="맑은 고딕"/>
                        </a:rPr>
                        <a:t>5개 — 골드·경험치·CS·킬·어시스트</a:t>
                      </a:r>
                    </a:p>
                  </a:txBody>
                  <a:tcPr marL="91440" marR="91440" anchor="ctr">
                    <a:solidFill>
                      <a:srgbClr val="2D353E"/>
                    </a:solidFill>
                  </a:tcPr>
                </a:tc>
                <a:tc>
                  <a:txBody>
                    <a:bodyPr/>
                    <a:lstStyle/>
                    <a:p>
                      <a:pPr algn="ctr"/>
                      <a:r>
                        <a:rPr sz="1400" b="1">
                          <a:solidFill>
                            <a:srgbClr val="F0E6D2"/>
                          </a:solidFill>
                          <a:latin typeface="맑은 고딕"/>
                        </a:rPr>
                        <a:t>드래곤·전령·타워는 누적값뿐 — 미래 정보라 제외</a:t>
                      </a:r>
                    </a:p>
                  </a:txBody>
                  <a:tcPr marL="91440" marR="91440" anchor="ctr">
                    <a:solidFill>
                      <a:srgbClr val="2D353E"/>
                    </a:solidFill>
                  </a:tcPr>
                </a:tc>
              </a:tr>
              <a:tr h="658368">
                <a:tc>
                  <a:txBody>
                    <a:bodyPr/>
                    <a:lstStyle/>
                    <a:p>
                      <a:pPr algn="l"/>
                      <a:r>
                        <a:rPr sz="1400" b="0">
                          <a:solidFill>
                            <a:srgbClr val="C1BEB4"/>
                          </a:solidFill>
                          <a:latin typeface="맑은 고딕"/>
                        </a:rPr>
                        <a:t>조건 통제</a:t>
                      </a:r>
                    </a:p>
                  </a:txBody>
                  <a:tcPr marL="91440" marR="91440" anchor="ctr">
                    <a:solidFill>
                      <a:srgbClr val="10223E"/>
                    </a:solidFill>
                  </a:tcPr>
                </a:tc>
                <a:tc>
                  <a:txBody>
                    <a:bodyPr/>
                    <a:lstStyle/>
                    <a:p>
                      <a:pPr algn="ctr"/>
                      <a:r>
                        <a:rPr sz="1400" b="0">
                          <a:solidFill>
                            <a:srgbClr val="C1BEB4"/>
                          </a:solidFill>
                          <a:latin typeface="맑은 고딕"/>
                        </a:rPr>
                        <a:t>같은 분할 · 같은 모델 · 시드 42</a:t>
                      </a:r>
                    </a:p>
                  </a:txBody>
                  <a:tcPr marL="91440" marR="91440" anchor="ctr">
                    <a:solidFill>
                      <a:srgbClr val="10223E"/>
                    </a:solidFill>
                  </a:tcPr>
                </a:tc>
                <a:tc>
                  <a:txBody>
                    <a:bodyPr/>
                    <a:lstStyle/>
                    <a:p>
                      <a:pPr algn="ctr"/>
                      <a:r>
                        <a:rPr sz="1400" b="0">
                          <a:solidFill>
                            <a:srgbClr val="C1BEB4"/>
                          </a:solidFill>
                          <a:latin typeface="맑은 고딕"/>
                        </a:rPr>
                        <a:t>시점 말고는 전부 동일</a:t>
                      </a:r>
                    </a:p>
                  </a:txBody>
                  <a:tcPr marL="91440" marR="91440" anchor="ctr">
                    <a:solidFill>
                      <a:srgbClr val="10223E"/>
                    </a:solidFill>
                  </a:tcPr>
                </a:tc>
              </a:tr>
            </a:tbl>
          </a:graphicData>
        </a:graphic>
      </p:graphicFrame>
      <p:sp>
        <p:nvSpPr>
          <p:cNvPr id="16" name="TextBox 1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docs/experiment_report.md    |    개념 → README 페이즈 3</a:t>
            </a:r>
          </a:p>
        </p:txBody>
      </p:sp>
      <p:sp>
        <p:nvSpPr>
          <p:cNvPr id="17" name="TextBox 16"/>
          <p:cNvSpPr txBox="1"/>
          <p:nvPr/>
        </p:nvSpPr>
        <p:spPr>
          <a:xfrm>
            <a:off x="10972800" y="6574536"/>
            <a:ext cx="868680" cy="201168"/>
          </a:xfrm>
          <a:prstGeom prst="rect">
            <a:avLst/>
          </a:prstGeom>
          <a:noFill/>
        </p:spPr>
        <p:txBody>
          <a:bodyPr wrap="square" anchor="ctr" lIns="0" rIns="0" tIns="0" bIns="0">
            <a:spAutoFit/>
          </a:bodyPr>
          <a:lstStyle/>
          <a:p>
            <a:pPr algn="r"/>
            <a:fld id="{48AC4041-8962-47DA-94E5-B03D28FFFCB0}" type="slidenum">
              <a:rPr lang="ko-KR" sz="950">
                <a:solidFill>
                  <a:srgbClr val="73726E"/>
                </a:solidFill>
                <a:latin typeface="맑은 고딕"/>
                <a:ea typeface="맑은 고딕"/>
              </a:rPr>
              <a:t>8</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시점 비교 결과 — +5.25%p</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949440" cy="274320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858000" cy="265176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4_timepoint.png"/>
          <p:cNvPicPr>
            <a:picLocks noChangeAspect="1"/>
          </p:cNvPicPr>
          <p:nvPr/>
        </p:nvPicPr>
        <p:blipFill>
          <a:blip r:embed="rId3"/>
          <a:stretch>
            <a:fillRect/>
          </a:stretch>
        </p:blipFill>
        <p:spPr>
          <a:xfrm>
            <a:off x="886968" y="1470103"/>
            <a:ext cx="6638544" cy="2387546"/>
          </a:xfrm>
          <a:prstGeom prst="rect">
            <a:avLst/>
          </a:prstGeom>
        </p:spPr>
      </p:pic>
      <p:sp>
        <p:nvSpPr>
          <p:cNvPr id="18" name="TextBox 17"/>
          <p:cNvSpPr txBox="1"/>
          <p:nvPr/>
        </p:nvSpPr>
        <p:spPr>
          <a:xfrm>
            <a:off x="777240" y="4288418"/>
            <a:ext cx="685800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왼쪽: 점수가 얼마나 올랐나 (빨간 점선 = 찍기 0.523)  ·  오른쪽: 무엇이 중요해졌나</a:t>
            </a:r>
          </a:p>
        </p:txBody>
      </p:sp>
      <p:sp>
        <p:nvSpPr>
          <p:cNvPr id="19" name="Rectangle 18"/>
          <p:cNvSpPr/>
          <p:nvPr/>
        </p:nvSpPr>
        <p:spPr>
          <a:xfrm>
            <a:off x="7863840" y="1328995"/>
            <a:ext cx="3547872" cy="1234440"/>
          </a:xfrm>
          <a:prstGeom prst="rect">
            <a:avLst/>
          </a:prstGeom>
          <a:solidFill>
            <a:srgbClr val="10223E">
              <a:alpha val="92000"/>
            </a:srgbClr>
          </a:solidFill>
          <a:ln w="12700">
            <a:solidFill>
              <a:srgbClr val="0E64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63840" y="1328995"/>
            <a:ext cx="45720" cy="123444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1524336"/>
            <a:ext cx="3090672" cy="905256"/>
          </a:xfrm>
          <a:prstGeom prst="rect">
            <a:avLst/>
          </a:prstGeom>
          <a:noFill/>
        </p:spPr>
        <p:txBody>
          <a:bodyPr wrap="square" anchor="t" lIns="0" rIns="0" tIns="0" bIns="0">
            <a:spAutoFit/>
          </a:bodyPr>
          <a:lstStyle/>
          <a:p>
            <a:pPr algn="l">
              <a:lnSpc>
                <a:spcPct val="125000"/>
              </a:lnSpc>
              <a:spcAft>
                <a:spcPts val="500"/>
              </a:spcAft>
            </a:pPr>
            <a:r>
              <a:rPr sz="1100" b="0">
                <a:solidFill>
                  <a:srgbClr val="918E82"/>
                </a:solidFill>
                <a:latin typeface="맑은 고딕"/>
              </a:rPr>
              <a:t>10분 정보 → 15분 정보</a:t>
            </a:r>
          </a:p>
          <a:p>
            <a:pPr algn="l">
              <a:lnSpc>
                <a:spcPct val="100000"/>
              </a:lnSpc>
              <a:spcAft>
                <a:spcPts val="300"/>
              </a:spcAft>
            </a:pPr>
            <a:r>
              <a:rPr sz="2100" b="1">
                <a:solidFill>
                  <a:srgbClr val="0AC8B9"/>
                </a:solidFill>
                <a:latin typeface="맑은 고딕"/>
              </a:rPr>
              <a:t>0.704 → 0.756</a:t>
            </a:r>
          </a:p>
          <a:p>
            <a:pPr algn="l">
              <a:lnSpc>
                <a:spcPct val="125000"/>
              </a:lnSpc>
              <a:spcAft>
                <a:spcPts val="0"/>
              </a:spcAft>
            </a:pPr>
            <a:r>
              <a:rPr sz="1100" b="0">
                <a:solidFill>
                  <a:srgbClr val="8A877D"/>
                </a:solidFill>
                <a:latin typeface="맑은 고딕"/>
              </a:rPr>
              <a:t>+5.25%p · 시드 10회 반복 +4.77 ± 0.89%p, 10/10 일관</a:t>
            </a:r>
          </a:p>
        </p:txBody>
      </p:sp>
      <p:graphicFrame>
        <p:nvGraphicFramePr>
          <p:cNvPr id="22" name="Table 21"/>
          <p:cNvGraphicFramePr>
            <a:graphicFrameLocks noGrp="1"/>
          </p:cNvGraphicFramePr>
          <p:nvPr/>
        </p:nvGraphicFramePr>
        <p:xfrm>
          <a:off x="7863840" y="3067534"/>
          <a:ext cx="3547870" cy="1353312"/>
        </p:xfrm>
        <a:graphic>
          <a:graphicData uri="http://schemas.openxmlformats.org/drawingml/2006/table">
            <a:tbl>
              <a:tblPr>
                <a:tableStyleId>{5C22544A-7EE6-4342-B048-85BDC9FD1C3A}</a:tableStyleId>
              </a:tblPr>
              <a:tblGrid>
                <a:gridCol w="1229928"/>
                <a:gridCol w="756879"/>
                <a:gridCol w="756879"/>
                <a:gridCol w="804184"/>
              </a:tblGrid>
              <a:tr h="365760">
                <a:tc>
                  <a:txBody>
                    <a:bodyPr/>
                    <a:lstStyle/>
                    <a:p>
                      <a:pPr algn="l"/>
                      <a:r>
                        <a:rPr sz="1100" b="1">
                          <a:solidFill>
                            <a:srgbClr val="F0E6D2"/>
                          </a:solidFill>
                          <a:latin typeface="맑은 고딕"/>
                        </a:rPr>
                        <a:t>지표</a:t>
                      </a:r>
                    </a:p>
                  </a:txBody>
                  <a:tcPr marL="91440" marR="91440" anchor="ctr">
                    <a:solidFill>
                      <a:srgbClr val="3C3F3E"/>
                    </a:solidFill>
                  </a:tcPr>
                </a:tc>
                <a:tc>
                  <a:txBody>
                    <a:bodyPr/>
                    <a:lstStyle/>
                    <a:p>
                      <a:pPr algn="ctr"/>
                      <a:r>
                        <a:rPr sz="1100" b="1">
                          <a:solidFill>
                            <a:srgbClr val="F0E6D2"/>
                          </a:solidFill>
                          <a:latin typeface="맑은 고딕"/>
                        </a:rPr>
                        <a:t>10분</a:t>
                      </a:r>
                    </a:p>
                  </a:txBody>
                  <a:tcPr marL="91440" marR="91440" anchor="ctr">
                    <a:solidFill>
                      <a:srgbClr val="3C3F3E"/>
                    </a:solidFill>
                  </a:tcPr>
                </a:tc>
                <a:tc>
                  <a:txBody>
                    <a:bodyPr/>
                    <a:lstStyle/>
                    <a:p>
                      <a:pPr algn="ctr"/>
                      <a:r>
                        <a:rPr sz="1100" b="1">
                          <a:solidFill>
                            <a:srgbClr val="F0E6D2"/>
                          </a:solidFill>
                          <a:latin typeface="맑은 고딕"/>
                        </a:rPr>
                        <a:t>15분</a:t>
                      </a:r>
                    </a:p>
                  </a:txBody>
                  <a:tcPr marL="91440" marR="91440" anchor="ctr">
                    <a:solidFill>
                      <a:srgbClr val="3C3F3E"/>
                    </a:solidFill>
                  </a:tcPr>
                </a:tc>
                <a:tc>
                  <a:txBody>
                    <a:bodyPr/>
                    <a:lstStyle/>
                    <a:p>
                      <a:pPr algn="ctr"/>
                      <a:r>
                        <a:rPr sz="1100" b="1">
                          <a:solidFill>
                            <a:srgbClr val="F0E6D2"/>
                          </a:solidFill>
                          <a:latin typeface="맑은 고딕"/>
                        </a:rPr>
                        <a:t>변화</a:t>
                      </a:r>
                    </a:p>
                  </a:txBody>
                  <a:tcPr marL="91440" marR="91440" anchor="ctr">
                    <a:solidFill>
                      <a:srgbClr val="3C3F3E"/>
                    </a:solidFill>
                  </a:tcPr>
                </a:tc>
              </a:tr>
              <a:tr h="329184">
                <a:tc>
                  <a:txBody>
                    <a:bodyPr/>
                    <a:lstStyle/>
                    <a:p>
                      <a:pPr algn="l"/>
                      <a:r>
                        <a:rPr sz="1100" b="0">
                          <a:solidFill>
                            <a:srgbClr val="C1BEB4"/>
                          </a:solidFill>
                          <a:latin typeface="맑은 고딕"/>
                        </a:rPr>
                        <a:t>GoldDiff</a:t>
                      </a:r>
                    </a:p>
                  </a:txBody>
                  <a:tcPr marL="91440" marR="91440" anchor="ctr">
                    <a:solidFill>
                      <a:srgbClr val="10223E"/>
                    </a:solidFill>
                  </a:tcPr>
                </a:tc>
                <a:tc>
                  <a:txBody>
                    <a:bodyPr/>
                    <a:lstStyle/>
                    <a:p>
                      <a:pPr algn="ctr"/>
                      <a:r>
                        <a:rPr sz="1100" b="0">
                          <a:solidFill>
                            <a:srgbClr val="C1BEB4"/>
                          </a:solidFill>
                          <a:latin typeface="맑은 고딕"/>
                        </a:rPr>
                        <a:t>0.913</a:t>
                      </a:r>
                    </a:p>
                  </a:txBody>
                  <a:tcPr marL="91440" marR="91440" anchor="ctr">
                    <a:solidFill>
                      <a:srgbClr val="10223E"/>
                    </a:solidFill>
                  </a:tcPr>
                </a:tc>
                <a:tc>
                  <a:txBody>
                    <a:bodyPr/>
                    <a:lstStyle/>
                    <a:p>
                      <a:pPr algn="ctr"/>
                      <a:r>
                        <a:rPr sz="1100" b="0">
                          <a:solidFill>
                            <a:srgbClr val="C1BEB4"/>
                          </a:solidFill>
                          <a:latin typeface="맑은 고딕"/>
                        </a:rPr>
                        <a:t>1.175</a:t>
                      </a:r>
                    </a:p>
                  </a:txBody>
                  <a:tcPr marL="91440" marR="91440" anchor="ctr">
                    <a:solidFill>
                      <a:srgbClr val="10223E"/>
                    </a:solidFill>
                  </a:tcPr>
                </a:tc>
                <a:tc>
                  <a:txBody>
                    <a:bodyPr/>
                    <a:lstStyle/>
                    <a:p>
                      <a:pPr algn="ctr"/>
                      <a:r>
                        <a:rPr sz="1100" b="0">
                          <a:solidFill>
                            <a:srgbClr val="C1BEB4"/>
                          </a:solidFill>
                          <a:latin typeface="맑은 고딕"/>
                        </a:rPr>
                        <a:t>+0.26</a:t>
                      </a:r>
                    </a:p>
                  </a:txBody>
                  <a:tcPr marL="91440" marR="91440" anchor="ctr">
                    <a:solidFill>
                      <a:srgbClr val="10223E"/>
                    </a:solidFill>
                  </a:tcPr>
                </a:tc>
              </a:tr>
              <a:tr h="329184">
                <a:tc>
                  <a:txBody>
                    <a:bodyPr/>
                    <a:lstStyle/>
                    <a:p>
                      <a:pPr algn="l"/>
                      <a:r>
                        <a:rPr sz="1100" b="0">
                          <a:solidFill>
                            <a:srgbClr val="C1BEB4"/>
                          </a:solidFill>
                          <a:latin typeface="맑은 고딕"/>
                        </a:rPr>
                        <a:t>ExpDiff</a:t>
                      </a:r>
                    </a:p>
                  </a:txBody>
                  <a:tcPr marL="91440" marR="91440" anchor="ctr">
                    <a:solidFill>
                      <a:srgbClr val="09172B"/>
                    </a:solidFill>
                  </a:tcPr>
                </a:tc>
                <a:tc>
                  <a:txBody>
                    <a:bodyPr/>
                    <a:lstStyle/>
                    <a:p>
                      <a:pPr algn="ctr"/>
                      <a:r>
                        <a:rPr sz="1100" b="0">
                          <a:solidFill>
                            <a:srgbClr val="C1BEB4"/>
                          </a:solidFill>
                          <a:latin typeface="맑은 고딕"/>
                        </a:rPr>
                        <a:t>0.165</a:t>
                      </a:r>
                    </a:p>
                  </a:txBody>
                  <a:tcPr marL="91440" marR="91440" anchor="ctr">
                    <a:solidFill>
                      <a:srgbClr val="09172B"/>
                    </a:solidFill>
                  </a:tcPr>
                </a:tc>
                <a:tc>
                  <a:txBody>
                    <a:bodyPr/>
                    <a:lstStyle/>
                    <a:p>
                      <a:pPr algn="ctr"/>
                      <a:r>
                        <a:rPr sz="1100" b="0">
                          <a:solidFill>
                            <a:srgbClr val="C1BEB4"/>
                          </a:solidFill>
                          <a:latin typeface="맑은 고딕"/>
                        </a:rPr>
                        <a:t>0.425</a:t>
                      </a:r>
                    </a:p>
                  </a:txBody>
                  <a:tcPr marL="91440" marR="91440" anchor="ctr">
                    <a:solidFill>
                      <a:srgbClr val="09172B"/>
                    </a:solidFill>
                  </a:tcPr>
                </a:tc>
                <a:tc>
                  <a:txBody>
                    <a:bodyPr/>
                    <a:lstStyle/>
                    <a:p>
                      <a:pPr algn="ctr"/>
                      <a:r>
                        <a:rPr sz="1100" b="0">
                          <a:solidFill>
                            <a:srgbClr val="C1BEB4"/>
                          </a:solidFill>
                          <a:latin typeface="맑은 고딕"/>
                        </a:rPr>
                        <a:t>+0.26</a:t>
                      </a:r>
                    </a:p>
                  </a:txBody>
                  <a:tcPr marL="91440" marR="91440" anchor="ctr">
                    <a:solidFill>
                      <a:srgbClr val="09172B"/>
                    </a:solidFill>
                  </a:tcPr>
                </a:tc>
              </a:tr>
              <a:tr h="329184">
                <a:tc>
                  <a:txBody>
                    <a:bodyPr/>
                    <a:lstStyle/>
                    <a:p>
                      <a:pPr algn="l"/>
                      <a:r>
                        <a:rPr sz="1100" b="0">
                          <a:solidFill>
                            <a:srgbClr val="C1BEB4"/>
                          </a:solidFill>
                          <a:latin typeface="맑은 고딕"/>
                        </a:rPr>
                        <a:t>CSDiff</a:t>
                      </a:r>
                    </a:p>
                  </a:txBody>
                  <a:tcPr marL="91440" marR="91440" anchor="ctr">
                    <a:solidFill>
                      <a:srgbClr val="10223E"/>
                    </a:solidFill>
                  </a:tcPr>
                </a:tc>
                <a:tc>
                  <a:txBody>
                    <a:bodyPr/>
                    <a:lstStyle/>
                    <a:p>
                      <a:pPr algn="ctr"/>
                      <a:r>
                        <a:rPr sz="1100" b="0">
                          <a:solidFill>
                            <a:srgbClr val="C1BEB4"/>
                          </a:solidFill>
                          <a:latin typeface="맑은 고딕"/>
                        </a:rPr>
                        <a:t>0.196</a:t>
                      </a:r>
                    </a:p>
                  </a:txBody>
                  <a:tcPr marL="91440" marR="91440" anchor="ctr">
                    <a:solidFill>
                      <a:srgbClr val="10223E"/>
                    </a:solidFill>
                  </a:tcPr>
                </a:tc>
                <a:tc>
                  <a:txBody>
                    <a:bodyPr/>
                    <a:lstStyle/>
                    <a:p>
                      <a:pPr algn="ctr"/>
                      <a:r>
                        <a:rPr sz="1100" b="0">
                          <a:solidFill>
                            <a:srgbClr val="C1BEB4"/>
                          </a:solidFill>
                          <a:latin typeface="맑은 고딕"/>
                        </a:rPr>
                        <a:t>0.102</a:t>
                      </a:r>
                    </a:p>
                  </a:txBody>
                  <a:tcPr marL="91440" marR="91440" anchor="ctr">
                    <a:solidFill>
                      <a:srgbClr val="10223E"/>
                    </a:solidFill>
                  </a:tcPr>
                </a:tc>
                <a:tc>
                  <a:txBody>
                    <a:bodyPr/>
                    <a:lstStyle/>
                    <a:p>
                      <a:pPr algn="ctr"/>
                      <a:r>
                        <a:rPr sz="1100" b="0">
                          <a:solidFill>
                            <a:srgbClr val="C1BEB4"/>
                          </a:solidFill>
                          <a:latin typeface="맑은 고딕"/>
                        </a:rPr>
                        <a:t>−0.09</a:t>
                      </a:r>
                    </a:p>
                  </a:txBody>
                  <a:tcPr marL="91440" marR="91440" anchor="ctr">
                    <a:solidFill>
                      <a:srgbClr val="10223E"/>
                    </a:solidFill>
                  </a:tcPr>
                </a:tc>
              </a:tr>
            </a:tbl>
          </a:graphicData>
        </a:graphic>
      </p:graphicFrame>
      <p:sp>
        <p:nvSpPr>
          <p:cNvPr id="23" name="Rectangle 22"/>
          <p:cNvSpPr/>
          <p:nvPr/>
        </p:nvSpPr>
        <p:spPr>
          <a:xfrm>
            <a:off x="7863840" y="4727936"/>
            <a:ext cx="3547872" cy="10972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0" y="4727936"/>
            <a:ext cx="45720" cy="10972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4727936"/>
            <a:ext cx="3090672" cy="1097280"/>
          </a:xfrm>
          <a:prstGeom prst="rect">
            <a:avLst/>
          </a:prstGeom>
          <a:noFill/>
        </p:spPr>
        <p:txBody>
          <a:bodyPr wrap="square" anchor="ctr" lIns="0" rIns="0" tIns="0" bIns="0">
            <a:spAutoFit/>
          </a:bodyPr>
          <a:lstStyle/>
          <a:p>
            <a:pPr algn="l">
              <a:lnSpc>
                <a:spcPct val="132000"/>
              </a:lnSpc>
              <a:spcAft>
                <a:spcPts val="0"/>
              </a:spcAft>
            </a:pPr>
            <a:r>
              <a:rPr sz="1100" b="1">
                <a:solidFill>
                  <a:srgbClr val="F0E6D2"/>
                </a:solidFill>
                <a:latin typeface="맑은 고딕"/>
              </a:rPr>
              <a:t>골드·경험치는 커지고 CS 는 줄어듭니다.</a:t>
            </a:r>
            <a:br>
              <a:rPr sz="1100" b="1">
                <a:solidFill>
                  <a:srgbClr val="F0E6D2"/>
                </a:solidFill>
                <a:latin typeface="맑은 고딕"/>
              </a:rPr>
            </a:br>
            <a:r>
              <a:rPr sz="1100" b="1">
                <a:solidFill>
                  <a:srgbClr val="F0E6D2"/>
                </a:solidFill>
                <a:latin typeface="맑은 고딕"/>
              </a:rPr>
              <a:t>라인전에서 미니언을 챙기는 단계가 지나고</a:t>
            </a:r>
            <a:br>
              <a:rPr sz="1100" b="1">
                <a:solidFill>
                  <a:srgbClr val="F0E6D2"/>
                </a:solidFill>
                <a:latin typeface="맑은 고딕"/>
              </a:rPr>
            </a:br>
            <a:r>
              <a:rPr sz="1100" b="1">
                <a:solidFill>
                  <a:srgbClr val="F0E6D2"/>
                </a:solidFill>
                <a:latin typeface="맑은 고딕"/>
              </a:rPr>
              <a:t>격차 자체가 승패를 말하는 단계로 넘어갑니다.</a:t>
            </a:r>
          </a:p>
        </p:txBody>
      </p:sp>
      <p:sp>
        <p:nvSpPr>
          <p:cNvPr id="26" name="TextBox 25"/>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reports/tables/repeat_experimentB.csv · expB_coef_shift.csv</a:t>
            </a:r>
          </a:p>
        </p:txBody>
      </p:sp>
      <p:sp>
        <p:nvSpPr>
          <p:cNvPr id="27" name="TextBox 26"/>
          <p:cNvSpPr txBox="1"/>
          <p:nvPr/>
        </p:nvSpPr>
        <p:spPr>
          <a:xfrm>
            <a:off x="10972800" y="6574536"/>
            <a:ext cx="868680" cy="201168"/>
          </a:xfrm>
          <a:prstGeom prst="rect">
            <a:avLst/>
          </a:prstGeom>
          <a:noFill/>
        </p:spPr>
        <p:txBody>
          <a:bodyPr wrap="square" anchor="ctr" lIns="0" rIns="0" tIns="0" bIns="0">
            <a:spAutoFit/>
          </a:bodyPr>
          <a:lstStyle/>
          <a:p>
            <a:pPr algn="r"/>
            <a:fld id="{F2005846-FF5A-40F4-9002-2C173E52FC74}" type="slidenum">
              <a:rPr lang="ko-KR" sz="950">
                <a:solidFill>
                  <a:srgbClr val="73726E"/>
                </a:solidFill>
                <a:latin typeface="맑은 고딕"/>
                <a:ea typeface="맑은 고딕"/>
              </a:rPr>
              <a:t>41</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구간별 이득 분석 — 접전에 집중</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19" y="1280160"/>
            <a:ext cx="6675120" cy="3337560"/>
          </a:xfrm>
          <a:prstGeom prst="rect">
            <a:avLst/>
          </a:prstGeom>
          <a:solidFill>
            <a:srgbClr val="5F5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328995"/>
            <a:ext cx="6583680" cy="3246120"/>
          </a:xfrm>
          <a:prstGeom prst="rect">
            <a:avLst/>
          </a:prstGeom>
          <a:solidFill>
            <a:srgbClr val="F5F2EB"/>
          </a:solidFill>
          <a:ln w="15875">
            <a:solidFill>
              <a:srgbClr val="C89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z_5_close_games.png"/>
          <p:cNvPicPr>
            <a:picLocks noChangeAspect="1"/>
          </p:cNvPicPr>
          <p:nvPr/>
        </p:nvPicPr>
        <p:blipFill>
          <a:blip r:embed="rId3"/>
          <a:stretch>
            <a:fillRect/>
          </a:stretch>
        </p:blipFill>
        <p:spPr>
          <a:xfrm>
            <a:off x="968594" y="1446200"/>
            <a:ext cx="6200970" cy="3026663"/>
          </a:xfrm>
          <a:prstGeom prst="rect">
            <a:avLst/>
          </a:prstGeom>
        </p:spPr>
      </p:pic>
      <p:sp>
        <p:nvSpPr>
          <p:cNvPr id="18" name="TextBox 17"/>
          <p:cNvSpPr txBox="1"/>
          <p:nvPr/>
        </p:nvSpPr>
        <p:spPr>
          <a:xfrm>
            <a:off x="777240" y="4923277"/>
            <a:ext cx="6583680" cy="274320"/>
          </a:xfrm>
          <a:prstGeom prst="rect">
            <a:avLst/>
          </a:prstGeom>
          <a:noFill/>
        </p:spPr>
        <p:txBody>
          <a:bodyPr wrap="square" anchor="t" lIns="0" rIns="0" tIns="0" bIns="0">
            <a:spAutoFit/>
          </a:bodyPr>
          <a:lstStyle/>
          <a:p>
            <a:pPr algn="ctr">
              <a:lnSpc>
                <a:spcPct val="125000"/>
              </a:lnSpc>
              <a:spcAft>
                <a:spcPts val="0"/>
              </a:spcAft>
            </a:pPr>
            <a:r>
              <a:rPr sz="1050" b="0">
                <a:solidFill>
                  <a:srgbClr val="85837A"/>
                </a:solidFill>
                <a:latin typeface="맑은 고딕"/>
              </a:rPr>
              <a:t>10분에 어떤 상황이었느냐로 나눠, 5분을 더 봤을 때 얼마나 나아지는지</a:t>
            </a:r>
          </a:p>
        </p:txBody>
      </p:sp>
      <p:graphicFrame>
        <p:nvGraphicFramePr>
          <p:cNvPr id="19" name="Table 18"/>
          <p:cNvGraphicFramePr>
            <a:graphicFrameLocks noGrp="1"/>
          </p:cNvGraphicFramePr>
          <p:nvPr/>
        </p:nvGraphicFramePr>
        <p:xfrm>
          <a:off x="7589520" y="1328995"/>
          <a:ext cx="3822189" cy="1609344"/>
        </p:xfrm>
        <a:graphic>
          <a:graphicData uri="http://schemas.openxmlformats.org/drawingml/2006/table">
            <a:tbl>
              <a:tblPr>
                <a:tableStyleId>{5C22544A-7EE6-4342-B048-85BDC9FD1C3A}</a:tableStyleId>
              </a:tblPr>
              <a:tblGrid>
                <a:gridCol w="1260063"/>
                <a:gridCol w="672033"/>
                <a:gridCol w="588029"/>
                <a:gridCol w="588029"/>
                <a:gridCol w="714035"/>
              </a:tblGrid>
              <a:tr h="402336">
                <a:tc>
                  <a:txBody>
                    <a:bodyPr/>
                    <a:lstStyle/>
                    <a:p>
                      <a:pPr algn="l"/>
                      <a:r>
                        <a:rPr sz="1050" b="1">
                          <a:solidFill>
                            <a:srgbClr val="F0E6D2"/>
                          </a:solidFill>
                          <a:latin typeface="맑은 고딕"/>
                        </a:rPr>
                        <a:t>10분 상황</a:t>
                      </a:r>
                    </a:p>
                  </a:txBody>
                  <a:tcPr marL="91440" marR="91440" anchor="ctr">
                    <a:solidFill>
                      <a:srgbClr val="3C3F3E"/>
                    </a:solidFill>
                  </a:tcPr>
                </a:tc>
                <a:tc>
                  <a:txBody>
                    <a:bodyPr/>
                    <a:lstStyle/>
                    <a:p>
                      <a:pPr algn="ctr"/>
                      <a:r>
                        <a:rPr sz="1050" b="1">
                          <a:solidFill>
                            <a:srgbClr val="F0E6D2"/>
                          </a:solidFill>
                          <a:latin typeface="맑은 고딕"/>
                        </a:rPr>
                        <a:t>비중</a:t>
                      </a:r>
                    </a:p>
                  </a:txBody>
                  <a:tcPr marL="91440" marR="91440" anchor="ctr">
                    <a:solidFill>
                      <a:srgbClr val="3C3F3E"/>
                    </a:solidFill>
                  </a:tcPr>
                </a:tc>
                <a:tc>
                  <a:txBody>
                    <a:bodyPr/>
                    <a:lstStyle/>
                    <a:p>
                      <a:pPr algn="ctr"/>
                      <a:r>
                        <a:rPr sz="1050" b="1">
                          <a:solidFill>
                            <a:srgbClr val="F0E6D2"/>
                          </a:solidFill>
                          <a:latin typeface="맑은 고딕"/>
                        </a:rPr>
                        <a:t>10분</a:t>
                      </a:r>
                    </a:p>
                  </a:txBody>
                  <a:tcPr marL="91440" marR="91440" anchor="ctr">
                    <a:solidFill>
                      <a:srgbClr val="3C3F3E"/>
                    </a:solidFill>
                  </a:tcPr>
                </a:tc>
                <a:tc>
                  <a:txBody>
                    <a:bodyPr/>
                    <a:lstStyle/>
                    <a:p>
                      <a:pPr algn="ctr"/>
                      <a:r>
                        <a:rPr sz="1050" b="1">
                          <a:solidFill>
                            <a:srgbClr val="F0E6D2"/>
                          </a:solidFill>
                          <a:latin typeface="맑은 고딕"/>
                        </a:rPr>
                        <a:t>15분</a:t>
                      </a:r>
                    </a:p>
                  </a:txBody>
                  <a:tcPr marL="91440" marR="91440" anchor="ctr">
                    <a:solidFill>
                      <a:srgbClr val="3C3F3E"/>
                    </a:solidFill>
                  </a:tcPr>
                </a:tc>
                <a:tc>
                  <a:txBody>
                    <a:bodyPr/>
                    <a:lstStyle/>
                    <a:p>
                      <a:pPr algn="ctr"/>
                      <a:r>
                        <a:rPr sz="1050" b="1">
                          <a:solidFill>
                            <a:srgbClr val="F0E6D2"/>
                          </a:solidFill>
                          <a:latin typeface="맑은 고딕"/>
                        </a:rPr>
                        <a:t>개선</a:t>
                      </a:r>
                    </a:p>
                  </a:txBody>
                  <a:tcPr marL="91440" marR="91440" anchor="ctr">
                    <a:solidFill>
                      <a:srgbClr val="3C3F3E"/>
                    </a:solidFill>
                  </a:tcPr>
                </a:tc>
              </a:tr>
              <a:tr h="402336">
                <a:tc>
                  <a:txBody>
                    <a:bodyPr/>
                    <a:lstStyle/>
                    <a:p>
                      <a:pPr algn="l"/>
                      <a:r>
                        <a:rPr sz="1050" b="1">
                          <a:solidFill>
                            <a:srgbClr val="F0E6D2"/>
                          </a:solidFill>
                          <a:latin typeface="맑은 고딕"/>
                        </a:rPr>
                        <a:t>팽팽함 (&lt; 1,000)</a:t>
                      </a:r>
                    </a:p>
                  </a:txBody>
                  <a:tcPr marL="91440" marR="91440" anchor="ctr">
                    <a:solidFill>
                      <a:srgbClr val="2D353E"/>
                    </a:solidFill>
                  </a:tcPr>
                </a:tc>
                <a:tc>
                  <a:txBody>
                    <a:bodyPr/>
                    <a:lstStyle/>
                    <a:p>
                      <a:pPr algn="ctr"/>
                      <a:r>
                        <a:rPr sz="1050" b="1">
                          <a:solidFill>
                            <a:srgbClr val="F0E6D2"/>
                          </a:solidFill>
                          <a:latin typeface="맑은 고딕"/>
                        </a:rPr>
                        <a:t>52.1 %</a:t>
                      </a:r>
                    </a:p>
                  </a:txBody>
                  <a:tcPr marL="91440" marR="91440" anchor="ctr">
                    <a:solidFill>
                      <a:srgbClr val="2D353E"/>
                    </a:solidFill>
                  </a:tcPr>
                </a:tc>
                <a:tc>
                  <a:txBody>
                    <a:bodyPr/>
                    <a:lstStyle/>
                    <a:p>
                      <a:pPr algn="ctr"/>
                      <a:r>
                        <a:rPr sz="1050" b="1">
                          <a:solidFill>
                            <a:srgbClr val="F0E6D2"/>
                          </a:solidFill>
                          <a:latin typeface="맑은 고딕"/>
                        </a:rPr>
                        <a:t>0.617</a:t>
                      </a:r>
                    </a:p>
                  </a:txBody>
                  <a:tcPr marL="91440" marR="91440" anchor="ctr">
                    <a:solidFill>
                      <a:srgbClr val="2D353E"/>
                    </a:solidFill>
                  </a:tcPr>
                </a:tc>
                <a:tc>
                  <a:txBody>
                    <a:bodyPr/>
                    <a:lstStyle/>
                    <a:p>
                      <a:pPr algn="ctr"/>
                      <a:r>
                        <a:rPr sz="1050" b="1">
                          <a:solidFill>
                            <a:srgbClr val="F0E6D2"/>
                          </a:solidFill>
                          <a:latin typeface="맑은 고딕"/>
                        </a:rPr>
                        <a:t>0.696</a:t>
                      </a:r>
                    </a:p>
                  </a:txBody>
                  <a:tcPr marL="91440" marR="91440" anchor="ctr">
                    <a:solidFill>
                      <a:srgbClr val="2D353E"/>
                    </a:solidFill>
                  </a:tcPr>
                </a:tc>
                <a:tc>
                  <a:txBody>
                    <a:bodyPr/>
                    <a:lstStyle/>
                    <a:p>
                      <a:pPr algn="ctr"/>
                      <a:r>
                        <a:rPr sz="1050" b="1">
                          <a:solidFill>
                            <a:srgbClr val="F0E6D2"/>
                          </a:solidFill>
                          <a:latin typeface="맑은 고딕"/>
                        </a:rPr>
                        <a:t>+7.8%p</a:t>
                      </a:r>
                    </a:p>
                  </a:txBody>
                  <a:tcPr marL="91440" marR="91440" anchor="ctr">
                    <a:solidFill>
                      <a:srgbClr val="2D353E"/>
                    </a:solidFill>
                  </a:tcPr>
                </a:tc>
              </a:tr>
              <a:tr h="402336">
                <a:tc>
                  <a:txBody>
                    <a:bodyPr/>
                    <a:lstStyle/>
                    <a:p>
                      <a:pPr algn="l"/>
                      <a:r>
                        <a:rPr sz="1050" b="0">
                          <a:solidFill>
                            <a:srgbClr val="C1BEB4"/>
                          </a:solidFill>
                          <a:latin typeface="맑은 고딕"/>
                        </a:rPr>
                        <a:t>조금 앞섬</a:t>
                      </a:r>
                    </a:p>
                  </a:txBody>
                  <a:tcPr marL="91440" marR="91440" anchor="ctr">
                    <a:solidFill>
                      <a:srgbClr val="09172B"/>
                    </a:solidFill>
                  </a:tcPr>
                </a:tc>
                <a:tc>
                  <a:txBody>
                    <a:bodyPr/>
                    <a:lstStyle/>
                    <a:p>
                      <a:pPr algn="ctr"/>
                      <a:r>
                        <a:rPr sz="1050" b="0">
                          <a:solidFill>
                            <a:srgbClr val="C1BEB4"/>
                          </a:solidFill>
                          <a:latin typeface="맑은 고딕"/>
                        </a:rPr>
                        <a:t>37.5 %</a:t>
                      </a:r>
                    </a:p>
                  </a:txBody>
                  <a:tcPr marL="91440" marR="91440" anchor="ctr">
                    <a:solidFill>
                      <a:srgbClr val="09172B"/>
                    </a:solidFill>
                  </a:tcPr>
                </a:tc>
                <a:tc>
                  <a:txBody>
                    <a:bodyPr/>
                    <a:lstStyle/>
                    <a:p>
                      <a:pPr algn="ctr"/>
                      <a:r>
                        <a:rPr sz="1050" b="0">
                          <a:solidFill>
                            <a:srgbClr val="C1BEB4"/>
                          </a:solidFill>
                          <a:latin typeface="맑은 고딕"/>
                        </a:rPr>
                        <a:t>0.761</a:t>
                      </a:r>
                    </a:p>
                  </a:txBody>
                  <a:tcPr marL="91440" marR="91440" anchor="ctr">
                    <a:solidFill>
                      <a:srgbClr val="09172B"/>
                    </a:solidFill>
                  </a:tcPr>
                </a:tc>
                <a:tc>
                  <a:txBody>
                    <a:bodyPr/>
                    <a:lstStyle/>
                    <a:p>
                      <a:pPr algn="ctr"/>
                      <a:r>
                        <a:rPr sz="1050" b="0">
                          <a:solidFill>
                            <a:srgbClr val="C1BEB4"/>
                          </a:solidFill>
                          <a:latin typeface="맑은 고딕"/>
                        </a:rPr>
                        <a:t>0.793</a:t>
                      </a:r>
                    </a:p>
                  </a:txBody>
                  <a:tcPr marL="91440" marR="91440" anchor="ctr">
                    <a:solidFill>
                      <a:srgbClr val="09172B"/>
                    </a:solidFill>
                  </a:tcPr>
                </a:tc>
                <a:tc>
                  <a:txBody>
                    <a:bodyPr/>
                    <a:lstStyle/>
                    <a:p>
                      <a:pPr algn="ctr"/>
                      <a:r>
                        <a:rPr sz="1050" b="0">
                          <a:solidFill>
                            <a:srgbClr val="C1BEB4"/>
                          </a:solidFill>
                          <a:latin typeface="맑은 고딕"/>
                        </a:rPr>
                        <a:t>+3.1%p</a:t>
                      </a:r>
                    </a:p>
                  </a:txBody>
                  <a:tcPr marL="91440" marR="91440" anchor="ctr">
                    <a:solidFill>
                      <a:srgbClr val="09172B"/>
                    </a:solidFill>
                  </a:tcPr>
                </a:tc>
              </a:tr>
              <a:tr h="402336">
                <a:tc>
                  <a:txBody>
                    <a:bodyPr/>
                    <a:lstStyle/>
                    <a:p>
                      <a:pPr algn="l"/>
                      <a:r>
                        <a:rPr sz="1050" b="1">
                          <a:solidFill>
                            <a:srgbClr val="F0E6D2"/>
                          </a:solidFill>
                          <a:latin typeface="맑은 고딕"/>
                        </a:rPr>
                        <a:t>많이 앞섬 (2,500+)</a:t>
                      </a:r>
                    </a:p>
                  </a:txBody>
                  <a:tcPr marL="91440" marR="91440" anchor="ctr">
                    <a:solidFill>
                      <a:srgbClr val="2D353E"/>
                    </a:solidFill>
                  </a:tcPr>
                </a:tc>
                <a:tc>
                  <a:txBody>
                    <a:bodyPr/>
                    <a:lstStyle/>
                    <a:p>
                      <a:pPr algn="ctr"/>
                      <a:r>
                        <a:rPr sz="1050" b="1">
                          <a:solidFill>
                            <a:srgbClr val="F0E6D2"/>
                          </a:solidFill>
                          <a:latin typeface="맑은 고딕"/>
                        </a:rPr>
                        <a:t>10.4 %</a:t>
                      </a:r>
                    </a:p>
                  </a:txBody>
                  <a:tcPr marL="91440" marR="91440" anchor="ctr">
                    <a:solidFill>
                      <a:srgbClr val="2D353E"/>
                    </a:solidFill>
                  </a:tcPr>
                </a:tc>
                <a:tc>
                  <a:txBody>
                    <a:bodyPr/>
                    <a:lstStyle/>
                    <a:p>
                      <a:pPr algn="ctr"/>
                      <a:r>
                        <a:rPr sz="1050" b="1">
                          <a:solidFill>
                            <a:srgbClr val="F0E6D2"/>
                          </a:solidFill>
                          <a:latin typeface="맑은 고딕"/>
                        </a:rPr>
                        <a:t>0.928</a:t>
                      </a:r>
                    </a:p>
                  </a:txBody>
                  <a:tcPr marL="91440" marR="91440" anchor="ctr">
                    <a:solidFill>
                      <a:srgbClr val="2D353E"/>
                    </a:solidFill>
                  </a:tcPr>
                </a:tc>
                <a:tc>
                  <a:txBody>
                    <a:bodyPr/>
                    <a:lstStyle/>
                    <a:p>
                      <a:pPr algn="ctr"/>
                      <a:r>
                        <a:rPr sz="1050" b="1">
                          <a:solidFill>
                            <a:srgbClr val="F0E6D2"/>
                          </a:solidFill>
                          <a:latin typeface="맑은 고딕"/>
                        </a:rPr>
                        <a:t>0.928</a:t>
                      </a:r>
                    </a:p>
                  </a:txBody>
                  <a:tcPr marL="91440" marR="91440" anchor="ctr">
                    <a:solidFill>
                      <a:srgbClr val="2D353E"/>
                    </a:solidFill>
                  </a:tcPr>
                </a:tc>
                <a:tc>
                  <a:txBody>
                    <a:bodyPr/>
                    <a:lstStyle/>
                    <a:p>
                      <a:pPr algn="ctr"/>
                      <a:r>
                        <a:rPr sz="1050" b="1">
                          <a:solidFill>
                            <a:srgbClr val="F0E6D2"/>
                          </a:solidFill>
                          <a:latin typeface="맑은 고딕"/>
                        </a:rPr>
                        <a:t>±0.0%p</a:t>
                      </a:r>
                    </a:p>
                  </a:txBody>
                  <a:tcPr marL="91440" marR="91440" anchor="ctr">
                    <a:solidFill>
                      <a:srgbClr val="2D353E"/>
                    </a:solidFill>
                  </a:tcPr>
                </a:tc>
              </a:tr>
            </a:tbl>
          </a:graphicData>
        </a:graphic>
      </p:graphicFrame>
      <p:sp>
        <p:nvSpPr>
          <p:cNvPr id="20" name="Rectangle 19"/>
          <p:cNvSpPr/>
          <p:nvPr/>
        </p:nvSpPr>
        <p:spPr>
          <a:xfrm>
            <a:off x="7589520" y="3409381"/>
            <a:ext cx="3822191" cy="155448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3409381"/>
            <a:ext cx="45720" cy="15544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7264" y="3409381"/>
            <a:ext cx="3364991" cy="1554480"/>
          </a:xfrm>
          <a:prstGeom prst="rect">
            <a:avLst/>
          </a:prstGeom>
          <a:noFill/>
        </p:spPr>
        <p:txBody>
          <a:bodyPr wrap="square" anchor="ctr" lIns="0" rIns="0" tIns="0" bIns="0">
            <a:spAutoFit/>
          </a:bodyPr>
          <a:lstStyle/>
          <a:p>
            <a:pPr algn="l">
              <a:lnSpc>
                <a:spcPct val="132000"/>
              </a:lnSpc>
              <a:spcAft>
                <a:spcPts val="0"/>
              </a:spcAft>
            </a:pPr>
            <a:r>
              <a:rPr sz="1150" b="1">
                <a:solidFill>
                  <a:srgbClr val="F0E6D2"/>
                </a:solidFill>
                <a:latin typeface="맑은 고딕"/>
              </a:rPr>
              <a:t>이미 크게 벌어진 경기는</a:t>
            </a:r>
            <a:br>
              <a:rPr sz="1150" b="1">
                <a:solidFill>
                  <a:srgbClr val="F0E6D2"/>
                </a:solidFill>
                <a:latin typeface="맑은 고딕"/>
              </a:rPr>
            </a:br>
            <a:r>
              <a:rPr sz="1150" b="1">
                <a:solidFill>
                  <a:srgbClr val="F0E6D2"/>
                </a:solidFill>
                <a:latin typeface="맑은 고딕"/>
              </a:rPr>
              <a:t>5분을 더 봐도 변화가 정확히 0.</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반면 팽팽한 경기는 +7.8%p.</a:t>
            </a:r>
            <a:br>
              <a:rPr sz="1150" b="1">
                <a:solidFill>
                  <a:srgbClr val="F0E6D2"/>
                </a:solidFill>
                <a:latin typeface="맑은 고딕"/>
              </a:rPr>
            </a:br>
            <a:r>
              <a:rPr sz="1150" b="1">
                <a:solidFill>
                  <a:srgbClr val="F0E6D2"/>
                </a:solidFill>
                <a:latin typeface="맑은 고딕"/>
              </a:rPr>
              <a:t/>
            </a:r>
            <a:br>
              <a:rPr sz="1150" b="1">
                <a:solidFill>
                  <a:srgbClr val="F0E6D2"/>
                </a:solidFill>
                <a:latin typeface="맑은 고딕"/>
              </a:rPr>
            </a:br>
            <a:r>
              <a:rPr sz="1150" b="1">
                <a:solidFill>
                  <a:srgbClr val="F0E6D2"/>
                </a:solidFill>
                <a:latin typeface="맑은 고딕"/>
              </a:rPr>
              <a:t>10분에 팽팽했던 경기의 59% 가</a:t>
            </a:r>
            <a:br>
              <a:rPr sz="1150" b="1">
                <a:solidFill>
                  <a:srgbClr val="F0E6D2"/>
                </a:solidFill>
                <a:latin typeface="맑은 고딕"/>
              </a:rPr>
            </a:br>
            <a:r>
              <a:rPr sz="1150" b="1">
                <a:solidFill>
                  <a:srgbClr val="F0E6D2"/>
                </a:solidFill>
                <a:latin typeface="맑은 고딕"/>
              </a:rPr>
              <a:t>그 5분 사이에 한쪽으로 기웁니다.</a:t>
            </a:r>
          </a:p>
        </p:txBody>
      </p:sp>
      <p:sp>
        <p:nvSpPr>
          <p:cNvPr id="23" name="TextBox 22"/>
          <p:cNvSpPr txBox="1"/>
          <p:nvPr/>
        </p:nvSpPr>
        <p:spPr>
          <a:xfrm>
            <a:off x="777240" y="5313960"/>
            <a:ext cx="6583680" cy="896111"/>
          </a:xfrm>
          <a:prstGeom prst="rect">
            <a:avLst/>
          </a:prstGeom>
          <a:noFill/>
        </p:spPr>
        <p:txBody>
          <a:bodyPr wrap="square" anchor="t" lIns="0" rIns="0" tIns="0" bIns="0">
            <a:spAutoFit/>
          </a:bodyPr>
          <a:lstStyle/>
          <a:p>
            <a:pPr algn="l">
              <a:lnSpc>
                <a:spcPct val="132000"/>
              </a:lnSpc>
              <a:spcAft>
                <a:spcPts val="600"/>
              </a:spcAft>
            </a:pPr>
            <a:r>
              <a:rPr sz="1250" b="1">
                <a:solidFill>
                  <a:srgbClr val="F0E6D2"/>
                </a:solidFill>
                <a:latin typeface="맑은 고딕"/>
              </a:rPr>
              <a:t>◆  "5분 더 보면 좋다"가 아니라 "팽팽할 때만 5분이 값어치가 있다"가 정확한 결론</a:t>
            </a:r>
          </a:p>
          <a:p>
            <a:pPr algn="l">
              <a:lnSpc>
                <a:spcPct val="130000"/>
              </a:lnSpc>
              <a:spcAft>
                <a:spcPts val="300"/>
              </a:spcAft>
            </a:pPr>
            <a:r>
              <a:rPr sz="950" b="0">
                <a:solidFill>
                  <a:srgbClr val="8E8B80"/>
                </a:solidFill>
                <a:latin typeface="맑은 고딕"/>
              </a:rPr>
              <a:t>     이미 결판난 경기는 더 볼 것이 없고, 아직 안 갈린 경기에서만 새 정보가 생긴다</a:t>
            </a:r>
          </a:p>
        </p:txBody>
      </p:sp>
      <p:sp>
        <p:nvSpPr>
          <p:cNvPr id="24" name="TextBox 23"/>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reports/tables/expB_close_games.csv</a:t>
            </a:r>
          </a:p>
        </p:txBody>
      </p:sp>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01048B9B-7360-44CF-89FA-7B476BB252FB}" type="slidenum">
              <a:rPr lang="ko-KR" sz="950">
                <a:solidFill>
                  <a:srgbClr val="73726E"/>
                </a:solidFill>
                <a:latin typeface="맑은 고딕"/>
                <a:ea typeface="맑은 고딕"/>
              </a:rPr>
              <a:t>42</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4. Phase 3   |   </a:t>
            </a:r>
            <a:r>
              <a:rPr sz="2500" b="1" spc="80">
                <a:solidFill>
                  <a:srgbClr val="F0E6D2"/>
                </a:solidFill>
                <a:latin typeface="맑은 고딕"/>
              </a:rPr>
              <a:t>종합 — 경기는 언제 결정되는가</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600200"/>
            <a:ext cx="10634472" cy="1325880"/>
          </a:xfrm>
          <a:prstGeom prst="rect">
            <a:avLst/>
          </a:prstGeom>
          <a:solidFill>
            <a:srgbClr val="2A333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600200"/>
            <a:ext cx="45720" cy="132588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1600200"/>
            <a:ext cx="10058400" cy="1325880"/>
          </a:xfrm>
          <a:prstGeom prst="rect">
            <a:avLst/>
          </a:prstGeom>
          <a:noFill/>
        </p:spPr>
        <p:txBody>
          <a:bodyPr wrap="square" anchor="ctr" lIns="0" rIns="0" tIns="0" bIns="0">
            <a:spAutoFit/>
          </a:bodyPr>
          <a:lstStyle/>
          <a:p>
            <a:pPr algn="l">
              <a:lnSpc>
                <a:spcPct val="125000"/>
              </a:lnSpc>
              <a:spcAft>
                <a:spcPts val="800"/>
              </a:spcAft>
            </a:pPr>
            <a:r>
              <a:rPr sz="2000" b="1">
                <a:solidFill>
                  <a:srgbClr val="F0E6D2"/>
                </a:solidFill>
                <a:latin typeface="맑은 고딕"/>
              </a:rPr>
              <a:t>경기의 약 10% 는 10분에 이미 사실상 결판나 있고,</a:t>
            </a:r>
          </a:p>
          <a:p>
            <a:pPr algn="l">
              <a:lnSpc>
                <a:spcPct val="125000"/>
              </a:lnSpc>
              <a:spcAft>
                <a:spcPts val="0"/>
              </a:spcAft>
            </a:pPr>
            <a:r>
              <a:rPr sz="2000" b="1">
                <a:solidFill>
                  <a:srgbClr val="F0E6D2"/>
                </a:solidFill>
                <a:latin typeface="맑은 고딕"/>
              </a:rPr>
              <a:t>절반쯤 되는 팽팽한 경기는 그 6할이 10~15분 사이에 갈립니다.</a:t>
            </a:r>
          </a:p>
        </p:txBody>
      </p:sp>
      <p:sp>
        <p:nvSpPr>
          <p:cNvPr id="17" name="Rectangle 16"/>
          <p:cNvSpPr/>
          <p:nvPr/>
        </p:nvSpPr>
        <p:spPr>
          <a:xfrm>
            <a:off x="777240" y="3154680"/>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154680"/>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이미 끝난 경기</a:t>
            </a:r>
          </a:p>
        </p:txBody>
      </p:sp>
      <p:sp>
        <p:nvSpPr>
          <p:cNvPr id="19" name="TextBox 18"/>
          <p:cNvSpPr txBox="1"/>
          <p:nvPr/>
        </p:nvSpPr>
        <p:spPr>
          <a:xfrm>
            <a:off x="3840480" y="3154680"/>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10%</a:t>
            </a:r>
          </a:p>
        </p:txBody>
      </p:sp>
      <p:sp>
        <p:nvSpPr>
          <p:cNvPr id="20" name="TextBox 19"/>
          <p:cNvSpPr txBox="1"/>
          <p:nvPr/>
        </p:nvSpPr>
        <p:spPr>
          <a:xfrm>
            <a:off x="5486400" y="3154680"/>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10분 골드차 2,500+ · 5분을 더 봐도 정확도 변화 ±0.0%p</a:t>
            </a:r>
          </a:p>
        </p:txBody>
      </p:sp>
      <p:sp>
        <p:nvSpPr>
          <p:cNvPr id="21" name="Rectangle 20"/>
          <p:cNvSpPr/>
          <p:nvPr/>
        </p:nvSpPr>
        <p:spPr>
          <a:xfrm>
            <a:off x="777240" y="3959352"/>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959352"/>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아직 안 갈린 경기</a:t>
            </a:r>
          </a:p>
        </p:txBody>
      </p:sp>
      <p:sp>
        <p:nvSpPr>
          <p:cNvPr id="23" name="TextBox 22"/>
          <p:cNvSpPr txBox="1"/>
          <p:nvPr/>
        </p:nvSpPr>
        <p:spPr>
          <a:xfrm>
            <a:off x="3840480" y="3959352"/>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52%</a:t>
            </a:r>
          </a:p>
        </p:txBody>
      </p:sp>
      <p:sp>
        <p:nvSpPr>
          <p:cNvPr id="24" name="TextBox 23"/>
          <p:cNvSpPr txBox="1"/>
          <p:nvPr/>
        </p:nvSpPr>
        <p:spPr>
          <a:xfrm>
            <a:off x="5486400" y="3959352"/>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10분 골드차 1,000 미만 · 그중 59% 가 10~15분에 기운다</a:t>
            </a:r>
          </a:p>
        </p:txBody>
      </p:sp>
      <p:sp>
        <p:nvSpPr>
          <p:cNvPr id="25" name="Rectangle 24"/>
          <p:cNvSpPr/>
          <p:nvPr/>
        </p:nvSpPr>
        <p:spPr>
          <a:xfrm>
            <a:off x="777240" y="4764024"/>
            <a:ext cx="10634472" cy="713232"/>
          </a:xfrm>
          <a:prstGeom prst="rect">
            <a:avLst/>
          </a:prstGeom>
          <a:solidFill>
            <a:srgbClr val="10223E">
              <a:alpha val="88000"/>
            </a:srgbClr>
          </a:solidFill>
          <a:ln w="12700">
            <a:solidFill>
              <a:srgbClr val="5F51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764024"/>
            <a:ext cx="2743200" cy="713232"/>
          </a:xfrm>
          <a:prstGeom prst="rect">
            <a:avLst/>
          </a:prstGeom>
          <a:noFill/>
        </p:spPr>
        <p:txBody>
          <a:bodyPr wrap="square" anchor="ctr" lIns="0" rIns="0" tIns="0" bIns="0">
            <a:spAutoFit/>
          </a:bodyPr>
          <a:lstStyle/>
          <a:p>
            <a:pPr algn="l">
              <a:lnSpc>
                <a:spcPct val="125000"/>
              </a:lnSpc>
              <a:spcAft>
                <a:spcPts val="0"/>
              </a:spcAft>
            </a:pPr>
            <a:r>
              <a:rPr sz="1500" b="1">
                <a:solidFill>
                  <a:srgbClr val="F0E6D2"/>
                </a:solidFill>
                <a:latin typeface="맑은 고딕"/>
              </a:rPr>
              <a:t>그 사이</a:t>
            </a:r>
          </a:p>
        </p:txBody>
      </p:sp>
      <p:sp>
        <p:nvSpPr>
          <p:cNvPr id="27" name="TextBox 26"/>
          <p:cNvSpPr txBox="1"/>
          <p:nvPr/>
        </p:nvSpPr>
        <p:spPr>
          <a:xfrm>
            <a:off x="3840480" y="4764024"/>
            <a:ext cx="1463040" cy="713232"/>
          </a:xfrm>
          <a:prstGeom prst="rect">
            <a:avLst/>
          </a:prstGeom>
          <a:noFill/>
        </p:spPr>
        <p:txBody>
          <a:bodyPr wrap="square" anchor="ctr" lIns="0" rIns="0" tIns="0" bIns="0">
            <a:spAutoFit/>
          </a:bodyPr>
          <a:lstStyle/>
          <a:p>
            <a:pPr algn="ctr">
              <a:lnSpc>
                <a:spcPct val="125000"/>
              </a:lnSpc>
              <a:spcAft>
                <a:spcPts val="0"/>
              </a:spcAft>
            </a:pPr>
            <a:r>
              <a:rPr sz="1700" b="1">
                <a:solidFill>
                  <a:srgbClr val="C89B3C"/>
                </a:solidFill>
                <a:latin typeface="맑은 고딕"/>
              </a:rPr>
              <a:t>약 38%</a:t>
            </a:r>
          </a:p>
        </p:txBody>
      </p:sp>
      <p:sp>
        <p:nvSpPr>
          <p:cNvPr id="28" name="TextBox 27"/>
          <p:cNvSpPr txBox="1"/>
          <p:nvPr/>
        </p:nvSpPr>
        <p:spPr>
          <a:xfrm>
            <a:off x="5486400" y="4764024"/>
            <a:ext cx="5760720" cy="713232"/>
          </a:xfrm>
          <a:prstGeom prst="rect">
            <a:avLst/>
          </a:prstGeom>
          <a:noFill/>
        </p:spPr>
        <p:txBody>
          <a:bodyPr wrap="square" anchor="ctr" lIns="0" rIns="0" tIns="0" bIns="0">
            <a:spAutoFit/>
          </a:bodyPr>
          <a:lstStyle/>
          <a:p>
            <a:pPr algn="l">
              <a:lnSpc>
                <a:spcPct val="125000"/>
              </a:lnSpc>
              <a:spcAft>
                <a:spcPts val="0"/>
              </a:spcAft>
            </a:pPr>
            <a:r>
              <a:rPr sz="1250" b="0">
                <a:solidFill>
                  <a:srgbClr val="C8C5BC"/>
                </a:solidFill>
                <a:latin typeface="맑은 고딕"/>
              </a:rPr>
              <a:t>조금 앞선 경기 · 5분을 더 보면 +3.1%p</a:t>
            </a:r>
          </a:p>
        </p:txBody>
      </p:sp>
      <p:sp>
        <p:nvSpPr>
          <p:cNvPr id="29" name="Rectangle 28"/>
          <p:cNvSpPr/>
          <p:nvPr/>
        </p:nvSpPr>
        <p:spPr>
          <a:xfrm>
            <a:off x="777240" y="5669280"/>
            <a:ext cx="10634472" cy="566928"/>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45720" cy="56692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3" y="5669280"/>
            <a:ext cx="10177272" cy="566928"/>
          </a:xfrm>
          <a:prstGeom prst="rect">
            <a:avLst/>
          </a:prstGeom>
          <a:noFill/>
        </p:spPr>
        <p:txBody>
          <a:bodyPr wrap="square" anchor="ctr" lIns="0" rIns="0" tIns="0" bIns="0">
            <a:spAutoFit/>
          </a:bodyPr>
          <a:lstStyle/>
          <a:p>
            <a:pPr algn="l">
              <a:lnSpc>
                <a:spcPct val="132000"/>
              </a:lnSpc>
              <a:spcAft>
                <a:spcPts val="0"/>
              </a:spcAft>
            </a:pPr>
            <a:r>
              <a:rPr sz="1500" b="1">
                <a:solidFill>
                  <a:srgbClr val="F0E6D2"/>
                </a:solidFill>
                <a:latin typeface="맑은 고딕"/>
              </a:rPr>
              <a:t>"초반에 다 기운다"도 "끝까지 모른다"도 틀렸습니다 — 경기 성격에 따라 다릅니다.</a:t>
            </a:r>
          </a:p>
        </p:txBody>
      </p:sp>
      <p:sp>
        <p:nvSpPr>
          <p:cNvPr id="32" name="TextBox 31"/>
          <p:cNvSpPr txBox="1"/>
          <p:nvPr/>
        </p:nvSpPr>
        <p:spPr>
          <a:xfrm>
            <a:off x="10972800" y="6574536"/>
            <a:ext cx="868680" cy="201168"/>
          </a:xfrm>
          <a:prstGeom prst="rect">
            <a:avLst/>
          </a:prstGeom>
          <a:noFill/>
        </p:spPr>
        <p:txBody>
          <a:bodyPr wrap="square" anchor="ctr" lIns="0" rIns="0" tIns="0" bIns="0">
            <a:spAutoFit/>
          </a:bodyPr>
          <a:lstStyle/>
          <a:p>
            <a:pPr algn="r"/>
            <a:fld id="{C63E1D4C-93B6-4689-8C70-D9645FED6CD3}" type="slidenum">
              <a:rPr lang="ko-KR" sz="950">
                <a:solidFill>
                  <a:srgbClr val="73726E"/>
                </a:solidFill>
                <a:latin typeface="맑은 고딕"/>
                <a:ea typeface="맑은 고딕"/>
              </a:rPr>
              <a:t>43</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ft_scene_dim.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548640"/>
            <a:ext cx="12191969" cy="6309360"/>
          </a:xfrm>
          <a:prstGeom prst="rect">
            <a:avLst/>
          </a:prstGeom>
          <a:gradFill rotWithShape="1">
            <a:gsLst>
              <a:gs pos="0">
                <a:srgbClr val="0A1428">
                  <a:alpha val="0"/>
                </a:srgbClr>
              </a:gs>
              <a:gs pos="100000">
                <a:srgbClr val="010A13">
                  <a:alpha val="76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48640"/>
          </a:xfrm>
          <a:prstGeom prst="rect">
            <a:avLst/>
          </a:prstGeom>
          <a:gradFill rotWithShape="1">
            <a:gsLst>
              <a:gs pos="0">
                <a:srgbClr val="010A13">
                  <a:alpha val="55000"/>
                </a:srgbClr>
              </a:gs>
              <a:gs pos="100000">
                <a:srgbClr val="0A1428">
                  <a:alpha val="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0332"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338328"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19201" y="370332"/>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4205" y="384048"/>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11853641" y="338328"/>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338328"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619201" y="6460236"/>
            <a:ext cx="1188720" cy="27432"/>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4205" y="5285232"/>
            <a:ext cx="27432" cy="1188720"/>
          </a:xfrm>
          <a:prstGeom prst="rect">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11853641" y="6519672"/>
            <a:ext cx="91440" cy="91440"/>
          </a:xfrm>
          <a:prstGeom prst="diamond">
            <a:avLst/>
          </a:prstGeom>
          <a:solidFill>
            <a:srgbClr val="A2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590038"/>
            <a:ext cx="9418320" cy="457200"/>
          </a:xfrm>
          <a:prstGeom prst="rect">
            <a:avLst/>
          </a:prstGeom>
          <a:noFill/>
        </p:spPr>
        <p:txBody>
          <a:bodyPr wrap="square" anchor="t" lIns="0" rIns="0" tIns="0" bIns="0">
            <a:spAutoFit/>
          </a:bodyPr>
          <a:lstStyle/>
          <a:p>
            <a:pPr algn="ctr">
              <a:lnSpc>
                <a:spcPct val="125000"/>
              </a:lnSpc>
              <a:spcAft>
                <a:spcPts val="0"/>
              </a:spcAft>
            </a:pPr>
            <a:r>
              <a:rPr sz="1300" b="1" spc="400">
                <a:solidFill>
                  <a:srgbClr val="C89B3C"/>
                </a:solidFill>
                <a:latin typeface="맑은 고딕"/>
              </a:rPr>
              <a:t>SECTION 05</a:t>
            </a:r>
          </a:p>
        </p:txBody>
      </p:sp>
      <p:sp>
        <p:nvSpPr>
          <p:cNvPr id="20" name="TextBox 19"/>
          <p:cNvSpPr txBox="1"/>
          <p:nvPr/>
        </p:nvSpPr>
        <p:spPr>
          <a:xfrm>
            <a:off x="1371600" y="3138678"/>
            <a:ext cx="9418320" cy="960120"/>
          </a:xfrm>
          <a:prstGeom prst="rect">
            <a:avLst/>
          </a:prstGeom>
          <a:noFill/>
        </p:spPr>
        <p:txBody>
          <a:bodyPr wrap="square" anchor="t" lIns="0" rIns="0" tIns="0" bIns="0">
            <a:spAutoFit/>
          </a:bodyPr>
          <a:lstStyle/>
          <a:p>
            <a:pPr algn="ctr">
              <a:lnSpc>
                <a:spcPct val="125000"/>
              </a:lnSpc>
              <a:spcAft>
                <a:spcPts val="0"/>
              </a:spcAft>
            </a:pPr>
            <a:r>
              <a:rPr sz="4600" b="1" spc="160">
                <a:solidFill>
                  <a:srgbClr val="F0E6D2"/>
                </a:solidFill>
                <a:latin typeface="맑은 고딕"/>
              </a:rPr>
              <a:t>서비스 · 향후 방향</a:t>
            </a:r>
          </a:p>
        </p:txBody>
      </p:sp>
      <p:sp>
        <p:nvSpPr>
          <p:cNvPr id="21" name="Rectangle 20"/>
          <p:cNvSpPr/>
          <p:nvPr/>
        </p:nvSpPr>
        <p:spPr>
          <a:xfrm>
            <a:off x="5641848" y="4235958"/>
            <a:ext cx="91440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566928" y="4855464"/>
            <a:ext cx="1070346" cy="1591056"/>
          </a:xfrm>
          <a:prstGeom prst="rect">
            <a:avLst/>
          </a:prstGeom>
        </p:spPr>
      </p:pic>
      <p:pic>
        <p:nvPicPr>
          <p:cNvPr id="24" name="Picture 23" descr="악어_small.png"/>
          <p:cNvPicPr>
            <a:picLocks noChangeAspect="1"/>
          </p:cNvPicPr>
          <p:nvPr/>
        </p:nvPicPr>
        <p:blipFill>
          <a:blip r:embed="rId5"/>
          <a:stretch>
            <a:fillRect/>
          </a:stretch>
        </p:blipFill>
        <p:spPr>
          <a:xfrm>
            <a:off x="10401216" y="5129783"/>
            <a:ext cx="1229951" cy="1316736"/>
          </a:xfrm>
          <a:prstGeom prst="rect">
            <a:avLst/>
          </a:prstGeom>
        </p:spPr>
      </p:pic>
      <p:sp>
        <p:nvSpPr>
          <p:cNvPr id="25" name="TextBox 24"/>
          <p:cNvSpPr txBox="1"/>
          <p:nvPr/>
        </p:nvSpPr>
        <p:spPr>
          <a:xfrm>
            <a:off x="10972800" y="6574536"/>
            <a:ext cx="868680" cy="201168"/>
          </a:xfrm>
          <a:prstGeom prst="rect">
            <a:avLst/>
          </a:prstGeom>
          <a:noFill/>
        </p:spPr>
        <p:txBody>
          <a:bodyPr wrap="square" anchor="ctr" lIns="0" rIns="0" tIns="0" bIns="0">
            <a:spAutoFit/>
          </a:bodyPr>
          <a:lstStyle/>
          <a:p>
            <a:pPr algn="r"/>
            <a:fld id="{3617421F-3912-404E-A36A-12EA78A10BE5}" type="slidenum">
              <a:rPr lang="ko-KR" sz="950">
                <a:solidFill>
                  <a:srgbClr val="73726E"/>
                </a:solidFill>
                <a:latin typeface="맑은 고딕"/>
                <a:ea typeface="맑은 고딕"/>
              </a:rPr>
              <a:t>44</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향후   |   </a:t>
            </a:r>
            <a:r>
              <a:rPr sz="2500" b="1" spc="80">
                <a:solidFill>
                  <a:srgbClr val="F0E6D2"/>
                </a:solidFill>
                <a:latin typeface="맑은 고딕"/>
              </a:rPr>
              <a:t>판정 — 모델 확률이 화면이 되는 곳</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5074920" cy="1417320"/>
          </a:xfrm>
          <a:prstGeom prst="rect">
            <a:avLst/>
          </a:prstGeom>
          <a:solidFill>
            <a:srgbClr val="10223E">
              <a:alpha val="90000"/>
            </a:srgbClr>
          </a:solidFill>
          <a:ln w="12700">
            <a:solidFill>
              <a:srgbClr val="6358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14173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1477316"/>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F0E6D2"/>
                </a:solidFill>
                <a:latin typeface="맑은 고딕"/>
              </a:rPr>
              <a:t>우세승</a:t>
            </a:r>
          </a:p>
          <a:p>
            <a:pPr algn="l">
              <a:lnSpc>
                <a:spcPct val="125000"/>
              </a:lnSpc>
              <a:spcAft>
                <a:spcPts val="400"/>
              </a:spcAft>
            </a:pPr>
            <a:r>
              <a:rPr sz="1200" b="0">
                <a:solidFill>
                  <a:srgbClr val="918E82"/>
                </a:solidFill>
                <a:latin typeface="맑은 고딕"/>
              </a:rPr>
              <a:t>앞서 있었고 이겼다</a:t>
            </a:r>
          </a:p>
          <a:p>
            <a:pPr algn="l">
              <a:lnSpc>
                <a:spcPct val="125000"/>
              </a:lnSpc>
              <a:spcAft>
                <a:spcPts val="0"/>
              </a:spcAft>
            </a:pPr>
            <a:r>
              <a:rPr sz="1150" b="0">
                <a:solidFill>
                  <a:srgbClr val="C8C5BC"/>
                </a:solidFill>
                <a:latin typeface="맑은 고딕"/>
              </a:rPr>
              <a:t>계획대로 끝냈다</a:t>
            </a:r>
          </a:p>
        </p:txBody>
      </p:sp>
      <p:sp>
        <p:nvSpPr>
          <p:cNvPr id="18" name="Rectangle 17"/>
          <p:cNvSpPr/>
          <p:nvPr/>
        </p:nvSpPr>
        <p:spPr>
          <a:xfrm>
            <a:off x="6336792" y="1280160"/>
            <a:ext cx="5074920" cy="1417320"/>
          </a:xfrm>
          <a:prstGeom prst="rect">
            <a:avLst/>
          </a:prstGeom>
          <a:solidFill>
            <a:srgbClr val="10223E">
              <a:alpha val="90000"/>
            </a:srgbClr>
          </a:solidFill>
          <a:ln w="12700">
            <a:solidFill>
              <a:srgbClr val="5E20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36792" y="1280160"/>
            <a:ext cx="45720" cy="1417320"/>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1477316"/>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BE1E37"/>
                </a:solidFill>
                <a:latin typeface="맑은 고딕"/>
              </a:rPr>
              <a:t>역전패</a:t>
            </a:r>
          </a:p>
          <a:p>
            <a:pPr algn="l">
              <a:lnSpc>
                <a:spcPct val="125000"/>
              </a:lnSpc>
              <a:spcAft>
                <a:spcPts val="400"/>
              </a:spcAft>
            </a:pPr>
            <a:r>
              <a:rPr sz="1200" b="0">
                <a:solidFill>
                  <a:srgbClr val="918E82"/>
                </a:solidFill>
                <a:latin typeface="맑은 고딕"/>
              </a:rPr>
              <a:t>앞서 있었는데 졌다</a:t>
            </a:r>
          </a:p>
          <a:p>
            <a:pPr algn="l">
              <a:lnSpc>
                <a:spcPct val="125000"/>
              </a:lnSpc>
              <a:spcAft>
                <a:spcPts val="0"/>
              </a:spcAft>
            </a:pPr>
            <a:r>
              <a:rPr sz="1150" b="0">
                <a:solidFill>
                  <a:srgbClr val="C8C5BC"/>
                </a:solidFill>
                <a:latin typeface="맑은 고딕"/>
              </a:rPr>
              <a:t>복기 1순위 — 앞선 판을 끝내는 법을 배워야 한다</a:t>
            </a:r>
          </a:p>
        </p:txBody>
      </p:sp>
      <p:sp>
        <p:nvSpPr>
          <p:cNvPr id="21" name="Rectangle 20"/>
          <p:cNvSpPr/>
          <p:nvPr/>
        </p:nvSpPr>
        <p:spPr>
          <a:xfrm>
            <a:off x="777240" y="3005282"/>
            <a:ext cx="5074920" cy="1417320"/>
          </a:xfrm>
          <a:prstGeom prst="rect">
            <a:avLst/>
          </a:prstGeom>
          <a:solidFill>
            <a:srgbClr val="10223E">
              <a:alpha val="90000"/>
            </a:srgbClr>
          </a:solidFill>
          <a:ln w="12700">
            <a:solidFill>
              <a:srgbClr val="0D6D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005282"/>
            <a:ext cx="45720" cy="141732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202439"/>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0AC8B9"/>
                </a:solidFill>
                <a:latin typeface="맑은 고딕"/>
              </a:rPr>
              <a:t>역전승</a:t>
            </a:r>
          </a:p>
          <a:p>
            <a:pPr algn="l">
              <a:lnSpc>
                <a:spcPct val="125000"/>
              </a:lnSpc>
              <a:spcAft>
                <a:spcPts val="400"/>
              </a:spcAft>
            </a:pPr>
            <a:r>
              <a:rPr sz="1200" b="0">
                <a:solidFill>
                  <a:srgbClr val="918E82"/>
                </a:solidFill>
                <a:latin typeface="맑은 고딕"/>
              </a:rPr>
              <a:t>밀리고 있었는데 이겼다</a:t>
            </a:r>
          </a:p>
          <a:p>
            <a:pPr algn="l">
              <a:lnSpc>
                <a:spcPct val="125000"/>
              </a:lnSpc>
              <a:spcAft>
                <a:spcPts val="0"/>
              </a:spcAft>
            </a:pPr>
            <a:r>
              <a:rPr sz="1150" b="0">
                <a:solidFill>
                  <a:srgbClr val="C8C5BC"/>
                </a:solidFill>
                <a:latin typeface="맑은 고딕"/>
              </a:rPr>
              <a:t>뒤집었다</a:t>
            </a:r>
          </a:p>
        </p:txBody>
      </p:sp>
      <p:sp>
        <p:nvSpPr>
          <p:cNvPr id="24" name="Rectangle 23"/>
          <p:cNvSpPr/>
          <p:nvPr/>
        </p:nvSpPr>
        <p:spPr>
          <a:xfrm>
            <a:off x="6336792" y="3005282"/>
            <a:ext cx="5074920" cy="1417320"/>
          </a:xfrm>
          <a:prstGeom prst="rect">
            <a:avLst/>
          </a:prstGeom>
          <a:solidFill>
            <a:srgbClr val="10223E">
              <a:alpha val="90000"/>
            </a:srgbClr>
          </a:solidFill>
          <a:ln w="12700">
            <a:solidFill>
              <a:srgbClr val="515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3005282"/>
            <a:ext cx="45720" cy="1417320"/>
          </a:xfrm>
          <a:prstGeom prst="rect">
            <a:avLst/>
          </a:prstGeom>
          <a:solidFill>
            <a:srgbClr val="A09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202439"/>
            <a:ext cx="4526280" cy="1088136"/>
          </a:xfrm>
          <a:prstGeom prst="rect">
            <a:avLst/>
          </a:prstGeom>
          <a:noFill/>
        </p:spPr>
        <p:txBody>
          <a:bodyPr wrap="square" anchor="t" lIns="0" rIns="0" tIns="0" bIns="0">
            <a:spAutoFit/>
          </a:bodyPr>
          <a:lstStyle/>
          <a:p>
            <a:pPr algn="l">
              <a:lnSpc>
                <a:spcPct val="125000"/>
              </a:lnSpc>
              <a:spcAft>
                <a:spcPts val="500"/>
              </a:spcAft>
            </a:pPr>
            <a:r>
              <a:rPr sz="2100" b="1">
                <a:solidFill>
                  <a:srgbClr val="A09B8C"/>
                </a:solidFill>
                <a:latin typeface="맑은 고딕"/>
              </a:rPr>
              <a:t>열세패</a:t>
            </a:r>
          </a:p>
          <a:p>
            <a:pPr algn="l">
              <a:lnSpc>
                <a:spcPct val="125000"/>
              </a:lnSpc>
              <a:spcAft>
                <a:spcPts val="400"/>
              </a:spcAft>
            </a:pPr>
            <a:r>
              <a:rPr sz="1200" b="0">
                <a:solidFill>
                  <a:srgbClr val="918E82"/>
                </a:solidFill>
                <a:latin typeface="맑은 고딕"/>
              </a:rPr>
              <a:t>밀리고 있었고 졌다</a:t>
            </a:r>
          </a:p>
          <a:p>
            <a:pPr algn="l">
              <a:lnSpc>
                <a:spcPct val="125000"/>
              </a:lnSpc>
              <a:spcAft>
                <a:spcPts val="0"/>
              </a:spcAft>
            </a:pPr>
            <a:r>
              <a:rPr sz="1150" b="0">
                <a:solidFill>
                  <a:srgbClr val="C8C5BC"/>
                </a:solidFill>
                <a:latin typeface="맑은 고딕"/>
              </a:rPr>
              <a:t>시작을 고쳐야 한다</a:t>
            </a:r>
          </a:p>
        </p:txBody>
      </p:sp>
      <p:sp>
        <p:nvSpPr>
          <p:cNvPr id="27" name="Rectangle 26"/>
          <p:cNvSpPr/>
          <p:nvPr/>
        </p:nvSpPr>
        <p:spPr>
          <a:xfrm>
            <a:off x="777240" y="4828983"/>
            <a:ext cx="10634472" cy="91440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28983"/>
            <a:ext cx="45720" cy="91440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4983" y="4828983"/>
            <a:ext cx="10177272" cy="914400"/>
          </a:xfrm>
          <a:prstGeom prst="rect">
            <a:avLst/>
          </a:prstGeom>
          <a:noFill/>
        </p:spPr>
        <p:txBody>
          <a:bodyPr wrap="square" anchor="ctr" lIns="0" rIns="0" tIns="0" bIns="0">
            <a:spAutoFit/>
          </a:bodyPr>
          <a:lstStyle/>
          <a:p>
            <a:pPr algn="l">
              <a:lnSpc>
                <a:spcPct val="132000"/>
              </a:lnSpc>
              <a:spcAft>
                <a:spcPts val="0"/>
              </a:spcAft>
            </a:pPr>
            <a:r>
              <a:rPr sz="1300" b="1">
                <a:solidFill>
                  <a:srgbClr val="F0E6D2"/>
                </a:solidFill>
                <a:latin typeface="맑은 고딕"/>
              </a:rPr>
              <a:t>같은 패배, 처방은 정반대 — 열세패는 시작을, 역전패는 마무리를 고친다</a:t>
            </a:r>
            <a:br>
              <a:rPr sz="1300" b="1">
                <a:solidFill>
                  <a:srgbClr val="F0E6D2"/>
                </a:solidFill>
                <a:latin typeface="맑은 고딕"/>
              </a:rPr>
            </a:br>
            <a:r>
              <a:rPr sz="1300" b="1">
                <a:solidFill>
                  <a:srgbClr val="F0E6D2"/>
                </a:solidFill>
                <a:latin typeface="맑은 고딕"/>
              </a:rPr>
              <a:t>이 구분은 모델이 있어야 가능하다 — 결과만으로는 둘 다 그냥 "패배"</a:t>
            </a:r>
          </a:p>
        </p:txBody>
      </p:sp>
      <p:sp>
        <p:nvSpPr>
          <p:cNvPr id="30" name="TextBox 29"/>
          <p:cNvSpPr txBox="1"/>
          <p:nvPr/>
        </p:nvSpPr>
        <p:spPr>
          <a:xfrm>
            <a:off x="777240" y="6382512"/>
            <a:ext cx="10607040" cy="256032"/>
          </a:xfrm>
          <a:prstGeom prst="rect">
            <a:avLst/>
          </a:prstGeom>
          <a:noFill/>
        </p:spPr>
        <p:txBody>
          <a:bodyPr wrap="square" anchor="t" lIns="0" rIns="0" tIns="0" bIns="0">
            <a:spAutoFit/>
          </a:bodyPr>
          <a:lstStyle/>
          <a:p>
            <a:pPr algn="l">
              <a:lnSpc>
                <a:spcPct val="125000"/>
              </a:lnSpc>
              <a:spcAft>
                <a:spcPts val="0"/>
              </a:spcAft>
            </a:pPr>
            <a:r>
              <a:rPr sz="950" b="0">
                <a:solidFill>
                  <a:srgbClr val="73726E"/>
                </a:solidFill>
                <a:latin typeface="맑은 고딕"/>
              </a:rPr>
              <a:t>근거 · README 서비스 절 · docs/product.md</a:t>
            </a:r>
          </a:p>
        </p:txBody>
      </p:sp>
      <p:sp>
        <p:nvSpPr>
          <p:cNvPr id="31" name="TextBox 30"/>
          <p:cNvSpPr txBox="1"/>
          <p:nvPr/>
        </p:nvSpPr>
        <p:spPr>
          <a:xfrm>
            <a:off x="10972800" y="6574536"/>
            <a:ext cx="868680" cy="201168"/>
          </a:xfrm>
          <a:prstGeom prst="rect">
            <a:avLst/>
          </a:prstGeom>
          <a:noFill/>
        </p:spPr>
        <p:txBody>
          <a:bodyPr wrap="square" anchor="ctr" lIns="0" rIns="0" tIns="0" bIns="0">
            <a:spAutoFit/>
          </a:bodyPr>
          <a:lstStyle/>
          <a:p>
            <a:pPr algn="r"/>
            <a:fld id="{A28EBE57-026E-4F1B-8A41-E2EBB093A46A}" type="slidenum">
              <a:rPr lang="ko-KR" sz="950">
                <a:solidFill>
                  <a:srgbClr val="73726E"/>
                </a:solidFill>
                <a:latin typeface="맑은 고딕"/>
                <a:ea typeface="맑은 고딕"/>
              </a:rPr>
              <a:t>48</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향후   |   </a:t>
            </a:r>
            <a:r>
              <a:rPr sz="2500" b="1" spc="80">
                <a:solidFill>
                  <a:srgbClr val="F0E6D2"/>
                </a:solidFill>
                <a:latin typeface="맑은 고딕"/>
              </a:rPr>
              <a:t>시연 — 화면에서 무엇을 보여드리나</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777240" y="1325880"/>
          <a:ext cx="10634472" cy="2871216"/>
        </p:xfrm>
        <a:graphic>
          <a:graphicData uri="http://schemas.openxmlformats.org/drawingml/2006/table">
            <a:tbl>
              <a:tblPr>
                <a:tableStyleId>{5C22544A-7EE6-4342-B048-85BDC9FD1C3A}</a:tableStyleId>
              </a:tblPr>
              <a:tblGrid>
                <a:gridCol w="1371600"/>
                <a:gridCol w="4206240"/>
                <a:gridCol w="5056632"/>
              </a:tblGrid>
              <a:tr h="457200">
                <a:tc>
                  <a:txBody>
                    <a:bodyPr/>
                    <a:lstStyle/>
                    <a:p>
                      <a:pPr algn="l"/>
                      <a:r>
                        <a:rPr sz="1300" b="1">
                          <a:solidFill>
                            <a:srgbClr val="F0E6D2"/>
                          </a:solidFill>
                          <a:latin typeface="맑은 고딕"/>
                        </a:rPr>
                        <a:t>순서</a:t>
                      </a:r>
                    </a:p>
                  </a:txBody>
                  <a:tcPr marL="91440" marR="91440" anchor="ctr">
                    <a:solidFill>
                      <a:srgbClr val="3C3F3E"/>
                    </a:solidFill>
                  </a:tcPr>
                </a:tc>
                <a:tc>
                  <a:txBody>
                    <a:bodyPr/>
                    <a:lstStyle/>
                    <a:p>
                      <a:pPr algn="ctr"/>
                      <a:r>
                        <a:rPr sz="1300" b="1">
                          <a:solidFill>
                            <a:srgbClr val="F0E6D2"/>
                          </a:solidFill>
                          <a:latin typeface="맑은 고딕"/>
                        </a:rPr>
                        <a:t>무엇을 하나</a:t>
                      </a:r>
                    </a:p>
                  </a:txBody>
                  <a:tcPr marL="91440" marR="91440" anchor="ctr">
                    <a:solidFill>
                      <a:srgbClr val="3C3F3E"/>
                    </a:solidFill>
                  </a:tcPr>
                </a:tc>
                <a:tc>
                  <a:txBody>
                    <a:bodyPr/>
                    <a:lstStyle/>
                    <a:p>
                      <a:pPr algn="ctr"/>
                      <a:r>
                        <a:rPr sz="1300" b="1">
                          <a:solidFill>
                            <a:srgbClr val="F0E6D2"/>
                          </a:solidFill>
                          <a:latin typeface="맑은 고딕"/>
                        </a:rPr>
                        <a:t>화면에 뜨는 것</a:t>
                      </a:r>
                    </a:p>
                  </a:txBody>
                  <a:tcPr marL="91440" marR="91440" anchor="ctr">
                    <a:solidFill>
                      <a:srgbClr val="3C3F3E"/>
                    </a:solidFill>
                  </a:tcPr>
                </a:tc>
              </a:tr>
              <a:tr h="603504">
                <a:tc>
                  <a:txBody>
                    <a:bodyPr/>
                    <a:lstStyle/>
                    <a:p>
                      <a:pPr algn="l"/>
                      <a:r>
                        <a:rPr sz="1300" b="0">
                          <a:solidFill>
                            <a:srgbClr val="C1BEB4"/>
                          </a:solidFill>
                          <a:latin typeface="맑은 고딕"/>
                        </a:rPr>
                        <a:t>①  검색</a:t>
                      </a:r>
                    </a:p>
                  </a:txBody>
                  <a:tcPr marL="91440" marR="91440" anchor="ctr">
                    <a:solidFill>
                      <a:srgbClr val="10223E"/>
                    </a:solidFill>
                  </a:tcPr>
                </a:tc>
                <a:tc>
                  <a:txBody>
                    <a:bodyPr/>
                    <a:lstStyle/>
                    <a:p>
                      <a:pPr algn="ctr"/>
                      <a:r>
                        <a:rPr sz="1300" b="0">
                          <a:solidFill>
                            <a:srgbClr val="C1BEB4"/>
                          </a:solidFill>
                          <a:latin typeface="맑은 고딕"/>
                        </a:rPr>
                        <a:t>소환사명#태그 를 넣는다 (예: Hide on bush#KR1)</a:t>
                      </a:r>
                    </a:p>
                  </a:txBody>
                  <a:tcPr marL="91440" marR="91440" anchor="ctr">
                    <a:solidFill>
                      <a:srgbClr val="10223E"/>
                    </a:solidFill>
                  </a:tcPr>
                </a:tc>
                <a:tc>
                  <a:txBody>
                    <a:bodyPr/>
                    <a:lstStyle/>
                    <a:p>
                      <a:pPr algn="ctr"/>
                      <a:r>
                        <a:rPr sz="1300" b="0">
                          <a:solidFill>
                            <a:srgbClr val="C1BEB4"/>
                          </a:solidFill>
                          <a:latin typeface="맑은 고딕"/>
                        </a:rPr>
                        <a:t>최근 경기 목록 — 이긴 판과 진 판이 함께</a:t>
                      </a:r>
                    </a:p>
                  </a:txBody>
                  <a:tcPr marL="91440" marR="91440" anchor="ctr">
                    <a:solidFill>
                      <a:srgbClr val="10223E"/>
                    </a:solidFill>
                  </a:tcPr>
                </a:tc>
              </a:tr>
              <a:tr h="603504">
                <a:tc>
                  <a:txBody>
                    <a:bodyPr/>
                    <a:lstStyle/>
                    <a:p>
                      <a:pPr algn="l"/>
                      <a:r>
                        <a:rPr sz="1300" b="1">
                          <a:solidFill>
                            <a:srgbClr val="F0E6D2"/>
                          </a:solidFill>
                          <a:latin typeface="맑은 고딕"/>
                        </a:rPr>
                        <a:t>②  판정</a:t>
                      </a:r>
                    </a:p>
                  </a:txBody>
                  <a:tcPr marL="91440" marR="91440" anchor="ctr">
                    <a:solidFill>
                      <a:srgbClr val="2D353E"/>
                    </a:solidFill>
                  </a:tcPr>
                </a:tc>
                <a:tc>
                  <a:txBody>
                    <a:bodyPr/>
                    <a:lstStyle/>
                    <a:p>
                      <a:pPr algn="ctr"/>
                      <a:r>
                        <a:rPr sz="1300" b="1">
                          <a:solidFill>
                            <a:srgbClr val="F0E6D2"/>
                          </a:solidFill>
                          <a:latin typeface="맑은 고딕"/>
                        </a:rPr>
                        <a:t>경기 한 판을 펼친다</a:t>
                      </a:r>
                    </a:p>
                  </a:txBody>
                  <a:tcPr marL="91440" marR="91440" anchor="ctr">
                    <a:solidFill>
                      <a:srgbClr val="2D353E"/>
                    </a:solidFill>
                  </a:tcPr>
                </a:tc>
                <a:tc>
                  <a:txBody>
                    <a:bodyPr/>
                    <a:lstStyle/>
                    <a:p>
                      <a:pPr algn="ctr"/>
                      <a:r>
                        <a:rPr sz="1300" b="1">
                          <a:solidFill>
                            <a:srgbClr val="F0E6D2"/>
                          </a:solidFill>
                          <a:latin typeface="맑은 고딕"/>
                        </a:rPr>
                        <a:t>우세승 · 역전패 · 역전승 · 열세패 + 10분 시점 승률</a:t>
                      </a:r>
                    </a:p>
                  </a:txBody>
                  <a:tcPr marL="91440" marR="91440" anchor="ctr">
                    <a:solidFill>
                      <a:srgbClr val="2D353E"/>
                    </a:solidFill>
                  </a:tcPr>
                </a:tc>
              </a:tr>
              <a:tr h="603504">
                <a:tc>
                  <a:txBody>
                    <a:bodyPr/>
                    <a:lstStyle/>
                    <a:p>
                      <a:pPr algn="l"/>
                      <a:r>
                        <a:rPr sz="1300" b="0">
                          <a:solidFill>
                            <a:srgbClr val="C1BEB4"/>
                          </a:solidFill>
                          <a:latin typeface="맑은 고딕"/>
                        </a:rPr>
                        <a:t>③  근거</a:t>
                      </a:r>
                    </a:p>
                  </a:txBody>
                  <a:tcPr marL="91440" marR="91440" anchor="ctr">
                    <a:solidFill>
                      <a:srgbClr val="10223E"/>
                    </a:solidFill>
                  </a:tcPr>
                </a:tc>
                <a:tc>
                  <a:txBody>
                    <a:bodyPr/>
                    <a:lstStyle/>
                    <a:p>
                      <a:pPr algn="ctr"/>
                      <a:r>
                        <a:rPr sz="1300" b="0">
                          <a:solidFill>
                            <a:srgbClr val="C1BEB4"/>
                          </a:solidFill>
                          <a:latin typeface="맑은 고딕"/>
                        </a:rPr>
                        <a:t>「이 판정을 믿어도 되나」를 연다</a:t>
                      </a:r>
                    </a:p>
                  </a:txBody>
                  <a:tcPr marL="91440" marR="91440" anchor="ctr">
                    <a:solidFill>
                      <a:srgbClr val="10223E"/>
                    </a:solidFill>
                  </a:tcPr>
                </a:tc>
                <a:tc>
                  <a:txBody>
                    <a:bodyPr/>
                    <a:lstStyle/>
                    <a:p>
                      <a:pPr algn="ctr"/>
                      <a:r>
                        <a:rPr sz="1300" b="0">
                          <a:solidFill>
                            <a:srgbClr val="C1BEB4"/>
                          </a:solidFill>
                          <a:latin typeface="맑은 고딕"/>
                        </a:rPr>
                        <a:t>그 구간의 적중률 · 그 판의 승리요인 순위</a:t>
                      </a:r>
                    </a:p>
                  </a:txBody>
                  <a:tcPr marL="91440" marR="91440" anchor="ctr">
                    <a:solidFill>
                      <a:srgbClr val="10223E"/>
                    </a:solidFill>
                  </a:tcPr>
                </a:tc>
              </a:tr>
              <a:tr h="603504">
                <a:tc>
                  <a:txBody>
                    <a:bodyPr/>
                    <a:lstStyle/>
                    <a:p>
                      <a:pPr algn="l"/>
                      <a:r>
                        <a:rPr sz="1300" b="0">
                          <a:solidFill>
                            <a:srgbClr val="C1BEB4"/>
                          </a:solidFill>
                          <a:latin typeface="맑은 고딕"/>
                        </a:rPr>
                        <a:t>④  코칭</a:t>
                      </a:r>
                    </a:p>
                  </a:txBody>
                  <a:tcPr marL="91440" marR="91440" anchor="ctr">
                    <a:solidFill>
                      <a:srgbClr val="09172B"/>
                    </a:solidFill>
                  </a:tcPr>
                </a:tc>
                <a:tc>
                  <a:txBody>
                    <a:bodyPr/>
                    <a:lstStyle/>
                    <a:p>
                      <a:pPr algn="ctr"/>
                      <a:r>
                        <a:rPr sz="1300" b="0">
                          <a:solidFill>
                            <a:srgbClr val="C1BEB4"/>
                          </a:solidFill>
                          <a:latin typeface="맑은 고딕"/>
                        </a:rPr>
                        <a:t>「그래서 뭘 했어야 했나」를 연다</a:t>
                      </a:r>
                    </a:p>
                  </a:txBody>
                  <a:tcPr marL="91440" marR="91440" anchor="ctr">
                    <a:solidFill>
                      <a:srgbClr val="09172B"/>
                    </a:solidFill>
                  </a:tcPr>
                </a:tc>
                <a:tc>
                  <a:txBody>
                    <a:bodyPr/>
                    <a:lstStyle/>
                    <a:p>
                      <a:pPr algn="ctr"/>
                      <a:r>
                        <a:rPr sz="1300" b="0">
                          <a:solidFill>
                            <a:srgbClr val="C1BEB4"/>
                          </a:solidFill>
                          <a:latin typeface="맑은 고딕"/>
                        </a:rPr>
                        <a:t>"CS 20개를 더 먹었다면 43%가 53%" 식</a:t>
                      </a:r>
                    </a:p>
                  </a:txBody>
                  <a:tcPr marL="91440" marR="91440" anchor="ctr">
                    <a:solidFill>
                      <a:srgbClr val="09172B"/>
                    </a:solidFill>
                  </a:tcPr>
                </a:tc>
              </a:tr>
            </a:tbl>
          </a:graphicData>
        </a:graphic>
      </p:graphicFrame>
      <p:sp>
        <p:nvSpPr>
          <p:cNvPr id="15" name="TextBox 14"/>
          <p:cNvSpPr txBox="1"/>
          <p:nvPr/>
        </p:nvSpPr>
        <p:spPr>
          <a:xfrm>
            <a:off x="777240" y="4224528"/>
            <a:ext cx="10607040" cy="2066543"/>
          </a:xfrm>
          <a:prstGeom prst="rect">
            <a:avLst/>
          </a:prstGeom>
          <a:noFill/>
        </p:spPr>
        <p:txBody>
          <a:bodyPr wrap="square" anchor="t" lIns="0" rIns="0" tIns="0" bIns="0">
            <a:spAutoFit/>
          </a:bodyPr>
          <a:lstStyle/>
          <a:p>
            <a:pPr algn="l">
              <a:lnSpc>
                <a:spcPct val="132000"/>
              </a:lnSpc>
              <a:spcAft>
                <a:spcPts val="800"/>
              </a:spcAft>
            </a:pPr>
            <a:r>
              <a:rPr sz="1350" b="1">
                <a:solidFill>
                  <a:srgbClr val="F0E6D2"/>
                </a:solidFill>
                <a:latin typeface="맑은 고딕"/>
              </a:rPr>
              <a:t>◆  화면 위 세 갈래 — 유저 전적 분석 · 최근 챔피언 승률 · 유저 랭킹</a:t>
            </a:r>
          </a:p>
          <a:p>
            <a:pPr algn="l">
              <a:lnSpc>
                <a:spcPct val="130000"/>
              </a:lnSpc>
              <a:spcAft>
                <a:spcPts val="500"/>
              </a:spcAft>
            </a:pPr>
            <a:r>
              <a:rPr sz="1050" b="0">
                <a:solidFill>
                  <a:srgbClr val="8E8B80"/>
                </a:solidFill>
                <a:latin typeface="맑은 고딕"/>
              </a:rPr>
              <a:t>     시연은 첫 번째 갈래만 씁니다. 나머지 둘은 같은 데이터를 다른 각도로 본 것입니다</a:t>
            </a:r>
          </a:p>
          <a:p>
            <a:pPr algn="l">
              <a:lnSpc>
                <a:spcPct val="132000"/>
              </a:lnSpc>
              <a:spcAft>
                <a:spcPts val="800"/>
              </a:spcAft>
            </a:pPr>
            <a:r>
              <a:rPr sz="1350" b="1">
                <a:solidFill>
                  <a:srgbClr val="F0E6D2"/>
                </a:solidFill>
                <a:latin typeface="맑은 고딕"/>
              </a:rPr>
              <a:t>◆  검색 한 번 · 경기 한 판 · 코칭 한 번 — 약 2분</a:t>
            </a:r>
          </a:p>
        </p:txBody>
      </p:sp>
      <p:sp>
        <p:nvSpPr>
          <p:cNvPr id="16" name="Rectangle 15"/>
          <p:cNvSpPr/>
          <p:nvPr/>
        </p:nvSpPr>
        <p:spPr>
          <a:xfrm>
            <a:off x="777240" y="5532120"/>
            <a:ext cx="10634472" cy="731520"/>
          </a:xfrm>
          <a:prstGeom prst="rect">
            <a:avLst/>
          </a:prstGeom>
          <a:solidFill>
            <a:srgbClr val="2A333E">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532120"/>
            <a:ext cx="45720" cy="73152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532120"/>
            <a:ext cx="10177272" cy="731520"/>
          </a:xfrm>
          <a:prstGeom prst="rect">
            <a:avLst/>
          </a:prstGeom>
          <a:noFill/>
        </p:spPr>
        <p:txBody>
          <a:bodyPr wrap="square" anchor="ctr" lIns="0" rIns="0" tIns="0" bIns="0">
            <a:spAutoFit/>
          </a:bodyPr>
          <a:lstStyle/>
          <a:p>
            <a:pPr algn="l">
              <a:lnSpc>
                <a:spcPct val="132000"/>
              </a:lnSpc>
              <a:spcAft>
                <a:spcPts val="0"/>
              </a:spcAft>
            </a:pPr>
            <a:r>
              <a:rPr sz="1350" b="1">
                <a:solidFill>
                  <a:srgbClr val="F0E6D2"/>
                </a:solidFill>
                <a:latin typeface="맑은 고딕"/>
              </a:rPr>
              <a:t>https://p4.sumzip.com    ·    화면에 뜨는 확률은 학습된 모델이 낸 값 그대로입니다 — 시연용으로 따로 만든 숫자가 아닙니다.</a:t>
            </a:r>
          </a:p>
        </p:txBody>
      </p:sp>
      <p:sp>
        <p:nvSpPr>
          <p:cNvPr id="19" name="TextBox 18"/>
          <p:cNvSpPr txBox="1"/>
          <p:nvPr/>
        </p:nvSpPr>
        <p:spPr>
          <a:xfrm>
            <a:off x="10972800" y="6574536"/>
            <a:ext cx="868680" cy="201168"/>
          </a:xfrm>
          <a:prstGeom prst="rect">
            <a:avLst/>
          </a:prstGeom>
          <a:noFill/>
        </p:spPr>
        <p:txBody>
          <a:bodyPr wrap="square" anchor="ctr" lIns="0" rIns="0" tIns="0" bIns="0">
            <a:spAutoFit/>
          </a:bodyPr>
          <a:lstStyle/>
          <a:p>
            <a:pPr algn="r"/>
            <a:fld id="{0D4DC13D-F5EB-414A-B662-96B8813E2B5C}" type="slidenum">
              <a:rPr lang="ko-KR" sz="950">
                <a:solidFill>
                  <a:srgbClr val="73726E"/>
                </a:solidFill>
                <a:latin typeface="맑은 고딕"/>
                <a:ea typeface="맑은 고딕"/>
              </a:rPr>
              <a:t>46</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rotWithShape="1">
            <a:gsLst>
              <a:gs pos="0">
                <a:srgbClr val="0A1428"/>
              </a:gs>
              <a:gs pos="100000">
                <a:srgbClr val="010A13"/>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ift_scene.jpg"/>
          <p:cNvPicPr>
            <a:picLocks noChangeAspect="1"/>
          </p:cNvPicPr>
          <p:nvPr/>
        </p:nvPicPr>
        <p:blipFill>
          <a:blip r:embed="rId2"/>
          <a:stretch>
            <a:fillRect/>
          </a:stretch>
        </p:blipFill>
        <p:spPr>
          <a:xfrm>
            <a:off x="0" y="0"/>
            <a:ext cx="12191969" cy="6858000"/>
          </a:xfrm>
          <a:prstGeom prst="rect">
            <a:avLst/>
          </a:prstGeom>
        </p:spPr>
      </p:pic>
      <p:sp>
        <p:nvSpPr>
          <p:cNvPr id="4" name="Rectangle 3"/>
          <p:cNvSpPr/>
          <p:nvPr/>
        </p:nvSpPr>
        <p:spPr>
          <a:xfrm>
            <a:off x="0" y="0"/>
            <a:ext cx="12191969" cy="6858000"/>
          </a:xfrm>
          <a:prstGeom prst="rect">
            <a:avLst/>
          </a:prstGeom>
          <a:solidFill>
            <a:srgbClr val="010A13">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6060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31849" y="6569964"/>
            <a:ext cx="685800" cy="27432"/>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903933" y="5897880"/>
            <a:ext cx="27432" cy="685800"/>
          </a:xfrm>
          <a:prstGeom prst="rect">
            <a:avLst/>
          </a:prstGeom>
          <a:solidFill>
            <a:srgbClr val="866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
            <a:ext cx="10634472" cy="548640"/>
          </a:xfrm>
          <a:prstGeom prst="rect">
            <a:avLst/>
          </a:prstGeom>
          <a:noFill/>
        </p:spPr>
        <p:txBody>
          <a:bodyPr wrap="square" anchor="t" lIns="0" rIns="0" tIns="0" bIns="0">
            <a:spAutoFit/>
          </a:bodyPr>
          <a:lstStyle/>
          <a:p>
            <a:pPr algn="l">
              <a:lnSpc>
                <a:spcPct val="125000"/>
              </a:lnSpc>
              <a:spcAft>
                <a:spcPts val="0"/>
              </a:spcAft>
            </a:pPr>
            <a:r>
              <a:rPr sz="3000" b="1" spc="80">
                <a:solidFill>
                  <a:srgbClr val="F0E6D2"/>
                </a:solidFill>
                <a:latin typeface="맑은 고딕"/>
              </a:rPr>
              <a:t>5. 서비스 · 향후   |   </a:t>
            </a:r>
            <a:r>
              <a:rPr sz="2500" b="1" spc="80">
                <a:solidFill>
                  <a:srgbClr val="F0E6D2"/>
                </a:solidFill>
                <a:latin typeface="맑은 고딕"/>
              </a:rPr>
              <a:t>향후 방향성</a:t>
            </a:r>
          </a:p>
        </p:txBody>
      </p:sp>
      <p:sp>
        <p:nvSpPr>
          <p:cNvPr id="12" name="Rectangle 11"/>
          <p:cNvSpPr/>
          <p:nvPr/>
        </p:nvSpPr>
        <p:spPr>
          <a:xfrm>
            <a:off x="795528" y="1115568"/>
            <a:ext cx="1051560" cy="32004"/>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1892807" y="1110996"/>
            <a:ext cx="41148" cy="41148"/>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1280160"/>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1280160"/>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1280160"/>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접전 판별력 끌어올리기</a:t>
            </a:r>
          </a:p>
          <a:p>
            <a:pPr algn="l">
              <a:lnSpc>
                <a:spcPct val="120000"/>
              </a:lnSpc>
              <a:spcAft>
                <a:spcPts val="0"/>
              </a:spcAft>
            </a:pPr>
            <a:r>
              <a:rPr sz="1050" b="0">
                <a:solidFill>
                  <a:srgbClr val="C8C5BC"/>
                </a:solidFill>
                <a:latin typeface="맑은 고딕"/>
              </a:rPr>
              <a:t>10분 정보의 상한(2단계 모델 4종 실측으로 확인) — 시점 확장이 다음 열쇠</a:t>
            </a:r>
          </a:p>
        </p:txBody>
      </p:sp>
      <p:sp>
        <p:nvSpPr>
          <p:cNvPr id="18" name="Rectangle 17"/>
          <p:cNvSpPr/>
          <p:nvPr/>
        </p:nvSpPr>
        <p:spPr>
          <a:xfrm>
            <a:off x="777240" y="1976972"/>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1976972"/>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1976972"/>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코칭을 실험으로 검증</a:t>
            </a:r>
          </a:p>
          <a:p>
            <a:pPr algn="l">
              <a:lnSpc>
                <a:spcPct val="120000"/>
              </a:lnSpc>
              <a:spcAft>
                <a:spcPts val="0"/>
              </a:spcAft>
            </a:pPr>
            <a:r>
              <a:rPr sz="1050" b="0">
                <a:solidFill>
                  <a:srgbClr val="C8C5BC"/>
                </a:solidFill>
                <a:latin typeface="맑은 고딕"/>
              </a:rPr>
              <a:t>지금은 관찰 기록 — 개입 실험(A/B)으로 재면 진짜 코칭이 된다</a:t>
            </a:r>
          </a:p>
        </p:txBody>
      </p:sp>
      <p:sp>
        <p:nvSpPr>
          <p:cNvPr id="21" name="Rectangle 20"/>
          <p:cNvSpPr/>
          <p:nvPr/>
        </p:nvSpPr>
        <p:spPr>
          <a:xfrm>
            <a:off x="777240" y="2673785"/>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2673785"/>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2673785"/>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패치 · 티어 확장</a:t>
            </a:r>
          </a:p>
          <a:p>
            <a:pPr algn="l">
              <a:lnSpc>
                <a:spcPct val="120000"/>
              </a:lnSpc>
              <a:spcAft>
                <a:spcPts val="0"/>
              </a:spcAft>
            </a:pPr>
            <a:r>
              <a:rPr sz="1050" b="0">
                <a:solidFill>
                  <a:srgbClr val="C8C5BC"/>
                </a:solidFill>
                <a:latin typeface="맑은 고딕"/>
              </a:rPr>
              <a:t>아이언~실버 실측 진행 중 — 재학습 파이프라인으로 자동화</a:t>
            </a:r>
          </a:p>
        </p:txBody>
      </p:sp>
      <p:sp>
        <p:nvSpPr>
          <p:cNvPr id="24" name="Rectangle 23"/>
          <p:cNvSpPr/>
          <p:nvPr/>
        </p:nvSpPr>
        <p:spPr>
          <a:xfrm>
            <a:off x="777240" y="3370598"/>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3370598"/>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370598"/>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시점별 모델을 서비스로</a:t>
            </a:r>
          </a:p>
          <a:p>
            <a:pPr algn="l">
              <a:lnSpc>
                <a:spcPct val="120000"/>
              </a:lnSpc>
              <a:spcAft>
                <a:spcPts val="0"/>
              </a:spcAft>
            </a:pPr>
            <a:r>
              <a:rPr sz="1050" b="0">
                <a:solidFill>
                  <a:srgbClr val="C8C5BC"/>
                </a:solidFill>
                <a:latin typeface="맑은 고딕"/>
              </a:rPr>
              <a:t>10 vs 15 는 발표용 비교 — 분 단위 학습이 필요한 후속 과제</a:t>
            </a:r>
          </a:p>
        </p:txBody>
      </p:sp>
      <p:sp>
        <p:nvSpPr>
          <p:cNvPr id="27" name="Rectangle 26"/>
          <p:cNvSpPr/>
          <p:nvPr/>
        </p:nvSpPr>
        <p:spPr>
          <a:xfrm>
            <a:off x="777240" y="4067411"/>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67411"/>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067411"/>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경기 유형 고도화</a:t>
            </a:r>
          </a:p>
          <a:p>
            <a:pPr algn="l">
              <a:lnSpc>
                <a:spcPct val="120000"/>
              </a:lnSpc>
              <a:spcAft>
                <a:spcPts val="0"/>
              </a:spcAft>
            </a:pPr>
            <a:r>
              <a:rPr sz="1050" b="0">
                <a:solidFill>
                  <a:srgbClr val="C8C5BC"/>
                </a:solidFill>
                <a:latin typeface="맑은 고딕"/>
              </a:rPr>
              <a:t>k 를 데이터가 정하게 하고, 유형별 맞춤 코칭으로</a:t>
            </a:r>
          </a:p>
        </p:txBody>
      </p:sp>
      <p:sp>
        <p:nvSpPr>
          <p:cNvPr id="30" name="Rectangle 29"/>
          <p:cNvSpPr/>
          <p:nvPr/>
        </p:nvSpPr>
        <p:spPr>
          <a:xfrm>
            <a:off x="777240" y="4764223"/>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764223"/>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764223"/>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사용자 검증 확대</a:t>
            </a:r>
          </a:p>
          <a:p>
            <a:pPr algn="l">
              <a:lnSpc>
                <a:spcPct val="120000"/>
              </a:lnSpc>
              <a:spcAft>
                <a:spcPts val="0"/>
              </a:spcAft>
            </a:pPr>
            <a:r>
              <a:rPr sz="1050" b="0">
                <a:solidFill>
                  <a:srgbClr val="C8C5BC"/>
                </a:solidFill>
                <a:latin typeface="맑은 고딕"/>
              </a:rPr>
              <a:t>1명 스모크에서 시작 — 더 많은 유저로 화면·설명을 다듬는다</a:t>
            </a:r>
          </a:p>
        </p:txBody>
      </p:sp>
      <p:sp>
        <p:nvSpPr>
          <p:cNvPr id="33" name="Rectangle 32"/>
          <p:cNvSpPr/>
          <p:nvPr/>
        </p:nvSpPr>
        <p:spPr>
          <a:xfrm>
            <a:off x="777240" y="5461036"/>
            <a:ext cx="10634472" cy="585216"/>
          </a:xfrm>
          <a:prstGeom prst="rect">
            <a:avLst/>
          </a:prstGeom>
          <a:solidFill>
            <a:srgbClr val="10223E">
              <a:alpha val="88000"/>
            </a:srgbClr>
          </a:solidFill>
          <a:ln w="12700">
            <a:solidFill>
              <a:srgbClr val="4421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61036"/>
            <a:ext cx="45720" cy="585216"/>
          </a:xfrm>
          <a:prstGeom prst="rect">
            <a:avLst/>
          </a:prstGeom>
          <a:solidFill>
            <a:srgbClr val="BE1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461036"/>
            <a:ext cx="10149840" cy="585216"/>
          </a:xfrm>
          <a:prstGeom prst="rect">
            <a:avLst/>
          </a:prstGeom>
          <a:noFill/>
        </p:spPr>
        <p:txBody>
          <a:bodyPr wrap="square" anchor="ctr" lIns="0" rIns="0" tIns="0" bIns="0">
            <a:spAutoFit/>
          </a:bodyPr>
          <a:lstStyle/>
          <a:p>
            <a:pPr algn="l">
              <a:lnSpc>
                <a:spcPct val="125000"/>
              </a:lnSpc>
              <a:spcAft>
                <a:spcPts val="200"/>
              </a:spcAft>
            </a:pPr>
            <a:r>
              <a:rPr sz="1300" b="1">
                <a:solidFill>
                  <a:srgbClr val="F0E6D2"/>
                </a:solidFill>
                <a:latin typeface="맑은 고딕"/>
              </a:rPr>
              <a:t>수익 모델 실험</a:t>
            </a:r>
          </a:p>
          <a:p>
            <a:pPr algn="l">
              <a:lnSpc>
                <a:spcPct val="120000"/>
              </a:lnSpc>
              <a:spcAft>
                <a:spcPts val="0"/>
              </a:spcAft>
            </a:pPr>
            <a:r>
              <a:rPr sz="1050" b="0">
                <a:solidFill>
                  <a:srgbClr val="C8C5BC"/>
                </a:solidFill>
                <a:latin typeface="맑은 고딕"/>
              </a:rPr>
              <a:t>예측을 팔고(정밀도) · 끝난 판의 기록을 쌓아 판다(재현율) — 적중엔 보상, 축적은 자산</a:t>
            </a:r>
          </a:p>
        </p:txBody>
      </p:sp>
      <p:sp>
        <p:nvSpPr>
          <p:cNvPr id="36" name="TextBox 35"/>
          <p:cNvSpPr txBox="1"/>
          <p:nvPr/>
        </p:nvSpPr>
        <p:spPr>
          <a:xfrm>
            <a:off x="10972800" y="6574536"/>
            <a:ext cx="868680" cy="201168"/>
          </a:xfrm>
          <a:prstGeom prst="rect">
            <a:avLst/>
          </a:prstGeom>
          <a:noFill/>
        </p:spPr>
        <p:txBody>
          <a:bodyPr wrap="square" anchor="ctr" lIns="0" rIns="0" tIns="0" bIns="0">
            <a:spAutoFit/>
          </a:bodyPr>
          <a:lstStyle/>
          <a:p>
            <a:pPr algn="r"/>
            <a:fld id="{8F782FCA-C98C-43E3-957B-243E78C524E9}" type="slidenum">
              <a:rPr lang="ko-KR" sz="950">
                <a:solidFill>
                  <a:srgbClr val="73726E"/>
                </a:solidFill>
                <a:latin typeface="맑은 고딕"/>
                <a:ea typeface="맑은 고딕"/>
              </a:rPr>
              <a:t>52</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ictory_bg.jpg"/>
          <p:cNvPicPr>
            <a:picLocks noChangeAspect="1"/>
          </p:cNvPicPr>
          <p:nvPr/>
        </p:nvPicPr>
        <p:blipFill>
          <a:blip r:embed="rId2"/>
          <a:stretch>
            <a:fillRect/>
          </a:stretch>
        </p:blipFill>
        <p:spPr>
          <a:xfrm>
            <a:off x="0" y="0"/>
            <a:ext cx="12191969" cy="6858000"/>
          </a:xfrm>
          <a:prstGeom prst="rect">
            <a:avLst/>
          </a:prstGeom>
        </p:spPr>
      </p:pic>
      <p:sp>
        <p:nvSpPr>
          <p:cNvPr id="3" name="Rectangle 2"/>
          <p:cNvSpPr/>
          <p:nvPr/>
        </p:nvSpPr>
        <p:spPr>
          <a:xfrm>
            <a:off x="0" y="3086100"/>
            <a:ext cx="12191969" cy="3771900"/>
          </a:xfrm>
          <a:prstGeom prst="rect">
            <a:avLst/>
          </a:prstGeom>
          <a:gradFill rotWithShape="1">
            <a:gsLst>
              <a:gs pos="0">
                <a:srgbClr val="0A1428">
                  <a:alpha val="0"/>
                </a:srgbClr>
              </a:gs>
              <a:gs pos="100000">
                <a:srgbClr val="010A13">
                  <a:alpha val="70000"/>
                </a:srgbClr>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7708"/>
            <a:ext cx="12191969" cy="50292"/>
          </a:xfrm>
          <a:prstGeom prst="rect">
            <a:avLst/>
          </a:prstGeom>
          <a:solidFill>
            <a:srgbClr val="6E5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370332"/>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70332" y="384048"/>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338328" y="338328"/>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73481" y="370332"/>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94205" y="384048"/>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11853641" y="338328"/>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6460236"/>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0332" y="5239512"/>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amond 13"/>
          <p:cNvSpPr/>
          <p:nvPr/>
        </p:nvSpPr>
        <p:spPr>
          <a:xfrm>
            <a:off x="338328" y="6519672"/>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73481" y="6460236"/>
            <a:ext cx="1234440" cy="27432"/>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794205" y="5239512"/>
            <a:ext cx="27432" cy="1234440"/>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11853641" y="6519672"/>
            <a:ext cx="91440" cy="91440"/>
          </a:xfrm>
          <a:prstGeom prst="diamond">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188720"/>
            <a:ext cx="9418320" cy="1143000"/>
          </a:xfrm>
          <a:prstGeom prst="rect">
            <a:avLst/>
          </a:prstGeom>
          <a:noFill/>
        </p:spPr>
        <p:txBody>
          <a:bodyPr wrap="square" anchor="t" lIns="0" rIns="0" tIns="0" bIns="0">
            <a:spAutoFit/>
          </a:bodyPr>
          <a:lstStyle/>
          <a:p>
            <a:pPr algn="ctr">
              <a:lnSpc>
                <a:spcPct val="125000"/>
              </a:lnSpc>
              <a:spcAft>
                <a:spcPts val="0"/>
              </a:spcAft>
            </a:pPr>
            <a:r>
              <a:rPr sz="5000" b="1" spc="800">
                <a:solidFill>
                  <a:srgbClr val="F0E6D2"/>
                </a:solidFill>
                <a:latin typeface="맑은 고딕"/>
              </a:rPr>
              <a:t>승   리</a:t>
            </a:r>
          </a:p>
        </p:txBody>
      </p:sp>
      <p:sp>
        <p:nvSpPr>
          <p:cNvPr id="19" name="Rectangle 18"/>
          <p:cNvSpPr/>
          <p:nvPr/>
        </p:nvSpPr>
        <p:spPr>
          <a:xfrm>
            <a:off x="4892040" y="2432304"/>
            <a:ext cx="2404872" cy="41148"/>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2670048"/>
            <a:ext cx="9418320" cy="457200"/>
          </a:xfrm>
          <a:prstGeom prst="rect">
            <a:avLst/>
          </a:prstGeom>
          <a:noFill/>
        </p:spPr>
        <p:txBody>
          <a:bodyPr wrap="square" anchor="t" lIns="0" rIns="0" tIns="0" bIns="0">
            <a:spAutoFit/>
          </a:bodyPr>
          <a:lstStyle/>
          <a:p>
            <a:pPr algn="ctr">
              <a:lnSpc>
                <a:spcPct val="125000"/>
              </a:lnSpc>
              <a:spcAft>
                <a:spcPts val="0"/>
              </a:spcAft>
            </a:pPr>
            <a:r>
              <a:rPr sz="1800" b="1" spc="100">
                <a:solidFill>
                  <a:srgbClr val="C89B3C"/>
                </a:solidFill>
                <a:latin typeface="맑은 고딕"/>
              </a:rPr>
              <a:t>골드차 4천이면 끝난 경기, 1천 미만이면 이제 시작입니다</a:t>
            </a:r>
          </a:p>
        </p:txBody>
      </p:sp>
      <p:sp>
        <p:nvSpPr>
          <p:cNvPr id="21" name="Rectangle 20"/>
          <p:cNvSpPr/>
          <p:nvPr/>
        </p:nvSpPr>
        <p:spPr>
          <a:xfrm>
            <a:off x="868680"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712"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①  골드(돈) 차이</a:t>
            </a:r>
          </a:p>
          <a:p>
            <a:pPr algn="l">
              <a:lnSpc>
                <a:spcPct val="132000"/>
              </a:lnSpc>
              <a:spcAft>
                <a:spcPts val="0"/>
              </a:spcAft>
            </a:pPr>
            <a:r>
              <a:rPr sz="1100" b="0">
                <a:solidFill>
                  <a:srgbClr val="C8C5BC"/>
                </a:solidFill>
                <a:latin typeface="맑은 고딕"/>
              </a:rPr>
              <a:t>4,200 이상이면 사실상 결정(적중률 95%)</a:t>
            </a:r>
            <a:br>
              <a:rPr sz="1100" b="0">
                <a:solidFill>
                  <a:srgbClr val="C8C5BC"/>
                </a:solidFill>
                <a:latin typeface="맑은 고딕"/>
              </a:rPr>
            </a:br>
            <a:r>
              <a:rPr sz="1100" b="0">
                <a:solidFill>
                  <a:srgbClr val="C8C5BC"/>
                </a:solidFill>
                <a:latin typeface="맑은 고딕"/>
              </a:rPr>
              <a:t>1,000 미만이면 진짜 승부는 지금부터(62%)</a:t>
            </a:r>
          </a:p>
        </p:txBody>
      </p:sp>
      <p:sp>
        <p:nvSpPr>
          <p:cNvPr id="24" name="Rectangle 23"/>
          <p:cNvSpPr/>
          <p:nvPr/>
        </p:nvSpPr>
        <p:spPr>
          <a:xfrm>
            <a:off x="4453128"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53128"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②  경험치(레벨) 차이</a:t>
            </a:r>
          </a:p>
          <a:p>
            <a:pPr algn="l">
              <a:lnSpc>
                <a:spcPct val="132000"/>
              </a:lnSpc>
              <a:spcAft>
                <a:spcPts val="0"/>
              </a:spcAft>
            </a:pPr>
            <a:r>
              <a:rPr sz="1100" b="0">
                <a:solidFill>
                  <a:srgbClr val="C8C5BC"/>
                </a:solidFill>
                <a:latin typeface="맑은 고딕"/>
              </a:rPr>
              <a:t>돈과 별개로 레벨이 앞서면 유리하다</a:t>
            </a:r>
          </a:p>
        </p:txBody>
      </p:sp>
      <p:sp>
        <p:nvSpPr>
          <p:cNvPr id="27" name="Rectangle 26"/>
          <p:cNvSpPr/>
          <p:nvPr/>
        </p:nvSpPr>
        <p:spPr>
          <a:xfrm>
            <a:off x="8037575" y="3401568"/>
            <a:ext cx="3401568" cy="1298448"/>
          </a:xfrm>
          <a:prstGeom prst="rect">
            <a:avLst/>
          </a:prstGeom>
          <a:solidFill>
            <a:srgbClr val="10223E">
              <a:alpha val="86000"/>
            </a:srgbClr>
          </a:solidFill>
          <a:ln w="12700">
            <a:solidFill>
              <a:srgbClr val="7862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7575" y="3401568"/>
            <a:ext cx="3401568" cy="36576"/>
          </a:xfrm>
          <a:prstGeom prst="rect">
            <a:avLst/>
          </a:prstGeom>
          <a:solidFill>
            <a:srgbClr val="C89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7" y="3584448"/>
            <a:ext cx="2926080" cy="1005840"/>
          </a:xfrm>
          <a:prstGeom prst="rect">
            <a:avLst/>
          </a:prstGeom>
          <a:noFill/>
        </p:spPr>
        <p:txBody>
          <a:bodyPr wrap="square" anchor="t" lIns="0" rIns="0" tIns="0" bIns="0">
            <a:spAutoFit/>
          </a:bodyPr>
          <a:lstStyle/>
          <a:p>
            <a:pPr algn="l">
              <a:lnSpc>
                <a:spcPct val="125000"/>
              </a:lnSpc>
              <a:spcAft>
                <a:spcPts val="700"/>
              </a:spcAft>
            </a:pPr>
            <a:r>
              <a:rPr sz="1350" b="1">
                <a:solidFill>
                  <a:srgbClr val="F0E6D2"/>
                </a:solidFill>
                <a:latin typeface="맑은 고딕"/>
              </a:rPr>
              <a:t>③  드래곤</a:t>
            </a:r>
          </a:p>
          <a:p>
            <a:pPr algn="l">
              <a:lnSpc>
                <a:spcPct val="132000"/>
              </a:lnSpc>
              <a:spcAft>
                <a:spcPts val="0"/>
              </a:spcAft>
            </a:pPr>
            <a:r>
              <a:rPr sz="1100" b="0">
                <a:solidFill>
                  <a:srgbClr val="C8C5BC"/>
                </a:solidFill>
                <a:latin typeface="맑은 고딕"/>
              </a:rPr>
              <a:t>팀 전체가 강해지는 버프 — 유의미한 3위</a:t>
            </a:r>
          </a:p>
        </p:txBody>
      </p:sp>
      <p:sp>
        <p:nvSpPr>
          <p:cNvPr id="30" name="Rectangle 29"/>
          <p:cNvSpPr/>
          <p:nvPr/>
        </p:nvSpPr>
        <p:spPr>
          <a:xfrm>
            <a:off x="868680" y="4919472"/>
            <a:ext cx="10451592" cy="713232"/>
          </a:xfrm>
          <a:prstGeom prst="rect">
            <a:avLst/>
          </a:prstGeom>
          <a:solidFill>
            <a:srgbClr val="010A13">
              <a:alpha val="84000"/>
            </a:srgbClr>
          </a:solidFill>
          <a:ln w="12700">
            <a:solidFill>
              <a:srgbClr val="725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3000" y="4919472"/>
            <a:ext cx="9875520" cy="713232"/>
          </a:xfrm>
          <a:prstGeom prst="rect">
            <a:avLst/>
          </a:prstGeom>
          <a:noFill/>
        </p:spPr>
        <p:txBody>
          <a:bodyPr wrap="square" anchor="ctr" lIns="0" rIns="0" tIns="0" bIns="0">
            <a:spAutoFit/>
          </a:bodyPr>
          <a:lstStyle/>
          <a:p>
            <a:pPr algn="ctr">
              <a:lnSpc>
                <a:spcPct val="130000"/>
              </a:lnSpc>
              <a:spcAft>
                <a:spcPts val="0"/>
              </a:spcAft>
            </a:pPr>
            <a:r>
              <a:rPr sz="1250" b="0">
                <a:solidFill>
                  <a:srgbClr val="BCB9AE"/>
                </a:solidFill>
                <a:latin typeface="맑은 고딕"/>
              </a:rPr>
              <a:t>킬은 왜 목록에 없나 — 킬의 가치는 이미 돈 차이 안에 들어 있습니다.</a:t>
            </a:r>
            <a:br>
              <a:rPr sz="1250" b="0">
                <a:solidFill>
                  <a:srgbClr val="BCB9AE"/>
                </a:solidFill>
                <a:latin typeface="맑은 고딕"/>
              </a:rPr>
            </a:br>
            <a:r>
              <a:rPr sz="1250" b="0">
                <a:solidFill>
                  <a:srgbClr val="BCB9AE"/>
                </a:solidFill>
                <a:latin typeface="맑은 고딕"/>
              </a:rPr>
              <a:t>"싸움을 이겼나"가 아니라 "그 싸움이 돈 격차로 이어졌나"를 보세요.</a:t>
            </a:r>
          </a:p>
          <a:p>
            <a:pPr algn="ctr">
              <a:lnSpc>
                <a:spcPct val="130000"/>
              </a:lnSpc>
              <a:spcAft>
                <a:spcPts val="0"/>
              </a:spcAft>
            </a:pPr>
            <a:r>
              <a:rPr sz="1250" b="0">
                <a:solidFill>
                  <a:srgbClr val="BCB9AE"/>
                </a:solidFill>
                <a:latin typeface="맑은 고딕"/>
              </a:rPr>
              <a:t>다음 걸음 — 예측을 팔고(정밀도), 끝난 판의 기록을 쌓아 파는(재현율) 서비스로.</a:t>
            </a:r>
            <a:r>
              <a:rPr sz="1250" b="0">
                <a:solidFill>
                  <a:srgbClr val="BCB9AE"/>
                </a:solidFill>
                <a:latin typeface="맑은 고딕"/>
              </a:rPr>
              <a:t/>
            </a:r>
          </a:p>
        </p:txBody>
      </p:sp>
      <p:sp>
        <p:nvSpPr>
          <p:cNvPr id="32" name="TextBox 31"/>
          <p:cNvSpPr txBox="1"/>
          <p:nvPr/>
        </p:nvSpPr>
        <p:spPr>
          <a:xfrm>
            <a:off x="1371600" y="5870448"/>
            <a:ext cx="9418320" cy="365760"/>
          </a:xfrm>
          <a:prstGeom prst="rect">
            <a:avLst/>
          </a:prstGeom>
          <a:noFill/>
        </p:spPr>
        <p:txBody>
          <a:bodyPr wrap="square" anchor="t" lIns="0" rIns="0" tIns="0" bIns="0">
            <a:spAutoFit/>
          </a:bodyPr>
          <a:lstStyle/>
          <a:p>
            <a:pPr algn="ctr">
              <a:lnSpc>
                <a:spcPct val="125000"/>
              </a:lnSpc>
              <a:spcAft>
                <a:spcPts val="0"/>
              </a:spcAft>
            </a:pPr>
            <a:r>
              <a:rPr sz="1300" b="0" spc="120">
                <a:solidFill>
                  <a:srgbClr val="AE9B70"/>
                </a:solidFill>
                <a:latin typeface="맑은 고딕"/>
              </a:rPr>
              <a:t>들어주셔서 감사합니다.   ·   4조   ·   p4.sumzip.com</a:t>
            </a:r>
          </a:p>
        </p:txBody>
      </p:sp>
      <p:sp>
        <p:nvSpPr>
          <p:cNvPr id="33" name="TextBox 32"/>
          <p:cNvSpPr txBox="1"/>
          <p:nvPr/>
        </p:nvSpPr>
        <p:spPr>
          <a:xfrm>
            <a:off x="10972800" y="6574536"/>
            <a:ext cx="868680" cy="201168"/>
          </a:xfrm>
          <a:prstGeom prst="rect">
            <a:avLst/>
          </a:prstGeom>
          <a:noFill/>
        </p:spPr>
        <p:txBody>
          <a:bodyPr wrap="square" anchor="ctr" lIns="0" rIns="0" tIns="0" bIns="0">
            <a:spAutoFit/>
          </a:bodyPr>
          <a:lstStyle/>
          <a:p>
            <a:pPr algn="r"/>
            <a:fld id="{12E70FB6-6335-4417-AE20-7210C0C1BE47}" type="slidenum">
              <a:rPr lang="ko-KR" sz="950">
                <a:solidFill>
                  <a:srgbClr val="73726E"/>
                </a:solidFill>
                <a:latin typeface="맑은 고딕"/>
                <a:ea typeface="맑은 고딕"/>
              </a:rPr>
              <a:t>53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