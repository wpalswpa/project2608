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9" roundtripDataSignature="AMtx7mjhVwzyhc+9Pv1+jeNSJQcOGf/1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956E51-EF99-4CE0-B1A4-93B49CD02E09}">
  <a:tblStyle styleId="{46956E51-EF99-4CE0-B1A4-93B49CD02E0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Malgun Gothic"/>
                <a:ea typeface="Malgun Gothic"/>
                <a:cs typeface="Malgun Gothic"/>
                <a:sym typeface="Malgun Gothic"/>
              </a:rPr>
              <a:t>4조 발표를 시작하겠습니다. 주제는 인게임 시점별 경기 데이터 기반 승패 예측과 핵심 승리요인 분석입니다. 제목이 곧 질문입니다 — 경기는 언제 승부가 결정되는가. 10분 시점 데이터로 답해 보고, 답이 안 나오는 지점까지 그대로 보여드리겠습니다.</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먼저 팀원을 소개하겠습니다. 정상천 · 이제민 · 박예은 · 임의석 · 류서영 다섯 명입니다.</a:t>
            </a:r>
            <a:endParaRPr/>
          </a:p>
        </p:txBody>
      </p:sp>
      <p:sp>
        <p:nvSpPr>
          <p:cNvPr id="103" name="Google Shape;103;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순서입니다. 무엇을 만들었는지와 데이터를 보고, Phase 1·2·3 순서로 갑니다. 중간에 경기 유형을 따로 다루고, 마지막에 서비스와 한계를 말씀드립니다. 세 단계가 그냥 나열된 게 아니라 앞 단계가 남긴 질문을 다음 단계가 받습니다.</a:t>
            </a:r>
            <a:endParaRPr/>
          </a:p>
        </p:txBody>
      </p:sp>
      <p:sp>
        <p:nvSpPr>
          <p:cNvPr id="141" name="Google Shape;14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세 단계로 진행했고 서로 이어져 있습니다. Phase 1에서 골드가 1위인데 킬 계수가 음수로 나왔습니다. 이대로면 킬하면 진다는 말이 되니 Phase 2에서 골드를 빼고 다시 학습했습니다. 킬이 플러스 0.508로 살아났고 점수는 0.002만 떨어졌습니다. 지표를 바꿔도 상한이 같다는 뜻이라, Phase 3에서 시점 자체를 바꿨습니다.</a:t>
            </a:r>
            <a:endParaRPr/>
          </a:p>
        </p:txBody>
      </p:sp>
      <p:sp>
        <p:nvSpPr>
          <p:cNvPr id="190" name="Google Shape;19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게임을 모르셔도 됩니다. 골드는 돈, 미니언은 그 돈의 주 수입원, 경험치는 레벨, 드래곤은 팀 전체가 강해지는 버프입니다. 5대5로 싸워 본진을 먼저 부수면 이기고 무승부는 없습니다. 중요한 건 킬도 돈을 준다는 겁니다. 킬이든 미니언이든 타워든 전부 돈 차이로 모입니다. 이 사실이 뒤에서 계속 중요해집니다.</a:t>
            </a:r>
            <a:endParaRPr/>
          </a:p>
        </p:txBody>
      </p:sp>
      <p:sp>
        <p:nvSpPr>
          <p:cNvPr id="211" name="Google Shape;21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먼저 무엇을 만들었고 무엇으로 답했는지부터 말씀드리겠습니다.</a:t>
            </a:r>
            <a:endParaRPr/>
          </a:p>
        </p:txBody>
      </p:sp>
      <p:sp>
        <p:nvSpPr>
          <p:cNvPr id="274" name="Google Shape;27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a15e3bff5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fa15e3bff5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fa15e3bff5_2_10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g3fa15e3bff5_2_1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만든 순서를 먼저 말씀드립니다. 결정한 순서지 작업한 순서가 아닙니다. 기능을 먼저 정했고, 이유를 반드시 낸다는 조건이 이후 모든 선택을 결정했습니다. 이 조건이 뒤에서 코칭 기능으로 이어집니다.</a:t>
            </a:r>
            <a:endParaRPr/>
          </a:p>
        </p:txBody>
      </p:sp>
      <p:sp>
        <p:nvSpPr>
          <p:cNvPr id="307" name="Google Shape;307;g3fa15e3bff5_2_10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데이터는 캐글의 다이아몬드 랭크 10분 데이터입니다. 9,879판이고 결측도 중복도 0건입니다. 승패가 50.1 대 49.9로 거의 반반이라 정확도를 1순위로 써도 정당합니다. 그리고 가장 중요한 규칙 — 어떤 전처리보다 분할이 먼저입니다. 이어지는 EDA 다섯 장은 전부 학습셋만 보고 그렸습니다.</a:t>
            </a:r>
            <a:endParaRPr/>
          </a:p>
        </p:txBody>
      </p:sp>
      <p:sp>
        <p:nvSpPr>
          <p:cNvPr id="339" name="Google Shape;339;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어떻게 나눴는지 말씀드립니다. 8 대 2 로 나눠 학습 7,903판, 시험 1,976판입니다. 층화 분할이라 승패 비율을 양쪽에 똑같이 유지했습니다. 학습 0.4991, 시험 0.4990 입니다. 시드는 42 로 고정했고, 분할 인덱스를 파일로 저장했습니다. 그래서 이후 어떤 스크립트를 돌려도 같은 시험지를 씁니다. 이 시험지 1,976판은 여기서 봉인하고 마지막 평가까지 한 번도 열지 않습니다. 그 사이 EDA도, 피처 정리도, 모델 비교도 전부 학습셋만 보고 했습니다.</a:t>
            </a:r>
            <a:endParaRPr/>
          </a:p>
        </p:txBody>
      </p:sp>
      <p:sp>
        <p:nvSpPr>
          <p:cNvPr id="359" name="Google Shape;35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분할이 제대로 됐는지 네 가지를 확인했습니다. 인덱스 겹침 0건, 빠진 행 없음, 층화 오차 0.0001, 같은 경기 재등장 0건. 가운데 그림에서 전체·학습·시험이 전부 0.499로 같고, 오른쪽 골드차 분포도 포개집니다. 네 개가 다 통과했으니 여기서부터 모델링을 시작해도 됩니다.</a:t>
            </a:r>
            <a:endParaRPr/>
          </a:p>
        </p:txBody>
      </p:sp>
      <p:sp>
        <p:nvSpPr>
          <p:cNvPr id="385" name="Google Shape;38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쓰는 컬럼 열세 개가 각각 무엇인지 짚고 가겠습니다. 왼쪽 일곱 개가 성장 지표입니다. 골드, 경험치, 평균 레벨, 미니언, 정글 몬스터, 킬, 어시스트. 아까 말씀드린 대로 이것들은 결국 돈으로 모입니다. 오른쪽 여섯 개는 오브젝트와 시야입니다. 드래곤, 전령, 타워, 첫 킬, 와드 설치와 제거입니다. 이름 규칙은 하나입니다. 전부 파란 팀 빼기 빨간 팀이라, 양수면 파란 팀이 앞선다는 뜻입니다. 그리고 이 열세 개 말고는 아무것도 안 넣었습니다. 챔피언이나 티어 같은 건 이 데이터에 없습니다.</a:t>
            </a:r>
            <a:endParaRPr/>
          </a:p>
        </p:txBody>
      </p:sp>
      <p:sp>
        <p:nvSpPr>
          <p:cNvPr id="407" name="Google Shape;40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Phase 1입니다. 얼마나 맞히나, 무엇이 승패를 가르나에 답합니다.</a:t>
            </a:r>
            <a:endParaRPr/>
          </a:p>
        </p:txBody>
      </p:sp>
      <p:sp>
        <p:nvSpPr>
          <p:cNvPr id="432" name="Google Shape;432;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fa15e3bff5_2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fa15e3bff5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모델은 8종을 똑같은 조건에서 비교했습니다. 왼쪽이 점수 순위인데 1위와 2위가 0.003 차이입니다. 점수로는 못 고릅니다. 오른쪽이 배웠나 외웠나를 본 건데, 랜덤포레스트는 연습이 만점인데 검증은 0.7191입니다. 통째로 외운 겁니다.</a:t>
            </a:r>
            <a:endParaRPr/>
          </a:p>
        </p:txBody>
      </p:sp>
      <p:sp>
        <p:nvSpPr>
          <p:cNvPr id="465" name="Google Shape;465;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2위였던 나이브베이즈도 끝까지 학습해서 견줘봤습니다. 정확도는 대등한데 확률의 얼굴이 다릅니다. 나이브베이즈는 경기 세 판 중 두 판에 95퍼센트 이상 확신을 겁니다. 팽팽한 접전에도요. 지표가 상관 0.9로 얽혀 있는데 독립이라 가정하고 곱하니 확신이 부풀어 오르는 겁니다. 확률을 화면에 그대로 보여주는 서비스라 탈락입니다.</a:t>
            </a:r>
            <a:endParaRPr/>
          </a:p>
        </p:txBody>
      </p:sp>
      <p:sp>
        <p:nvSpPr>
          <p:cNvPr id="493" name="Google Shape;493;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fa15e3bff5_2_1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g3fa15e3bff5_2_1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격차를 숫자 하나로 만들어 0.03을 합격선으로 잡았습니다. 랜덤포레스트는 0.2809로 기준의 아홉 배입니다. 남은 후보에 마지막 기준을 적용했습니다. 이유를 반드시 낸다는 조건입니다. 로지스틱만 세 칸을 다 통과합니다. 튜닝도 하지 않았습니다. 골드 하나만 넣어도 0.7313이라 짜낼 게 없었습니다.</a:t>
            </a:r>
            <a:endParaRPr/>
          </a:p>
        </p:txBody>
      </p:sp>
      <p:sp>
        <p:nvSpPr>
          <p:cNvPr id="521" name="Google Shape;521;g3fa15e3bff5_2_1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이 점수가 운이 아닌지도 확인했습니다. 5조각 교차검증에서 0.7315, 격차 0.0022로 외우지 않았습니다. 분할부터 다시 하는 시드 10회 반복에서 0.7366에 표준편차 0.0081입니다. 열 번 전부 목표 0.70을 넘었습니다. 발표에는 이 값을 대표로 씁니다.</a:t>
            </a:r>
            <a:endParaRPr/>
          </a:p>
        </p:txBody>
      </p:sp>
      <p:sp>
        <p:nvSpPr>
          <p:cNvPr id="543" name="Google Shape;543;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1" name="Google Shape;57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봉인해 둔 시험지를 엽니다. 1,976판이고 모델이 한 번도 보지 않은 데이터입니다. 정확도 0.7366, AUC 0.815입니다. 혼동행렬을 보면 틀린 방향이 244 대 271로 거의 같습니다. 어느 팀도 편들지 않는다는 뜻이라 임계값을 손볼 이유가 없었습니다. AUC 0.815는 승리 경기에 더 높은 확률을 줄 가능성이 81.5퍼센트라는 뜻입니다.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AUC </a:t>
            </a:r>
            <a:r>
              <a:rPr lang="en-US" sz="1200">
                <a:solidFill>
                  <a:schemeClr val="dk1"/>
                </a:solidFill>
                <a:latin typeface="Malgun Gothic"/>
                <a:ea typeface="Malgun Gothic"/>
                <a:cs typeface="Malgun Gothic"/>
                <a:sym typeface="Malgun Gothic"/>
              </a:rPr>
              <a:t>이기는 경기를 잘 예측한다.</a:t>
            </a:r>
            <a:endParaRPr/>
          </a:p>
        </p:txBody>
      </p:sp>
      <p:sp>
        <p:nvSpPr>
          <p:cNvPr id="572" name="Google Shape;572;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승패를 가르는 건 골드, 경험치, 드래곤 순서입니다. 두 방법이 같은 순위를 냈고 분할을 열 번 바꿔도 1, 2, 3위가 안 바뀌었습니다. 그런데 왼쪽 그림에 빨간 막대가 네 개 있습니다. 미니언, 킬, 어시스트, 타워가 음수입니다. 이대로면 킬을 많이 한 팀이 불리하다는 말이 됩니다. 이 그림이 Phase 2를 부릅니다.</a:t>
            </a:r>
            <a:endParaRPr/>
          </a:p>
        </p:txBody>
      </p:sp>
      <p:sp>
        <p:nvSpPr>
          <p:cNvPr id="608" name="Google Shape;60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3" name="Google Shape;633;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킬 계수가 왜 음수인지는 이 그림 한 장이면 됩니다. 킬을 해도, 미니언을 잡아도, 타워를 밀어도 전부 골드로 흘러 들어갑니다. 그래서 골드를 이미 아는 모델에게 킬은 새로 알려줄 게 없고, 남은 몫이 음수로 나옵니다. 정확한 해석은 킬은 돈으로 환산됐을 때만 의미가 있다는 것입니다.</a:t>
            </a:r>
            <a:endParaRPr/>
          </a:p>
        </p:txBody>
      </p:sp>
      <p:sp>
        <p:nvSpPr>
          <p:cNvPr id="634" name="Google Shape;634;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0" name="Google Shape;66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모델을 돌리기 전에 눈으로 먼저 봤습니다. 승률이 S자로 매끄럽게 오릅니다. 그런데 중요한 건 가운데입니다. 경기가 제일 많이 몰린 플러스마이너스 천 구간이 전체의 33퍼센트인데 승률이 49.5퍼센트, 사실상 동전 던지기입니다. 접전 정확도 0.615가 여기서 예고됩니다.</a:t>
            </a:r>
            <a:endParaRPr/>
          </a:p>
        </p:txBody>
      </p:sp>
      <p:sp>
        <p:nvSpPr>
          <p:cNvPr id="661" name="Google Shape;661;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7" name="Google Shape;687;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Phase 2입니다. 계수가 이상했던 원인을 직접 실험으로 확인합니다.</a:t>
            </a:r>
            <a:endParaRPr/>
          </a:p>
        </p:txBody>
      </p:sp>
      <p:sp>
        <p:nvSpPr>
          <p:cNvPr id="688" name="Google Shape;688;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fa15e3bff5_2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fa15e3bff5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0" name="Google Shape;720;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왜 골드를 빼봤는지부터 말씀드립니다. 상관 0.7 넘는 쌍이 여덟 개인데 그중 네 개가 골드 낀 쌍입니다. VIF로 봐도 골드가 23.4로 1위입니다. 10 넘으면 중복으로 봅니다. 오른쪽 아래 빨간 점 다섯 개가 문제의 증거입니다. 골드가 중복의 중심이었던 겁니다.</a:t>
            </a:r>
            <a:endParaRPr/>
          </a:p>
        </p:txBody>
      </p:sp>
      <p:sp>
        <p:nvSpPr>
          <p:cNvPr id="721" name="Google Shape;721;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8" name="Google Shape;748;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골드를 빼고 다시 학습했습니다. 킬이 마이너스 0.107에서 플러스 0.508로 뒤집혔습니다. 미니언, 어시스트, 타워, 정글 몹까지 음수였던 다섯 개가 전부 양수가 됐습니다. 킬이 승패와 무관했던 게 아니라 골드가 킬의 몫까지 가져가고 있었던 겁니다.</a:t>
            </a:r>
            <a:endParaRPr/>
          </a:p>
        </p:txBody>
      </p:sp>
      <p:sp>
        <p:nvSpPr>
          <p:cNvPr id="749" name="Google Shape;749;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7" name="Google Shape;777;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가장 강한 지표를 통째로 뺐는데 홀드아웃이 0.002 차이입니다. 골드가 특별해서 1위였던 게 아니라 다른 지표가 이미 같은 정보를 담고 있어서 대신 채워지는 겁니다. 성장 지표를 전부 빼면 0.6336으로 확 떨어집니다. 결국 성장 격차가 가른다는 뜻입니다.</a:t>
            </a:r>
            <a:endParaRPr/>
          </a:p>
        </p:txBody>
      </p:sp>
      <p:sp>
        <p:nvSpPr>
          <p:cNvPr id="778" name="Google Shape;778;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1" name="Google Shape;80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처음에는 PCA 평면에서 묶어봤습니다. 별로 얻은 게 없었습니다. 솔직하게 적습니다. 첫 축 하나가 39퍼센트를 설명하는데, 두 덩어리가 PC1의 0을 기준으로 세로로 잘려 있을 뿐입니다. 결국 블루가 앞선 판과 레드가 앞선 판으로 나눈 것이라 새 정보가 없습니다. 그런데 의심이 남습니다. 골드가 워낙 세니까 안 통한 것 아닐까요.</a:t>
            </a:r>
            <a:endParaRPr/>
          </a:p>
        </p:txBody>
      </p:sp>
      <p:sp>
        <p:nvSpPr>
          <p:cNvPr id="802" name="Google Shape;80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8" name="Google Shape;82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네 가지 성격이 나왔습니다. 왼쪽 산점도에서 오른쪽 끝 주황색 일방적 경기만 뚜렷하게 떨어져 있습니다. 나머지 셋은 골드차로는 같은 자리에 있고 킬 수로만 갈립니다. 난타전과 운영전은 킬이 15회냐 9회냐로 정반대인데 골드차도 리드팀 승률도 거의 같습니다. 싸움을 많이 한다고 격차가 더 벌어지지 않는다는 뜻입니다. 일방적 경기만 90퍼센트로 이미 끝나 있고 나머지는 3판 중 1판이 뒤집힙니다. 구간별 정확도에서 나온 결론이 정답을 감춘 방법에서도 똑같이 나왔습니다.</a:t>
            </a:r>
            <a:endParaRPr/>
          </a:p>
        </p:txBody>
      </p:sp>
      <p:sp>
        <p:nvSpPr>
          <p:cNvPr id="829" name="Google Shape;829;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3" name="Google Shape;873;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Phase 3입니다. 지표가 아니라 시점 자체를 바꿔봤습니다.</a:t>
            </a:r>
            <a:endParaRPr/>
          </a:p>
        </p:txBody>
      </p:sp>
      <p:sp>
        <p:nvSpPr>
          <p:cNvPr id="874" name="Google Shape;874;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fa15e3bff5_2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fa15e3bff5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5" name="Google Shape;925;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0.704에서 0.756으로 5.25퍼센트포인트 올랐습니다. 시드를 열 번 바꿔도 열 번 다 15분이 우세했습니다. 골드가 0.91에서 1.18로, 경험치가 0.17에서 0.43으로 커지고 CS는 줄어듭니다. 라인전 단계가 지나고 격차 자체가 승패를 말하는 단계로 넘어간다는 뜻입니다.</a:t>
            </a:r>
            <a:endParaRPr/>
          </a:p>
        </p:txBody>
      </p:sp>
      <p:sp>
        <p:nvSpPr>
          <p:cNvPr id="926" name="Google Shape;926;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5" name="Google Shape;955;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전체 평균만 보면 중요한 걸 놓칩니다. 이미 크게 벌어진 경기는 5분을 더 봐도 변화가 정확히 0입니다. 반면 팽팽한 경기는 7.8퍼센트포인트 오릅니다. 10분에 팽팽했던 경기의 59퍼센트가 그 5분 사이에 기울기 때문입니다. 그래서 팽팽할 때만 5분이 값어치가 있다가 정확한 결론입니다.</a:t>
            </a:r>
            <a:endParaRPr/>
          </a:p>
        </p:txBody>
      </p:sp>
      <p:sp>
        <p:nvSpPr>
          <p:cNvPr id="956" name="Google Shape;956;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3" name="Google Shape;983;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제목의 답입니다. 경기의 약 10퍼센트는 10분에 이미 끝나 있습니다. 절반쯤 되는 팽팽한 경기는 그 6할이 10분에서 15분 사이에 갈립니다. 초반에 다 기운다도 틀렸고, 끝까지 모른다도 틀렸습니다. 경기 성격에 따라 다릅니다.</a:t>
            </a:r>
            <a:endParaRPr/>
          </a:p>
        </p:txBody>
      </p:sp>
      <p:sp>
        <p:nvSpPr>
          <p:cNvPr id="984" name="Google Shape;984;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9" name="Google Shape;1019;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마지막으로 모델이 화면에서 무엇이 되는지, 그리고 한계를 말씀드리겠습니다.</a:t>
            </a:r>
            <a:endParaRPr/>
          </a:p>
        </p:txBody>
      </p:sp>
      <p:sp>
        <p:nvSpPr>
          <p:cNvPr id="1020" name="Google Shape;1020;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fa15e3bff5_2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3fa15e3bff5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2" name="Google Shape;1052;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이제 실제 화면을 보여드리겠습니다. 주소는 p4.sumzip.com 입니다. 소환사 이름과 태그를 넣고 분석을 누르면 최근 경기 목록이 나옵니다. 경기 한 판을 펼치면 우세승·역전패·역전승·열세패 중 어디에 해당하는지와 10분 시점 승률이 나옵니다. 이 판정을 믿어도 되나를 열면 그 구간의 적중률과 승리요인 순위가 보이고, 마지막으로 그래서 뭘 했어야 했나를 열면 코칭이 나옵니다. 여기 뜨는 확률은 전부 학습된 모델이 낸 값 그대로입니다.</a:t>
            </a:r>
            <a:endParaRPr/>
          </a:p>
        </p:txBody>
      </p:sp>
      <p:sp>
        <p:nvSpPr>
          <p:cNvPr id="1053" name="Google Shape;1053;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5" name="Google Shape;1075;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한계도 그대로 말씀드립니다. 팽팽한 경기는 10분 정보로 못 맞힙니다. 코칭의 했다면은 인과 증명이 아니라 관찰 데이터로 계산한 가정입니다. 수집 시점 패치와 다이아 티어에 한정되고, 시점 비교는 프로 경기 결과입니다. 경기 유형 네 개는 설명 편의로 고른 값이고, 정성 테스트는 한 명에게만 했습니다. 확률의 정확함도 Brier로만 확인했고 구간별 신뢰도 곡선까지는 그리지 않았습니다.</a:t>
            </a:r>
            <a:endParaRPr/>
          </a:p>
        </p:txBody>
      </p:sp>
      <p:sp>
        <p:nvSpPr>
          <p:cNvPr id="1076" name="Google Shape;1076;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9" name="Google Shape;1109;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마지막으로 게임을 모르셔도 오늘부터 쓸 수 있는 관전 포인트 세 가지를 드리겠습니다. 골드 차이, 경험치 차이, 드래곤입니다. 킬이 목록에 없는 이유는 킬의 가치가 이미 돈 차이 안에 들어 있기 때문입니다. 한 줄로 요약하면, 골드차 4천이면 끝난 경기, 1천 미만이면 이제 시작입니다. 들어주셔서 감사합니다.</a:t>
            </a:r>
            <a:endParaRPr/>
          </a:p>
        </p:txBody>
      </p:sp>
      <p:sp>
        <p:nvSpPr>
          <p:cNvPr id="1110" name="Google Shape;1110;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fa15e3bff5_2_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4" name="Google Shape;1134;g3fa15e3bff5_2_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Malgun Gothic"/>
                <a:ea typeface="Malgun Gothic"/>
                <a:cs typeface="Malgun Gothic"/>
                <a:sym typeface="Malgun Gothic"/>
              </a:rPr>
              <a:t>마지막으로 게임을 모르셔도 오늘부터 쓸 수 있는 관전 포인트 세 가지를 드리겠습니다. 골드 차이, 경험치 차이, 드래곤입니다. 킬이 목록에 없는 이유는 킬의 가치가 이미 돈 차이 안에 들어 있기 때문입니다. 한 줄로 요약하면, 골드차 4천이면 끝난 경기, 1천 미만이면 이제 시작입니다. 들어주셔서 감사합니다.</a:t>
            </a:r>
            <a:endParaRPr/>
          </a:p>
        </p:txBody>
      </p:sp>
      <p:sp>
        <p:nvSpPr>
          <p:cNvPr id="1135" name="Google Shape;1135;g3fa15e3bff5_2_5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7"/>
          <p:cNvSpPr/>
          <p:nvPr>
            <p:ph idx="2" type="pic"/>
          </p:nvPr>
        </p:nvSpPr>
        <p:spPr>
          <a:xfrm>
            <a:off x="1792288" y="612775"/>
            <a:ext cx="5486400" cy="4114800"/>
          </a:xfrm>
          <a:prstGeom prst="rect">
            <a:avLst/>
          </a:prstGeom>
          <a:noFill/>
          <a:ln>
            <a:noFill/>
          </a:ln>
        </p:spPr>
      </p:sp>
      <p:sp>
        <p:nvSpPr>
          <p:cNvPr id="64" name="Google Shape;64;p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5.jpg"/><Relationship Id="rId5" Type="http://schemas.openxmlformats.org/officeDocument/2006/relationships/image" Target="../media/image4.jpg"/><Relationship Id="rId6" Type="http://schemas.openxmlformats.org/officeDocument/2006/relationships/image" Target="../media/image9.jpg"/><Relationship Id="rId7"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13.png"/><Relationship Id="rId13" Type="http://schemas.openxmlformats.org/officeDocument/2006/relationships/image" Target="../media/image14.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7.jpg"/><Relationship Id="rId9" Type="http://schemas.openxmlformats.org/officeDocument/2006/relationships/image" Target="../media/image15.png"/><Relationship Id="rId15" Type="http://schemas.openxmlformats.org/officeDocument/2006/relationships/image" Target="../media/image26.png"/><Relationship Id="rId14" Type="http://schemas.openxmlformats.org/officeDocument/2006/relationships/image" Target="../media/image18.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12.png"/><Relationship Id="rId8"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0.jpg"/><Relationship Id="rId4" Type="http://schemas.openxmlformats.org/officeDocument/2006/relationships/image" Target="../media/image19.png"/><Relationship Id="rId5"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jpg"/><Relationship Id="rId4" Type="http://schemas.openxmlformats.org/officeDocument/2006/relationships/image" Target="../media/image19.pn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21.png"/><Relationship Id="rId5"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 Id="rId4" Type="http://schemas.openxmlformats.org/officeDocument/2006/relationships/image" Target="../media/image28.png"/><Relationship Id="rId5"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jp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jp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2.jpg"/><Relationship Id="rId4" Type="http://schemas.openxmlformats.org/officeDocument/2006/relationships/image" Target="../media/image19.png"/><Relationship Id="rId5"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jp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jp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jp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jp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0.jpg"/><Relationship Id="rId4" Type="http://schemas.openxmlformats.org/officeDocument/2006/relationships/image" Target="../media/image19.png"/><Relationship Id="rId5"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jp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jp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2.jpg"/><Relationship Id="rId4" Type="http://schemas.openxmlformats.org/officeDocument/2006/relationships/image" Target="../media/image19.png"/><Relationship Id="rId5"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12191969" cy="6858000"/>
          </a:xfrm>
          <a:prstGeom prst="rect">
            <a:avLst/>
          </a:prstGeom>
          <a:solidFill>
            <a:srgbClr val="0A14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jpg" id="86" name="Google Shape;86;p1"/>
          <p:cNvPicPr preferRelativeResize="0"/>
          <p:nvPr/>
        </p:nvPicPr>
        <p:blipFill rotWithShape="1">
          <a:blip r:embed="rId3">
            <a:alphaModFix amt="50000"/>
          </a:blip>
          <a:srcRect b="0" l="0" r="0" t="0"/>
          <a:stretch/>
        </p:blipFill>
        <p:spPr>
          <a:xfrm>
            <a:off x="0" y="0"/>
            <a:ext cx="12191969" cy="6858000"/>
          </a:xfrm>
          <a:prstGeom prst="rect">
            <a:avLst/>
          </a:prstGeom>
          <a:noFill/>
          <a:ln>
            <a:noFill/>
          </a:ln>
        </p:spPr>
      </p:pic>
      <p:sp>
        <p:nvSpPr>
          <p:cNvPr id="87" name="Google Shape;87;p1"/>
          <p:cNvSpPr/>
          <p:nvPr/>
        </p:nvSpPr>
        <p:spPr>
          <a:xfrm>
            <a:off x="0" y="0"/>
            <a:ext cx="6858000" cy="6858000"/>
          </a:xfrm>
          <a:prstGeom prst="rect">
            <a:avLst/>
          </a:prstGeom>
          <a:gradFill>
            <a:gsLst>
              <a:gs pos="0">
                <a:srgbClr val="010A13">
                  <a:alpha val="92157"/>
                </a:srgbClr>
              </a:gs>
              <a:gs pos="100000">
                <a:srgbClr val="0A1428">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 name="Google Shape;88;p1"/>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
          <p:cNvSpPr/>
          <p:nvPr/>
        </p:nvSpPr>
        <p:spPr>
          <a:xfrm>
            <a:off x="731520" y="960120"/>
            <a:ext cx="5577840" cy="5212080"/>
          </a:xfrm>
          <a:prstGeom prst="rect">
            <a:avLst/>
          </a:prstGeom>
          <a:solidFill>
            <a:srgbClr val="010A13">
              <a:alpha val="81961"/>
            </a:srgbClr>
          </a:solidFill>
          <a:ln cap="flat" cmpd="sng" w="15875">
            <a:solidFill>
              <a:srgbClr val="78623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p:nvPr/>
        </p:nvSpPr>
        <p:spPr>
          <a:xfrm>
            <a:off x="731520" y="960120"/>
            <a:ext cx="5577840" cy="4572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
          <p:cNvSpPr/>
          <p:nvPr/>
        </p:nvSpPr>
        <p:spPr>
          <a:xfrm rot="5400000">
            <a:off x="3063240" y="1234440"/>
            <a:ext cx="914400" cy="914400"/>
          </a:xfrm>
          <a:prstGeom prst="hexagon">
            <a:avLst>
              <a:gd fmla="val 25000" name="adj"/>
              <a:gd fmla="val 115470" name="vf"/>
            </a:avLst>
          </a:prstGeom>
          <a:solidFill>
            <a:srgbClr val="0F3D52"/>
          </a:solidFill>
          <a:ln cap="flat" cmpd="sng" w="2222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1"/>
          <p:cNvSpPr txBox="1"/>
          <p:nvPr/>
        </p:nvSpPr>
        <p:spPr>
          <a:xfrm>
            <a:off x="841248" y="2267712"/>
            <a:ext cx="5358384" cy="256032"/>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1400" u="none" cap="none" strike="noStrike">
                <a:solidFill>
                  <a:srgbClr val="C89B3C"/>
                </a:solidFill>
                <a:latin typeface="Malgun Gothic"/>
                <a:ea typeface="Malgun Gothic"/>
                <a:cs typeface="Malgun Gothic"/>
                <a:sym typeface="Malgun Gothic"/>
              </a:rPr>
              <a:t>LOL . EX</a:t>
            </a:r>
            <a:endParaRPr/>
          </a:p>
        </p:txBody>
      </p:sp>
      <p:sp>
        <p:nvSpPr>
          <p:cNvPr id="94" name="Google Shape;94;p1"/>
          <p:cNvSpPr txBox="1"/>
          <p:nvPr/>
        </p:nvSpPr>
        <p:spPr>
          <a:xfrm>
            <a:off x="841248" y="2679192"/>
            <a:ext cx="5358384" cy="1115568"/>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None/>
            </a:pPr>
            <a:r>
              <a:rPr b="1" i="0" lang="en-US" sz="3400" u="none" cap="none" strike="noStrike">
                <a:solidFill>
                  <a:srgbClr val="F0E6D2"/>
                </a:solidFill>
                <a:latin typeface="Malgun Gothic"/>
                <a:ea typeface="Malgun Gothic"/>
                <a:cs typeface="Malgun Gothic"/>
                <a:sym typeface="Malgun Gothic"/>
              </a:rPr>
              <a:t>LoL 경기는</a:t>
            </a:r>
            <a:br>
              <a:rPr b="1" i="0" lang="en-US" sz="3400" u="none" cap="none" strike="noStrike">
                <a:solidFill>
                  <a:srgbClr val="F0E6D2"/>
                </a:solidFill>
                <a:latin typeface="Malgun Gothic"/>
                <a:ea typeface="Malgun Gothic"/>
                <a:cs typeface="Malgun Gothic"/>
                <a:sym typeface="Malgun Gothic"/>
              </a:rPr>
            </a:br>
            <a:r>
              <a:rPr b="1" i="0" lang="en-US" sz="3400" u="none" cap="none" strike="noStrike">
                <a:solidFill>
                  <a:srgbClr val="F0E6D2"/>
                </a:solidFill>
                <a:latin typeface="Malgun Gothic"/>
                <a:ea typeface="Malgun Gothic"/>
                <a:cs typeface="Malgun Gothic"/>
                <a:sym typeface="Malgun Gothic"/>
              </a:rPr>
              <a:t>언제 승부가 결정되는가?</a:t>
            </a:r>
            <a:endParaRPr/>
          </a:p>
        </p:txBody>
      </p:sp>
      <p:sp>
        <p:nvSpPr>
          <p:cNvPr id="95" name="Google Shape;95;p1"/>
          <p:cNvSpPr/>
          <p:nvPr/>
        </p:nvSpPr>
        <p:spPr>
          <a:xfrm>
            <a:off x="2903220" y="3968496"/>
            <a:ext cx="123444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6" name="Google Shape;96;p1"/>
          <p:cNvSpPr txBox="1"/>
          <p:nvPr/>
        </p:nvSpPr>
        <p:spPr>
          <a:xfrm>
            <a:off x="960120" y="4133087"/>
            <a:ext cx="5120640" cy="566928"/>
          </a:xfrm>
          <a:prstGeom prst="rect">
            <a:avLst/>
          </a:prstGeom>
          <a:noFill/>
          <a:ln>
            <a:noFill/>
          </a:ln>
        </p:spPr>
        <p:txBody>
          <a:bodyPr anchorCtr="0" anchor="t" bIns="0" lIns="0" spcFirstLastPara="1" rIns="0" wrap="square" tIns="0">
            <a:spAutoFit/>
          </a:bodyPr>
          <a:lstStyle/>
          <a:p>
            <a:pPr indent="0" lvl="0" marL="0" marR="0" rtl="0" algn="ctr">
              <a:lnSpc>
                <a:spcPct val="135000"/>
              </a:lnSpc>
              <a:spcBef>
                <a:spcPts val="0"/>
              </a:spcBef>
              <a:spcAft>
                <a:spcPts val="0"/>
              </a:spcAft>
              <a:buNone/>
            </a:pPr>
            <a:r>
              <a:rPr b="0" i="0" lang="en-US" sz="1500" u="none" cap="none" strike="noStrike">
                <a:solidFill>
                  <a:srgbClr val="B8B4A9"/>
                </a:solidFill>
                <a:latin typeface="Malgun Gothic"/>
                <a:ea typeface="Malgun Gothic"/>
                <a:cs typeface="Malgun Gothic"/>
                <a:sym typeface="Malgun Gothic"/>
              </a:rPr>
              <a:t>인게임 시점별 경기 데이터 기반</a:t>
            </a:r>
            <a:br>
              <a:rPr b="0" i="0" lang="en-US" sz="1500" u="none" cap="none" strike="noStrike">
                <a:solidFill>
                  <a:srgbClr val="B8B4A9"/>
                </a:solidFill>
                <a:latin typeface="Malgun Gothic"/>
                <a:ea typeface="Malgun Gothic"/>
                <a:cs typeface="Malgun Gothic"/>
                <a:sym typeface="Malgun Gothic"/>
              </a:rPr>
            </a:br>
            <a:r>
              <a:rPr b="0" i="0" lang="en-US" sz="1500" u="none" cap="none" strike="noStrike">
                <a:solidFill>
                  <a:srgbClr val="B8B4A9"/>
                </a:solidFill>
                <a:latin typeface="Malgun Gothic"/>
                <a:ea typeface="Malgun Gothic"/>
                <a:cs typeface="Malgun Gothic"/>
                <a:sym typeface="Malgun Gothic"/>
              </a:rPr>
              <a:t>승패 예측 및 핵심 승리요인 분석</a:t>
            </a:r>
            <a:endParaRPr/>
          </a:p>
        </p:txBody>
      </p:sp>
      <p:sp>
        <p:nvSpPr>
          <p:cNvPr id="97" name="Google Shape;97;p1"/>
          <p:cNvSpPr/>
          <p:nvPr/>
        </p:nvSpPr>
        <p:spPr>
          <a:xfrm>
            <a:off x="1261872" y="4919472"/>
            <a:ext cx="4517136" cy="603504"/>
          </a:xfrm>
          <a:prstGeom prst="rect">
            <a:avLst/>
          </a:prstGeom>
          <a:solidFill>
            <a:srgbClr val="A48135">
              <a:alpha val="90196"/>
            </a:srgbClr>
          </a:solidFill>
          <a:ln cap="flat" cmpd="sng" w="2222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1"/>
          <p:cNvSpPr txBox="1"/>
          <p:nvPr/>
        </p:nvSpPr>
        <p:spPr>
          <a:xfrm>
            <a:off x="1261872" y="4919472"/>
            <a:ext cx="4517136" cy="603504"/>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1800" u="none" cap="none" strike="noStrike">
                <a:solidFill>
                  <a:srgbClr val="F0E6D2"/>
                </a:solidFill>
                <a:latin typeface="Malgun Gothic"/>
                <a:ea typeface="Malgun Gothic"/>
                <a:cs typeface="Malgun Gothic"/>
                <a:sym typeface="Malgun Gothic"/>
              </a:rPr>
              <a:t>게임 시작</a:t>
            </a:r>
            <a:endParaRPr/>
          </a:p>
        </p:txBody>
      </p:sp>
      <p:sp>
        <p:nvSpPr>
          <p:cNvPr id="99" name="Google Shape;99;p1"/>
          <p:cNvSpPr txBox="1"/>
          <p:nvPr/>
        </p:nvSpPr>
        <p:spPr>
          <a:xfrm>
            <a:off x="841248" y="5724144"/>
            <a:ext cx="5358300" cy="1923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250" u="none" cap="none" strike="noStrike">
                <a:solidFill>
                  <a:srgbClr val="AE9B70"/>
                </a:solidFill>
                <a:latin typeface="Malgun Gothic"/>
                <a:ea typeface="Malgun Gothic"/>
                <a:cs typeface="Malgun Gothic"/>
                <a:sym typeface="Malgun Gothic"/>
              </a:rPr>
              <a:t>4조 </a:t>
            </a:r>
            <a:r>
              <a:rPr lang="en-US" sz="1250">
                <a:solidFill>
                  <a:srgbClr val="AE9B70"/>
                </a:solidFill>
                <a:latin typeface="Malgun Gothic"/>
                <a:ea typeface="Malgun Gothic"/>
                <a:cs typeface="Malgun Gothic"/>
                <a:sym typeface="Malgun Gothic"/>
              </a:rPr>
              <a:t>이기조</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gameflow-background-dark.jpg" id="106" name="Google Shape;106;p2"/>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107" name="Google Shape;107;p2"/>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2"/>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2"/>
          <p:cNvSpPr/>
          <p:nvPr/>
        </p:nvSpPr>
        <p:spPr>
          <a:xfrm>
            <a:off x="3672824" y="530352"/>
            <a:ext cx="4846320" cy="630936"/>
          </a:xfrm>
          <a:prstGeom prst="rect">
            <a:avLst/>
          </a:prstGeom>
          <a:solidFill>
            <a:srgbClr val="31383E"/>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0" name="Google Shape;110;p2"/>
          <p:cNvSpPr/>
          <p:nvPr/>
        </p:nvSpPr>
        <p:spPr>
          <a:xfrm>
            <a:off x="3496161" y="530352"/>
            <a:ext cx="210312" cy="630936"/>
          </a:xfrm>
          <a:prstGeom prst="diamond">
            <a:avLst/>
          </a:prstGeom>
          <a:solidFill>
            <a:srgbClr val="31383E"/>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 name="Google Shape;111;p2"/>
          <p:cNvSpPr/>
          <p:nvPr/>
        </p:nvSpPr>
        <p:spPr>
          <a:xfrm>
            <a:off x="8485494" y="530352"/>
            <a:ext cx="210312" cy="630936"/>
          </a:xfrm>
          <a:prstGeom prst="diamond">
            <a:avLst/>
          </a:prstGeom>
          <a:solidFill>
            <a:srgbClr val="31383E"/>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 name="Google Shape;112;p2"/>
          <p:cNvSpPr txBox="1"/>
          <p:nvPr/>
        </p:nvSpPr>
        <p:spPr>
          <a:xfrm>
            <a:off x="3819128" y="611072"/>
            <a:ext cx="4553700" cy="4311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lang="en-US" sz="2800">
                <a:solidFill>
                  <a:srgbClr val="F0E6D2"/>
                </a:solidFill>
                <a:latin typeface="Malgun Gothic"/>
                <a:ea typeface="Malgun Gothic"/>
                <a:cs typeface="Malgun Gothic"/>
                <a:sym typeface="Malgun Gothic"/>
              </a:rPr>
              <a:t>4</a:t>
            </a:r>
            <a:r>
              <a:rPr b="1" i="0" lang="en-US" sz="2800" u="none" cap="none" strike="noStrike">
                <a:solidFill>
                  <a:srgbClr val="F0E6D2"/>
                </a:solidFill>
                <a:latin typeface="Malgun Gothic"/>
                <a:ea typeface="Malgun Gothic"/>
                <a:cs typeface="Malgun Gothic"/>
                <a:sym typeface="Malgun Gothic"/>
              </a:rPr>
              <a:t>조 팀원소개</a:t>
            </a:r>
            <a:endParaRPr/>
          </a:p>
        </p:txBody>
      </p:sp>
      <p:pic>
        <p:nvPicPr>
          <p:cNvPr descr="c_Ezreal_636.jpg" id="113" name="Google Shape;113;p2"/>
          <p:cNvPicPr preferRelativeResize="0"/>
          <p:nvPr/>
        </p:nvPicPr>
        <p:blipFill rotWithShape="1">
          <a:blip r:embed="rId4">
            <a:alphaModFix/>
          </a:blip>
          <a:srcRect b="0" l="0" r="0" t="0"/>
          <a:stretch/>
        </p:blipFill>
        <p:spPr>
          <a:xfrm>
            <a:off x="868680" y="1750000"/>
            <a:ext cx="1920240" cy="3017520"/>
          </a:xfrm>
          <a:prstGeom prst="rect">
            <a:avLst/>
          </a:prstGeom>
          <a:noFill/>
          <a:ln>
            <a:noFill/>
          </a:ln>
        </p:spPr>
      </p:pic>
      <p:sp>
        <p:nvSpPr>
          <p:cNvPr id="114" name="Google Shape;114;p2"/>
          <p:cNvSpPr/>
          <p:nvPr/>
        </p:nvSpPr>
        <p:spPr>
          <a:xfrm>
            <a:off x="868680" y="1750000"/>
            <a:ext cx="1920240" cy="3017520"/>
          </a:xfrm>
          <a:prstGeom prst="rect">
            <a:avLst/>
          </a:prstGeom>
          <a:noFill/>
          <a:ln cap="flat" cmpd="sng" w="254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5" name="Google Shape;115;p2"/>
          <p:cNvSpPr txBox="1"/>
          <p:nvPr/>
        </p:nvSpPr>
        <p:spPr>
          <a:xfrm>
            <a:off x="471175" y="4800000"/>
            <a:ext cx="2823900" cy="4155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2700" u="none" cap="none" strike="noStrike">
                <a:solidFill>
                  <a:srgbClr val="F0E6D2"/>
                </a:solidFill>
                <a:latin typeface="Malgun Gothic"/>
                <a:ea typeface="Malgun Gothic"/>
                <a:cs typeface="Malgun Gothic"/>
                <a:sym typeface="Malgun Gothic"/>
              </a:rPr>
              <a:t>정상천</a:t>
            </a:r>
            <a:r>
              <a:rPr b="1" lang="en-US" sz="2700">
                <a:solidFill>
                  <a:srgbClr val="F0E6D2"/>
                </a:solidFill>
                <a:latin typeface="Malgun Gothic"/>
                <a:ea typeface="Malgun Gothic"/>
                <a:cs typeface="Malgun Gothic"/>
                <a:sym typeface="Malgun Gothic"/>
              </a:rPr>
              <a:t>(팀장)</a:t>
            </a:r>
            <a:endParaRPr b="1" sz="2700">
              <a:solidFill>
                <a:srgbClr val="F0E6D2"/>
              </a:solidFill>
              <a:latin typeface="Malgun Gothic"/>
              <a:ea typeface="Malgun Gothic"/>
              <a:cs typeface="Malgun Gothic"/>
              <a:sym typeface="Malgun Gothic"/>
            </a:endParaRPr>
          </a:p>
        </p:txBody>
      </p:sp>
      <p:pic>
        <p:nvPicPr>
          <p:cNvPr descr="c_Yasuo_636.jpg" id="116" name="Google Shape;116;p2"/>
          <p:cNvPicPr preferRelativeResize="0"/>
          <p:nvPr/>
        </p:nvPicPr>
        <p:blipFill rotWithShape="1">
          <a:blip r:embed="rId5">
            <a:alphaModFix/>
          </a:blip>
          <a:srcRect b="0" l="0" r="0" t="0"/>
          <a:stretch/>
        </p:blipFill>
        <p:spPr>
          <a:xfrm>
            <a:off x="3697224" y="1750000"/>
            <a:ext cx="1920240" cy="3017520"/>
          </a:xfrm>
          <a:prstGeom prst="rect">
            <a:avLst/>
          </a:prstGeom>
          <a:noFill/>
          <a:ln>
            <a:noFill/>
          </a:ln>
        </p:spPr>
      </p:pic>
      <p:sp>
        <p:nvSpPr>
          <p:cNvPr id="117" name="Google Shape;117;p2"/>
          <p:cNvSpPr/>
          <p:nvPr/>
        </p:nvSpPr>
        <p:spPr>
          <a:xfrm>
            <a:off x="3697224" y="1750000"/>
            <a:ext cx="1920240" cy="3017520"/>
          </a:xfrm>
          <a:prstGeom prst="rect">
            <a:avLst/>
          </a:prstGeom>
          <a:noFill/>
          <a:ln cap="flat" cmpd="sng" w="15875">
            <a:solidFill>
              <a:srgbClr val="78623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8" name="Google Shape;118;p2"/>
          <p:cNvSpPr txBox="1"/>
          <p:nvPr/>
        </p:nvSpPr>
        <p:spPr>
          <a:xfrm>
            <a:off x="3697224" y="4800000"/>
            <a:ext cx="1920240" cy="6000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2700" u="none" cap="none" strike="noStrike">
                <a:solidFill>
                  <a:srgbClr val="F0E6D2"/>
                </a:solidFill>
                <a:latin typeface="Malgun Gothic"/>
                <a:ea typeface="Malgun Gothic"/>
                <a:cs typeface="Malgun Gothic"/>
                <a:sym typeface="Malgun Gothic"/>
              </a:rPr>
              <a:t>이제민</a:t>
            </a:r>
            <a:endParaRPr/>
          </a:p>
        </p:txBody>
      </p:sp>
      <p:pic>
        <p:nvPicPr>
          <p:cNvPr descr="c_Lux_636.jpg" id="119" name="Google Shape;119;p2"/>
          <p:cNvPicPr preferRelativeResize="0"/>
          <p:nvPr/>
        </p:nvPicPr>
        <p:blipFill rotWithShape="1">
          <a:blip r:embed="rId6">
            <a:alphaModFix/>
          </a:blip>
          <a:srcRect b="0" l="0" r="0" t="0"/>
          <a:stretch/>
        </p:blipFill>
        <p:spPr>
          <a:xfrm>
            <a:off x="6525767" y="1750000"/>
            <a:ext cx="1920240" cy="3017520"/>
          </a:xfrm>
          <a:prstGeom prst="rect">
            <a:avLst/>
          </a:prstGeom>
          <a:noFill/>
          <a:ln>
            <a:noFill/>
          </a:ln>
        </p:spPr>
      </p:pic>
      <p:sp>
        <p:nvSpPr>
          <p:cNvPr id="120" name="Google Shape;120;p2"/>
          <p:cNvSpPr/>
          <p:nvPr/>
        </p:nvSpPr>
        <p:spPr>
          <a:xfrm>
            <a:off x="6525767" y="1750000"/>
            <a:ext cx="1920240" cy="3017520"/>
          </a:xfrm>
          <a:prstGeom prst="rect">
            <a:avLst/>
          </a:prstGeom>
          <a:noFill/>
          <a:ln cap="flat" cmpd="sng" w="15875">
            <a:solidFill>
              <a:srgbClr val="78623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1" name="Google Shape;121;p2"/>
          <p:cNvSpPr txBox="1"/>
          <p:nvPr/>
        </p:nvSpPr>
        <p:spPr>
          <a:xfrm>
            <a:off x="6525767" y="4800000"/>
            <a:ext cx="1920240" cy="6000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2700" u="none" cap="none" strike="noStrike">
                <a:solidFill>
                  <a:srgbClr val="F0E6D2"/>
                </a:solidFill>
                <a:latin typeface="Malgun Gothic"/>
                <a:ea typeface="Malgun Gothic"/>
                <a:cs typeface="Malgun Gothic"/>
                <a:sym typeface="Malgun Gothic"/>
              </a:rPr>
              <a:t>박예은</a:t>
            </a:r>
            <a:endParaRPr/>
          </a:p>
        </p:txBody>
      </p:sp>
      <p:pic>
        <p:nvPicPr>
          <p:cNvPr descr="c_LeeSin_636.jpg" id="122" name="Google Shape;122;p2"/>
          <p:cNvPicPr preferRelativeResize="0"/>
          <p:nvPr/>
        </p:nvPicPr>
        <p:blipFill rotWithShape="1">
          <a:blip r:embed="rId7">
            <a:alphaModFix/>
          </a:blip>
          <a:srcRect b="0" l="0" r="0" t="0"/>
          <a:stretch/>
        </p:blipFill>
        <p:spPr>
          <a:xfrm>
            <a:off x="9354311" y="1750000"/>
            <a:ext cx="1920240" cy="3017520"/>
          </a:xfrm>
          <a:prstGeom prst="rect">
            <a:avLst/>
          </a:prstGeom>
          <a:noFill/>
          <a:ln>
            <a:noFill/>
          </a:ln>
        </p:spPr>
      </p:pic>
      <p:sp>
        <p:nvSpPr>
          <p:cNvPr id="123" name="Google Shape;123;p2"/>
          <p:cNvSpPr/>
          <p:nvPr/>
        </p:nvSpPr>
        <p:spPr>
          <a:xfrm>
            <a:off x="9354311" y="1750000"/>
            <a:ext cx="1920240" cy="3017520"/>
          </a:xfrm>
          <a:prstGeom prst="rect">
            <a:avLst/>
          </a:prstGeom>
          <a:noFill/>
          <a:ln cap="flat" cmpd="sng" w="15875">
            <a:solidFill>
              <a:srgbClr val="78623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4" name="Google Shape;124;p2"/>
          <p:cNvSpPr txBox="1"/>
          <p:nvPr/>
        </p:nvSpPr>
        <p:spPr>
          <a:xfrm>
            <a:off x="9354311" y="4800000"/>
            <a:ext cx="1920240" cy="6000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2700" u="none" cap="none" strike="noStrike">
                <a:solidFill>
                  <a:srgbClr val="F0E6D2"/>
                </a:solidFill>
                <a:latin typeface="Malgun Gothic"/>
                <a:ea typeface="Malgun Gothic"/>
                <a:cs typeface="Malgun Gothic"/>
                <a:sym typeface="Malgun Gothic"/>
              </a:rPr>
              <a:t>임의석</a:t>
            </a:r>
            <a:endParaRPr/>
          </a:p>
        </p:txBody>
      </p:sp>
      <p:sp>
        <p:nvSpPr>
          <p:cNvPr id="125" name="Google Shape;125;p2"/>
          <p:cNvSpPr/>
          <p:nvPr/>
        </p:nvSpPr>
        <p:spPr>
          <a:xfrm>
            <a:off x="868680" y="5450000"/>
            <a:ext cx="1920240" cy="1097280"/>
          </a:xfrm>
          <a:prstGeom prst="rect">
            <a:avLst/>
          </a:prstGeom>
          <a:solidFill>
            <a:srgbClr val="10223E">
              <a:alpha val="81961"/>
            </a:srgbClr>
          </a:solidFill>
          <a:ln cap="flat" cmpd="sng" w="12700">
            <a:solidFill>
              <a:srgbClr val="4746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6" name="Google Shape;126;p2"/>
          <p:cNvSpPr/>
          <p:nvPr/>
        </p:nvSpPr>
        <p:spPr>
          <a:xfrm>
            <a:off x="868680" y="5450000"/>
            <a:ext cx="1920240" cy="32004"/>
          </a:xfrm>
          <a:prstGeom prst="rect">
            <a:avLst/>
          </a:prstGeom>
          <a:solidFill>
            <a:srgbClr val="8F72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7" name="Google Shape;127;p2"/>
          <p:cNvSpPr txBox="1"/>
          <p:nvPr/>
        </p:nvSpPr>
        <p:spPr>
          <a:xfrm>
            <a:off x="978482" y="5710701"/>
            <a:ext cx="1700700" cy="601800"/>
          </a:xfrm>
          <a:prstGeom prst="rect">
            <a:avLst/>
          </a:prstGeom>
          <a:noFill/>
          <a:ln>
            <a:noFill/>
          </a:ln>
        </p:spPr>
        <p:txBody>
          <a:bodyPr anchorCtr="0" anchor="ctr" bIns="0" lIns="0" spcFirstLastPara="1" rIns="0" wrap="square" tIns="0">
            <a:spAutoFit/>
          </a:bodyPr>
          <a:lstStyle/>
          <a:p>
            <a:pPr indent="0" lvl="0" marL="0" marR="0" rtl="0" algn="ctr">
              <a:lnSpc>
                <a:spcPct val="130000"/>
              </a:lnSpc>
              <a:spcBef>
                <a:spcPts val="0"/>
              </a:spcBef>
              <a:spcAft>
                <a:spcPts val="0"/>
              </a:spcAft>
              <a:buNone/>
            </a:pPr>
            <a:r>
              <a:rPr b="1" lang="en-US" sz="1700">
                <a:solidFill>
                  <a:srgbClr val="73726E"/>
                </a:solidFill>
                <a:latin typeface="Malgun Gothic"/>
                <a:ea typeface="Malgun Gothic"/>
                <a:cs typeface="Malgun Gothic"/>
                <a:sym typeface="Malgun Gothic"/>
              </a:rPr>
              <a:t>프로젝트 총괄</a:t>
            </a:r>
            <a:endParaRPr b="1" sz="1700">
              <a:solidFill>
                <a:srgbClr val="73726E"/>
              </a:solidFill>
              <a:latin typeface="Malgun Gothic"/>
              <a:ea typeface="Malgun Gothic"/>
              <a:cs typeface="Malgun Gothic"/>
              <a:sym typeface="Malgun Gothic"/>
            </a:endParaRPr>
          </a:p>
          <a:p>
            <a:pPr indent="0" lvl="0" marL="0" marR="0" rtl="0" algn="ctr">
              <a:lnSpc>
                <a:spcPct val="130000"/>
              </a:lnSpc>
              <a:spcBef>
                <a:spcPts val="0"/>
              </a:spcBef>
              <a:spcAft>
                <a:spcPts val="0"/>
              </a:spcAft>
              <a:buNone/>
            </a:pPr>
            <a:r>
              <a:rPr b="1" lang="en-US" sz="1700">
                <a:solidFill>
                  <a:srgbClr val="73726E"/>
                </a:solidFill>
                <a:latin typeface="Malgun Gothic"/>
                <a:ea typeface="Malgun Gothic"/>
                <a:cs typeface="Malgun Gothic"/>
                <a:sym typeface="Malgun Gothic"/>
              </a:rPr>
              <a:t>발표 및 자료제작</a:t>
            </a:r>
            <a:endParaRPr b="1" sz="1700">
              <a:solidFill>
                <a:srgbClr val="73726E"/>
              </a:solidFill>
              <a:latin typeface="Malgun Gothic"/>
              <a:ea typeface="Malgun Gothic"/>
              <a:cs typeface="Malgun Gothic"/>
              <a:sym typeface="Malgun Gothic"/>
            </a:endParaRPr>
          </a:p>
        </p:txBody>
      </p:sp>
      <p:sp>
        <p:nvSpPr>
          <p:cNvPr id="128" name="Google Shape;128;p2"/>
          <p:cNvSpPr/>
          <p:nvPr/>
        </p:nvSpPr>
        <p:spPr>
          <a:xfrm>
            <a:off x="3697224" y="5450000"/>
            <a:ext cx="1920240" cy="1097280"/>
          </a:xfrm>
          <a:prstGeom prst="rect">
            <a:avLst/>
          </a:prstGeom>
          <a:solidFill>
            <a:srgbClr val="10223E">
              <a:alpha val="81961"/>
            </a:srgbClr>
          </a:solidFill>
          <a:ln cap="flat" cmpd="sng" w="12700">
            <a:solidFill>
              <a:srgbClr val="4746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9" name="Google Shape;129;p2"/>
          <p:cNvSpPr/>
          <p:nvPr/>
        </p:nvSpPr>
        <p:spPr>
          <a:xfrm>
            <a:off x="3697224" y="5450000"/>
            <a:ext cx="1920240" cy="32004"/>
          </a:xfrm>
          <a:prstGeom prst="rect">
            <a:avLst/>
          </a:prstGeom>
          <a:solidFill>
            <a:srgbClr val="8F72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0" name="Google Shape;130;p2"/>
          <p:cNvSpPr txBox="1"/>
          <p:nvPr/>
        </p:nvSpPr>
        <p:spPr>
          <a:xfrm>
            <a:off x="3807000" y="5585225"/>
            <a:ext cx="1700700" cy="1164300"/>
          </a:xfrm>
          <a:prstGeom prst="rect">
            <a:avLst/>
          </a:prstGeom>
          <a:noFill/>
          <a:ln>
            <a:noFill/>
          </a:ln>
        </p:spPr>
        <p:txBody>
          <a:bodyPr anchorCtr="0" anchor="ctr" bIns="0" lIns="0" spcFirstLastPara="1" rIns="0" wrap="square" tIns="0">
            <a:spAutoFit/>
          </a:bodyPr>
          <a:lstStyle/>
          <a:p>
            <a:pPr indent="0" lvl="0" marL="76200" marR="76200" rtl="0" algn="ctr">
              <a:lnSpc>
                <a:spcPct val="115000"/>
              </a:lnSpc>
              <a:spcBef>
                <a:spcPts val="0"/>
              </a:spcBef>
              <a:spcAft>
                <a:spcPts val="0"/>
              </a:spcAft>
              <a:buSzPts val="1100"/>
              <a:buNone/>
            </a:pPr>
            <a:r>
              <a:rPr b="1" lang="en-US" sz="1700">
                <a:solidFill>
                  <a:srgbClr val="8C8C8C"/>
                </a:solidFill>
                <a:highlight>
                  <a:srgbClr val="262626"/>
                </a:highlight>
                <a:latin typeface="Malgun Gothic"/>
                <a:ea typeface="Malgun Gothic"/>
                <a:cs typeface="Malgun Gothic"/>
                <a:sym typeface="Malgun Gothic"/>
              </a:rPr>
              <a:t>데이터 분석</a:t>
            </a:r>
            <a:endParaRPr b="1" sz="1700">
              <a:solidFill>
                <a:srgbClr val="8C8C8C"/>
              </a:solidFill>
              <a:highlight>
                <a:srgbClr val="262626"/>
              </a:highlight>
              <a:latin typeface="Malgun Gothic"/>
              <a:ea typeface="Malgun Gothic"/>
              <a:cs typeface="Malgun Gothic"/>
              <a:sym typeface="Malgun Gothic"/>
            </a:endParaRPr>
          </a:p>
          <a:p>
            <a:pPr indent="0" lvl="0" marL="76200" marR="76200" rtl="0" algn="ctr">
              <a:lnSpc>
                <a:spcPct val="115000"/>
              </a:lnSpc>
              <a:spcBef>
                <a:spcPts val="0"/>
              </a:spcBef>
              <a:spcAft>
                <a:spcPts val="0"/>
              </a:spcAft>
              <a:buSzPts val="1100"/>
              <a:buNone/>
            </a:pPr>
            <a:r>
              <a:rPr b="1" lang="en-US" sz="1700">
                <a:solidFill>
                  <a:srgbClr val="8C8C8C"/>
                </a:solidFill>
                <a:highlight>
                  <a:srgbClr val="262626"/>
                </a:highlight>
                <a:latin typeface="Malgun Gothic"/>
                <a:ea typeface="Malgun Gothic"/>
                <a:cs typeface="Malgun Gothic"/>
                <a:sym typeface="Malgun Gothic"/>
              </a:rPr>
              <a:t>모델학습</a:t>
            </a:r>
            <a:endParaRPr b="1" sz="1700">
              <a:solidFill>
                <a:srgbClr val="8C8C8C"/>
              </a:solidFill>
              <a:highlight>
                <a:srgbClr val="262626"/>
              </a:highlight>
              <a:latin typeface="Malgun Gothic"/>
              <a:ea typeface="Malgun Gothic"/>
              <a:cs typeface="Malgun Gothic"/>
              <a:sym typeface="Malgun Gothic"/>
            </a:endParaRPr>
          </a:p>
          <a:p>
            <a:pPr indent="0" lvl="0" marL="76200" marR="76200" rtl="0" algn="ctr">
              <a:lnSpc>
                <a:spcPct val="115000"/>
              </a:lnSpc>
              <a:spcBef>
                <a:spcPts val="0"/>
              </a:spcBef>
              <a:spcAft>
                <a:spcPts val="0"/>
              </a:spcAft>
              <a:buClr>
                <a:schemeClr val="dk1"/>
              </a:buClr>
              <a:buSzPts val="1100"/>
              <a:buFont typeface="Arial"/>
              <a:buNone/>
            </a:pPr>
            <a:r>
              <a:rPr b="1" lang="en-US" sz="1700">
                <a:solidFill>
                  <a:srgbClr val="8C8C8C"/>
                </a:solidFill>
                <a:highlight>
                  <a:srgbClr val="262626"/>
                </a:highlight>
                <a:latin typeface="Malgun Gothic"/>
                <a:ea typeface="Malgun Gothic"/>
                <a:cs typeface="Malgun Gothic"/>
                <a:sym typeface="Malgun Gothic"/>
              </a:rPr>
              <a:t>문서검토</a:t>
            </a:r>
            <a:endParaRPr b="1" sz="1700">
              <a:solidFill>
                <a:srgbClr val="8C8C8C"/>
              </a:solidFill>
              <a:highlight>
                <a:srgbClr val="262626"/>
              </a:highlight>
              <a:latin typeface="Malgun Gothic"/>
              <a:ea typeface="Malgun Gothic"/>
              <a:cs typeface="Malgun Gothic"/>
              <a:sym typeface="Malgun Gothic"/>
            </a:endParaRPr>
          </a:p>
          <a:p>
            <a:pPr indent="0" lvl="0" marL="0" marR="0" rtl="0" algn="ctr">
              <a:lnSpc>
                <a:spcPct val="130000"/>
              </a:lnSpc>
              <a:spcBef>
                <a:spcPts val="0"/>
              </a:spcBef>
              <a:spcAft>
                <a:spcPts val="0"/>
              </a:spcAft>
              <a:buNone/>
            </a:pPr>
            <a:r>
              <a:t/>
            </a:r>
            <a:endParaRPr sz="1700">
              <a:solidFill>
                <a:srgbClr val="73726E"/>
              </a:solidFill>
              <a:latin typeface="Malgun Gothic"/>
              <a:ea typeface="Malgun Gothic"/>
              <a:cs typeface="Malgun Gothic"/>
              <a:sym typeface="Malgun Gothic"/>
            </a:endParaRPr>
          </a:p>
        </p:txBody>
      </p:sp>
      <p:sp>
        <p:nvSpPr>
          <p:cNvPr id="131" name="Google Shape;131;p2"/>
          <p:cNvSpPr/>
          <p:nvPr/>
        </p:nvSpPr>
        <p:spPr>
          <a:xfrm>
            <a:off x="6525767" y="5450000"/>
            <a:ext cx="1920240" cy="1097280"/>
          </a:xfrm>
          <a:prstGeom prst="rect">
            <a:avLst/>
          </a:prstGeom>
          <a:solidFill>
            <a:srgbClr val="10223E">
              <a:alpha val="81961"/>
            </a:srgbClr>
          </a:solidFill>
          <a:ln cap="flat" cmpd="sng" w="12700">
            <a:solidFill>
              <a:srgbClr val="4746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2" name="Google Shape;132;p2"/>
          <p:cNvSpPr/>
          <p:nvPr/>
        </p:nvSpPr>
        <p:spPr>
          <a:xfrm>
            <a:off x="6525767" y="5450000"/>
            <a:ext cx="1920240" cy="32004"/>
          </a:xfrm>
          <a:prstGeom prst="rect">
            <a:avLst/>
          </a:prstGeom>
          <a:solidFill>
            <a:srgbClr val="8F72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p2"/>
          <p:cNvSpPr txBox="1"/>
          <p:nvPr/>
        </p:nvSpPr>
        <p:spPr>
          <a:xfrm>
            <a:off x="6635533" y="5713151"/>
            <a:ext cx="1700700" cy="863400"/>
          </a:xfrm>
          <a:prstGeom prst="rect">
            <a:avLst/>
          </a:prstGeom>
          <a:noFill/>
          <a:ln>
            <a:noFill/>
          </a:ln>
        </p:spPr>
        <p:txBody>
          <a:bodyPr anchorCtr="0" anchor="ctr" bIns="0" lIns="0" spcFirstLastPara="1" rIns="0" wrap="square" tIns="0">
            <a:spAutoFit/>
          </a:bodyPr>
          <a:lstStyle/>
          <a:p>
            <a:pPr indent="0" lvl="0" marL="0" marR="76200" rtl="0" algn="ctr">
              <a:lnSpc>
                <a:spcPct val="115000"/>
              </a:lnSpc>
              <a:spcBef>
                <a:spcPts val="0"/>
              </a:spcBef>
              <a:spcAft>
                <a:spcPts val="0"/>
              </a:spcAft>
              <a:buSzPts val="1100"/>
              <a:buNone/>
            </a:pPr>
            <a:r>
              <a:rPr b="1" lang="en-US" sz="1700">
                <a:solidFill>
                  <a:srgbClr val="8C8C8C"/>
                </a:solidFill>
                <a:highlight>
                  <a:srgbClr val="262626"/>
                </a:highlight>
                <a:latin typeface="Malgun Gothic"/>
                <a:ea typeface="Malgun Gothic"/>
                <a:cs typeface="Malgun Gothic"/>
                <a:sym typeface="Malgun Gothic"/>
              </a:rPr>
              <a:t>웹 디자인</a:t>
            </a:r>
            <a:endParaRPr b="1" sz="1700">
              <a:solidFill>
                <a:srgbClr val="8C8C8C"/>
              </a:solidFill>
              <a:highlight>
                <a:srgbClr val="262626"/>
              </a:highlight>
              <a:latin typeface="Malgun Gothic"/>
              <a:ea typeface="Malgun Gothic"/>
              <a:cs typeface="Malgun Gothic"/>
              <a:sym typeface="Malgun Gothic"/>
            </a:endParaRPr>
          </a:p>
          <a:p>
            <a:pPr indent="0" lvl="0" marL="0" marR="76200" rtl="0" algn="ctr">
              <a:lnSpc>
                <a:spcPct val="115000"/>
              </a:lnSpc>
              <a:spcBef>
                <a:spcPts val="0"/>
              </a:spcBef>
              <a:spcAft>
                <a:spcPts val="0"/>
              </a:spcAft>
              <a:buClr>
                <a:schemeClr val="dk1"/>
              </a:buClr>
              <a:buSzPts val="1100"/>
              <a:buFont typeface="Arial"/>
              <a:buNone/>
            </a:pPr>
            <a:r>
              <a:rPr b="1" lang="en-US" sz="1700">
                <a:solidFill>
                  <a:srgbClr val="8C8C8C"/>
                </a:solidFill>
                <a:highlight>
                  <a:srgbClr val="262626"/>
                </a:highlight>
                <a:latin typeface="Malgun Gothic"/>
                <a:ea typeface="Malgun Gothic"/>
                <a:cs typeface="Malgun Gothic"/>
                <a:sym typeface="Malgun Gothic"/>
              </a:rPr>
              <a:t>자료제작 보조</a:t>
            </a:r>
            <a:endParaRPr b="1" sz="1700">
              <a:solidFill>
                <a:srgbClr val="8C8C8C"/>
              </a:solidFill>
              <a:highlight>
                <a:srgbClr val="262626"/>
              </a:highlight>
              <a:latin typeface="Malgun Gothic"/>
              <a:ea typeface="Malgun Gothic"/>
              <a:cs typeface="Malgun Gothic"/>
              <a:sym typeface="Malgun Gothic"/>
            </a:endParaRPr>
          </a:p>
          <a:p>
            <a:pPr indent="0" lvl="0" marL="0" marR="0" rtl="0" algn="ctr">
              <a:lnSpc>
                <a:spcPct val="130000"/>
              </a:lnSpc>
              <a:spcBef>
                <a:spcPts val="0"/>
              </a:spcBef>
              <a:spcAft>
                <a:spcPts val="0"/>
              </a:spcAft>
              <a:buNone/>
            </a:pPr>
            <a:r>
              <a:t/>
            </a:r>
            <a:endParaRPr sz="1700">
              <a:solidFill>
                <a:srgbClr val="73726E"/>
              </a:solidFill>
              <a:latin typeface="Malgun Gothic"/>
              <a:ea typeface="Malgun Gothic"/>
              <a:cs typeface="Malgun Gothic"/>
              <a:sym typeface="Malgun Gothic"/>
            </a:endParaRPr>
          </a:p>
        </p:txBody>
      </p:sp>
      <p:sp>
        <p:nvSpPr>
          <p:cNvPr id="134" name="Google Shape;134;p2"/>
          <p:cNvSpPr/>
          <p:nvPr/>
        </p:nvSpPr>
        <p:spPr>
          <a:xfrm>
            <a:off x="9354311" y="5450000"/>
            <a:ext cx="1920240" cy="1097280"/>
          </a:xfrm>
          <a:prstGeom prst="rect">
            <a:avLst/>
          </a:prstGeom>
          <a:solidFill>
            <a:srgbClr val="10223E">
              <a:alpha val="81961"/>
            </a:srgbClr>
          </a:solidFill>
          <a:ln cap="flat" cmpd="sng" w="12700">
            <a:solidFill>
              <a:srgbClr val="4746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5" name="Google Shape;135;p2"/>
          <p:cNvSpPr/>
          <p:nvPr/>
        </p:nvSpPr>
        <p:spPr>
          <a:xfrm>
            <a:off x="9354311" y="5450000"/>
            <a:ext cx="1920240" cy="32004"/>
          </a:xfrm>
          <a:prstGeom prst="rect">
            <a:avLst/>
          </a:prstGeom>
          <a:solidFill>
            <a:srgbClr val="8F72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6" name="Google Shape;136;p2"/>
          <p:cNvSpPr txBox="1"/>
          <p:nvPr/>
        </p:nvSpPr>
        <p:spPr>
          <a:xfrm>
            <a:off x="9464064" y="5747014"/>
            <a:ext cx="1700700" cy="562500"/>
          </a:xfrm>
          <a:prstGeom prst="rect">
            <a:avLst/>
          </a:prstGeom>
          <a:noFill/>
          <a:ln>
            <a:noFill/>
          </a:ln>
        </p:spPr>
        <p:txBody>
          <a:bodyPr anchorCtr="0" anchor="ctr" bIns="0" lIns="0" spcFirstLastPara="1" rIns="0" wrap="square" tIns="0">
            <a:spAutoFit/>
          </a:bodyPr>
          <a:lstStyle/>
          <a:p>
            <a:pPr indent="0" lvl="0" marL="76200" marR="76200" rtl="0" algn="ctr">
              <a:lnSpc>
                <a:spcPct val="115000"/>
              </a:lnSpc>
              <a:spcBef>
                <a:spcPts val="0"/>
              </a:spcBef>
              <a:spcAft>
                <a:spcPts val="0"/>
              </a:spcAft>
              <a:buSzPts val="1100"/>
              <a:buNone/>
            </a:pPr>
            <a:r>
              <a:rPr b="1" lang="en-US" sz="1700">
                <a:solidFill>
                  <a:srgbClr val="8C8C8C"/>
                </a:solidFill>
                <a:highlight>
                  <a:srgbClr val="262626"/>
                </a:highlight>
                <a:latin typeface="Malgun Gothic"/>
                <a:ea typeface="Malgun Gothic"/>
                <a:cs typeface="Malgun Gothic"/>
                <a:sym typeface="Malgun Gothic"/>
              </a:rPr>
              <a:t>서버 · 배포</a:t>
            </a:r>
            <a:endParaRPr b="1" sz="1700">
              <a:solidFill>
                <a:srgbClr val="8C8C8C"/>
              </a:solidFill>
              <a:highlight>
                <a:srgbClr val="262626"/>
              </a:highlight>
              <a:latin typeface="Malgun Gothic"/>
              <a:ea typeface="Malgun Gothic"/>
              <a:cs typeface="Malgun Gothic"/>
              <a:sym typeface="Malgun Gothic"/>
            </a:endParaRPr>
          </a:p>
          <a:p>
            <a:pPr indent="0" lvl="0" marL="76200" marR="76200" rtl="0" algn="ctr">
              <a:lnSpc>
                <a:spcPct val="115000"/>
              </a:lnSpc>
              <a:spcBef>
                <a:spcPts val="0"/>
              </a:spcBef>
              <a:spcAft>
                <a:spcPts val="0"/>
              </a:spcAft>
              <a:buSzPts val="1100"/>
              <a:buNone/>
            </a:pPr>
            <a:r>
              <a:rPr b="1" lang="en-US" sz="1700">
                <a:solidFill>
                  <a:srgbClr val="8C8C8C"/>
                </a:solidFill>
                <a:highlight>
                  <a:srgbClr val="262626"/>
                </a:highlight>
                <a:latin typeface="Malgun Gothic"/>
                <a:ea typeface="Malgun Gothic"/>
                <a:cs typeface="Malgun Gothic"/>
                <a:sym typeface="Malgun Gothic"/>
              </a:rPr>
              <a:t>자료제작 보조</a:t>
            </a:r>
            <a:endParaRPr b="1" sz="1700">
              <a:solidFill>
                <a:srgbClr val="8C8C8C"/>
              </a:solidFill>
              <a:highlight>
                <a:srgbClr val="262626"/>
              </a:highlight>
              <a:latin typeface="Malgun Gothic"/>
              <a:ea typeface="Malgun Gothic"/>
              <a:cs typeface="Malgun Gothic"/>
              <a:sym typeface="Malgun Gothic"/>
            </a:endParaRPr>
          </a:p>
        </p:txBody>
      </p:sp>
      <p:sp>
        <p:nvSpPr>
          <p:cNvPr id="137" name="Google Shape;137;p2"/>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gameflow-background-dark.jpg" id="144" name="Google Shape;144;p3"/>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145" name="Google Shape;145;p3"/>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6" name="Google Shape;146;p3"/>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7" name="Google Shape;147;p3"/>
          <p:cNvSpPr/>
          <p:nvPr/>
        </p:nvSpPr>
        <p:spPr>
          <a:xfrm>
            <a:off x="3672824" y="530352"/>
            <a:ext cx="4846320" cy="630936"/>
          </a:xfrm>
          <a:prstGeom prst="rect">
            <a:avLst/>
          </a:prstGeom>
          <a:solidFill>
            <a:srgbClr val="31383E"/>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8" name="Google Shape;148;p3"/>
          <p:cNvSpPr/>
          <p:nvPr/>
        </p:nvSpPr>
        <p:spPr>
          <a:xfrm>
            <a:off x="3496161" y="530352"/>
            <a:ext cx="210312" cy="630936"/>
          </a:xfrm>
          <a:prstGeom prst="diamond">
            <a:avLst/>
          </a:prstGeom>
          <a:solidFill>
            <a:srgbClr val="31383E"/>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9" name="Google Shape;149;p3"/>
          <p:cNvSpPr/>
          <p:nvPr/>
        </p:nvSpPr>
        <p:spPr>
          <a:xfrm>
            <a:off x="8485494" y="530352"/>
            <a:ext cx="210312" cy="630936"/>
          </a:xfrm>
          <a:prstGeom prst="diamond">
            <a:avLst/>
          </a:prstGeom>
          <a:solidFill>
            <a:srgbClr val="31383E"/>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0" name="Google Shape;150;p3"/>
          <p:cNvSpPr txBox="1"/>
          <p:nvPr/>
        </p:nvSpPr>
        <p:spPr>
          <a:xfrm>
            <a:off x="3819128" y="530352"/>
            <a:ext cx="4553712" cy="630936"/>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2800" u="none" cap="none" strike="noStrike">
                <a:solidFill>
                  <a:srgbClr val="F0E6D2"/>
                </a:solidFill>
                <a:latin typeface="Malgun Gothic"/>
                <a:ea typeface="Malgun Gothic"/>
                <a:cs typeface="Malgun Gothic"/>
                <a:sym typeface="Malgun Gothic"/>
              </a:rPr>
              <a:t>발표 순서</a:t>
            </a:r>
            <a:endParaRPr/>
          </a:p>
        </p:txBody>
      </p:sp>
      <p:sp>
        <p:nvSpPr>
          <p:cNvPr id="151" name="Google Shape;151;p3"/>
          <p:cNvSpPr/>
          <p:nvPr/>
        </p:nvSpPr>
        <p:spPr>
          <a:xfrm>
            <a:off x="868680" y="1350000"/>
            <a:ext cx="10424160" cy="950000"/>
          </a:xfrm>
          <a:prstGeom prst="rect">
            <a:avLst/>
          </a:prstGeom>
          <a:solidFill>
            <a:srgbClr val="10223E">
              <a:alpha val="81961"/>
            </a:srgbClr>
          </a:solidFill>
          <a:ln cap="flat" cmpd="sng" w="12700">
            <a:solidFill>
              <a:srgbClr val="4746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2" name="Google Shape;152;p3"/>
          <p:cNvSpPr/>
          <p:nvPr/>
        </p:nvSpPr>
        <p:spPr>
          <a:xfrm>
            <a:off x="868680" y="1350000"/>
            <a:ext cx="45720" cy="9500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3" name="Google Shape;153;p3"/>
          <p:cNvSpPr/>
          <p:nvPr/>
        </p:nvSpPr>
        <p:spPr>
          <a:xfrm>
            <a:off x="1050000" y="1525000"/>
            <a:ext cx="600000" cy="600000"/>
          </a:xfrm>
          <a:prstGeom prst="rect">
            <a:avLst/>
          </a:prstGeom>
          <a:solidFill>
            <a:srgbClr val="010A13">
              <a:alpha val="72157"/>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4" name="Google Shape;154;p3"/>
          <p:cNvSpPr txBox="1"/>
          <p:nvPr/>
        </p:nvSpPr>
        <p:spPr>
          <a:xfrm>
            <a:off x="1050000" y="1525000"/>
            <a:ext cx="600000" cy="600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2100" u="none" cap="none" strike="noStrike">
                <a:solidFill>
                  <a:srgbClr val="F0E6D2"/>
                </a:solidFill>
                <a:latin typeface="Malgun Gothic"/>
                <a:ea typeface="Malgun Gothic"/>
                <a:cs typeface="Malgun Gothic"/>
                <a:sym typeface="Malgun Gothic"/>
              </a:rPr>
              <a:t>1</a:t>
            </a:r>
            <a:endParaRPr/>
          </a:p>
        </p:txBody>
      </p:sp>
      <p:sp>
        <p:nvSpPr>
          <p:cNvPr id="155" name="Google Shape;155;p3"/>
          <p:cNvSpPr txBox="1"/>
          <p:nvPr/>
        </p:nvSpPr>
        <p:spPr>
          <a:xfrm>
            <a:off x="1850000" y="1350000"/>
            <a:ext cx="5050000" cy="950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2100" u="none" cap="none" strike="noStrike">
                <a:solidFill>
                  <a:srgbClr val="F0E6D2"/>
                </a:solidFill>
                <a:latin typeface="Malgun Gothic"/>
                <a:ea typeface="Malgun Gothic"/>
                <a:cs typeface="Malgun Gothic"/>
                <a:sym typeface="Malgun Gothic"/>
              </a:rPr>
              <a:t>데이터 검증 및 분석</a:t>
            </a:r>
            <a:endParaRPr/>
          </a:p>
        </p:txBody>
      </p:sp>
      <p:sp>
        <p:nvSpPr>
          <p:cNvPr id="156" name="Google Shape;156;p3"/>
          <p:cNvSpPr/>
          <p:nvPr/>
        </p:nvSpPr>
        <p:spPr>
          <a:xfrm>
            <a:off x="7000000" y="1804426"/>
            <a:ext cx="41148" cy="41148"/>
          </a:xfrm>
          <a:prstGeom prst="diamond">
            <a:avLst/>
          </a:prstGeom>
          <a:solidFill>
            <a:srgbClr val="8F72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7" name="Google Shape;157;p3"/>
          <p:cNvSpPr txBox="1"/>
          <p:nvPr/>
        </p:nvSpPr>
        <p:spPr>
          <a:xfrm>
            <a:off x="7150000" y="1669989"/>
            <a:ext cx="4142840" cy="310021"/>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US" sz="1800" u="none" cap="none" strike="noStrike">
                <a:solidFill>
                  <a:srgbClr val="C8C5BC"/>
                </a:solidFill>
                <a:latin typeface="Malgun Gothic"/>
                <a:ea typeface="Malgun Gothic"/>
                <a:cs typeface="Malgun Gothic"/>
                <a:sym typeface="Malgun Gothic"/>
              </a:rPr>
              <a:t>검증 · 분할</a:t>
            </a:r>
            <a:endParaRPr b="0" i="0" sz="1800" u="none" cap="none" strike="noStrike">
              <a:solidFill>
                <a:srgbClr val="C8C5BC"/>
              </a:solidFill>
              <a:latin typeface="Malgun Gothic"/>
              <a:ea typeface="Malgun Gothic"/>
              <a:cs typeface="Malgun Gothic"/>
              <a:sym typeface="Malgun Gothic"/>
            </a:endParaRPr>
          </a:p>
        </p:txBody>
      </p:sp>
      <p:sp>
        <p:nvSpPr>
          <p:cNvPr id="158" name="Google Shape;158;p3"/>
          <p:cNvSpPr/>
          <p:nvPr/>
        </p:nvSpPr>
        <p:spPr>
          <a:xfrm>
            <a:off x="868680" y="2400000"/>
            <a:ext cx="10424160" cy="950000"/>
          </a:xfrm>
          <a:prstGeom prst="rect">
            <a:avLst/>
          </a:prstGeom>
          <a:solidFill>
            <a:srgbClr val="10223E">
              <a:alpha val="81961"/>
            </a:srgbClr>
          </a:solidFill>
          <a:ln cap="flat" cmpd="sng" w="12700">
            <a:solidFill>
              <a:srgbClr val="4746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9" name="Google Shape;159;p3"/>
          <p:cNvSpPr/>
          <p:nvPr/>
        </p:nvSpPr>
        <p:spPr>
          <a:xfrm>
            <a:off x="868680" y="2400000"/>
            <a:ext cx="45720" cy="950000"/>
          </a:xfrm>
          <a:prstGeom prst="rect">
            <a:avLst/>
          </a:prstGeom>
          <a:solidFill>
            <a:srgbClr val="7862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0" name="Google Shape;160;p3"/>
          <p:cNvSpPr/>
          <p:nvPr/>
        </p:nvSpPr>
        <p:spPr>
          <a:xfrm>
            <a:off x="1050000" y="2575000"/>
            <a:ext cx="600000" cy="600000"/>
          </a:xfrm>
          <a:prstGeom prst="rect">
            <a:avLst/>
          </a:prstGeom>
          <a:solidFill>
            <a:srgbClr val="010A13">
              <a:alpha val="72157"/>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1" name="Google Shape;161;p3"/>
          <p:cNvSpPr txBox="1"/>
          <p:nvPr/>
        </p:nvSpPr>
        <p:spPr>
          <a:xfrm>
            <a:off x="1050000" y="2575000"/>
            <a:ext cx="600000" cy="600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2100" u="none" cap="none" strike="noStrike">
                <a:solidFill>
                  <a:srgbClr val="F0E6D2"/>
                </a:solidFill>
                <a:latin typeface="Malgun Gothic"/>
                <a:ea typeface="Malgun Gothic"/>
                <a:cs typeface="Malgun Gothic"/>
                <a:sym typeface="Malgun Gothic"/>
              </a:rPr>
              <a:t>2</a:t>
            </a:r>
            <a:endParaRPr/>
          </a:p>
        </p:txBody>
      </p:sp>
      <p:sp>
        <p:nvSpPr>
          <p:cNvPr id="162" name="Google Shape;162;p3"/>
          <p:cNvSpPr txBox="1"/>
          <p:nvPr/>
        </p:nvSpPr>
        <p:spPr>
          <a:xfrm>
            <a:off x="1850000" y="2400000"/>
            <a:ext cx="5050000" cy="950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2100" u="none" cap="none" strike="noStrike">
                <a:solidFill>
                  <a:srgbClr val="F0E6D2"/>
                </a:solidFill>
                <a:latin typeface="Malgun Gothic"/>
                <a:ea typeface="Malgun Gothic"/>
                <a:cs typeface="Malgun Gothic"/>
                <a:sym typeface="Malgun Gothic"/>
              </a:rPr>
              <a:t>Phase 1  |  승패 예측과 원인 분석</a:t>
            </a:r>
            <a:endParaRPr/>
          </a:p>
        </p:txBody>
      </p:sp>
      <p:sp>
        <p:nvSpPr>
          <p:cNvPr id="163" name="Google Shape;163;p3"/>
          <p:cNvSpPr/>
          <p:nvPr/>
        </p:nvSpPr>
        <p:spPr>
          <a:xfrm>
            <a:off x="7000000" y="2854426"/>
            <a:ext cx="41148" cy="41148"/>
          </a:xfrm>
          <a:prstGeom prst="diamond">
            <a:avLst/>
          </a:prstGeom>
          <a:solidFill>
            <a:srgbClr val="8F72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4" name="Google Shape;164;p3"/>
          <p:cNvSpPr txBox="1"/>
          <p:nvPr/>
        </p:nvSpPr>
        <p:spPr>
          <a:xfrm>
            <a:off x="7150000" y="2546865"/>
            <a:ext cx="4142840" cy="65627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US" sz="1800" u="none" cap="none" strike="noStrike">
                <a:solidFill>
                  <a:srgbClr val="C8C5BC"/>
                </a:solidFill>
                <a:latin typeface="Malgun Gothic"/>
                <a:ea typeface="Malgun Gothic"/>
                <a:cs typeface="Malgun Gothic"/>
                <a:sym typeface="Malgun Gothic"/>
              </a:rPr>
              <a:t>10분 정보로 얼마나 맞히나 · </a:t>
            </a:r>
            <a:endParaRPr b="0" i="0" sz="1800" u="none" cap="none" strike="noStrike">
              <a:solidFill>
                <a:srgbClr val="C8C5BC"/>
              </a:solidFill>
              <a:latin typeface="Malgun Gothic"/>
              <a:ea typeface="Malgun Gothic"/>
              <a:cs typeface="Malgun Gothic"/>
              <a:sym typeface="Malgun Gothic"/>
            </a:endParaRPr>
          </a:p>
          <a:p>
            <a:pPr indent="0" lvl="0" marL="0" marR="0" rtl="0" algn="l">
              <a:lnSpc>
                <a:spcPct val="125000"/>
              </a:lnSpc>
              <a:spcBef>
                <a:spcPts val="0"/>
              </a:spcBef>
              <a:spcAft>
                <a:spcPts val="0"/>
              </a:spcAft>
              <a:buNone/>
            </a:pPr>
            <a:r>
              <a:rPr b="0" i="0" lang="en-US" sz="1800" u="none" cap="none" strike="noStrike">
                <a:solidFill>
                  <a:srgbClr val="C8C5BC"/>
                </a:solidFill>
                <a:latin typeface="Malgun Gothic"/>
                <a:ea typeface="Malgun Gothic"/>
                <a:cs typeface="Malgun Gothic"/>
                <a:sym typeface="Malgun Gothic"/>
              </a:rPr>
              <a:t>무엇이 승패를 가르나</a:t>
            </a:r>
            <a:endParaRPr b="0" i="0" sz="1800" u="none" cap="none" strike="noStrike">
              <a:solidFill>
                <a:srgbClr val="C8C5BC"/>
              </a:solidFill>
              <a:latin typeface="Malgun Gothic"/>
              <a:ea typeface="Malgun Gothic"/>
              <a:cs typeface="Malgun Gothic"/>
              <a:sym typeface="Malgun Gothic"/>
            </a:endParaRPr>
          </a:p>
        </p:txBody>
      </p:sp>
      <p:sp>
        <p:nvSpPr>
          <p:cNvPr id="165" name="Google Shape;165;p3"/>
          <p:cNvSpPr/>
          <p:nvPr/>
        </p:nvSpPr>
        <p:spPr>
          <a:xfrm>
            <a:off x="868680" y="3450000"/>
            <a:ext cx="10424160" cy="950000"/>
          </a:xfrm>
          <a:prstGeom prst="rect">
            <a:avLst/>
          </a:prstGeom>
          <a:solidFill>
            <a:srgbClr val="10223E">
              <a:alpha val="81961"/>
            </a:srgbClr>
          </a:solidFill>
          <a:ln cap="flat" cmpd="sng" w="12700">
            <a:solidFill>
              <a:srgbClr val="4746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6" name="Google Shape;166;p3"/>
          <p:cNvSpPr/>
          <p:nvPr/>
        </p:nvSpPr>
        <p:spPr>
          <a:xfrm>
            <a:off x="868680" y="3450000"/>
            <a:ext cx="45720" cy="950000"/>
          </a:xfrm>
          <a:prstGeom prst="rect">
            <a:avLst/>
          </a:prstGeom>
          <a:solidFill>
            <a:srgbClr val="7862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7" name="Google Shape;167;p3"/>
          <p:cNvSpPr/>
          <p:nvPr/>
        </p:nvSpPr>
        <p:spPr>
          <a:xfrm>
            <a:off x="1050000" y="3625000"/>
            <a:ext cx="600000" cy="600000"/>
          </a:xfrm>
          <a:prstGeom prst="rect">
            <a:avLst/>
          </a:prstGeom>
          <a:solidFill>
            <a:srgbClr val="010A13">
              <a:alpha val="72157"/>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8" name="Google Shape;168;p3"/>
          <p:cNvSpPr txBox="1"/>
          <p:nvPr/>
        </p:nvSpPr>
        <p:spPr>
          <a:xfrm>
            <a:off x="1050000" y="3625000"/>
            <a:ext cx="600000" cy="600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2100" u="none" cap="none" strike="noStrike">
                <a:solidFill>
                  <a:srgbClr val="F0E6D2"/>
                </a:solidFill>
                <a:latin typeface="Malgun Gothic"/>
                <a:ea typeface="Malgun Gothic"/>
                <a:cs typeface="Malgun Gothic"/>
                <a:sym typeface="Malgun Gothic"/>
              </a:rPr>
              <a:t>3</a:t>
            </a:r>
            <a:endParaRPr/>
          </a:p>
        </p:txBody>
      </p:sp>
      <p:sp>
        <p:nvSpPr>
          <p:cNvPr id="169" name="Google Shape;169;p3"/>
          <p:cNvSpPr txBox="1"/>
          <p:nvPr/>
        </p:nvSpPr>
        <p:spPr>
          <a:xfrm>
            <a:off x="1850000" y="3744148"/>
            <a:ext cx="5191148" cy="361702"/>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2100" u="none" cap="none" strike="noStrike">
                <a:solidFill>
                  <a:srgbClr val="F0E6D2"/>
                </a:solidFill>
                <a:latin typeface="Malgun Gothic"/>
                <a:ea typeface="Malgun Gothic"/>
                <a:cs typeface="Malgun Gothic"/>
                <a:sym typeface="Malgun Gothic"/>
              </a:rPr>
              <a:t>Phase 2  |  문제 확인 : 재분석 및 군집화</a:t>
            </a:r>
            <a:endParaRPr b="1" i="0" sz="2100" u="none" cap="none" strike="noStrike">
              <a:solidFill>
                <a:srgbClr val="F0E6D2"/>
              </a:solidFill>
              <a:latin typeface="Malgun Gothic"/>
              <a:ea typeface="Malgun Gothic"/>
              <a:cs typeface="Malgun Gothic"/>
              <a:sym typeface="Malgun Gothic"/>
            </a:endParaRPr>
          </a:p>
        </p:txBody>
      </p:sp>
      <p:sp>
        <p:nvSpPr>
          <p:cNvPr id="170" name="Google Shape;170;p3"/>
          <p:cNvSpPr/>
          <p:nvPr/>
        </p:nvSpPr>
        <p:spPr>
          <a:xfrm>
            <a:off x="7000000" y="3904426"/>
            <a:ext cx="41148" cy="41148"/>
          </a:xfrm>
          <a:prstGeom prst="diamond">
            <a:avLst/>
          </a:prstGeom>
          <a:solidFill>
            <a:srgbClr val="8F72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1" name="Google Shape;171;p3"/>
          <p:cNvSpPr txBox="1"/>
          <p:nvPr/>
        </p:nvSpPr>
        <p:spPr>
          <a:xfrm>
            <a:off x="7150000" y="3450000"/>
            <a:ext cx="4142840" cy="950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US" sz="1800" u="none" cap="none" strike="noStrike">
                <a:solidFill>
                  <a:srgbClr val="C8C5BC"/>
                </a:solidFill>
                <a:latin typeface="Malgun Gothic"/>
                <a:ea typeface="Malgun Gothic"/>
                <a:cs typeface="Malgun Gothic"/>
                <a:sym typeface="Malgun Gothic"/>
              </a:rPr>
              <a:t>가중치가 왜 이상한가 · 원인은 무엇인가</a:t>
            </a:r>
            <a:br>
              <a:rPr b="0" i="0" lang="en-US" sz="1250" u="none" cap="none" strike="noStrike">
                <a:solidFill>
                  <a:srgbClr val="C8C5BC"/>
                </a:solidFill>
                <a:latin typeface="Malgun Gothic"/>
                <a:ea typeface="Malgun Gothic"/>
                <a:cs typeface="Malgun Gothic"/>
                <a:sym typeface="Malgun Gothic"/>
              </a:rPr>
            </a:br>
            <a:r>
              <a:rPr b="0" i="0" lang="en-US" sz="1800" u="none" cap="none" strike="noStrike">
                <a:solidFill>
                  <a:srgbClr val="C8C5BC"/>
                </a:solidFill>
                <a:latin typeface="Malgun Gothic"/>
                <a:ea typeface="Malgun Gothic"/>
                <a:cs typeface="Malgun Gothic"/>
                <a:sym typeface="Malgun Gothic"/>
              </a:rPr>
              <a:t>어떤 성격의 판이었나</a:t>
            </a:r>
            <a:endParaRPr b="0" i="0" sz="1800" u="none" cap="none" strike="noStrike">
              <a:solidFill>
                <a:srgbClr val="C8C5BC"/>
              </a:solidFill>
              <a:latin typeface="Malgun Gothic"/>
              <a:ea typeface="Malgun Gothic"/>
              <a:cs typeface="Malgun Gothic"/>
              <a:sym typeface="Malgun Gothic"/>
            </a:endParaRPr>
          </a:p>
        </p:txBody>
      </p:sp>
      <p:sp>
        <p:nvSpPr>
          <p:cNvPr id="172" name="Google Shape;172;p3"/>
          <p:cNvSpPr/>
          <p:nvPr/>
        </p:nvSpPr>
        <p:spPr>
          <a:xfrm>
            <a:off x="868680" y="4500000"/>
            <a:ext cx="10424160" cy="950000"/>
          </a:xfrm>
          <a:prstGeom prst="rect">
            <a:avLst/>
          </a:prstGeom>
          <a:solidFill>
            <a:srgbClr val="10223E">
              <a:alpha val="81961"/>
            </a:srgbClr>
          </a:solidFill>
          <a:ln cap="flat" cmpd="sng" w="12700">
            <a:solidFill>
              <a:srgbClr val="4746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3" name="Google Shape;173;p3"/>
          <p:cNvSpPr/>
          <p:nvPr/>
        </p:nvSpPr>
        <p:spPr>
          <a:xfrm>
            <a:off x="868680" y="4500000"/>
            <a:ext cx="45720" cy="950000"/>
          </a:xfrm>
          <a:prstGeom prst="rect">
            <a:avLst/>
          </a:prstGeom>
          <a:solidFill>
            <a:srgbClr val="7862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4" name="Google Shape;174;p3"/>
          <p:cNvSpPr/>
          <p:nvPr/>
        </p:nvSpPr>
        <p:spPr>
          <a:xfrm>
            <a:off x="1050000" y="4675000"/>
            <a:ext cx="600000" cy="600000"/>
          </a:xfrm>
          <a:prstGeom prst="rect">
            <a:avLst/>
          </a:prstGeom>
          <a:solidFill>
            <a:srgbClr val="010A13">
              <a:alpha val="72157"/>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5" name="Google Shape;175;p3"/>
          <p:cNvSpPr txBox="1"/>
          <p:nvPr/>
        </p:nvSpPr>
        <p:spPr>
          <a:xfrm>
            <a:off x="1050000" y="4675000"/>
            <a:ext cx="600000" cy="600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2100" u="none" cap="none" strike="noStrike">
                <a:solidFill>
                  <a:srgbClr val="F0E6D2"/>
                </a:solidFill>
                <a:latin typeface="Malgun Gothic"/>
                <a:ea typeface="Malgun Gothic"/>
                <a:cs typeface="Malgun Gothic"/>
                <a:sym typeface="Malgun Gothic"/>
              </a:rPr>
              <a:t>4</a:t>
            </a:r>
            <a:endParaRPr/>
          </a:p>
        </p:txBody>
      </p:sp>
      <p:sp>
        <p:nvSpPr>
          <p:cNvPr id="176" name="Google Shape;176;p3"/>
          <p:cNvSpPr txBox="1"/>
          <p:nvPr/>
        </p:nvSpPr>
        <p:spPr>
          <a:xfrm>
            <a:off x="1850000" y="4500000"/>
            <a:ext cx="5050000" cy="950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2100" u="none" cap="none" strike="noStrike">
                <a:solidFill>
                  <a:srgbClr val="F0E6D2"/>
                </a:solidFill>
                <a:latin typeface="Malgun Gothic"/>
                <a:ea typeface="Malgun Gothic"/>
                <a:cs typeface="Malgun Gothic"/>
                <a:sym typeface="Malgun Gothic"/>
              </a:rPr>
              <a:t>Phase 3  |  시점 비교 (10분 vs 15분)</a:t>
            </a:r>
            <a:endParaRPr/>
          </a:p>
        </p:txBody>
      </p:sp>
      <p:sp>
        <p:nvSpPr>
          <p:cNvPr id="177" name="Google Shape;177;p3"/>
          <p:cNvSpPr/>
          <p:nvPr/>
        </p:nvSpPr>
        <p:spPr>
          <a:xfrm>
            <a:off x="7000000" y="4954426"/>
            <a:ext cx="41148" cy="41148"/>
          </a:xfrm>
          <a:prstGeom prst="diamond">
            <a:avLst/>
          </a:prstGeom>
          <a:solidFill>
            <a:srgbClr val="8F72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8" name="Google Shape;178;p3"/>
          <p:cNvSpPr txBox="1"/>
          <p:nvPr/>
        </p:nvSpPr>
        <p:spPr>
          <a:xfrm>
            <a:off x="7150000" y="4500000"/>
            <a:ext cx="4142840" cy="950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US" sz="1800" u="none" cap="none" strike="noStrike">
                <a:solidFill>
                  <a:srgbClr val="C8C5BC"/>
                </a:solidFill>
                <a:latin typeface="Malgun Gothic"/>
                <a:ea typeface="Malgun Gothic"/>
                <a:cs typeface="Malgun Gothic"/>
                <a:sym typeface="Malgun Gothic"/>
              </a:rPr>
              <a:t>5분을 더 보면 무엇이 달라지나</a:t>
            </a:r>
            <a:endParaRPr/>
          </a:p>
        </p:txBody>
      </p:sp>
      <p:sp>
        <p:nvSpPr>
          <p:cNvPr id="179" name="Google Shape;179;p3"/>
          <p:cNvSpPr/>
          <p:nvPr/>
        </p:nvSpPr>
        <p:spPr>
          <a:xfrm>
            <a:off x="868680" y="5550000"/>
            <a:ext cx="10424160" cy="950000"/>
          </a:xfrm>
          <a:prstGeom prst="rect">
            <a:avLst/>
          </a:prstGeom>
          <a:solidFill>
            <a:srgbClr val="10223E">
              <a:alpha val="81961"/>
            </a:srgbClr>
          </a:solidFill>
          <a:ln cap="flat" cmpd="sng" w="12700">
            <a:solidFill>
              <a:srgbClr val="4746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0" name="Google Shape;180;p3"/>
          <p:cNvSpPr/>
          <p:nvPr/>
        </p:nvSpPr>
        <p:spPr>
          <a:xfrm>
            <a:off x="868680" y="5550000"/>
            <a:ext cx="45720" cy="950000"/>
          </a:xfrm>
          <a:prstGeom prst="rect">
            <a:avLst/>
          </a:prstGeom>
          <a:solidFill>
            <a:srgbClr val="7862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1" name="Google Shape;181;p3"/>
          <p:cNvSpPr/>
          <p:nvPr/>
        </p:nvSpPr>
        <p:spPr>
          <a:xfrm>
            <a:off x="1050000" y="5725000"/>
            <a:ext cx="600000" cy="600000"/>
          </a:xfrm>
          <a:prstGeom prst="rect">
            <a:avLst/>
          </a:prstGeom>
          <a:solidFill>
            <a:srgbClr val="010A13">
              <a:alpha val="72157"/>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2" name="Google Shape;182;p3"/>
          <p:cNvSpPr txBox="1"/>
          <p:nvPr/>
        </p:nvSpPr>
        <p:spPr>
          <a:xfrm>
            <a:off x="1050000" y="5725000"/>
            <a:ext cx="600000" cy="600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2100" u="none" cap="none" strike="noStrike">
                <a:solidFill>
                  <a:srgbClr val="F0E6D2"/>
                </a:solidFill>
                <a:latin typeface="Malgun Gothic"/>
                <a:ea typeface="Malgun Gothic"/>
                <a:cs typeface="Malgun Gothic"/>
                <a:sym typeface="Malgun Gothic"/>
              </a:rPr>
              <a:t>5</a:t>
            </a:r>
            <a:endParaRPr/>
          </a:p>
        </p:txBody>
      </p:sp>
      <p:sp>
        <p:nvSpPr>
          <p:cNvPr id="183" name="Google Shape;183;p3"/>
          <p:cNvSpPr txBox="1"/>
          <p:nvPr/>
        </p:nvSpPr>
        <p:spPr>
          <a:xfrm>
            <a:off x="1850000" y="5844149"/>
            <a:ext cx="5050000" cy="361702"/>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2100" u="none" cap="none" strike="noStrike">
                <a:solidFill>
                  <a:srgbClr val="F0E6D2"/>
                </a:solidFill>
                <a:latin typeface="Malgun Gothic"/>
                <a:ea typeface="Malgun Gothic"/>
                <a:cs typeface="Malgun Gothic"/>
                <a:sym typeface="Malgun Gothic"/>
              </a:rPr>
              <a:t>서비스 · 향후 방향</a:t>
            </a:r>
            <a:endParaRPr b="1" i="0" sz="2100" u="none" cap="none" strike="noStrike">
              <a:solidFill>
                <a:srgbClr val="F0E6D2"/>
              </a:solidFill>
              <a:latin typeface="Malgun Gothic"/>
              <a:ea typeface="Malgun Gothic"/>
              <a:cs typeface="Malgun Gothic"/>
              <a:sym typeface="Malgun Gothic"/>
            </a:endParaRPr>
          </a:p>
        </p:txBody>
      </p:sp>
      <p:sp>
        <p:nvSpPr>
          <p:cNvPr id="184" name="Google Shape;184;p3"/>
          <p:cNvSpPr/>
          <p:nvPr/>
        </p:nvSpPr>
        <p:spPr>
          <a:xfrm>
            <a:off x="7000000" y="6004426"/>
            <a:ext cx="41148" cy="41148"/>
          </a:xfrm>
          <a:prstGeom prst="diamond">
            <a:avLst/>
          </a:prstGeom>
          <a:solidFill>
            <a:srgbClr val="8F723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5" name="Google Shape;185;p3"/>
          <p:cNvSpPr txBox="1"/>
          <p:nvPr/>
        </p:nvSpPr>
        <p:spPr>
          <a:xfrm>
            <a:off x="7150000" y="5550000"/>
            <a:ext cx="4142840" cy="9500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US" sz="1800" u="none" cap="none" strike="noStrike">
                <a:solidFill>
                  <a:srgbClr val="C8C5BC"/>
                </a:solidFill>
                <a:latin typeface="Malgun Gothic"/>
                <a:ea typeface="Malgun Gothic"/>
                <a:cs typeface="Malgun Gothic"/>
                <a:sym typeface="Malgun Gothic"/>
              </a:rPr>
              <a:t>모델이 화면이 되기까지 · 다음에 할 것</a:t>
            </a:r>
            <a:endParaRPr/>
          </a:p>
        </p:txBody>
      </p:sp>
      <p:sp>
        <p:nvSpPr>
          <p:cNvPr id="186" name="Google Shape;186;p3"/>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4"/>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193" name="Google Shape;193;p4"/>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194" name="Google Shape;194;p4"/>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5" name="Google Shape;195;p4"/>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6" name="Google Shape;196;p4"/>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7" name="Google Shape;197;p4"/>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8" name="Google Shape;198;p4"/>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9" name="Google Shape;199;p4"/>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0" name="Google Shape;200;p4"/>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1" name="Google Shape;201;p4"/>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1. 데이터 검증 및 분석   |   </a:t>
            </a:r>
            <a:r>
              <a:rPr b="1" i="0" lang="en-US" sz="2500" u="none" cap="none" strike="noStrike">
                <a:solidFill>
                  <a:srgbClr val="F0E6D2"/>
                </a:solidFill>
                <a:latin typeface="Malgun Gothic"/>
                <a:ea typeface="Malgun Gothic"/>
                <a:cs typeface="Malgun Gothic"/>
                <a:sym typeface="Malgun Gothic"/>
              </a:rPr>
              <a:t>진행 구조 — 3단계 설계</a:t>
            </a:r>
            <a:endParaRPr/>
          </a:p>
        </p:txBody>
      </p:sp>
      <p:sp>
        <p:nvSpPr>
          <p:cNvPr id="202" name="Google Shape;202;p4"/>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3" name="Google Shape;203;p4"/>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aphicFrame>
        <p:nvGraphicFramePr>
          <p:cNvPr id="204" name="Google Shape;204;p4"/>
          <p:cNvGraphicFramePr/>
          <p:nvPr/>
        </p:nvGraphicFramePr>
        <p:xfrm>
          <a:off x="777240" y="1450247"/>
          <a:ext cx="3000000" cy="3000000"/>
        </p:xfrm>
        <a:graphic>
          <a:graphicData uri="http://schemas.openxmlformats.org/drawingml/2006/table">
            <a:tbl>
              <a:tblPr>
                <a:noFill/>
                <a:tableStyleId>{46956E51-EF99-4CE0-B1A4-93B49CD02E09}</a:tableStyleId>
              </a:tblPr>
              <a:tblGrid>
                <a:gridCol w="1191800"/>
                <a:gridCol w="2108550"/>
                <a:gridCol w="4217125"/>
                <a:gridCol w="3117000"/>
              </a:tblGrid>
              <a:tr h="452825">
                <a:tc>
                  <a:txBody>
                    <a:bodyPr/>
                    <a:lstStyle/>
                    <a:p>
                      <a:pPr indent="0" lvl="0" marL="0" marR="0" rtl="0" algn="l">
                        <a:spcBef>
                          <a:spcPts val="0"/>
                        </a:spcBef>
                        <a:spcAft>
                          <a:spcPts val="0"/>
                        </a:spcAft>
                        <a:buNone/>
                      </a:pPr>
                      <a:r>
                        <a:t/>
                      </a:r>
                      <a:endParaRPr sz="1500" u="none" cap="none" strike="noStrike"/>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단계</a:t>
                      </a:r>
                      <a:endParaRPr sz="15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한 일</a:t>
                      </a:r>
                      <a:endParaRPr sz="15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답하는 질문</a:t>
                      </a:r>
                      <a:endParaRPr sz="1500"/>
                    </a:p>
                  </a:txBody>
                  <a:tcPr marT="45725" marB="45725" marR="91450" marL="91450" anchor="ctr">
                    <a:solidFill>
                      <a:srgbClr val="3C3F3E"/>
                    </a:solidFill>
                  </a:tcPr>
                </a:tc>
              </a:tr>
              <a:tr h="740975">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Phase 1</a:t>
                      </a:r>
                      <a:endParaRPr sz="15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승패 예측과 원인 분석</a:t>
                      </a:r>
                      <a:endParaRPr sz="15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데이터를 검증·정리하고, 모델 8종을 비교해 </a:t>
                      </a:r>
                      <a:endParaRPr b="0" sz="1500" u="none" cap="none" strike="noStrike">
                        <a:solidFill>
                          <a:srgbClr val="C1BEB4"/>
                        </a:solidFill>
                        <a:latin typeface="Malgun Gothic"/>
                        <a:ea typeface="Malgun Gothic"/>
                        <a:cs typeface="Malgun Gothic"/>
                        <a:sym typeface="Malgun Gothic"/>
                      </a:endParaRPr>
                    </a:p>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학습하고, 무엇이 승패를 갈랐는지 해석</a:t>
                      </a:r>
                      <a:endParaRPr b="0" sz="1500" u="none" cap="none" strike="noStrike">
                        <a:solidFill>
                          <a:srgbClr val="C1BEB4"/>
                        </a:solidFill>
                        <a:latin typeface="Malgun Gothic"/>
                        <a:ea typeface="Malgun Gothic"/>
                        <a:cs typeface="Malgun Gothic"/>
                        <a:sym typeface="Malgun Gothic"/>
                      </a:endParaRPr>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10분 정보로 얼마나 맞히나?</a:t>
                      </a:r>
                      <a:br>
                        <a:rPr b="0" lang="en-US" sz="1500" u="none" cap="none" strike="noStrike">
                          <a:solidFill>
                            <a:srgbClr val="C1BEB4"/>
                          </a:solidFill>
                          <a:latin typeface="Malgun Gothic"/>
                          <a:ea typeface="Malgun Gothic"/>
                          <a:cs typeface="Malgun Gothic"/>
                          <a:sym typeface="Malgun Gothic"/>
                        </a:rPr>
                      </a:br>
                      <a:r>
                        <a:rPr b="0" lang="en-US" sz="1500" u="none" cap="none" strike="noStrike">
                          <a:solidFill>
                            <a:srgbClr val="C1BEB4"/>
                          </a:solidFill>
                          <a:latin typeface="Malgun Gothic"/>
                          <a:ea typeface="Malgun Gothic"/>
                          <a:cs typeface="Malgun Gothic"/>
                          <a:sym typeface="Malgun Gothic"/>
                        </a:rPr>
                        <a:t>무엇이 승패를 가르나?</a:t>
                      </a:r>
                      <a:endParaRPr sz="1500"/>
                    </a:p>
                  </a:txBody>
                  <a:tcPr marT="45725" marB="45725" marR="91450" marL="91450" anchor="ctr">
                    <a:solidFill>
                      <a:srgbClr val="10223E"/>
                    </a:solidFill>
                  </a:tcPr>
                </a:tc>
              </a:tr>
              <a:tr h="740975">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Phase 2</a:t>
                      </a:r>
                      <a:endParaRPr sz="15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상관도 강한 피처를 </a:t>
                      </a:r>
                      <a:endParaRPr b="0" sz="1500" u="none" cap="none" strike="noStrike">
                        <a:solidFill>
                          <a:srgbClr val="C1BEB4"/>
                        </a:solidFill>
                        <a:latin typeface="Malgun Gothic"/>
                        <a:ea typeface="Malgun Gothic"/>
                        <a:cs typeface="Malgun Gothic"/>
                        <a:sym typeface="Malgun Gothic"/>
                      </a:endParaRPr>
                    </a:p>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빼고 재분석</a:t>
                      </a:r>
                      <a:endParaRPr b="0" sz="1500" u="none" cap="none" strike="noStrike">
                        <a:solidFill>
                          <a:srgbClr val="C1BEB4"/>
                        </a:solidFill>
                        <a:latin typeface="Malgun Gothic"/>
                        <a:ea typeface="Malgun Gothic"/>
                        <a:cs typeface="Malgun Gothic"/>
                        <a:sym typeface="Malgun Gothic"/>
                      </a:endParaRPr>
                    </a:p>
                  </a:txBody>
                  <a:tcPr marT="45725" marB="45725" marR="91450" marL="91450" anchor="ctr">
                    <a:solidFill>
                      <a:srgbClr val="09172B"/>
                    </a:solidFill>
                  </a:tcPr>
                </a:tc>
                <a:tc>
                  <a:txBody>
                    <a:bodyPr/>
                    <a:lstStyle/>
                    <a:p>
                      <a:pPr indent="0" lvl="0" marL="0" marR="0" rtl="0" algn="ctr">
                        <a:spcBef>
                          <a:spcPts val="0"/>
                        </a:spcBef>
                        <a:spcAft>
                          <a:spcPts val="0"/>
                        </a:spcAft>
                        <a:buNone/>
                      </a:pPr>
                      <a:r>
                        <a:rPr lang="en-US" sz="1500">
                          <a:solidFill>
                            <a:srgbClr val="C1BEB4"/>
                          </a:solidFill>
                          <a:latin typeface="Malgun Gothic"/>
                          <a:ea typeface="Malgun Gothic"/>
                          <a:cs typeface="Malgun Gothic"/>
                          <a:sym typeface="Malgun Gothic"/>
                        </a:rPr>
                        <a:t>화에서 상관이 유난히 강한 지표를 발견하고,</a:t>
                      </a:r>
                      <a:br>
                        <a:rPr lang="en-US" sz="1500">
                          <a:solidFill>
                            <a:srgbClr val="C1BEB4"/>
                          </a:solidFill>
                          <a:latin typeface="Malgun Gothic"/>
                          <a:ea typeface="Malgun Gothic"/>
                          <a:cs typeface="Malgun Gothic"/>
                          <a:sym typeface="Malgun Gothic"/>
                        </a:rPr>
                      </a:br>
                      <a:r>
                        <a:rPr lang="en-US" sz="1500">
                          <a:solidFill>
                            <a:srgbClr val="C1BEB4"/>
                          </a:solidFill>
                          <a:latin typeface="Malgun Gothic"/>
                          <a:ea typeface="Malgun Gothic"/>
                          <a:cs typeface="Malgun Gothic"/>
                          <a:sym typeface="Malgun Gothic"/>
                        </a:rPr>
                        <a:t>그 지표를 빼고 다시 학습해 비교시각</a:t>
                      </a:r>
                      <a:endParaRPr b="0" sz="1500" u="none" cap="none" strike="noStrike">
                        <a:solidFill>
                          <a:srgbClr val="C1BEB4"/>
                        </a:solidFill>
                        <a:latin typeface="Malgun Gothic"/>
                        <a:ea typeface="Malgun Gothic"/>
                        <a:cs typeface="Malgun Gothic"/>
                        <a:sym typeface="Malgun Gothic"/>
                      </a:endParaRPr>
                    </a:p>
                  </a:txBody>
                  <a:tcPr marT="45700" marB="45725" marR="91450" marL="91425" anchor="ctr">
                    <a:solidFill>
                      <a:srgbClr val="09172B"/>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가중치가 왜 이상하게 나왔나?</a:t>
                      </a:r>
                      <a:br>
                        <a:rPr b="0" lang="en-US" sz="1500" u="none" cap="none" strike="noStrike">
                          <a:solidFill>
                            <a:srgbClr val="C1BEB4"/>
                          </a:solidFill>
                          <a:latin typeface="Malgun Gothic"/>
                          <a:ea typeface="Malgun Gothic"/>
                          <a:cs typeface="Malgun Gothic"/>
                          <a:sym typeface="Malgun Gothic"/>
                        </a:rPr>
                      </a:br>
                      <a:r>
                        <a:rPr b="0" lang="en-US" sz="1500" u="none" cap="none" strike="noStrike">
                          <a:solidFill>
                            <a:srgbClr val="C1BEB4"/>
                          </a:solidFill>
                          <a:latin typeface="Malgun Gothic"/>
                          <a:ea typeface="Malgun Gothic"/>
                          <a:cs typeface="Malgun Gothic"/>
                          <a:sym typeface="Malgun Gothic"/>
                        </a:rPr>
                        <a:t>빼면 무엇이 달라지나?</a:t>
                      </a:r>
                      <a:endParaRPr sz="1500"/>
                    </a:p>
                  </a:txBody>
                  <a:tcPr marT="45725" marB="45725" marR="91450" marL="91450" anchor="ctr">
                    <a:solidFill>
                      <a:srgbClr val="09172B"/>
                    </a:solidFill>
                  </a:tcPr>
                </a:tc>
              </a:tr>
              <a:tr h="740975">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Phase 3</a:t>
                      </a:r>
                      <a:endParaRPr sz="15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시점 비교</a:t>
                      </a:r>
                      <a:endParaRPr b="0" sz="1500" u="none" cap="none" strike="noStrike">
                        <a:solidFill>
                          <a:srgbClr val="C1BEB4"/>
                        </a:solidFill>
                        <a:latin typeface="Malgun Gothic"/>
                        <a:ea typeface="Malgun Gothic"/>
                        <a:cs typeface="Malgun Gothic"/>
                        <a:sym typeface="Malgun Gothic"/>
                      </a:endParaRPr>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추가 데이터로 10분 모델과 15분 모델을 같은 </a:t>
                      </a:r>
                      <a:endParaRPr b="0" sz="1500" u="none" cap="none" strike="noStrike">
                        <a:solidFill>
                          <a:srgbClr val="C1BEB4"/>
                        </a:solidFill>
                        <a:latin typeface="Malgun Gothic"/>
                        <a:ea typeface="Malgun Gothic"/>
                        <a:cs typeface="Malgun Gothic"/>
                        <a:sym typeface="Malgun Gothic"/>
                      </a:endParaRPr>
                    </a:p>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조건에서 비교</a:t>
                      </a:r>
                      <a:endParaRPr b="0" sz="1500" u="none" cap="none" strike="noStrike">
                        <a:solidFill>
                          <a:srgbClr val="C1BEB4"/>
                        </a:solidFill>
                        <a:latin typeface="Malgun Gothic"/>
                        <a:ea typeface="Malgun Gothic"/>
                        <a:cs typeface="Malgun Gothic"/>
                        <a:sym typeface="Malgun Gothic"/>
                      </a:endParaRPr>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5분을 더 보면 무엇이 달라지나?</a:t>
                      </a:r>
                      <a:endParaRPr sz="1500"/>
                    </a:p>
                  </a:txBody>
                  <a:tcPr marT="45725" marB="45725" marR="91450" marL="91450" anchor="ctr">
                    <a:solidFill>
                      <a:srgbClr val="10223E"/>
                    </a:solidFill>
                  </a:tcPr>
                </a:tc>
              </a:tr>
            </a:tbl>
          </a:graphicData>
        </a:graphic>
      </p:graphicFrame>
      <p:sp>
        <p:nvSpPr>
          <p:cNvPr id="205" name="Google Shape;205;p4"/>
          <p:cNvSpPr txBox="1"/>
          <p:nvPr/>
        </p:nvSpPr>
        <p:spPr>
          <a:xfrm>
            <a:off x="777240" y="4429114"/>
            <a:ext cx="10607100" cy="16437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0" i="0" lang="en-US" sz="1800" u="none" cap="none" strike="noStrike">
                <a:solidFill>
                  <a:srgbClr val="C8C5BC"/>
                </a:solidFill>
                <a:latin typeface="Malgun Gothic"/>
                <a:ea typeface="Malgun Gothic"/>
                <a:cs typeface="Malgun Gothic"/>
                <a:sym typeface="Malgun Gothic"/>
              </a:rPr>
              <a:t>•  Phase 1 — 10분 정보로 승패를 맞히고, 무엇이 가르는지 봅니다</a:t>
            </a:r>
            <a:endParaRPr b="0" i="0" sz="1800" u="none" cap="none" strike="noStrike">
              <a:solidFill>
                <a:srgbClr val="C8C5BC"/>
              </a:solidFill>
              <a:latin typeface="Malgun Gothic"/>
              <a:ea typeface="Malgun Gothic"/>
              <a:cs typeface="Malgun Gothic"/>
              <a:sym typeface="Malgun Gothic"/>
            </a:endParaRPr>
          </a:p>
          <a:p>
            <a:pPr indent="0" lvl="0" marL="0" marR="0" rtl="0" algn="l">
              <a:lnSpc>
                <a:spcPct val="132000"/>
              </a:lnSpc>
              <a:spcBef>
                <a:spcPts val="700"/>
              </a:spcBef>
              <a:spcAft>
                <a:spcPts val="0"/>
              </a:spcAft>
              <a:buNone/>
            </a:pPr>
            <a:r>
              <a:rPr b="1" i="0" lang="en-US" sz="1800" u="none" cap="none" strike="noStrike">
                <a:solidFill>
                  <a:srgbClr val="F0E6D2"/>
                </a:solidFill>
                <a:latin typeface="Malgun Gothic"/>
                <a:ea typeface="Malgun Gothic"/>
                <a:cs typeface="Malgun Gothic"/>
                <a:sym typeface="Malgun Gothic"/>
              </a:rPr>
              <a:t>◆  그런데 가중치에 이상한 곳이 보인다 → Phase 2의 질문</a:t>
            </a:r>
            <a:endParaRPr b="1" i="0" sz="1800" u="none" cap="none" strike="noStrike">
              <a:solidFill>
                <a:srgbClr val="F0E6D2"/>
              </a:solidFill>
              <a:latin typeface="Malgun Gothic"/>
              <a:ea typeface="Malgun Gothic"/>
              <a:cs typeface="Malgun Gothic"/>
              <a:sym typeface="Malgun Gothic"/>
            </a:endParaRPr>
          </a:p>
          <a:p>
            <a:pPr indent="0" lvl="0" marL="0" marR="0" rtl="0" algn="l">
              <a:lnSpc>
                <a:spcPct val="132000"/>
              </a:lnSpc>
              <a:spcBef>
                <a:spcPts val="700"/>
              </a:spcBef>
              <a:spcAft>
                <a:spcPts val="0"/>
              </a:spcAft>
              <a:buNone/>
            </a:pPr>
            <a:r>
              <a:rPr b="0" i="0" lang="en-US" sz="1800" u="none" cap="none" strike="noStrike">
                <a:solidFill>
                  <a:srgbClr val="C8C5BC"/>
                </a:solidFill>
                <a:latin typeface="Malgun Gothic"/>
                <a:ea typeface="Malgun Gothic"/>
                <a:cs typeface="Malgun Gothic"/>
                <a:sym typeface="Malgun Gothic"/>
              </a:rPr>
              <a:t>•  Phase 2 — 왜 그런지 원인을 파고듭니다</a:t>
            </a:r>
            <a:endParaRPr b="0" i="0" sz="1800" u="none" cap="none" strike="noStrike">
              <a:solidFill>
                <a:srgbClr val="C8C5BC"/>
              </a:solidFill>
              <a:latin typeface="Malgun Gothic"/>
              <a:ea typeface="Malgun Gothic"/>
              <a:cs typeface="Malgun Gothic"/>
              <a:sym typeface="Malgun Gothic"/>
            </a:endParaRPr>
          </a:p>
          <a:p>
            <a:pPr indent="0" lvl="0" marL="0" marR="0" rtl="0" algn="l">
              <a:lnSpc>
                <a:spcPct val="132000"/>
              </a:lnSpc>
              <a:spcBef>
                <a:spcPts val="700"/>
              </a:spcBef>
              <a:spcAft>
                <a:spcPts val="0"/>
              </a:spcAft>
              <a:buNone/>
            </a:pPr>
            <a:r>
              <a:rPr b="1" i="0" lang="en-US" sz="1800" u="none" cap="none" strike="noStrike">
                <a:solidFill>
                  <a:srgbClr val="F0E6D2"/>
                </a:solidFill>
                <a:latin typeface="Malgun Gothic"/>
                <a:ea typeface="Malgun Gothic"/>
                <a:cs typeface="Malgun Gothic"/>
                <a:sym typeface="Malgun Gothic"/>
              </a:rPr>
              <a:t>◆  10분 안에서 안 오르는 상한 → 시점을 바꾸는 Phase 3</a:t>
            </a:r>
            <a:endParaRPr/>
          </a:p>
        </p:txBody>
      </p:sp>
      <p:sp>
        <p:nvSpPr>
          <p:cNvPr id="206" name="Google Shape;206;p4"/>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reports/tables/</a:t>
            </a:r>
            <a:endParaRPr/>
          </a:p>
        </p:txBody>
      </p:sp>
      <p:sp>
        <p:nvSpPr>
          <p:cNvPr id="207" name="Google Shape;207;p4"/>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5"/>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214" name="Google Shape;214;p5"/>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215" name="Google Shape;215;p5"/>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6" name="Google Shape;216;p5"/>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7" name="Google Shape;217;p5"/>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8" name="Google Shape;218;p5"/>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9" name="Google Shape;219;p5"/>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0" name="Google Shape;220;p5"/>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1" name="Google Shape;221;p5"/>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2" name="Google Shape;222;p5"/>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게임 기초 — 30초 요약</a:t>
            </a:r>
            <a:endParaRPr/>
          </a:p>
        </p:txBody>
      </p:sp>
      <p:sp>
        <p:nvSpPr>
          <p:cNvPr id="223" name="Google Shape;223;p5"/>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4" name="Google Shape;224;p5"/>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5" name="Google Shape;225;p5"/>
          <p:cNvSpPr/>
          <p:nvPr/>
        </p:nvSpPr>
        <p:spPr>
          <a:xfrm>
            <a:off x="777240" y="1365205"/>
            <a:ext cx="2523600" cy="2103000"/>
          </a:xfrm>
          <a:prstGeom prst="rect">
            <a:avLst/>
          </a:prstGeom>
          <a:solidFill>
            <a:srgbClr val="10223E">
              <a:alpha val="87843"/>
            </a:srgbClr>
          </a:solidFill>
          <a:ln cap="flat" cmpd="sng" w="12700">
            <a:solidFill>
              <a:srgbClr val="4B49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6" name="Google Shape;226;p5"/>
          <p:cNvSpPr/>
          <p:nvPr/>
        </p:nvSpPr>
        <p:spPr>
          <a:xfrm>
            <a:off x="777240" y="1365205"/>
            <a:ext cx="41100" cy="21030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7" name="Google Shape;227;p5"/>
          <p:cNvSpPr txBox="1"/>
          <p:nvPr/>
        </p:nvSpPr>
        <p:spPr>
          <a:xfrm>
            <a:off x="875431" y="1562370"/>
            <a:ext cx="2482500" cy="1244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1500" u="none" cap="none" strike="noStrike">
                <a:solidFill>
                  <a:srgbClr val="F0E6D2"/>
                </a:solidFill>
                <a:latin typeface="Malgun Gothic"/>
                <a:ea typeface="Malgun Gothic"/>
                <a:cs typeface="Malgun Gothic"/>
                <a:sym typeface="Malgun Gothic"/>
              </a:rPr>
              <a:t>골드  ( 돈 )</a:t>
            </a:r>
            <a:endParaRPr/>
          </a:p>
          <a:p>
            <a:pPr indent="0" lvl="0" marL="0" marR="0" rtl="0" algn="l">
              <a:lnSpc>
                <a:spcPct val="132000"/>
              </a:lnSpc>
              <a:spcBef>
                <a:spcPts val="900"/>
              </a:spcBef>
              <a:spcAft>
                <a:spcPts val="0"/>
              </a:spcAft>
              <a:buNone/>
            </a:pPr>
            <a:r>
              <a:rPr b="0" i="0" lang="en-US" sz="1500" u="none" cap="none" strike="noStrike">
                <a:solidFill>
                  <a:srgbClr val="C8C5BC"/>
                </a:solidFill>
                <a:latin typeface="Malgun Gothic"/>
                <a:ea typeface="Malgun Gothic"/>
                <a:cs typeface="Malgun Gothic"/>
                <a:sym typeface="Malgun Gothic"/>
              </a:rPr>
              <a:t>장비를 사는 재화.</a:t>
            </a:r>
            <a:br>
              <a:rPr b="0" i="0" lang="en-US" sz="1500" u="none" cap="none" strike="noStrike">
                <a:solidFill>
                  <a:srgbClr val="C8C5BC"/>
                </a:solidFill>
                <a:latin typeface="Malgun Gothic"/>
                <a:ea typeface="Malgun Gothic"/>
                <a:cs typeface="Malgun Gothic"/>
                <a:sym typeface="Malgun Gothic"/>
              </a:rPr>
            </a:br>
            <a:r>
              <a:rPr b="0" i="0" lang="en-US" sz="1500" u="none" cap="none" strike="noStrike">
                <a:solidFill>
                  <a:srgbClr val="C8C5BC"/>
                </a:solidFill>
                <a:latin typeface="Malgun Gothic"/>
                <a:ea typeface="Malgun Gothic"/>
                <a:cs typeface="Malgun Gothic"/>
                <a:sym typeface="Malgun Gothic"/>
              </a:rPr>
              <a:t>이 게임의 모든 활약이 결국</a:t>
            </a:r>
            <a:br>
              <a:rPr b="0" i="0" lang="en-US" sz="1500" u="none" cap="none" strike="noStrike">
                <a:solidFill>
                  <a:srgbClr val="C8C5BC"/>
                </a:solidFill>
                <a:latin typeface="Malgun Gothic"/>
                <a:ea typeface="Malgun Gothic"/>
                <a:cs typeface="Malgun Gothic"/>
                <a:sym typeface="Malgun Gothic"/>
              </a:rPr>
            </a:br>
            <a:r>
              <a:rPr b="0" i="0" lang="en-US" sz="1500" u="none" cap="none" strike="noStrike">
                <a:solidFill>
                  <a:srgbClr val="C8C5BC"/>
                </a:solidFill>
                <a:latin typeface="Malgun Gothic"/>
                <a:ea typeface="Malgun Gothic"/>
                <a:cs typeface="Malgun Gothic"/>
                <a:sym typeface="Malgun Gothic"/>
              </a:rPr>
              <a:t>여기로 모입니다</a:t>
            </a:r>
            <a:endParaRPr b="0" i="0" sz="1500" u="none" cap="none" strike="noStrike">
              <a:solidFill>
                <a:srgbClr val="C8C5BC"/>
              </a:solidFill>
              <a:latin typeface="Malgun Gothic"/>
              <a:ea typeface="Malgun Gothic"/>
              <a:cs typeface="Malgun Gothic"/>
              <a:sym typeface="Malgun Gothic"/>
            </a:endParaRPr>
          </a:p>
        </p:txBody>
      </p:sp>
      <p:sp>
        <p:nvSpPr>
          <p:cNvPr id="228" name="Google Shape;228;p5"/>
          <p:cNvSpPr/>
          <p:nvPr/>
        </p:nvSpPr>
        <p:spPr>
          <a:xfrm>
            <a:off x="3465576" y="1365205"/>
            <a:ext cx="2523600" cy="2103000"/>
          </a:xfrm>
          <a:prstGeom prst="rect">
            <a:avLst/>
          </a:prstGeom>
          <a:solidFill>
            <a:srgbClr val="10223E">
              <a:alpha val="87843"/>
            </a:srgbClr>
          </a:solidFill>
          <a:ln cap="flat" cmpd="sng" w="12700">
            <a:solidFill>
              <a:srgbClr val="4B49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9" name="Google Shape;229;p5"/>
          <p:cNvSpPr/>
          <p:nvPr/>
        </p:nvSpPr>
        <p:spPr>
          <a:xfrm>
            <a:off x="3465576" y="1365205"/>
            <a:ext cx="41100" cy="21030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0" name="Google Shape;230;p5"/>
          <p:cNvSpPr txBox="1"/>
          <p:nvPr/>
        </p:nvSpPr>
        <p:spPr>
          <a:xfrm>
            <a:off x="3660552" y="1562370"/>
            <a:ext cx="2286000" cy="1119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1500" u="none" cap="none" strike="noStrike">
                <a:solidFill>
                  <a:srgbClr val="F0E6D2"/>
                </a:solidFill>
                <a:latin typeface="Malgun Gothic"/>
                <a:ea typeface="Malgun Gothic"/>
                <a:cs typeface="Malgun Gothic"/>
                <a:sym typeface="Malgun Gothic"/>
              </a:rPr>
              <a:t>미니언  ( CS )</a:t>
            </a:r>
            <a:endParaRPr/>
          </a:p>
          <a:p>
            <a:pPr indent="0" lvl="0" marL="0" marR="0" rtl="0" algn="l">
              <a:lnSpc>
                <a:spcPct val="116000"/>
              </a:lnSpc>
              <a:spcBef>
                <a:spcPts val="900"/>
              </a:spcBef>
              <a:spcAft>
                <a:spcPts val="0"/>
              </a:spcAft>
              <a:buNone/>
            </a:pPr>
            <a:r>
              <a:rPr b="0" i="0" lang="en-US" u="none" cap="none" strike="noStrike">
                <a:solidFill>
                  <a:srgbClr val="C8C5BC"/>
                </a:solidFill>
                <a:latin typeface="Malgun Gothic"/>
                <a:ea typeface="Malgun Gothic"/>
                <a:cs typeface="Malgun Gothic"/>
                <a:sym typeface="Malgun Gothic"/>
              </a:rPr>
              <a:t>잡으면 돈을 주는 </a:t>
            </a:r>
            <a:r>
              <a:rPr lang="en-US">
                <a:solidFill>
                  <a:srgbClr val="C8C5BC"/>
                </a:solidFill>
                <a:latin typeface="Malgun Gothic"/>
                <a:ea typeface="Malgun Gothic"/>
                <a:cs typeface="Malgun Gothic"/>
                <a:sym typeface="Malgun Gothic"/>
              </a:rPr>
              <a:t>몬스터</a:t>
            </a:r>
            <a:r>
              <a:rPr b="0" i="0" lang="en-US" u="none" cap="none" strike="noStrike">
                <a:solidFill>
                  <a:srgbClr val="C8C5BC"/>
                </a:solidFill>
                <a:latin typeface="Malgun Gothic"/>
                <a:ea typeface="Malgun Gothic"/>
                <a:cs typeface="Malgun Gothic"/>
                <a:sym typeface="Malgun Gothic"/>
              </a:rPr>
              <a:t>.</a:t>
            </a:r>
            <a:br>
              <a:rPr b="0" i="0" lang="en-US" u="none" cap="none" strike="noStrike">
                <a:solidFill>
                  <a:srgbClr val="C8C5BC"/>
                </a:solidFill>
                <a:latin typeface="Malgun Gothic"/>
                <a:ea typeface="Malgun Gothic"/>
                <a:cs typeface="Malgun Gothic"/>
                <a:sym typeface="Malgun Gothic"/>
              </a:rPr>
            </a:br>
            <a:r>
              <a:rPr b="0" i="0" lang="en-US" u="none" cap="none" strike="noStrike">
                <a:solidFill>
                  <a:srgbClr val="C8C5BC"/>
                </a:solidFill>
                <a:latin typeface="Malgun Gothic"/>
                <a:ea typeface="Malgun Gothic"/>
                <a:cs typeface="Malgun Gothic"/>
                <a:sym typeface="Malgun Gothic"/>
              </a:rPr>
              <a:t>돈의 주 수입원 </a:t>
            </a:r>
            <a:br>
              <a:rPr b="0" i="0" lang="en-US" u="none" cap="none" strike="noStrike">
                <a:solidFill>
                  <a:srgbClr val="C8C5BC"/>
                </a:solidFill>
                <a:latin typeface="Malgun Gothic"/>
                <a:ea typeface="Malgun Gothic"/>
                <a:cs typeface="Malgun Gothic"/>
                <a:sym typeface="Malgun Gothic"/>
              </a:rPr>
            </a:br>
            <a:r>
              <a:rPr b="0" i="0" lang="en-US" u="none" cap="none" strike="noStrike">
                <a:solidFill>
                  <a:srgbClr val="C8C5BC"/>
                </a:solidFill>
                <a:latin typeface="Malgun Gothic"/>
                <a:ea typeface="Malgun Gothic"/>
                <a:cs typeface="Malgun Gothic"/>
                <a:sym typeface="Malgun Gothic"/>
              </a:rPr>
              <a:t>싸움 없이도 돈이 앞섭니다</a:t>
            </a:r>
            <a:endParaRPr b="0" i="0" u="none" cap="none" strike="noStrike">
              <a:solidFill>
                <a:srgbClr val="C8C5BC"/>
              </a:solidFill>
              <a:latin typeface="Malgun Gothic"/>
              <a:ea typeface="Malgun Gothic"/>
              <a:cs typeface="Malgun Gothic"/>
              <a:sym typeface="Malgun Gothic"/>
            </a:endParaRPr>
          </a:p>
        </p:txBody>
      </p:sp>
      <p:sp>
        <p:nvSpPr>
          <p:cNvPr id="231" name="Google Shape;231;p5"/>
          <p:cNvSpPr/>
          <p:nvPr/>
        </p:nvSpPr>
        <p:spPr>
          <a:xfrm>
            <a:off x="6153912" y="1365205"/>
            <a:ext cx="2523600" cy="2103000"/>
          </a:xfrm>
          <a:prstGeom prst="rect">
            <a:avLst/>
          </a:prstGeom>
          <a:solidFill>
            <a:srgbClr val="10223E">
              <a:alpha val="87843"/>
            </a:srgbClr>
          </a:solidFill>
          <a:ln cap="flat" cmpd="sng" w="12700">
            <a:solidFill>
              <a:srgbClr val="4B49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2" name="Google Shape;232;p5"/>
          <p:cNvSpPr/>
          <p:nvPr/>
        </p:nvSpPr>
        <p:spPr>
          <a:xfrm>
            <a:off x="6153912" y="1365205"/>
            <a:ext cx="41100" cy="21030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3" name="Google Shape;233;p5"/>
          <p:cNvSpPr txBox="1"/>
          <p:nvPr/>
        </p:nvSpPr>
        <p:spPr>
          <a:xfrm>
            <a:off x="6391655" y="1562361"/>
            <a:ext cx="2171700" cy="939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1500" u="none" cap="none" strike="noStrike">
                <a:solidFill>
                  <a:srgbClr val="F0E6D2"/>
                </a:solidFill>
                <a:latin typeface="Malgun Gothic"/>
                <a:ea typeface="Malgun Gothic"/>
                <a:cs typeface="Malgun Gothic"/>
                <a:sym typeface="Malgun Gothic"/>
              </a:rPr>
              <a:t>경험치  ( 레벨 )</a:t>
            </a:r>
            <a:endParaRPr/>
          </a:p>
          <a:p>
            <a:pPr indent="0" lvl="0" marL="0" marR="0" rtl="0" algn="l">
              <a:lnSpc>
                <a:spcPct val="132000"/>
              </a:lnSpc>
              <a:spcBef>
                <a:spcPts val="900"/>
              </a:spcBef>
              <a:spcAft>
                <a:spcPts val="0"/>
              </a:spcAft>
              <a:buNone/>
            </a:pPr>
            <a:r>
              <a:rPr b="0" i="0" lang="en-US" sz="1500" u="none" cap="none" strike="noStrike">
                <a:solidFill>
                  <a:srgbClr val="C8C5BC"/>
                </a:solidFill>
                <a:latin typeface="Malgun Gothic"/>
                <a:ea typeface="Malgun Gothic"/>
                <a:cs typeface="Malgun Gothic"/>
                <a:sym typeface="Malgun Gothic"/>
              </a:rPr>
              <a:t>레벨이 오르면 스킬이 강해집니다</a:t>
            </a:r>
            <a:endParaRPr b="0" i="0" sz="1500" u="none" cap="none" strike="noStrike">
              <a:solidFill>
                <a:srgbClr val="C8C5BC"/>
              </a:solidFill>
              <a:latin typeface="Malgun Gothic"/>
              <a:ea typeface="Malgun Gothic"/>
              <a:cs typeface="Malgun Gothic"/>
              <a:sym typeface="Malgun Gothic"/>
            </a:endParaRPr>
          </a:p>
        </p:txBody>
      </p:sp>
      <p:sp>
        <p:nvSpPr>
          <p:cNvPr id="234" name="Google Shape;234;p5"/>
          <p:cNvSpPr/>
          <p:nvPr/>
        </p:nvSpPr>
        <p:spPr>
          <a:xfrm>
            <a:off x="8842248" y="1365205"/>
            <a:ext cx="2523600" cy="2103000"/>
          </a:xfrm>
          <a:prstGeom prst="rect">
            <a:avLst/>
          </a:prstGeom>
          <a:solidFill>
            <a:srgbClr val="10223E">
              <a:alpha val="87843"/>
            </a:srgbClr>
          </a:solidFill>
          <a:ln cap="flat" cmpd="sng" w="12700">
            <a:solidFill>
              <a:srgbClr val="4B49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5" name="Google Shape;235;p5"/>
          <p:cNvSpPr/>
          <p:nvPr/>
        </p:nvSpPr>
        <p:spPr>
          <a:xfrm>
            <a:off x="8842248" y="1365205"/>
            <a:ext cx="41100" cy="21030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6" name="Google Shape;236;p5"/>
          <p:cNvSpPr txBox="1"/>
          <p:nvPr/>
        </p:nvSpPr>
        <p:spPr>
          <a:xfrm>
            <a:off x="9037228" y="1533854"/>
            <a:ext cx="2286000" cy="1826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1500" u="none" cap="none" strike="noStrike">
                <a:solidFill>
                  <a:srgbClr val="F0E6D2"/>
                </a:solidFill>
                <a:latin typeface="Malgun Gothic"/>
                <a:ea typeface="Malgun Gothic"/>
                <a:cs typeface="Malgun Gothic"/>
                <a:sym typeface="Malgun Gothic"/>
              </a:rPr>
              <a:t>드래곤 · 전령  (오브젝트)</a:t>
            </a:r>
            <a:endParaRPr/>
          </a:p>
          <a:p>
            <a:pPr indent="0" lvl="0" marL="0" marR="0" rtl="0" algn="l">
              <a:lnSpc>
                <a:spcPct val="129000"/>
              </a:lnSpc>
              <a:spcBef>
                <a:spcPts val="900"/>
              </a:spcBef>
              <a:spcAft>
                <a:spcPts val="0"/>
              </a:spcAft>
              <a:buNone/>
            </a:pPr>
            <a:r>
              <a:rPr b="0" i="0" lang="en-US" sz="1500" u="none" cap="none" strike="noStrike">
                <a:solidFill>
                  <a:srgbClr val="C8C5BC"/>
                </a:solidFill>
                <a:latin typeface="Malgun Gothic"/>
                <a:ea typeface="Malgun Gothic"/>
                <a:cs typeface="Malgun Gothic"/>
                <a:sym typeface="Malgun Gothic"/>
              </a:rPr>
              <a:t>맵의 중립 목표물</a:t>
            </a:r>
            <a:br>
              <a:rPr b="0" i="0" lang="en-US" sz="1500" u="none" cap="none" strike="noStrike">
                <a:solidFill>
                  <a:srgbClr val="C8C5BC"/>
                </a:solidFill>
                <a:latin typeface="Malgun Gothic"/>
                <a:ea typeface="Malgun Gothic"/>
                <a:cs typeface="Malgun Gothic"/>
                <a:sym typeface="Malgun Gothic"/>
              </a:rPr>
            </a:br>
            <a:r>
              <a:rPr b="0" i="0" lang="en-US" sz="1500" u="none" cap="none" strike="noStrike">
                <a:solidFill>
                  <a:srgbClr val="C8C5BC"/>
                </a:solidFill>
                <a:latin typeface="Malgun Gothic"/>
                <a:ea typeface="Malgun Gothic"/>
                <a:cs typeface="Malgun Gothic"/>
                <a:sym typeface="Malgun Gothic"/>
              </a:rPr>
              <a:t>드래곤은 팀 전체가 강해지고</a:t>
            </a:r>
            <a:br>
              <a:rPr b="0" i="0" lang="en-US" sz="1500" u="none" cap="none" strike="noStrike">
                <a:solidFill>
                  <a:srgbClr val="C8C5BC"/>
                </a:solidFill>
                <a:latin typeface="Malgun Gothic"/>
                <a:ea typeface="Malgun Gothic"/>
                <a:cs typeface="Malgun Gothic"/>
                <a:sym typeface="Malgun Gothic"/>
              </a:rPr>
            </a:br>
            <a:r>
              <a:rPr b="0" i="0" lang="en-US" sz="1500" u="none" cap="none" strike="noStrike">
                <a:solidFill>
                  <a:srgbClr val="C8C5BC"/>
                </a:solidFill>
                <a:latin typeface="Malgun Gothic"/>
                <a:ea typeface="Malgun Gothic"/>
                <a:cs typeface="Malgun Gothic"/>
                <a:sym typeface="Malgun Gothic"/>
              </a:rPr>
              <a:t>전령은 타워를 미는 데 씁니다</a:t>
            </a:r>
            <a:endParaRPr b="0" i="0" sz="1500" u="none" cap="none" strike="noStrike">
              <a:solidFill>
                <a:srgbClr val="C8C5BC"/>
              </a:solidFill>
              <a:latin typeface="Malgun Gothic"/>
              <a:ea typeface="Malgun Gothic"/>
              <a:cs typeface="Malgun Gothic"/>
              <a:sym typeface="Malgun Gothic"/>
            </a:endParaRPr>
          </a:p>
        </p:txBody>
      </p:sp>
      <p:sp>
        <p:nvSpPr>
          <p:cNvPr id="237" name="Google Shape;237;p5"/>
          <p:cNvSpPr txBox="1"/>
          <p:nvPr/>
        </p:nvSpPr>
        <p:spPr>
          <a:xfrm>
            <a:off x="4750000" y="3760675"/>
            <a:ext cx="6747900" cy="5358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0" i="0" lang="en-US" sz="1500" u="none" cap="none" strike="noStrike">
                <a:solidFill>
                  <a:srgbClr val="C8C5BC"/>
                </a:solidFill>
                <a:latin typeface="Malgun Gothic"/>
                <a:ea typeface="Malgun Gothic"/>
                <a:cs typeface="Malgun Gothic"/>
                <a:sym typeface="Malgun Gothic"/>
              </a:rPr>
              <a:t>•  미니언과 챔피언을 처치하여 골드를 얻어서 아이템을 구매하고 강해져서</a:t>
            </a:r>
            <a:endParaRPr b="0" i="0" sz="1500" u="none" cap="none" strike="noStrike">
              <a:solidFill>
                <a:srgbClr val="C8C5BC"/>
              </a:solidFill>
              <a:latin typeface="Malgun Gothic"/>
              <a:ea typeface="Malgun Gothic"/>
              <a:cs typeface="Malgun Gothic"/>
              <a:sym typeface="Malgun Gothic"/>
            </a:endParaRPr>
          </a:p>
          <a:p>
            <a:pPr indent="0" lvl="0" marL="0" marR="0" rtl="0" algn="l">
              <a:lnSpc>
                <a:spcPct val="132000"/>
              </a:lnSpc>
              <a:spcBef>
                <a:spcPts val="0"/>
              </a:spcBef>
              <a:spcAft>
                <a:spcPts val="0"/>
              </a:spcAft>
              <a:buNone/>
            </a:pPr>
            <a:r>
              <a:rPr b="0" i="0" lang="en-US" sz="1500" u="none" cap="none" strike="noStrike">
                <a:solidFill>
                  <a:srgbClr val="C8C5BC"/>
                </a:solidFill>
                <a:latin typeface="Malgun Gothic"/>
                <a:ea typeface="Malgun Gothic"/>
                <a:cs typeface="Malgun Gothic"/>
                <a:sym typeface="Malgun Gothic"/>
              </a:rPr>
              <a:t>   상대방</a:t>
            </a:r>
            <a:r>
              <a:rPr lang="en-US" sz="1500">
                <a:solidFill>
                  <a:srgbClr val="C8C5BC"/>
                </a:solidFill>
                <a:latin typeface="Malgun Gothic"/>
                <a:ea typeface="Malgun Gothic"/>
                <a:cs typeface="Malgun Gothic"/>
                <a:sym typeface="Malgun Gothic"/>
              </a:rPr>
              <a:t> </a:t>
            </a:r>
            <a:r>
              <a:rPr b="0" i="0" lang="en-US" sz="1500" u="none" cap="none" strike="noStrike">
                <a:solidFill>
                  <a:srgbClr val="C8C5BC"/>
                </a:solidFill>
                <a:latin typeface="Malgun Gothic"/>
                <a:ea typeface="Malgun Gothic"/>
                <a:cs typeface="Malgun Gothic"/>
                <a:sym typeface="Malgun Gothic"/>
              </a:rPr>
              <a:t>넥서스(본진)를 부수는 게임</a:t>
            </a:r>
            <a:endParaRPr b="1" sz="1500">
              <a:solidFill>
                <a:srgbClr val="F0E6D2"/>
              </a:solidFill>
              <a:latin typeface="Malgun Gothic"/>
              <a:ea typeface="Malgun Gothic"/>
              <a:cs typeface="Malgun Gothic"/>
              <a:sym typeface="Malgun Gothic"/>
            </a:endParaRPr>
          </a:p>
        </p:txBody>
      </p:sp>
      <p:sp>
        <p:nvSpPr>
          <p:cNvPr id="238" name="Google Shape;238;p5"/>
          <p:cNvSpPr/>
          <p:nvPr/>
        </p:nvSpPr>
        <p:spPr>
          <a:xfrm>
            <a:off x="4750000" y="5085045"/>
            <a:ext cx="6661800" cy="10800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9" name="Google Shape;239;p5"/>
          <p:cNvSpPr/>
          <p:nvPr/>
        </p:nvSpPr>
        <p:spPr>
          <a:xfrm>
            <a:off x="4750000" y="5085045"/>
            <a:ext cx="45600" cy="10800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0" name="Google Shape;240;p5"/>
          <p:cNvSpPr txBox="1"/>
          <p:nvPr/>
        </p:nvSpPr>
        <p:spPr>
          <a:xfrm>
            <a:off x="4987743" y="5214420"/>
            <a:ext cx="6332400" cy="7845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sz="1400" u="none" cap="none" strike="noStrike">
                <a:solidFill>
                  <a:srgbClr val="F0E6D2"/>
                </a:solidFill>
                <a:latin typeface="Malgun Gothic"/>
                <a:ea typeface="Malgun Gothic"/>
                <a:cs typeface="Malgun Gothic"/>
                <a:sym typeface="Malgun Gothic"/>
              </a:rPr>
              <a:t>킬도, 미니언도, 타워도 전부 돈이 됩니다.</a:t>
            </a:r>
            <a:br>
              <a:rPr b="1" i="0" lang="en-US" sz="1400" u="none" cap="none" strike="noStrike">
                <a:solidFill>
                  <a:srgbClr val="F0E6D2"/>
                </a:solidFill>
                <a:latin typeface="Malgun Gothic"/>
                <a:ea typeface="Malgun Gothic"/>
                <a:cs typeface="Malgun Gothic"/>
                <a:sym typeface="Malgun Gothic"/>
              </a:rPr>
            </a:br>
            <a:r>
              <a:rPr b="1" i="0" lang="en-US" sz="1400" u="none" cap="none" strike="noStrike">
                <a:solidFill>
                  <a:srgbClr val="F0E6D2"/>
                </a:solidFill>
                <a:latin typeface="Malgun Gothic"/>
                <a:ea typeface="Malgun Gothic"/>
                <a:cs typeface="Malgun Gothic"/>
                <a:sym typeface="Malgun Gothic"/>
              </a:rPr>
              <a:t>그래서 이 게임의 모든 활약은 결국 "돈 차이" 하나로 모입니다 — 오늘 발표의 첫 번째 열쇠입니다.</a:t>
            </a:r>
            <a:endParaRPr/>
          </a:p>
        </p:txBody>
      </p:sp>
      <p:sp>
        <p:nvSpPr>
          <p:cNvPr id="241" name="Google Shape;241;p5"/>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
        <p:nvSpPr>
          <p:cNvPr id="242" name="Google Shape;242;p5"/>
          <p:cNvSpPr/>
          <p:nvPr/>
        </p:nvSpPr>
        <p:spPr>
          <a:xfrm>
            <a:off x="731520" y="3714941"/>
            <a:ext cx="3738600" cy="23913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jpg" id="243" name="Google Shape;243;p5"/>
          <p:cNvPicPr preferRelativeResize="0"/>
          <p:nvPr/>
        </p:nvPicPr>
        <p:blipFill rotWithShape="1">
          <a:blip r:embed="rId4">
            <a:alphaModFix/>
          </a:blip>
          <a:srcRect b="0" l="0" r="0" t="0"/>
          <a:stretch/>
        </p:blipFill>
        <p:spPr>
          <a:xfrm>
            <a:off x="777240" y="3761718"/>
            <a:ext cx="3647279" cy="2300000"/>
          </a:xfrm>
          <a:prstGeom prst="rect">
            <a:avLst/>
          </a:prstGeom>
          <a:noFill/>
          <a:ln>
            <a:noFill/>
          </a:ln>
        </p:spPr>
      </p:pic>
      <p:sp>
        <p:nvSpPr>
          <p:cNvPr id="244" name="Google Shape;244;p5"/>
          <p:cNvSpPr/>
          <p:nvPr/>
        </p:nvSpPr>
        <p:spPr>
          <a:xfrm>
            <a:off x="777240" y="3760661"/>
            <a:ext cx="3647400" cy="2300100"/>
          </a:xfrm>
          <a:prstGeom prst="rect">
            <a:avLst/>
          </a:prstGeom>
          <a:no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5" name="Google Shape;245;p5"/>
          <p:cNvSpPr/>
          <p:nvPr/>
        </p:nvSpPr>
        <p:spPr>
          <a:xfrm>
            <a:off x="1560000" y="5805742"/>
            <a:ext cx="699900" cy="189900"/>
          </a:xfrm>
          <a:prstGeom prst="rect">
            <a:avLst/>
          </a:prstGeom>
          <a:solidFill>
            <a:srgbClr val="010A13">
              <a:alpha val="83922"/>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6" name="Google Shape;246;p5"/>
          <p:cNvSpPr txBox="1"/>
          <p:nvPr/>
        </p:nvSpPr>
        <p:spPr>
          <a:xfrm>
            <a:off x="1560000" y="5845045"/>
            <a:ext cx="699900" cy="123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800" u="none" cap="none" strike="noStrike">
                <a:solidFill>
                  <a:srgbClr val="F0E6D2"/>
                </a:solidFill>
                <a:latin typeface="Malgun Gothic"/>
                <a:ea typeface="Malgun Gothic"/>
                <a:cs typeface="Malgun Gothic"/>
                <a:sym typeface="Malgun Gothic"/>
              </a:rPr>
              <a:t>파란 팀 본진</a:t>
            </a:r>
            <a:endParaRPr/>
          </a:p>
        </p:txBody>
      </p:sp>
      <p:sp>
        <p:nvSpPr>
          <p:cNvPr id="247" name="Google Shape;247;p5"/>
          <p:cNvSpPr/>
          <p:nvPr/>
        </p:nvSpPr>
        <p:spPr>
          <a:xfrm>
            <a:off x="3454482" y="3994639"/>
            <a:ext cx="699900" cy="189900"/>
          </a:xfrm>
          <a:prstGeom prst="rect">
            <a:avLst/>
          </a:prstGeom>
          <a:solidFill>
            <a:srgbClr val="010A13">
              <a:alpha val="83922"/>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8" name="Google Shape;248;p5"/>
          <p:cNvSpPr txBox="1"/>
          <p:nvPr/>
        </p:nvSpPr>
        <p:spPr>
          <a:xfrm>
            <a:off x="3454482" y="4029906"/>
            <a:ext cx="699900" cy="123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800" u="none" cap="none" strike="noStrike">
                <a:solidFill>
                  <a:srgbClr val="F0E6D2"/>
                </a:solidFill>
                <a:latin typeface="Malgun Gothic"/>
                <a:ea typeface="Malgun Gothic"/>
                <a:cs typeface="Malgun Gothic"/>
                <a:sym typeface="Malgun Gothic"/>
              </a:rPr>
              <a:t>빨간 팀 본진</a:t>
            </a:r>
            <a:endParaRPr/>
          </a:p>
        </p:txBody>
      </p:sp>
      <p:sp>
        <p:nvSpPr>
          <p:cNvPr id="249" name="Google Shape;249;p5"/>
          <p:cNvSpPr/>
          <p:nvPr/>
        </p:nvSpPr>
        <p:spPr>
          <a:xfrm>
            <a:off x="1990000" y="4213051"/>
            <a:ext cx="380100" cy="189900"/>
          </a:xfrm>
          <a:prstGeom prst="rect">
            <a:avLst/>
          </a:prstGeom>
          <a:solidFill>
            <a:srgbClr val="010A13">
              <a:alpha val="83922"/>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0" name="Google Shape;250;p5"/>
          <p:cNvSpPr txBox="1"/>
          <p:nvPr/>
        </p:nvSpPr>
        <p:spPr>
          <a:xfrm>
            <a:off x="1990000" y="4255045"/>
            <a:ext cx="380100" cy="123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800" u="none" cap="none" strike="noStrike">
                <a:solidFill>
                  <a:srgbClr val="F0E6D2"/>
                </a:solidFill>
                <a:latin typeface="Malgun Gothic"/>
                <a:ea typeface="Malgun Gothic"/>
                <a:cs typeface="Malgun Gothic"/>
                <a:sym typeface="Malgun Gothic"/>
              </a:rPr>
              <a:t>탑</a:t>
            </a:r>
            <a:endParaRPr/>
          </a:p>
        </p:txBody>
      </p:sp>
      <p:sp>
        <p:nvSpPr>
          <p:cNvPr id="251" name="Google Shape;251;p5"/>
          <p:cNvSpPr/>
          <p:nvPr/>
        </p:nvSpPr>
        <p:spPr>
          <a:xfrm>
            <a:off x="2374406" y="4921466"/>
            <a:ext cx="380100" cy="189900"/>
          </a:xfrm>
          <a:prstGeom prst="rect">
            <a:avLst/>
          </a:prstGeom>
          <a:solidFill>
            <a:srgbClr val="010A13">
              <a:alpha val="83922"/>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2" name="Google Shape;252;p5"/>
          <p:cNvSpPr txBox="1"/>
          <p:nvPr/>
        </p:nvSpPr>
        <p:spPr>
          <a:xfrm>
            <a:off x="2374406" y="4963460"/>
            <a:ext cx="380100" cy="123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800" u="none" cap="none" strike="noStrike">
                <a:solidFill>
                  <a:srgbClr val="F0E6D2"/>
                </a:solidFill>
                <a:latin typeface="Malgun Gothic"/>
                <a:ea typeface="Malgun Gothic"/>
                <a:cs typeface="Malgun Gothic"/>
                <a:sym typeface="Malgun Gothic"/>
              </a:rPr>
              <a:t>미드</a:t>
            </a:r>
            <a:endParaRPr/>
          </a:p>
        </p:txBody>
      </p:sp>
      <p:sp>
        <p:nvSpPr>
          <p:cNvPr id="253" name="Google Shape;253;p5"/>
          <p:cNvSpPr/>
          <p:nvPr/>
        </p:nvSpPr>
        <p:spPr>
          <a:xfrm>
            <a:off x="3103862" y="5710308"/>
            <a:ext cx="380100" cy="189900"/>
          </a:xfrm>
          <a:prstGeom prst="rect">
            <a:avLst/>
          </a:prstGeom>
          <a:solidFill>
            <a:srgbClr val="010A13">
              <a:alpha val="83922"/>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4" name="Google Shape;254;p5"/>
          <p:cNvSpPr txBox="1"/>
          <p:nvPr/>
        </p:nvSpPr>
        <p:spPr>
          <a:xfrm>
            <a:off x="3103862" y="5749611"/>
            <a:ext cx="380100" cy="123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800" u="none" cap="none" strike="noStrike">
                <a:solidFill>
                  <a:srgbClr val="F0E6D2"/>
                </a:solidFill>
                <a:latin typeface="Malgun Gothic"/>
                <a:ea typeface="Malgun Gothic"/>
                <a:cs typeface="Malgun Gothic"/>
                <a:sym typeface="Malgun Gothic"/>
              </a:rPr>
              <a:t>바텀</a:t>
            </a:r>
            <a:endParaRPr/>
          </a:p>
        </p:txBody>
      </p:sp>
      <p:sp>
        <p:nvSpPr>
          <p:cNvPr id="255" name="Google Shape;255;p5"/>
          <p:cNvSpPr/>
          <p:nvPr/>
        </p:nvSpPr>
        <p:spPr>
          <a:xfrm>
            <a:off x="1790842" y="4970600"/>
            <a:ext cx="380100" cy="189900"/>
          </a:xfrm>
          <a:prstGeom prst="rect">
            <a:avLst/>
          </a:prstGeom>
          <a:solidFill>
            <a:srgbClr val="010A13">
              <a:alpha val="83922"/>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6" name="Google Shape;256;p5"/>
          <p:cNvSpPr txBox="1"/>
          <p:nvPr/>
        </p:nvSpPr>
        <p:spPr>
          <a:xfrm>
            <a:off x="1790842" y="5012594"/>
            <a:ext cx="380100" cy="123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800" u="none" cap="none" strike="noStrike">
                <a:solidFill>
                  <a:srgbClr val="F0E6D2"/>
                </a:solidFill>
                <a:latin typeface="Malgun Gothic"/>
                <a:ea typeface="Malgun Gothic"/>
                <a:cs typeface="Malgun Gothic"/>
                <a:sym typeface="Malgun Gothic"/>
              </a:rPr>
              <a:t>정글</a:t>
            </a:r>
            <a:endParaRPr/>
          </a:p>
        </p:txBody>
      </p:sp>
      <p:sp>
        <p:nvSpPr>
          <p:cNvPr id="257" name="Google Shape;257;p5"/>
          <p:cNvSpPr/>
          <p:nvPr/>
        </p:nvSpPr>
        <p:spPr>
          <a:xfrm>
            <a:off x="2994444" y="5341800"/>
            <a:ext cx="380100" cy="189900"/>
          </a:xfrm>
          <a:prstGeom prst="rect">
            <a:avLst/>
          </a:prstGeom>
          <a:solidFill>
            <a:srgbClr val="010A13">
              <a:alpha val="83922"/>
            </a:srgbClr>
          </a:solidFill>
          <a:ln cap="flat" cmpd="sng" w="12700">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8" name="Google Shape;258;p5"/>
          <p:cNvSpPr txBox="1"/>
          <p:nvPr/>
        </p:nvSpPr>
        <p:spPr>
          <a:xfrm>
            <a:off x="2994444" y="5381103"/>
            <a:ext cx="380100" cy="123000"/>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800" u="none" cap="none" strike="noStrike">
                <a:solidFill>
                  <a:srgbClr val="F0E6D2"/>
                </a:solidFill>
                <a:latin typeface="Malgun Gothic"/>
                <a:ea typeface="Malgun Gothic"/>
                <a:cs typeface="Malgun Gothic"/>
                <a:sym typeface="Malgun Gothic"/>
              </a:rPr>
              <a:t>정글</a:t>
            </a:r>
            <a:endParaRPr/>
          </a:p>
        </p:txBody>
      </p:sp>
      <p:sp>
        <p:nvSpPr>
          <p:cNvPr id="259" name="Google Shape;259;p5"/>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그림 · Riot 소환사의 협곡 조감도 (ppt/assets/rift_aerial.jpg)</a:t>
            </a:r>
            <a:endParaRPr/>
          </a:p>
        </p:txBody>
      </p:sp>
      <p:pic>
        <p:nvPicPr>
          <p:cNvPr descr="image.png" id="260" name="Google Shape;260;p5"/>
          <p:cNvPicPr preferRelativeResize="0"/>
          <p:nvPr/>
        </p:nvPicPr>
        <p:blipFill rotWithShape="1">
          <a:blip r:embed="rId5">
            <a:alphaModFix/>
          </a:blip>
          <a:srcRect b="0" l="0" r="0" t="0"/>
          <a:stretch/>
        </p:blipFill>
        <p:spPr>
          <a:xfrm>
            <a:off x="2835608" y="5079661"/>
            <a:ext cx="260000" cy="260000"/>
          </a:xfrm>
          <a:prstGeom prst="rect">
            <a:avLst/>
          </a:prstGeom>
          <a:noFill/>
          <a:ln>
            <a:noFill/>
          </a:ln>
        </p:spPr>
      </p:pic>
      <p:pic>
        <p:nvPicPr>
          <p:cNvPr descr="image.png" id="261" name="Google Shape;261;p5"/>
          <p:cNvPicPr preferRelativeResize="0"/>
          <p:nvPr/>
        </p:nvPicPr>
        <p:blipFill rotWithShape="1">
          <a:blip r:embed="rId6">
            <a:alphaModFix/>
          </a:blip>
          <a:srcRect b="0" l="0" r="0" t="0"/>
          <a:stretch/>
        </p:blipFill>
        <p:spPr>
          <a:xfrm>
            <a:off x="2252043" y="4527661"/>
            <a:ext cx="260000" cy="260000"/>
          </a:xfrm>
          <a:prstGeom prst="rect">
            <a:avLst/>
          </a:prstGeom>
          <a:noFill/>
          <a:ln>
            <a:noFill/>
          </a:ln>
        </p:spPr>
      </p:pic>
      <p:pic>
        <p:nvPicPr>
          <p:cNvPr descr="nexus_blue.png" id="262" name="Google Shape;262;p5"/>
          <p:cNvPicPr preferRelativeResize="0"/>
          <p:nvPr/>
        </p:nvPicPr>
        <p:blipFill rotWithShape="1">
          <a:blip r:embed="rId7">
            <a:alphaModFix/>
          </a:blip>
          <a:srcRect b="0" l="0" r="0" t="0"/>
          <a:stretch/>
        </p:blipFill>
        <p:spPr>
          <a:xfrm>
            <a:off x="1267277" y="5585661"/>
            <a:ext cx="260000" cy="260000"/>
          </a:xfrm>
          <a:prstGeom prst="rect">
            <a:avLst/>
          </a:prstGeom>
          <a:noFill/>
          <a:ln>
            <a:noFill/>
          </a:ln>
        </p:spPr>
      </p:pic>
      <p:pic>
        <p:nvPicPr>
          <p:cNvPr descr="nexus_red.png" id="263" name="Google Shape;263;p5"/>
          <p:cNvPicPr preferRelativeResize="0"/>
          <p:nvPr/>
        </p:nvPicPr>
        <p:blipFill rotWithShape="1">
          <a:blip r:embed="rId8">
            <a:alphaModFix/>
          </a:blip>
          <a:srcRect b="0" l="0" r="0" t="0"/>
          <a:stretch/>
        </p:blipFill>
        <p:spPr>
          <a:xfrm>
            <a:off x="3528591" y="4228661"/>
            <a:ext cx="260000" cy="260000"/>
          </a:xfrm>
          <a:prstGeom prst="rect">
            <a:avLst/>
          </a:prstGeom>
          <a:noFill/>
          <a:ln>
            <a:noFill/>
          </a:ln>
        </p:spPr>
      </p:pic>
      <p:pic>
        <p:nvPicPr>
          <p:cNvPr id="264" name="Google Shape;264;p5"/>
          <p:cNvPicPr preferRelativeResize="0"/>
          <p:nvPr/>
        </p:nvPicPr>
        <p:blipFill>
          <a:blip r:embed="rId9">
            <a:alphaModFix/>
          </a:blip>
          <a:stretch>
            <a:fillRect/>
          </a:stretch>
        </p:blipFill>
        <p:spPr>
          <a:xfrm>
            <a:off x="1173870" y="2853041"/>
            <a:ext cx="593367" cy="593367"/>
          </a:xfrm>
          <a:prstGeom prst="rect">
            <a:avLst/>
          </a:prstGeom>
          <a:noFill/>
          <a:ln>
            <a:noFill/>
          </a:ln>
        </p:spPr>
      </p:pic>
      <p:pic>
        <p:nvPicPr>
          <p:cNvPr id="265" name="Google Shape;265;p5"/>
          <p:cNvPicPr preferRelativeResize="0"/>
          <p:nvPr/>
        </p:nvPicPr>
        <p:blipFill>
          <a:blip r:embed="rId10">
            <a:alphaModFix/>
          </a:blip>
          <a:stretch>
            <a:fillRect/>
          </a:stretch>
        </p:blipFill>
        <p:spPr>
          <a:xfrm>
            <a:off x="1787377" y="2853035"/>
            <a:ext cx="593367" cy="593367"/>
          </a:xfrm>
          <a:prstGeom prst="rect">
            <a:avLst/>
          </a:prstGeom>
          <a:noFill/>
          <a:ln>
            <a:noFill/>
          </a:ln>
        </p:spPr>
      </p:pic>
      <p:pic>
        <p:nvPicPr>
          <p:cNvPr id="266" name="Google Shape;266;p5"/>
          <p:cNvPicPr preferRelativeResize="0"/>
          <p:nvPr/>
        </p:nvPicPr>
        <p:blipFill>
          <a:blip r:embed="rId11">
            <a:alphaModFix/>
          </a:blip>
          <a:stretch>
            <a:fillRect/>
          </a:stretch>
        </p:blipFill>
        <p:spPr>
          <a:xfrm>
            <a:off x="2400896" y="2853042"/>
            <a:ext cx="593367" cy="593367"/>
          </a:xfrm>
          <a:prstGeom prst="rect">
            <a:avLst/>
          </a:prstGeom>
          <a:noFill/>
          <a:ln>
            <a:noFill/>
          </a:ln>
        </p:spPr>
      </p:pic>
      <p:pic>
        <p:nvPicPr>
          <p:cNvPr id="267" name="Google Shape;267;p5"/>
          <p:cNvPicPr preferRelativeResize="0"/>
          <p:nvPr/>
        </p:nvPicPr>
        <p:blipFill>
          <a:blip r:embed="rId12">
            <a:alphaModFix/>
          </a:blip>
          <a:stretch>
            <a:fillRect/>
          </a:stretch>
        </p:blipFill>
        <p:spPr>
          <a:xfrm>
            <a:off x="3736689" y="2654754"/>
            <a:ext cx="895349" cy="800101"/>
          </a:xfrm>
          <a:prstGeom prst="rect">
            <a:avLst/>
          </a:prstGeom>
          <a:noFill/>
          <a:ln>
            <a:noFill/>
          </a:ln>
        </p:spPr>
      </p:pic>
      <p:pic>
        <p:nvPicPr>
          <p:cNvPr id="268" name="Google Shape;268;p5"/>
          <p:cNvPicPr preferRelativeResize="0"/>
          <p:nvPr/>
        </p:nvPicPr>
        <p:blipFill>
          <a:blip r:embed="rId13">
            <a:alphaModFix/>
          </a:blip>
          <a:stretch>
            <a:fillRect/>
          </a:stretch>
        </p:blipFill>
        <p:spPr>
          <a:xfrm>
            <a:off x="4861995" y="2654752"/>
            <a:ext cx="838141" cy="800100"/>
          </a:xfrm>
          <a:prstGeom prst="rect">
            <a:avLst/>
          </a:prstGeom>
          <a:noFill/>
          <a:ln>
            <a:noFill/>
          </a:ln>
        </p:spPr>
      </p:pic>
      <p:pic>
        <p:nvPicPr>
          <p:cNvPr id="269" name="Google Shape;269;p5"/>
          <p:cNvPicPr preferRelativeResize="0"/>
          <p:nvPr/>
        </p:nvPicPr>
        <p:blipFill>
          <a:blip r:embed="rId14">
            <a:alphaModFix/>
          </a:blip>
          <a:stretch>
            <a:fillRect/>
          </a:stretch>
        </p:blipFill>
        <p:spPr>
          <a:xfrm>
            <a:off x="8837399" y="341682"/>
            <a:ext cx="1051576" cy="925972"/>
          </a:xfrm>
          <a:prstGeom prst="rect">
            <a:avLst/>
          </a:prstGeom>
          <a:noFill/>
          <a:ln>
            <a:noFill/>
          </a:ln>
        </p:spPr>
      </p:pic>
      <p:pic>
        <p:nvPicPr>
          <p:cNvPr id="270" name="Google Shape;270;p5"/>
          <p:cNvPicPr preferRelativeResize="0"/>
          <p:nvPr/>
        </p:nvPicPr>
        <p:blipFill>
          <a:blip r:embed="rId15">
            <a:alphaModFix/>
          </a:blip>
          <a:stretch>
            <a:fillRect/>
          </a:stretch>
        </p:blipFill>
        <p:spPr>
          <a:xfrm>
            <a:off x="10048725" y="391093"/>
            <a:ext cx="1271556" cy="9259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5" name="Shape 275"/>
        <p:cNvGrpSpPr/>
        <p:nvPr/>
      </p:nvGrpSpPr>
      <p:grpSpPr>
        <a:xfrm>
          <a:off x="0" y="0"/>
          <a:ext cx="0" cy="0"/>
          <a:chOff x="0" y="0"/>
          <a:chExt cx="0" cy="0"/>
        </a:xfrm>
      </p:grpSpPr>
      <p:pic>
        <p:nvPicPr>
          <p:cNvPr descr="rift_flow.jpg" id="276" name="Google Shape;276;p6"/>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277" name="Google Shape;277;p6"/>
          <p:cNvSpPr/>
          <p:nvPr/>
        </p:nvSpPr>
        <p:spPr>
          <a:xfrm>
            <a:off x="0" y="548640"/>
            <a:ext cx="12191969" cy="6309360"/>
          </a:xfrm>
          <a:prstGeom prst="rect">
            <a:avLst/>
          </a:prstGeom>
          <a:gradFill>
            <a:gsLst>
              <a:gs pos="0">
                <a:srgbClr val="0A1428">
                  <a:alpha val="0"/>
                </a:srgbClr>
              </a:gs>
              <a:gs pos="100000">
                <a:srgbClr val="010A13">
                  <a:alpha val="76078"/>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8" name="Google Shape;278;p6"/>
          <p:cNvSpPr/>
          <p:nvPr/>
        </p:nvSpPr>
        <p:spPr>
          <a:xfrm>
            <a:off x="0" y="0"/>
            <a:ext cx="12191969" cy="548640"/>
          </a:xfrm>
          <a:prstGeom prst="rect">
            <a:avLst/>
          </a:prstGeom>
          <a:gradFill>
            <a:gsLst>
              <a:gs pos="0">
                <a:srgbClr val="010A13">
                  <a:alpha val="54902"/>
                </a:srgbClr>
              </a:gs>
              <a:gs pos="100000">
                <a:srgbClr val="0A1428">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9" name="Google Shape;279;p6"/>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0" name="Google Shape;280;p6"/>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1" name="Google Shape;281;p6"/>
          <p:cNvSpPr/>
          <p:nvPr/>
        </p:nvSpPr>
        <p:spPr>
          <a:xfrm>
            <a:off x="384048" y="370332"/>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2" name="Google Shape;282;p6"/>
          <p:cNvSpPr/>
          <p:nvPr/>
        </p:nvSpPr>
        <p:spPr>
          <a:xfrm>
            <a:off x="370332" y="384048"/>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3" name="Google Shape;283;p6"/>
          <p:cNvSpPr/>
          <p:nvPr/>
        </p:nvSpPr>
        <p:spPr>
          <a:xfrm>
            <a:off x="338328" y="338328"/>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4" name="Google Shape;284;p6"/>
          <p:cNvSpPr/>
          <p:nvPr/>
        </p:nvSpPr>
        <p:spPr>
          <a:xfrm>
            <a:off x="10619201" y="370332"/>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5" name="Google Shape;285;p6"/>
          <p:cNvSpPr/>
          <p:nvPr/>
        </p:nvSpPr>
        <p:spPr>
          <a:xfrm>
            <a:off x="11794205" y="384048"/>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6" name="Google Shape;286;p6"/>
          <p:cNvSpPr/>
          <p:nvPr/>
        </p:nvSpPr>
        <p:spPr>
          <a:xfrm>
            <a:off x="11853641" y="338328"/>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7" name="Google Shape;287;p6"/>
          <p:cNvSpPr/>
          <p:nvPr/>
        </p:nvSpPr>
        <p:spPr>
          <a:xfrm>
            <a:off x="384048" y="6460236"/>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8" name="Google Shape;288;p6"/>
          <p:cNvSpPr/>
          <p:nvPr/>
        </p:nvSpPr>
        <p:spPr>
          <a:xfrm>
            <a:off x="370332" y="5285232"/>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9" name="Google Shape;289;p6"/>
          <p:cNvSpPr/>
          <p:nvPr/>
        </p:nvSpPr>
        <p:spPr>
          <a:xfrm>
            <a:off x="338328" y="6519672"/>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0" name="Google Shape;290;p6"/>
          <p:cNvSpPr/>
          <p:nvPr/>
        </p:nvSpPr>
        <p:spPr>
          <a:xfrm>
            <a:off x="10619201" y="6460236"/>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1" name="Google Shape;291;p6"/>
          <p:cNvSpPr/>
          <p:nvPr/>
        </p:nvSpPr>
        <p:spPr>
          <a:xfrm>
            <a:off x="11794205" y="5285232"/>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2" name="Google Shape;292;p6"/>
          <p:cNvSpPr/>
          <p:nvPr/>
        </p:nvSpPr>
        <p:spPr>
          <a:xfrm>
            <a:off x="11853641" y="6519672"/>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3" name="Google Shape;293;p6"/>
          <p:cNvSpPr txBox="1"/>
          <p:nvPr/>
        </p:nvSpPr>
        <p:spPr>
          <a:xfrm>
            <a:off x="1371600" y="2590038"/>
            <a:ext cx="9418320" cy="4572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1300" u="none" cap="none" strike="noStrike">
                <a:solidFill>
                  <a:srgbClr val="C89B3C"/>
                </a:solidFill>
                <a:latin typeface="Malgun Gothic"/>
                <a:ea typeface="Malgun Gothic"/>
                <a:cs typeface="Malgun Gothic"/>
                <a:sym typeface="Malgun Gothic"/>
              </a:rPr>
              <a:t>SECTION 01</a:t>
            </a:r>
            <a:endParaRPr/>
          </a:p>
        </p:txBody>
      </p:sp>
      <p:sp>
        <p:nvSpPr>
          <p:cNvPr id="294" name="Google Shape;294;p6"/>
          <p:cNvSpPr txBox="1"/>
          <p:nvPr/>
        </p:nvSpPr>
        <p:spPr>
          <a:xfrm>
            <a:off x="1371600" y="3138678"/>
            <a:ext cx="9418320" cy="96012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4600" u="none" cap="none" strike="noStrike">
                <a:solidFill>
                  <a:srgbClr val="F0E6D2"/>
                </a:solidFill>
                <a:latin typeface="Malgun Gothic"/>
                <a:ea typeface="Malgun Gothic"/>
                <a:cs typeface="Malgun Gothic"/>
                <a:sym typeface="Malgun Gothic"/>
              </a:rPr>
              <a:t>데이터 검증 및 분석</a:t>
            </a:r>
            <a:endParaRPr/>
          </a:p>
        </p:txBody>
      </p:sp>
      <p:sp>
        <p:nvSpPr>
          <p:cNvPr id="295" name="Google Shape;295;p6"/>
          <p:cNvSpPr/>
          <p:nvPr/>
        </p:nvSpPr>
        <p:spPr>
          <a:xfrm>
            <a:off x="5641848" y="4235958"/>
            <a:ext cx="91440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png" id="296" name="Google Shape;296;p6"/>
          <p:cNvPicPr preferRelativeResize="0"/>
          <p:nvPr/>
        </p:nvPicPr>
        <p:blipFill rotWithShape="1">
          <a:blip r:embed="rId4">
            <a:alphaModFix/>
          </a:blip>
          <a:srcRect b="0" l="0" r="0" t="0"/>
          <a:stretch/>
        </p:blipFill>
        <p:spPr>
          <a:xfrm>
            <a:off x="566928" y="4855464"/>
            <a:ext cx="1070346" cy="1591056"/>
          </a:xfrm>
          <a:prstGeom prst="rect">
            <a:avLst/>
          </a:prstGeom>
          <a:noFill/>
          <a:ln>
            <a:noFill/>
          </a:ln>
        </p:spPr>
      </p:pic>
      <p:pic>
        <p:nvPicPr>
          <p:cNvPr descr="악어_small.png" id="297" name="Google Shape;297;p6"/>
          <p:cNvPicPr preferRelativeResize="0"/>
          <p:nvPr/>
        </p:nvPicPr>
        <p:blipFill rotWithShape="1">
          <a:blip r:embed="rId5">
            <a:alphaModFix/>
          </a:blip>
          <a:srcRect b="0" l="0" r="0" t="0"/>
          <a:stretch/>
        </p:blipFill>
        <p:spPr>
          <a:xfrm>
            <a:off x="10401216" y="5129783"/>
            <a:ext cx="1229951" cy="1316736"/>
          </a:xfrm>
          <a:prstGeom prst="rect">
            <a:avLst/>
          </a:prstGeom>
          <a:noFill/>
          <a:ln>
            <a:noFill/>
          </a:ln>
        </p:spPr>
      </p:pic>
      <p:sp>
        <p:nvSpPr>
          <p:cNvPr id="298" name="Google Shape;298;p6"/>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g3fa15e3bff5_2_5"/>
          <p:cNvPicPr preferRelativeResize="0"/>
          <p:nvPr/>
        </p:nvPicPr>
        <p:blipFill>
          <a:blip r:embed="rId3">
            <a:alphaModFix/>
          </a:blip>
          <a:stretch>
            <a:fillRect/>
          </a:stretch>
        </p:blipFill>
        <p:spPr>
          <a:xfrm>
            <a:off x="0" y="0"/>
            <a:ext cx="12192000" cy="68560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fa15e3bff5_2_101"/>
          <p:cNvSpPr/>
          <p:nvPr/>
        </p:nvSpPr>
        <p:spPr>
          <a:xfrm>
            <a:off x="0" y="0"/>
            <a:ext cx="12192000" cy="6858000"/>
          </a:xfrm>
          <a:prstGeom prst="rect">
            <a:avLst/>
          </a:prstGeom>
          <a:gradFill>
            <a:gsLst>
              <a:gs pos="0">
                <a:srgbClr val="0A1428"/>
              </a:gs>
              <a:gs pos="100000">
                <a:srgbClr val="010A13"/>
              </a:gs>
            </a:gsLst>
            <a:lin ang="16200038"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310" name="Google Shape;310;g3fa15e3bff5_2_101"/>
          <p:cNvPicPr preferRelativeResize="0"/>
          <p:nvPr/>
        </p:nvPicPr>
        <p:blipFill rotWithShape="1">
          <a:blip r:embed="rId3">
            <a:alphaModFix/>
          </a:blip>
          <a:srcRect b="0" l="0" r="0" t="0"/>
          <a:stretch/>
        </p:blipFill>
        <p:spPr>
          <a:xfrm>
            <a:off x="0" y="0"/>
            <a:ext cx="12191971" cy="6858000"/>
          </a:xfrm>
          <a:prstGeom prst="rect">
            <a:avLst/>
          </a:prstGeom>
          <a:noFill/>
          <a:ln>
            <a:noFill/>
          </a:ln>
        </p:spPr>
      </p:pic>
      <p:sp>
        <p:nvSpPr>
          <p:cNvPr id="311" name="Google Shape;311;g3fa15e3bff5_2_101"/>
          <p:cNvSpPr/>
          <p:nvPr/>
        </p:nvSpPr>
        <p:spPr>
          <a:xfrm>
            <a:off x="0" y="0"/>
            <a:ext cx="12192000" cy="6858000"/>
          </a:xfrm>
          <a:prstGeom prst="rect">
            <a:avLst/>
          </a:prstGeom>
          <a:solidFill>
            <a:srgbClr val="010A13">
              <a:alpha val="8784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2" name="Google Shape;312;g3fa15e3bff5_2_101"/>
          <p:cNvSpPr/>
          <p:nvPr/>
        </p:nvSpPr>
        <p:spPr>
          <a:xfrm>
            <a:off x="0" y="0"/>
            <a:ext cx="12192000" cy="504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3" name="Google Shape;313;g3fa15e3bff5_2_101"/>
          <p:cNvSpPr/>
          <p:nvPr/>
        </p:nvSpPr>
        <p:spPr>
          <a:xfrm>
            <a:off x="0" y="6807708"/>
            <a:ext cx="12192000" cy="50400"/>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4" name="Google Shape;314;g3fa15e3bff5_2_101"/>
          <p:cNvSpPr/>
          <p:nvPr/>
        </p:nvSpPr>
        <p:spPr>
          <a:xfrm>
            <a:off x="274320" y="6569964"/>
            <a:ext cx="685800" cy="273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5" name="Google Shape;315;g3fa15e3bff5_2_101"/>
          <p:cNvSpPr/>
          <p:nvPr/>
        </p:nvSpPr>
        <p:spPr>
          <a:xfrm>
            <a:off x="260603" y="5897880"/>
            <a:ext cx="27300"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6" name="Google Shape;316;g3fa15e3bff5_2_101"/>
          <p:cNvSpPr/>
          <p:nvPr/>
        </p:nvSpPr>
        <p:spPr>
          <a:xfrm>
            <a:off x="11231849" y="6569964"/>
            <a:ext cx="685800" cy="273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7" name="Google Shape;317;g3fa15e3bff5_2_101"/>
          <p:cNvSpPr/>
          <p:nvPr/>
        </p:nvSpPr>
        <p:spPr>
          <a:xfrm>
            <a:off x="11903933" y="5897880"/>
            <a:ext cx="27300"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8" name="Google Shape;318;g3fa15e3bff5_2_101"/>
          <p:cNvSpPr txBox="1"/>
          <p:nvPr/>
        </p:nvSpPr>
        <p:spPr>
          <a:xfrm>
            <a:off x="777240" y="530352"/>
            <a:ext cx="10634400" cy="4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2. Phase 1   |   </a:t>
            </a:r>
            <a:r>
              <a:rPr b="1" i="0" lang="en-US" sz="2500" u="none" cap="none" strike="noStrike">
                <a:solidFill>
                  <a:srgbClr val="F0E6D2"/>
                </a:solidFill>
                <a:latin typeface="Malgun Gothic"/>
                <a:ea typeface="Malgun Gothic"/>
                <a:cs typeface="Malgun Gothic"/>
                <a:sym typeface="Malgun Gothic"/>
              </a:rPr>
              <a:t>진행 틀 : CRISP-DM</a:t>
            </a:r>
            <a:endParaRPr/>
          </a:p>
        </p:txBody>
      </p:sp>
      <p:sp>
        <p:nvSpPr>
          <p:cNvPr id="319" name="Google Shape;319;g3fa15e3bff5_2_101"/>
          <p:cNvSpPr/>
          <p:nvPr/>
        </p:nvSpPr>
        <p:spPr>
          <a:xfrm>
            <a:off x="795528" y="1115568"/>
            <a:ext cx="1051500" cy="321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0" name="Google Shape;320;g3fa15e3bff5_2_101"/>
          <p:cNvSpPr/>
          <p:nvPr/>
        </p:nvSpPr>
        <p:spPr>
          <a:xfrm>
            <a:off x="1892807" y="1110996"/>
            <a:ext cx="41100" cy="41100"/>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321" name="Google Shape;321;g3fa15e3bff5_2_101"/>
          <p:cNvGrpSpPr/>
          <p:nvPr/>
        </p:nvGrpSpPr>
        <p:grpSpPr>
          <a:xfrm>
            <a:off x="777240" y="1613535"/>
            <a:ext cx="10588608" cy="1828800"/>
            <a:chOff x="777240" y="1280160"/>
            <a:chExt cx="10588608" cy="1828800"/>
          </a:xfrm>
        </p:grpSpPr>
        <p:sp>
          <p:nvSpPr>
            <p:cNvPr id="322" name="Google Shape;322;g3fa15e3bff5_2_101"/>
            <p:cNvSpPr/>
            <p:nvPr/>
          </p:nvSpPr>
          <p:spPr>
            <a:xfrm>
              <a:off x="777240" y="1280160"/>
              <a:ext cx="2523600" cy="1828800"/>
            </a:xfrm>
            <a:prstGeom prst="rect">
              <a:avLst/>
            </a:prstGeom>
            <a:solidFill>
              <a:srgbClr val="10223E">
                <a:alpha val="87840"/>
              </a:srgbClr>
            </a:solidFill>
            <a:ln cap="flat" cmpd="sng" w="12700">
              <a:solidFill>
                <a:srgbClr val="4B49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3" name="Google Shape;323;g3fa15e3bff5_2_101"/>
            <p:cNvSpPr/>
            <p:nvPr/>
          </p:nvSpPr>
          <p:spPr>
            <a:xfrm>
              <a:off x="777240" y="1280160"/>
              <a:ext cx="41100" cy="18288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4" name="Google Shape;324;g3fa15e3bff5_2_101"/>
            <p:cNvSpPr/>
            <p:nvPr/>
          </p:nvSpPr>
          <p:spPr>
            <a:xfrm>
              <a:off x="3465576" y="1280160"/>
              <a:ext cx="2523600" cy="1828800"/>
            </a:xfrm>
            <a:prstGeom prst="rect">
              <a:avLst/>
            </a:prstGeom>
            <a:solidFill>
              <a:srgbClr val="10223E">
                <a:alpha val="87840"/>
              </a:srgbClr>
            </a:solidFill>
            <a:ln cap="flat" cmpd="sng" w="12700">
              <a:solidFill>
                <a:srgbClr val="4B49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5" name="Google Shape;325;g3fa15e3bff5_2_101"/>
            <p:cNvSpPr/>
            <p:nvPr/>
          </p:nvSpPr>
          <p:spPr>
            <a:xfrm>
              <a:off x="3465576" y="1280160"/>
              <a:ext cx="41100" cy="18288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6" name="Google Shape;326;g3fa15e3bff5_2_101"/>
            <p:cNvSpPr/>
            <p:nvPr/>
          </p:nvSpPr>
          <p:spPr>
            <a:xfrm>
              <a:off x="6153912" y="1280160"/>
              <a:ext cx="2523600" cy="1828800"/>
            </a:xfrm>
            <a:prstGeom prst="rect">
              <a:avLst/>
            </a:prstGeom>
            <a:solidFill>
              <a:srgbClr val="10223E">
                <a:alpha val="87840"/>
              </a:srgbClr>
            </a:solidFill>
            <a:ln cap="flat" cmpd="sng" w="12700">
              <a:solidFill>
                <a:srgbClr val="4B49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7" name="Google Shape;327;g3fa15e3bff5_2_101"/>
            <p:cNvSpPr/>
            <p:nvPr/>
          </p:nvSpPr>
          <p:spPr>
            <a:xfrm>
              <a:off x="6153912" y="1280160"/>
              <a:ext cx="41100" cy="18288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8" name="Google Shape;328;g3fa15e3bff5_2_101"/>
            <p:cNvSpPr/>
            <p:nvPr/>
          </p:nvSpPr>
          <p:spPr>
            <a:xfrm>
              <a:off x="8842248" y="1280160"/>
              <a:ext cx="2523600" cy="1828800"/>
            </a:xfrm>
            <a:prstGeom prst="rect">
              <a:avLst/>
            </a:prstGeom>
            <a:solidFill>
              <a:srgbClr val="10223E">
                <a:alpha val="87840"/>
              </a:srgbClr>
            </a:solidFill>
            <a:ln cap="flat" cmpd="sng" w="12700">
              <a:solidFill>
                <a:srgbClr val="4B49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9" name="Google Shape;329;g3fa15e3bff5_2_101"/>
            <p:cNvSpPr/>
            <p:nvPr/>
          </p:nvSpPr>
          <p:spPr>
            <a:xfrm>
              <a:off x="8842248" y="1280160"/>
              <a:ext cx="41100" cy="18288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330" name="Google Shape;330;g3fa15e3bff5_2_101"/>
          <p:cNvSpPr txBox="1"/>
          <p:nvPr/>
        </p:nvSpPr>
        <p:spPr>
          <a:xfrm>
            <a:off x="1004193" y="1937216"/>
            <a:ext cx="2048400" cy="13005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1700" u="none" cap="none" strike="noStrike">
                <a:solidFill>
                  <a:srgbClr val="F0E6D2"/>
                </a:solidFill>
                <a:latin typeface="Malgun Gothic"/>
                <a:ea typeface="Malgun Gothic"/>
                <a:cs typeface="Malgun Gothic"/>
                <a:sym typeface="Malgun Gothic"/>
              </a:rPr>
              <a:t>①  업무 이해</a:t>
            </a:r>
            <a:endParaRPr b="1" i="0" sz="1700" u="none" cap="none" strike="noStrike">
              <a:solidFill>
                <a:srgbClr val="F0E6D2"/>
              </a:solidFill>
              <a:latin typeface="Malgun Gothic"/>
              <a:ea typeface="Malgun Gothic"/>
              <a:cs typeface="Malgun Gothic"/>
              <a:sym typeface="Malgun Gothic"/>
            </a:endParaRPr>
          </a:p>
          <a:p>
            <a:pPr indent="0" lvl="0" marL="0" marR="0" rtl="0" algn="ctr">
              <a:lnSpc>
                <a:spcPct val="132000"/>
              </a:lnSpc>
              <a:spcBef>
                <a:spcPts val="900"/>
              </a:spcBef>
              <a:spcAft>
                <a:spcPts val="0"/>
              </a:spcAft>
              <a:buNone/>
            </a:pPr>
            <a:r>
              <a:rPr b="0" i="0" lang="en-US" sz="1600" u="none" cap="none" strike="noStrike">
                <a:solidFill>
                  <a:srgbClr val="C8C5BC"/>
                </a:solidFill>
                <a:latin typeface="Malgun Gothic"/>
                <a:ea typeface="Malgun Gothic"/>
                <a:cs typeface="Malgun Gothic"/>
                <a:sym typeface="Malgun Gothic"/>
              </a:rPr>
              <a:t>풀 문제와 기능을 </a:t>
            </a:r>
            <a:endParaRPr b="0" i="0" sz="1600" u="none" cap="none" strike="noStrike">
              <a:solidFill>
                <a:srgbClr val="C8C5BC"/>
              </a:solidFill>
              <a:latin typeface="Malgun Gothic"/>
              <a:ea typeface="Malgun Gothic"/>
              <a:cs typeface="Malgun Gothic"/>
              <a:sym typeface="Malgun Gothic"/>
            </a:endParaRPr>
          </a:p>
          <a:p>
            <a:pPr indent="0" lvl="0" marL="0" marR="0" rtl="0" algn="ctr">
              <a:lnSpc>
                <a:spcPct val="132000"/>
              </a:lnSpc>
              <a:spcBef>
                <a:spcPts val="0"/>
              </a:spcBef>
              <a:spcAft>
                <a:spcPts val="0"/>
              </a:spcAft>
              <a:buNone/>
            </a:pPr>
            <a:r>
              <a:rPr b="0" i="0" lang="en-US" sz="1600" u="none" cap="none" strike="noStrike">
                <a:solidFill>
                  <a:srgbClr val="C8C5BC"/>
                </a:solidFill>
                <a:latin typeface="Malgun Gothic"/>
                <a:ea typeface="Malgun Gothic"/>
                <a:cs typeface="Malgun Gothic"/>
                <a:sym typeface="Malgun Gothic"/>
              </a:rPr>
              <a:t>먼저 지정</a:t>
            </a:r>
            <a:br>
              <a:rPr b="0" i="0" lang="en-US" sz="1250" u="none" cap="none" strike="noStrike">
                <a:solidFill>
                  <a:srgbClr val="C8C5BC"/>
                </a:solidFill>
                <a:latin typeface="Malgun Gothic"/>
                <a:ea typeface="Malgun Gothic"/>
                <a:cs typeface="Malgun Gothic"/>
                <a:sym typeface="Malgun Gothic"/>
              </a:rPr>
            </a:br>
            <a:endParaRPr b="0" i="0" sz="1350" u="none" cap="none" strike="noStrike">
              <a:solidFill>
                <a:srgbClr val="C8C5BC"/>
              </a:solidFill>
              <a:latin typeface="Malgun Gothic"/>
              <a:ea typeface="Malgun Gothic"/>
              <a:cs typeface="Malgun Gothic"/>
              <a:sym typeface="Malgun Gothic"/>
            </a:endParaRPr>
          </a:p>
        </p:txBody>
      </p:sp>
      <p:sp>
        <p:nvSpPr>
          <p:cNvPr id="331" name="Google Shape;331;g3fa15e3bff5_2_101"/>
          <p:cNvSpPr txBox="1"/>
          <p:nvPr/>
        </p:nvSpPr>
        <p:spPr>
          <a:xfrm>
            <a:off x="3719473" y="1896135"/>
            <a:ext cx="2048400" cy="1263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1600" u="none" cap="none" strike="noStrike">
                <a:solidFill>
                  <a:srgbClr val="F0E6D2"/>
                </a:solidFill>
                <a:latin typeface="Malgun Gothic"/>
                <a:ea typeface="Malgun Gothic"/>
                <a:cs typeface="Malgun Gothic"/>
                <a:sym typeface="Malgun Gothic"/>
              </a:rPr>
              <a:t>②  데이터 이해 · 준비</a:t>
            </a:r>
            <a:endParaRPr b="1" i="0" sz="1600" u="none" cap="none" strike="noStrike">
              <a:solidFill>
                <a:srgbClr val="F0E6D2"/>
              </a:solidFill>
              <a:latin typeface="Malgun Gothic"/>
              <a:ea typeface="Malgun Gothic"/>
              <a:cs typeface="Malgun Gothic"/>
              <a:sym typeface="Malgun Gothic"/>
            </a:endParaRPr>
          </a:p>
          <a:p>
            <a:pPr indent="0" lvl="0" marL="0" marR="0" rtl="0" algn="ctr">
              <a:lnSpc>
                <a:spcPct val="132000"/>
              </a:lnSpc>
              <a:spcBef>
                <a:spcPts val="900"/>
              </a:spcBef>
              <a:spcAft>
                <a:spcPts val="0"/>
              </a:spcAft>
              <a:buNone/>
            </a:pPr>
            <a:r>
              <a:rPr b="0" i="0" lang="en-US" sz="1500" u="none" cap="none" strike="noStrike">
                <a:solidFill>
                  <a:srgbClr val="C8C5BC"/>
                </a:solidFill>
                <a:latin typeface="Malgun Gothic"/>
                <a:ea typeface="Malgun Gothic"/>
                <a:cs typeface="Malgun Gothic"/>
                <a:sym typeface="Malgun Gothic"/>
              </a:rPr>
              <a:t>검증 </a:t>
            </a:r>
            <a:endParaRPr b="0" i="0" sz="1500" u="none" cap="none" strike="noStrike">
              <a:solidFill>
                <a:srgbClr val="C8C5BC"/>
              </a:solidFill>
              <a:latin typeface="Malgun Gothic"/>
              <a:ea typeface="Malgun Gothic"/>
              <a:cs typeface="Malgun Gothic"/>
              <a:sym typeface="Malgun Gothic"/>
            </a:endParaRPr>
          </a:p>
          <a:p>
            <a:pPr indent="0" lvl="0" marL="0" marR="0" rtl="0" algn="ctr">
              <a:lnSpc>
                <a:spcPct val="132000"/>
              </a:lnSpc>
              <a:spcBef>
                <a:spcPts val="0"/>
              </a:spcBef>
              <a:spcAft>
                <a:spcPts val="0"/>
              </a:spcAft>
              <a:buNone/>
            </a:pPr>
            <a:r>
              <a:rPr b="0" i="0" lang="en-US" sz="1500" u="none" cap="none" strike="noStrike">
                <a:solidFill>
                  <a:srgbClr val="C8C5BC"/>
                </a:solidFill>
                <a:latin typeface="Malgun Gothic"/>
                <a:ea typeface="Malgun Gothic"/>
                <a:cs typeface="Malgun Gothic"/>
                <a:sym typeface="Malgun Gothic"/>
              </a:rPr>
              <a:t>→ 분할 봉인 </a:t>
            </a:r>
            <a:endParaRPr b="0" i="0" sz="1500" u="none" cap="none" strike="noStrike">
              <a:solidFill>
                <a:srgbClr val="C8C5BC"/>
              </a:solidFill>
              <a:latin typeface="Malgun Gothic"/>
              <a:ea typeface="Malgun Gothic"/>
              <a:cs typeface="Malgun Gothic"/>
              <a:sym typeface="Malgun Gothic"/>
            </a:endParaRPr>
          </a:p>
          <a:p>
            <a:pPr indent="0" lvl="0" marL="0" marR="0" rtl="0" algn="ctr">
              <a:lnSpc>
                <a:spcPct val="132000"/>
              </a:lnSpc>
              <a:spcBef>
                <a:spcPts val="0"/>
              </a:spcBef>
              <a:spcAft>
                <a:spcPts val="0"/>
              </a:spcAft>
              <a:buNone/>
            </a:pPr>
            <a:r>
              <a:rPr b="0" i="0" lang="en-US" sz="1500" u="none" cap="none" strike="noStrike">
                <a:solidFill>
                  <a:srgbClr val="C8C5BC"/>
                </a:solidFill>
                <a:latin typeface="Malgun Gothic"/>
                <a:ea typeface="Malgun Gothic"/>
                <a:cs typeface="Malgun Gothic"/>
                <a:sym typeface="Malgun Gothic"/>
              </a:rPr>
              <a:t>→ 13개 피처</a:t>
            </a:r>
            <a:endParaRPr b="0" i="0" sz="1500" u="none" cap="none" strike="noStrike">
              <a:solidFill>
                <a:srgbClr val="C8C5BC"/>
              </a:solidFill>
              <a:latin typeface="Malgun Gothic"/>
              <a:ea typeface="Malgun Gothic"/>
              <a:cs typeface="Malgun Gothic"/>
              <a:sym typeface="Malgun Gothic"/>
            </a:endParaRPr>
          </a:p>
        </p:txBody>
      </p:sp>
      <p:sp>
        <p:nvSpPr>
          <p:cNvPr id="332" name="Google Shape;332;g3fa15e3bff5_2_101"/>
          <p:cNvSpPr txBox="1"/>
          <p:nvPr/>
        </p:nvSpPr>
        <p:spPr>
          <a:xfrm>
            <a:off x="6230725" y="1894196"/>
            <a:ext cx="2400300" cy="13389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1700" u="none" cap="none" strike="noStrike">
                <a:solidFill>
                  <a:srgbClr val="F0E6D2"/>
                </a:solidFill>
                <a:latin typeface="Malgun Gothic"/>
                <a:ea typeface="Malgun Gothic"/>
                <a:cs typeface="Malgun Gothic"/>
                <a:sym typeface="Malgun Gothic"/>
              </a:rPr>
              <a:t>③모델링</a:t>
            </a:r>
            <a:endParaRPr b="1" i="0" sz="1700" u="none" cap="none" strike="noStrike">
              <a:solidFill>
                <a:srgbClr val="F0E6D2"/>
              </a:solidFill>
              <a:latin typeface="Malgun Gothic"/>
              <a:ea typeface="Malgun Gothic"/>
              <a:cs typeface="Malgun Gothic"/>
              <a:sym typeface="Malgun Gothic"/>
            </a:endParaRPr>
          </a:p>
          <a:p>
            <a:pPr indent="0" lvl="0" marL="0" marR="0" rtl="0" algn="ctr">
              <a:lnSpc>
                <a:spcPct val="132000"/>
              </a:lnSpc>
              <a:spcBef>
                <a:spcPts val="900"/>
              </a:spcBef>
              <a:spcAft>
                <a:spcPts val="0"/>
              </a:spcAft>
              <a:buNone/>
            </a:pPr>
            <a:r>
              <a:rPr b="0" i="0" lang="en-US" sz="1600" u="none" cap="none" strike="noStrike">
                <a:solidFill>
                  <a:srgbClr val="C8C5BC"/>
                </a:solidFill>
                <a:latin typeface="Malgun Gothic"/>
                <a:ea typeface="Malgun Gothic"/>
                <a:cs typeface="Malgun Gothic"/>
                <a:sym typeface="Malgun Gothic"/>
              </a:rPr>
              <a:t>후보 8종을 </a:t>
            </a:r>
            <a:endParaRPr b="0" i="0" sz="1600" u="none" cap="none" strike="noStrike">
              <a:solidFill>
                <a:srgbClr val="C8C5BC"/>
              </a:solidFill>
              <a:latin typeface="Malgun Gothic"/>
              <a:ea typeface="Malgun Gothic"/>
              <a:cs typeface="Malgun Gothic"/>
              <a:sym typeface="Malgun Gothic"/>
            </a:endParaRPr>
          </a:p>
          <a:p>
            <a:pPr indent="0" lvl="0" marL="0" marR="0" rtl="0" algn="ctr">
              <a:lnSpc>
                <a:spcPct val="132000"/>
              </a:lnSpc>
              <a:spcBef>
                <a:spcPts val="0"/>
              </a:spcBef>
              <a:spcAft>
                <a:spcPts val="0"/>
              </a:spcAft>
              <a:buNone/>
            </a:pPr>
            <a:r>
              <a:rPr b="0" i="0" lang="en-US" sz="1600" u="none" cap="none" strike="noStrike">
                <a:solidFill>
                  <a:srgbClr val="C8C5BC"/>
                </a:solidFill>
                <a:latin typeface="Malgun Gothic"/>
                <a:ea typeface="Malgun Gothic"/>
                <a:cs typeface="Malgun Gothic"/>
                <a:sym typeface="Malgun Gothic"/>
              </a:rPr>
              <a:t>같은 조건에서 비교</a:t>
            </a:r>
            <a:br>
              <a:rPr b="0" i="0" lang="en-US" sz="1600" u="none" cap="none" strike="noStrike">
                <a:solidFill>
                  <a:srgbClr val="C8C5BC"/>
                </a:solidFill>
                <a:latin typeface="Malgun Gothic"/>
                <a:ea typeface="Malgun Gothic"/>
                <a:cs typeface="Malgun Gothic"/>
                <a:sym typeface="Malgun Gothic"/>
              </a:rPr>
            </a:br>
            <a:endParaRPr b="0" i="0" sz="1600" u="none" cap="none" strike="noStrike">
              <a:solidFill>
                <a:srgbClr val="C8C5BC"/>
              </a:solidFill>
              <a:latin typeface="Malgun Gothic"/>
              <a:ea typeface="Malgun Gothic"/>
              <a:cs typeface="Malgun Gothic"/>
              <a:sym typeface="Malgun Gothic"/>
            </a:endParaRPr>
          </a:p>
        </p:txBody>
      </p:sp>
      <p:sp>
        <p:nvSpPr>
          <p:cNvPr id="333" name="Google Shape;333;g3fa15e3bff5_2_101"/>
          <p:cNvSpPr txBox="1"/>
          <p:nvPr/>
        </p:nvSpPr>
        <p:spPr>
          <a:xfrm>
            <a:off x="9066669" y="1810335"/>
            <a:ext cx="2112300" cy="16257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1700" u="none" cap="none" strike="noStrike">
                <a:solidFill>
                  <a:srgbClr val="F0E6D2"/>
                </a:solidFill>
                <a:latin typeface="Malgun Gothic"/>
                <a:ea typeface="Malgun Gothic"/>
                <a:cs typeface="Malgun Gothic"/>
                <a:sym typeface="Malgun Gothic"/>
              </a:rPr>
              <a:t>④평가</a:t>
            </a:r>
            <a:endParaRPr b="1" i="0" sz="1700" u="none" cap="none" strike="noStrike">
              <a:solidFill>
                <a:srgbClr val="F0E6D2"/>
              </a:solidFill>
              <a:latin typeface="Malgun Gothic"/>
              <a:ea typeface="Malgun Gothic"/>
              <a:cs typeface="Malgun Gothic"/>
              <a:sym typeface="Malgun Gothic"/>
            </a:endParaRPr>
          </a:p>
          <a:p>
            <a:pPr indent="0" lvl="0" marL="0" marR="0" rtl="0" algn="ctr">
              <a:lnSpc>
                <a:spcPct val="132000"/>
              </a:lnSpc>
              <a:spcBef>
                <a:spcPts val="900"/>
              </a:spcBef>
              <a:spcAft>
                <a:spcPts val="0"/>
              </a:spcAft>
              <a:buNone/>
            </a:pPr>
            <a:r>
              <a:rPr b="0" i="0" lang="en-US" sz="1600" u="none" cap="none" strike="noStrike">
                <a:solidFill>
                  <a:srgbClr val="C8C5BC"/>
                </a:solidFill>
                <a:latin typeface="Malgun Gothic"/>
                <a:ea typeface="Malgun Gothic"/>
                <a:cs typeface="Malgun Gothic"/>
                <a:sym typeface="Malgun Gothic"/>
              </a:rPr>
              <a:t>교차검증 </a:t>
            </a:r>
            <a:endParaRPr b="0" i="0" sz="1600" u="none" cap="none" strike="noStrike">
              <a:solidFill>
                <a:srgbClr val="C8C5BC"/>
              </a:solidFill>
              <a:latin typeface="Malgun Gothic"/>
              <a:ea typeface="Malgun Gothic"/>
              <a:cs typeface="Malgun Gothic"/>
              <a:sym typeface="Malgun Gothic"/>
            </a:endParaRPr>
          </a:p>
          <a:p>
            <a:pPr indent="0" lvl="0" marL="0" marR="0" rtl="0" algn="ctr">
              <a:lnSpc>
                <a:spcPct val="132000"/>
              </a:lnSpc>
              <a:spcBef>
                <a:spcPts val="0"/>
              </a:spcBef>
              <a:spcAft>
                <a:spcPts val="0"/>
              </a:spcAft>
              <a:buNone/>
            </a:pPr>
            <a:r>
              <a:rPr b="0" i="0" lang="en-US" sz="1600" u="none" cap="none" strike="noStrike">
                <a:solidFill>
                  <a:srgbClr val="C8C5BC"/>
                </a:solidFill>
                <a:latin typeface="Malgun Gothic"/>
                <a:ea typeface="Malgun Gothic"/>
                <a:cs typeface="Malgun Gothic"/>
                <a:sym typeface="Malgun Gothic"/>
              </a:rPr>
              <a:t>10회 반복 </a:t>
            </a:r>
            <a:endParaRPr b="0" i="0" sz="1600" u="none" cap="none" strike="noStrike">
              <a:solidFill>
                <a:srgbClr val="C8C5BC"/>
              </a:solidFill>
              <a:latin typeface="Malgun Gothic"/>
              <a:ea typeface="Malgun Gothic"/>
              <a:cs typeface="Malgun Gothic"/>
              <a:sym typeface="Malgun Gothic"/>
            </a:endParaRPr>
          </a:p>
          <a:p>
            <a:pPr indent="0" lvl="0" marL="0" marR="0" rtl="0" algn="ctr">
              <a:lnSpc>
                <a:spcPct val="132000"/>
              </a:lnSpc>
              <a:spcBef>
                <a:spcPts val="0"/>
              </a:spcBef>
              <a:spcAft>
                <a:spcPts val="0"/>
              </a:spcAft>
              <a:buNone/>
            </a:pPr>
            <a:r>
              <a:rPr b="0" i="0" lang="en-US" sz="1600" u="none" cap="none" strike="noStrike">
                <a:solidFill>
                  <a:srgbClr val="C8C5BC"/>
                </a:solidFill>
                <a:latin typeface="Malgun Gothic"/>
                <a:ea typeface="Malgun Gothic"/>
                <a:cs typeface="Malgun Gothic"/>
                <a:sym typeface="Malgun Gothic"/>
              </a:rPr>
              <a:t>홀드아웃 </a:t>
            </a:r>
            <a:br>
              <a:rPr b="0" i="0" lang="en-US" sz="1250" u="none" cap="none" strike="noStrike">
                <a:solidFill>
                  <a:srgbClr val="C8C5BC"/>
                </a:solidFill>
                <a:latin typeface="Malgun Gothic"/>
                <a:ea typeface="Malgun Gothic"/>
                <a:cs typeface="Malgun Gothic"/>
                <a:sym typeface="Malgun Gothic"/>
              </a:rPr>
            </a:br>
            <a:endParaRPr b="0" i="0" sz="1350" u="none" cap="none" strike="noStrike">
              <a:solidFill>
                <a:srgbClr val="C8C5BC"/>
              </a:solidFill>
              <a:latin typeface="Malgun Gothic"/>
              <a:ea typeface="Malgun Gothic"/>
              <a:cs typeface="Malgun Gothic"/>
              <a:sym typeface="Malgun Gothic"/>
            </a:endParaRPr>
          </a:p>
        </p:txBody>
      </p:sp>
      <p:sp>
        <p:nvSpPr>
          <p:cNvPr id="334" name="Google Shape;334;g3fa15e3bff5_2_101"/>
          <p:cNvSpPr txBox="1"/>
          <p:nvPr/>
        </p:nvSpPr>
        <p:spPr>
          <a:xfrm>
            <a:off x="886900" y="4037800"/>
            <a:ext cx="10415100" cy="12090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700" u="none" cap="none" strike="noStrike">
                <a:solidFill>
                  <a:srgbClr val="F0E6D2"/>
                </a:solidFill>
                <a:latin typeface="Malgun Gothic"/>
                <a:ea typeface="Malgun Gothic"/>
                <a:cs typeface="Malgun Gothic"/>
                <a:sym typeface="Malgun Gothic"/>
              </a:rPr>
              <a:t>◆  여섯 단계 중 배포는 빼고, 데이터 이해·준비는 한 칸에 묶었습니다</a:t>
            </a:r>
            <a:endParaRPr b="1" i="0" sz="1700" u="none" cap="none" strike="noStrike">
              <a:solidFill>
                <a:srgbClr val="F0E6D2"/>
              </a:solidFill>
              <a:latin typeface="Malgun Gothic"/>
              <a:ea typeface="Malgun Gothic"/>
              <a:cs typeface="Malgun Gothic"/>
              <a:sym typeface="Malgun Gothic"/>
            </a:endParaRPr>
          </a:p>
          <a:p>
            <a:pPr indent="0" lvl="0" marL="0" marR="0" rtl="0" algn="l">
              <a:lnSpc>
                <a:spcPct val="132000"/>
              </a:lnSpc>
              <a:spcBef>
                <a:spcPts val="1000"/>
              </a:spcBef>
              <a:spcAft>
                <a:spcPts val="0"/>
              </a:spcAft>
              <a:buNone/>
            </a:pPr>
            <a:r>
              <a:rPr b="0" i="0" lang="en-US" sz="1700" u="none" cap="none" strike="noStrike">
                <a:solidFill>
                  <a:srgbClr val="C8C5BC"/>
                </a:solidFill>
                <a:latin typeface="Malgun Gothic"/>
                <a:ea typeface="Malgun Gothic"/>
                <a:cs typeface="Malgun Gothic"/>
                <a:sym typeface="Malgun Gothic"/>
              </a:rPr>
              <a:t>•  </a:t>
            </a:r>
            <a:r>
              <a:rPr lang="en-US" sz="1700">
                <a:solidFill>
                  <a:srgbClr val="C8C5BC"/>
                </a:solidFill>
                <a:latin typeface="Malgun Gothic"/>
                <a:ea typeface="Malgun Gothic"/>
                <a:cs typeface="Malgun Gothic"/>
                <a:sym typeface="Malgun Gothic"/>
              </a:rPr>
              <a:t>기능을 먼저 정하고 모델을 선정했으며, 모델이 제 역할을 할 수 있도록 피처와 데이터까지 유기적으로</a:t>
            </a:r>
            <a:endParaRPr b="0" i="0" sz="1700" u="none" cap="none" strike="noStrike">
              <a:solidFill>
                <a:srgbClr val="C8C5BC"/>
              </a:solidFill>
              <a:latin typeface="Malgun Gothic"/>
              <a:ea typeface="Malgun Gothic"/>
              <a:cs typeface="Malgun Gothic"/>
              <a:sym typeface="Malgun Gothic"/>
            </a:endParaRPr>
          </a:p>
          <a:p>
            <a:pPr indent="0" lvl="0" marL="0" marR="0" rtl="0" algn="l">
              <a:lnSpc>
                <a:spcPct val="132000"/>
              </a:lnSpc>
              <a:spcBef>
                <a:spcPts val="1000"/>
              </a:spcBef>
              <a:spcAft>
                <a:spcPts val="0"/>
              </a:spcAft>
              <a:buNone/>
            </a:pPr>
            <a:r>
              <a:rPr b="0" i="0" lang="en-US" sz="1700" u="none" cap="none" strike="noStrike">
                <a:solidFill>
                  <a:srgbClr val="C8C5BC"/>
                </a:solidFill>
                <a:latin typeface="Malgun Gothic"/>
                <a:ea typeface="Malgun Gothic"/>
                <a:cs typeface="Malgun Gothic"/>
                <a:sym typeface="Malgun Gothic"/>
              </a:rPr>
              <a:t>•  분할은 별도 단계로 진행 </a:t>
            </a:r>
            <a:endParaRPr b="0" i="0" sz="1700" u="none" cap="none" strike="noStrike">
              <a:solidFill>
                <a:srgbClr val="C8C5BC"/>
              </a:solidFill>
              <a:latin typeface="Malgun Gothic"/>
              <a:ea typeface="Malgun Gothic"/>
              <a:cs typeface="Malgun Gothic"/>
              <a:sym typeface="Malgun Gothic"/>
            </a:endParaRPr>
          </a:p>
        </p:txBody>
      </p:sp>
      <p:sp>
        <p:nvSpPr>
          <p:cNvPr id="335" name="Google Shape;335;g3fa15e3bff5_2_101"/>
          <p:cNvSpPr txBox="1"/>
          <p:nvPr/>
        </p:nvSpPr>
        <p:spPr>
          <a:xfrm>
            <a:off x="10972800" y="6574536"/>
            <a:ext cx="868800" cy="1461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7"/>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342" name="Google Shape;342;p7"/>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343" name="Google Shape;343;p7"/>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4" name="Google Shape;344;p7"/>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5" name="Google Shape;345;p7"/>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6" name="Google Shape;346;p7"/>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7" name="Google Shape;347;p7"/>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8" name="Google Shape;348;p7"/>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9" name="Google Shape;349;p7"/>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0" name="Google Shape;350;p7"/>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1. 데이터 검증 및 분석   |   </a:t>
            </a:r>
            <a:r>
              <a:rPr b="1" i="0" lang="en-US" sz="2500" u="none" cap="none" strike="noStrike">
                <a:solidFill>
                  <a:srgbClr val="F0E6D2"/>
                </a:solidFill>
                <a:latin typeface="Malgun Gothic"/>
                <a:ea typeface="Malgun Gothic"/>
                <a:cs typeface="Malgun Gothic"/>
                <a:sym typeface="Malgun Gothic"/>
              </a:rPr>
              <a:t>데이터 개요와 사전 검증</a:t>
            </a:r>
            <a:endParaRPr/>
          </a:p>
        </p:txBody>
      </p:sp>
      <p:sp>
        <p:nvSpPr>
          <p:cNvPr id="351" name="Google Shape;351;p7"/>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2" name="Google Shape;352;p7"/>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aphicFrame>
        <p:nvGraphicFramePr>
          <p:cNvPr id="353" name="Google Shape;353;p7"/>
          <p:cNvGraphicFramePr/>
          <p:nvPr/>
        </p:nvGraphicFramePr>
        <p:xfrm>
          <a:off x="777240" y="1800225"/>
          <a:ext cx="3000000" cy="3000000"/>
        </p:xfrm>
        <a:graphic>
          <a:graphicData uri="http://schemas.openxmlformats.org/drawingml/2006/table">
            <a:tbl>
              <a:tblPr>
                <a:noFill/>
                <a:tableStyleId>{46956E51-EF99-4CE0-B1A4-93B49CD02E09}</a:tableStyleId>
              </a:tblPr>
              <a:tblGrid>
                <a:gridCol w="1828800"/>
                <a:gridCol w="3840475"/>
                <a:gridCol w="4965200"/>
              </a:tblGrid>
              <a:tr h="512075">
                <a:tc>
                  <a:txBody>
                    <a:bodyPr/>
                    <a:lstStyle/>
                    <a:p>
                      <a:pPr indent="0" lvl="0" marL="0" marR="0" rtl="0" algn="l">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항목</a:t>
                      </a:r>
                      <a:endParaRPr sz="15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값</a:t>
                      </a:r>
                      <a:endParaRPr sz="15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경기에 영향을 미치는 요인</a:t>
                      </a:r>
                      <a:endParaRPr sz="1500"/>
                    </a:p>
                  </a:txBody>
                  <a:tcPr marT="45725" marB="45725" marR="91450" marL="91450" anchor="ctr">
                    <a:solidFill>
                      <a:srgbClr val="3C3F3E"/>
                    </a:solidFill>
                  </a:tcPr>
                </a:tc>
              </a:tr>
              <a:tr h="658375">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데이터 출처</a:t>
                      </a:r>
                      <a:endParaRPr sz="15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Kaggle · LoL Diamond Ranked Games </a:t>
                      </a:r>
                      <a:endParaRPr b="0" sz="1500" u="none" cap="none" strike="noStrike">
                        <a:solidFill>
                          <a:srgbClr val="C1BEB4"/>
                        </a:solidFill>
                        <a:latin typeface="Malgun Gothic"/>
                        <a:ea typeface="Malgun Gothic"/>
                        <a:cs typeface="Malgun Gothic"/>
                        <a:sym typeface="Malgun Gothic"/>
                      </a:endParaRPr>
                    </a:p>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(10 min)</a:t>
                      </a:r>
                      <a:endParaRPr sz="15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다이아는 상위 구간이라 실력 편차가 작다</a:t>
                      </a:r>
                      <a:endParaRPr sz="1500"/>
                    </a:p>
                  </a:txBody>
                  <a:tcPr marT="45725" marB="45725" marR="91450" marL="91450" anchor="ctr">
                    <a:solidFill>
                      <a:srgbClr val="10223E"/>
                    </a:solidFill>
                  </a:tcPr>
                </a:tc>
              </a:tr>
              <a:tr h="658375">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규모</a:t>
                      </a:r>
                      <a:endParaRPr sz="15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9,879행 × 40컬럼</a:t>
                      </a:r>
                      <a:endParaRPr sz="15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한 행 = 경기 한 판 · gameId 와 정답(blueWins)을 뺀</a:t>
                      </a:r>
                      <a:br>
                        <a:rPr b="0" lang="en-US" sz="1500" u="none" cap="none" strike="noStrike">
                          <a:solidFill>
                            <a:srgbClr val="C1BEB4"/>
                          </a:solidFill>
                          <a:latin typeface="Malgun Gothic"/>
                          <a:ea typeface="Malgun Gothic"/>
                          <a:cs typeface="Malgun Gothic"/>
                          <a:sym typeface="Malgun Gothic"/>
                        </a:rPr>
                      </a:br>
                      <a:r>
                        <a:rPr b="0" lang="en-US" sz="1500" u="none" cap="none" strike="noStrike">
                          <a:solidFill>
                            <a:srgbClr val="C1BEB4"/>
                          </a:solidFill>
                          <a:latin typeface="Malgun Gothic"/>
                          <a:ea typeface="Malgun Gothic"/>
                          <a:cs typeface="Malgun Gothic"/>
                          <a:sym typeface="Malgun Gothic"/>
                        </a:rPr>
                        <a:t>지표 후보는 38개</a:t>
                      </a:r>
                      <a:endParaRPr sz="1500"/>
                    </a:p>
                  </a:txBody>
                  <a:tcPr marT="45725" marB="45725" marR="91450" marL="91450" anchor="ctr">
                    <a:solidFill>
                      <a:srgbClr val="09172B"/>
                    </a:solidFill>
                  </a:tcPr>
                </a:tc>
              </a:tr>
              <a:tr h="658375">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결측 / 중복</a:t>
                      </a:r>
                      <a:endParaRPr sz="15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0건 / 0건</a:t>
                      </a:r>
                      <a:endParaRPr sz="15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채우거나 지울 것이 없었다 — 직접 확인</a:t>
                      </a:r>
                      <a:endParaRPr sz="1500"/>
                    </a:p>
                  </a:txBody>
                  <a:tcPr marT="45725" marB="45725" marR="91450" marL="91450" anchor="ctr">
                    <a:solidFill>
                      <a:srgbClr val="10223E"/>
                    </a:solidFill>
                  </a:tcPr>
                </a:tc>
              </a:tr>
              <a:tr h="658375">
                <a:tc>
                  <a:txBody>
                    <a:bodyPr/>
                    <a:lstStyle/>
                    <a:p>
                      <a:pPr indent="0" lvl="0" marL="0" marR="0" rtl="0" algn="l">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승패 비율</a:t>
                      </a:r>
                      <a:endParaRPr sz="15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50.10 : 49.90</a:t>
                      </a:r>
                      <a:endParaRPr sz="15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거의 반반</a:t>
                      </a:r>
                      <a:endParaRPr sz="1500"/>
                    </a:p>
                  </a:txBody>
                  <a:tcPr marT="45725" marB="45725" marR="91450" marL="91450" anchor="ctr">
                    <a:solidFill>
                      <a:srgbClr val="2D353E"/>
                    </a:solidFill>
                  </a:tcPr>
                </a:tc>
              </a:tr>
              <a:tr h="658375">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학습 / 시험</a:t>
                      </a:r>
                      <a:endParaRPr sz="15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7,903 / 1,976</a:t>
                      </a:r>
                      <a:endParaRPr sz="15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학습데이터와 시험데이터를 나누고 시험지 봉인</a:t>
                      </a:r>
                      <a:endParaRPr sz="1500"/>
                    </a:p>
                  </a:txBody>
                  <a:tcPr marT="45725" marB="45725" marR="91450" marL="91450" anchor="ctr">
                    <a:solidFill>
                      <a:srgbClr val="10223E"/>
                    </a:solidFill>
                  </a:tcPr>
                </a:tc>
              </a:tr>
            </a:tbl>
          </a:graphicData>
        </a:graphic>
      </p:graphicFrame>
      <p:sp>
        <p:nvSpPr>
          <p:cNvPr id="354" name="Google Shape;354;p7"/>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runs.csv · data/splits/    |    개념 → STUDY 3번 분할과 누수</a:t>
            </a:r>
            <a:endParaRPr/>
          </a:p>
        </p:txBody>
      </p:sp>
      <p:sp>
        <p:nvSpPr>
          <p:cNvPr id="355" name="Google Shape;355;p7"/>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8"/>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362" name="Google Shape;362;p8"/>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363" name="Google Shape;363;p8"/>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4" name="Google Shape;364;p8"/>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5" name="Google Shape;365;p8"/>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6" name="Google Shape;366;p8"/>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7" name="Google Shape;367;p8"/>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8" name="Google Shape;368;p8"/>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9" name="Google Shape;369;p8"/>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0" name="Google Shape;370;p8"/>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1. 데이터 검증 및 분석   |   </a:t>
            </a:r>
            <a:r>
              <a:rPr b="1" i="0" lang="en-US" sz="2500" u="none" cap="none" strike="noStrike">
                <a:solidFill>
                  <a:srgbClr val="F0E6D2"/>
                </a:solidFill>
                <a:latin typeface="Malgun Gothic"/>
                <a:ea typeface="Malgun Gothic"/>
                <a:cs typeface="Malgun Gothic"/>
                <a:sym typeface="Malgun Gothic"/>
              </a:rPr>
              <a:t>데이터 분할</a:t>
            </a:r>
            <a:endParaRPr/>
          </a:p>
        </p:txBody>
      </p:sp>
      <p:sp>
        <p:nvSpPr>
          <p:cNvPr id="371" name="Google Shape;371;p8"/>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2" name="Google Shape;372;p8"/>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3" name="Google Shape;373;p8"/>
          <p:cNvSpPr/>
          <p:nvPr/>
        </p:nvSpPr>
        <p:spPr>
          <a:xfrm>
            <a:off x="777250" y="3544900"/>
            <a:ext cx="10634400" cy="811200"/>
          </a:xfrm>
          <a:prstGeom prst="rect">
            <a:avLst/>
          </a:prstGeom>
          <a:solidFill>
            <a:srgbClr val="010A13">
              <a:alpha val="80000"/>
            </a:srgbClr>
          </a:solidFill>
          <a:ln cap="flat" cmpd="sng" w="12700">
            <a:solidFill>
              <a:srgbClr val="69583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4" name="Google Shape;374;p8"/>
          <p:cNvSpPr txBox="1"/>
          <p:nvPr/>
        </p:nvSpPr>
        <p:spPr>
          <a:xfrm>
            <a:off x="1051570" y="3670478"/>
            <a:ext cx="10058400" cy="5745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1600" u="none" cap="none" strike="noStrike">
                <a:solidFill>
                  <a:srgbClr val="F0E6D2"/>
                </a:solidFill>
                <a:latin typeface="Malgun Gothic"/>
                <a:ea typeface="Malgun Gothic"/>
                <a:cs typeface="Malgun Gothic"/>
                <a:sym typeface="Malgun Gothic"/>
              </a:rPr>
              <a:t>X_tr, X_te, y_tr, y_te = train_test_split(X, y, test_size=0.2, random_state=42, stratify=y)</a:t>
            </a:r>
            <a:endParaRPr sz="1600"/>
          </a:p>
          <a:p>
            <a:pPr indent="0" lvl="0" marL="0" marR="0" rtl="0" algn="l">
              <a:lnSpc>
                <a:spcPct val="125000"/>
              </a:lnSpc>
              <a:spcBef>
                <a:spcPts val="400"/>
              </a:spcBef>
              <a:spcAft>
                <a:spcPts val="0"/>
              </a:spcAft>
              <a:buNone/>
            </a:pPr>
            <a:r>
              <a:rPr b="0" i="0" lang="en-US" u="none" cap="none" strike="noStrike">
                <a:solidFill>
                  <a:srgbClr val="8A877D"/>
                </a:solidFill>
                <a:latin typeface="Malgun Gothic"/>
                <a:ea typeface="Malgun Gothic"/>
                <a:cs typeface="Malgun Gothic"/>
                <a:sym typeface="Malgun Gothic"/>
              </a:rPr>
              <a:t>test_size=0.2 → 시험 20% 봉인    ·    random_state=42 → 시드 고정    ·    stratify=y → 승패 비율 유지</a:t>
            </a:r>
            <a:endParaRPr b="0" i="0" u="none" cap="none" strike="noStrike">
              <a:solidFill>
                <a:srgbClr val="8A877D"/>
              </a:solidFill>
              <a:latin typeface="Malgun Gothic"/>
              <a:ea typeface="Malgun Gothic"/>
              <a:cs typeface="Malgun Gothic"/>
              <a:sym typeface="Malgun Gothic"/>
            </a:endParaRPr>
          </a:p>
        </p:txBody>
      </p:sp>
      <p:sp>
        <p:nvSpPr>
          <p:cNvPr id="375" name="Google Shape;375;p8"/>
          <p:cNvSpPr txBox="1"/>
          <p:nvPr/>
        </p:nvSpPr>
        <p:spPr>
          <a:xfrm>
            <a:off x="777240" y="4410804"/>
            <a:ext cx="10607100" cy="17640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700" u="none" cap="none" strike="noStrike">
                <a:solidFill>
                  <a:srgbClr val="F0E6D2"/>
                </a:solidFill>
                <a:latin typeface="Malgun Gothic"/>
                <a:ea typeface="Malgun Gothic"/>
                <a:cs typeface="Malgun Gothic"/>
                <a:sym typeface="Malgun Gothic"/>
              </a:rPr>
              <a:t>◆  시험지 1,976판은 여기서 봉인하고, 마지막 홀드아웃 평가까지 한 번도 열지 않습니다</a:t>
            </a:r>
            <a:endParaRPr b="1" i="0" sz="1700" u="none" cap="none" strike="noStrike">
              <a:solidFill>
                <a:srgbClr val="F0E6D2"/>
              </a:solidFill>
              <a:latin typeface="Malgun Gothic"/>
              <a:ea typeface="Malgun Gothic"/>
              <a:cs typeface="Malgun Gothic"/>
              <a:sym typeface="Malgun Gothic"/>
            </a:endParaRPr>
          </a:p>
          <a:p>
            <a:pPr indent="0" lvl="0" marL="0" marR="0" rtl="0" algn="l">
              <a:lnSpc>
                <a:spcPct val="130000"/>
              </a:lnSpc>
              <a:spcBef>
                <a:spcPts val="600"/>
              </a:spcBef>
              <a:spcAft>
                <a:spcPts val="0"/>
              </a:spcAft>
              <a:buNone/>
            </a:pPr>
            <a:r>
              <a:rPr lang="en-US">
                <a:solidFill>
                  <a:srgbClr val="8E8B80"/>
                </a:solidFill>
                <a:latin typeface="Malgun Gothic"/>
                <a:ea typeface="Malgun Gothic"/>
                <a:cs typeface="Malgun Gothic"/>
                <a:sym typeface="Malgun Gothic"/>
              </a:rPr>
              <a:t>    </a:t>
            </a:r>
            <a:r>
              <a:rPr b="0" i="0" lang="en-US" u="none" cap="none" strike="noStrike">
                <a:solidFill>
                  <a:srgbClr val="8E8B80"/>
                </a:solidFill>
                <a:latin typeface="Malgun Gothic"/>
                <a:ea typeface="Malgun Gothic"/>
                <a:cs typeface="Malgun Gothic"/>
                <a:sym typeface="Malgun Gothic"/>
              </a:rPr>
              <a:t>그 사이 EDA 도, 피처 정리도, 모델 8종 비교도 전부 학습셋 7,903행만 보고 했습니다</a:t>
            </a:r>
            <a:endParaRPr b="0" i="0" u="none" cap="none" strike="noStrike">
              <a:solidFill>
                <a:srgbClr val="8E8B80"/>
              </a:solidFill>
              <a:latin typeface="Malgun Gothic"/>
              <a:ea typeface="Malgun Gothic"/>
              <a:cs typeface="Malgun Gothic"/>
              <a:sym typeface="Malgun Gothic"/>
            </a:endParaRPr>
          </a:p>
          <a:p>
            <a:pPr indent="0" lvl="0" marL="0" marR="0" rtl="0" algn="l">
              <a:lnSpc>
                <a:spcPct val="132000"/>
              </a:lnSpc>
              <a:spcBef>
                <a:spcPts val="300"/>
              </a:spcBef>
              <a:spcAft>
                <a:spcPts val="0"/>
              </a:spcAft>
              <a:buNone/>
            </a:pPr>
            <a:r>
              <a:rPr b="1" i="0" lang="en-US" sz="1800" u="none" cap="none" strike="noStrike">
                <a:solidFill>
                  <a:srgbClr val="F0E6D2"/>
                </a:solidFill>
                <a:latin typeface="Malgun Gothic"/>
                <a:ea typeface="Malgun Gothic"/>
                <a:cs typeface="Malgun Gothic"/>
                <a:sym typeface="Malgun Gothic"/>
              </a:rPr>
              <a:t>◆  층화 (stratify) — 승패 비율을 학습 · 시험 양쪽에 똑같이 맞춥니다</a:t>
            </a:r>
            <a:endParaRPr b="1" i="0" sz="1800" u="none" cap="none" strike="noStrike">
              <a:solidFill>
                <a:srgbClr val="F0E6D2"/>
              </a:solidFill>
              <a:latin typeface="Malgun Gothic"/>
              <a:ea typeface="Malgun Gothic"/>
              <a:cs typeface="Malgun Gothic"/>
              <a:sym typeface="Malgun Gothic"/>
            </a:endParaRPr>
          </a:p>
          <a:p>
            <a:pPr indent="0" lvl="0" marL="0" marR="0" rtl="0" algn="l">
              <a:lnSpc>
                <a:spcPct val="130000"/>
              </a:lnSpc>
              <a:spcBef>
                <a:spcPts val="600"/>
              </a:spcBef>
              <a:spcAft>
                <a:spcPts val="0"/>
              </a:spcAft>
              <a:buNone/>
            </a:pPr>
            <a:r>
              <a:rPr b="0" i="0" lang="en-US" sz="1000" u="none" cap="none" strike="noStrike">
                <a:solidFill>
                  <a:srgbClr val="8E8B80"/>
                </a:solidFill>
                <a:latin typeface="Malgun Gothic"/>
                <a:ea typeface="Malgun Gothic"/>
                <a:cs typeface="Malgun Gothic"/>
                <a:sym typeface="Malgun Gothic"/>
              </a:rPr>
              <a:t>     </a:t>
            </a:r>
            <a:r>
              <a:rPr b="0" i="0" lang="en-US" u="none" cap="none" strike="noStrike">
                <a:solidFill>
                  <a:srgbClr val="8E8B80"/>
                </a:solidFill>
                <a:latin typeface="Malgun Gothic"/>
                <a:ea typeface="Malgun Gothic"/>
                <a:cs typeface="Malgun Gothic"/>
                <a:sym typeface="Malgun Gothic"/>
              </a:rPr>
              <a:t>한쪽만 승률이 치우치면 두 점수를 견줄 수 없다 — 학습 0.4991 / 시험 0.4990</a:t>
            </a:r>
            <a:endParaRPr sz="1800"/>
          </a:p>
          <a:p>
            <a:pPr indent="0" lvl="0" marL="0" marR="0" rtl="0" algn="l">
              <a:lnSpc>
                <a:spcPct val="132000"/>
              </a:lnSpc>
              <a:spcBef>
                <a:spcPts val="300"/>
              </a:spcBef>
              <a:spcAft>
                <a:spcPts val="0"/>
              </a:spcAft>
              <a:buNone/>
            </a:pPr>
            <a:r>
              <a:rPr b="1" i="0" lang="en-US" sz="1700" u="none" cap="none" strike="noStrike">
                <a:solidFill>
                  <a:srgbClr val="F0E6D2"/>
                </a:solidFill>
                <a:latin typeface="Malgun Gothic"/>
                <a:ea typeface="Malgun Gothic"/>
                <a:cs typeface="Malgun Gothic"/>
                <a:sym typeface="Malgun Gothic"/>
              </a:rPr>
              <a:t>◆  교차검증도 층화 — 5조각 전부 승패 비율 유지</a:t>
            </a:r>
            <a:endParaRPr b="1" i="0" sz="1700" u="none" cap="none" strike="noStrike">
              <a:solidFill>
                <a:srgbClr val="F0E6D2"/>
              </a:solidFill>
              <a:latin typeface="Malgun Gothic"/>
              <a:ea typeface="Malgun Gothic"/>
              <a:cs typeface="Malgun Gothic"/>
              <a:sym typeface="Malgun Gothic"/>
            </a:endParaRPr>
          </a:p>
        </p:txBody>
      </p:sp>
      <p:sp>
        <p:nvSpPr>
          <p:cNvPr id="376" name="Google Shape;376;p8"/>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950" u="none" cap="none" strike="noStrike">
                <a:solidFill>
                  <a:srgbClr val="73726E"/>
                </a:solidFill>
                <a:latin typeface="Malgun Gothic"/>
                <a:ea typeface="Malgun Gothic"/>
                <a:cs typeface="Malgun Gothic"/>
                <a:sym typeface="Malgun Gothic"/>
              </a:rPr>
              <a:t>재현 · src/day1_baseline.py 「3. 층화 분할」 · data/splits/    |    잘 나뉘었는지는 뒤 「분할 진단 4종」에서 기계로 확인합니다</a:t>
            </a:r>
            <a:endParaRPr/>
          </a:p>
        </p:txBody>
      </p:sp>
      <p:sp>
        <p:nvSpPr>
          <p:cNvPr id="377" name="Google Shape;377;p8"/>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
        <p:nvSpPr>
          <p:cNvPr id="378" name="Google Shape;378;p8"/>
          <p:cNvSpPr/>
          <p:nvPr/>
        </p:nvSpPr>
        <p:spPr>
          <a:xfrm>
            <a:off x="777240" y="1334185"/>
            <a:ext cx="10634400" cy="5601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9" name="Google Shape;379;p8"/>
          <p:cNvSpPr/>
          <p:nvPr/>
        </p:nvSpPr>
        <p:spPr>
          <a:xfrm>
            <a:off x="777240" y="1334185"/>
            <a:ext cx="45600" cy="5601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0" name="Google Shape;380;p8"/>
          <p:cNvSpPr txBox="1"/>
          <p:nvPr/>
        </p:nvSpPr>
        <p:spPr>
          <a:xfrm>
            <a:off x="930576" y="1442683"/>
            <a:ext cx="10216800" cy="3849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sz="2500" u="none" cap="none" strike="noStrike">
                <a:solidFill>
                  <a:srgbClr val="C89B3C"/>
                </a:solidFill>
                <a:latin typeface="Malgun Gothic"/>
                <a:ea typeface="Malgun Gothic"/>
                <a:cs typeface="Malgun Gothic"/>
                <a:sym typeface="Malgun Gothic"/>
              </a:rPr>
              <a:t>가장 중요한 규칙 — 분할 우선</a:t>
            </a:r>
            <a:endParaRPr sz="1700"/>
          </a:p>
        </p:txBody>
      </p:sp>
      <p:sp>
        <p:nvSpPr>
          <p:cNvPr id="381" name="Google Shape;381;p8"/>
          <p:cNvSpPr txBox="1"/>
          <p:nvPr/>
        </p:nvSpPr>
        <p:spPr>
          <a:xfrm>
            <a:off x="777240" y="2088910"/>
            <a:ext cx="10607100" cy="13788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700" u="none" cap="none" strike="noStrike">
                <a:solidFill>
                  <a:srgbClr val="F0E6D2"/>
                </a:solidFill>
                <a:latin typeface="Malgun Gothic"/>
                <a:ea typeface="Malgun Gothic"/>
                <a:cs typeface="Malgun Gothic"/>
                <a:sym typeface="Malgun Gothic"/>
              </a:rPr>
              <a:t>◆  왜 먼저인가 — 시험지를 먼저 떼어 놓지 않으면 정답이 새어 들어갑니다</a:t>
            </a:r>
            <a:endParaRPr sz="1700"/>
          </a:p>
          <a:p>
            <a:pPr indent="0" lvl="0" marL="0" marR="0" rtl="0" algn="l">
              <a:lnSpc>
                <a:spcPct val="130000"/>
              </a:lnSpc>
              <a:spcBef>
                <a:spcPts val="600"/>
              </a:spcBef>
              <a:spcAft>
                <a:spcPts val="0"/>
              </a:spcAft>
              <a:buNone/>
            </a:pPr>
            <a:r>
              <a:rPr lang="en-US">
                <a:solidFill>
                  <a:srgbClr val="8E8B80"/>
                </a:solidFill>
                <a:latin typeface="Malgun Gothic"/>
                <a:ea typeface="Malgun Gothic"/>
                <a:cs typeface="Malgun Gothic"/>
                <a:sym typeface="Malgun Gothic"/>
              </a:rPr>
              <a:t>    </a:t>
            </a:r>
            <a:r>
              <a:rPr b="0" i="0" lang="en-US" u="none" cap="none" strike="noStrike">
                <a:solidFill>
                  <a:srgbClr val="8E8B80"/>
                </a:solidFill>
                <a:latin typeface="Malgun Gothic"/>
                <a:ea typeface="Malgun Gothic"/>
                <a:cs typeface="Malgun Gothic"/>
                <a:sym typeface="Malgun Gothic"/>
              </a:rPr>
              <a:t>나누기 전에 전체 데이터를 만지면 시험지 정보가 새어 듭니다(누수) — 점수만 좋아 보이고 실전은 못 맞힙니다</a:t>
            </a:r>
            <a:endParaRPr sz="1800"/>
          </a:p>
          <a:p>
            <a:pPr indent="0" lvl="0" marL="0" marR="0" rtl="0" algn="l">
              <a:lnSpc>
                <a:spcPct val="132000"/>
              </a:lnSpc>
              <a:spcBef>
                <a:spcPts val="300"/>
              </a:spcBef>
              <a:spcAft>
                <a:spcPts val="0"/>
              </a:spcAft>
              <a:buNone/>
            </a:pPr>
            <a:r>
              <a:rPr b="1" i="0" lang="en-US" sz="1700" u="none" cap="none" strike="noStrike">
                <a:solidFill>
                  <a:srgbClr val="F0E6D2"/>
                </a:solidFill>
                <a:latin typeface="Malgun Gothic"/>
                <a:ea typeface="Malgun Gothic"/>
                <a:cs typeface="Malgun Gothic"/>
                <a:sym typeface="Malgun Gothic"/>
              </a:rPr>
              <a:t>◆  어떻게 나눴나 — 9,879판을 8 : 2 로, 학습 7,903판 / 시험 1,976판</a:t>
            </a:r>
            <a:endParaRPr sz="1700"/>
          </a:p>
          <a:p>
            <a:pPr indent="0" lvl="0" marL="0" marR="0" rtl="0" algn="l">
              <a:lnSpc>
                <a:spcPct val="130000"/>
              </a:lnSpc>
              <a:spcBef>
                <a:spcPts val="600"/>
              </a:spcBef>
              <a:spcAft>
                <a:spcPts val="0"/>
              </a:spcAft>
              <a:buNone/>
            </a:pPr>
            <a:r>
              <a:rPr b="0" i="0" lang="en-US" sz="1000" u="none" cap="none" strike="noStrike">
                <a:solidFill>
                  <a:srgbClr val="8E8B80"/>
                </a:solidFill>
                <a:latin typeface="Malgun Gothic"/>
                <a:ea typeface="Malgun Gothic"/>
                <a:cs typeface="Malgun Gothic"/>
                <a:sym typeface="Malgun Gothic"/>
              </a:rPr>
              <a:t>    </a:t>
            </a:r>
            <a:r>
              <a:rPr b="0" i="0" lang="en-US" u="none" cap="none" strike="noStrike">
                <a:solidFill>
                  <a:srgbClr val="8E8B80"/>
                </a:solidFill>
                <a:latin typeface="Malgun Gothic"/>
                <a:ea typeface="Malgun Gothic"/>
                <a:cs typeface="Malgun Gothic"/>
                <a:sym typeface="Malgun Gothic"/>
              </a:rPr>
              <a:t> 20% = 운에 흔들리지 않는 크기 · 시드 고정 = 누가 돌려도 같은 분할 · 인덱스는 data/splits/ 저장</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9"/>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388" name="Google Shape;388;p9"/>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389" name="Google Shape;389;p9"/>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0" name="Google Shape;390;p9"/>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1" name="Google Shape;391;p9"/>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2" name="Google Shape;392;p9"/>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3" name="Google Shape;393;p9"/>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4" name="Google Shape;394;p9"/>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5" name="Google Shape;395;p9"/>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6" name="Google Shape;396;p9"/>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1. 데이터 검증 및 분석   |   </a:t>
            </a:r>
            <a:r>
              <a:rPr b="1" i="0" lang="en-US" sz="2500" u="none" cap="none" strike="noStrike">
                <a:solidFill>
                  <a:srgbClr val="F0E6D2"/>
                </a:solidFill>
                <a:latin typeface="Malgun Gothic"/>
                <a:ea typeface="Malgun Gothic"/>
                <a:cs typeface="Malgun Gothic"/>
                <a:sym typeface="Malgun Gothic"/>
              </a:rPr>
              <a:t>데이터 분할 진단 결과</a:t>
            </a:r>
            <a:endParaRPr/>
          </a:p>
        </p:txBody>
      </p:sp>
      <p:sp>
        <p:nvSpPr>
          <p:cNvPr id="397" name="Google Shape;397;p9"/>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8" name="Google Shape;398;p9"/>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9" name="Google Shape;399;p9"/>
          <p:cNvSpPr/>
          <p:nvPr/>
        </p:nvSpPr>
        <p:spPr>
          <a:xfrm>
            <a:off x="731525" y="1728957"/>
            <a:ext cx="10725900" cy="39042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0" name="Google Shape;400;p9"/>
          <p:cNvSpPr/>
          <p:nvPr/>
        </p:nvSpPr>
        <p:spPr>
          <a:xfrm>
            <a:off x="777250" y="1765150"/>
            <a:ext cx="10634400" cy="3807000"/>
          </a:xfrm>
          <a:prstGeom prst="rect">
            <a:avLst/>
          </a:prstGeom>
          <a:solidFill>
            <a:srgbClr val="F5F2EB"/>
          </a:solid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split_check.png" id="401" name="Google Shape;401;p9"/>
          <p:cNvPicPr preferRelativeResize="0"/>
          <p:nvPr/>
        </p:nvPicPr>
        <p:blipFill rotWithShape="1">
          <a:blip r:embed="rId4">
            <a:alphaModFix/>
          </a:blip>
          <a:srcRect b="0" l="0" r="0" t="0"/>
          <a:stretch/>
        </p:blipFill>
        <p:spPr>
          <a:xfrm>
            <a:off x="886975" y="1837475"/>
            <a:ext cx="10414998" cy="3652550"/>
          </a:xfrm>
          <a:prstGeom prst="rect">
            <a:avLst/>
          </a:prstGeom>
          <a:noFill/>
          <a:ln>
            <a:noFill/>
          </a:ln>
        </p:spPr>
      </p:pic>
      <p:sp>
        <p:nvSpPr>
          <p:cNvPr id="402" name="Google Shape;402;p9"/>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
        <p:nvSpPr>
          <p:cNvPr id="403" name="Google Shape;403;p9"/>
          <p:cNvSpPr txBox="1"/>
          <p:nvPr/>
        </p:nvSpPr>
        <p:spPr>
          <a:xfrm>
            <a:off x="620415" y="5700850"/>
            <a:ext cx="10931400" cy="2154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u="none" cap="none" strike="noStrike">
                <a:solidFill>
                  <a:srgbClr val="85837A"/>
                </a:solidFill>
                <a:latin typeface="Malgun Gothic"/>
                <a:ea typeface="Malgun Gothic"/>
                <a:cs typeface="Malgun Gothic"/>
                <a:sym typeface="Malgun Gothic"/>
              </a:rPr>
              <a:t>왼쪽: 8 대 2로 나뉘고 겹침 0건 · 가운데: 승패 비율이 전체·학습·시험 모두 0.499 · 오른쪽: 골드차 분포가 포개진다 — 네 가지 모두 통과</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10"/>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410" name="Google Shape;410;p10"/>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411" name="Google Shape;411;p10"/>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2" name="Google Shape;412;p10"/>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3" name="Google Shape;413;p10"/>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4" name="Google Shape;414;p10"/>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5" name="Google Shape;415;p10"/>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6" name="Google Shape;416;p10"/>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7" name="Google Shape;417;p10"/>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8" name="Google Shape;418;p10"/>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1. 데이터 검증 및 분석   |   </a:t>
            </a:r>
            <a:r>
              <a:rPr b="1" i="0" lang="en-US" sz="2500" u="none" cap="none" strike="noStrike">
                <a:solidFill>
                  <a:srgbClr val="F0E6D2"/>
                </a:solidFill>
                <a:latin typeface="Malgun Gothic"/>
                <a:ea typeface="Malgun Gothic"/>
                <a:cs typeface="Malgun Gothic"/>
                <a:sym typeface="Malgun Gothic"/>
              </a:rPr>
              <a:t>피처 13개 정의</a:t>
            </a:r>
            <a:endParaRPr/>
          </a:p>
        </p:txBody>
      </p:sp>
      <p:sp>
        <p:nvSpPr>
          <p:cNvPr id="419" name="Google Shape;419;p10"/>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0" name="Google Shape;420;p10"/>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aphicFrame>
        <p:nvGraphicFramePr>
          <p:cNvPr id="421" name="Google Shape;421;p10"/>
          <p:cNvGraphicFramePr/>
          <p:nvPr/>
        </p:nvGraphicFramePr>
        <p:xfrm>
          <a:off x="777240" y="1280160"/>
          <a:ext cx="3000000" cy="3000000"/>
        </p:xfrm>
        <a:graphic>
          <a:graphicData uri="http://schemas.openxmlformats.org/drawingml/2006/table">
            <a:tbl>
              <a:tblPr>
                <a:noFill/>
                <a:tableStyleId>{46956E51-EF99-4CE0-B1A4-93B49CD02E09}</a:tableStyleId>
              </a:tblPr>
              <a:tblGrid>
                <a:gridCol w="1920250"/>
                <a:gridCol w="3310125"/>
              </a:tblGrid>
              <a:tr h="462575">
                <a:tc>
                  <a:txBody>
                    <a:bodyPr/>
                    <a:lstStyle/>
                    <a:p>
                      <a:pPr indent="0" lvl="0" marL="0" marR="0" rtl="0" algn="l">
                        <a:spcBef>
                          <a:spcPts val="0"/>
                        </a:spcBef>
                        <a:spcAft>
                          <a:spcPts val="0"/>
                        </a:spcAft>
                        <a:buNone/>
                      </a:pPr>
                      <a:r>
                        <a:rPr b="1" lang="en-US" sz="1250" u="none" cap="none" strike="noStrike">
                          <a:solidFill>
                            <a:srgbClr val="F0E6D2"/>
                          </a:solidFill>
                          <a:latin typeface="Malgun Gothic"/>
                          <a:ea typeface="Malgun Gothic"/>
                          <a:cs typeface="Malgun Gothic"/>
                          <a:sym typeface="Malgun Gothic"/>
                        </a:rPr>
                        <a:t>성장 지표 (7개) — 결국 돈과 레벨로 모인다</a:t>
                      </a:r>
                      <a:endParaRPr sz="15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250" u="none" cap="none" strike="noStrike">
                          <a:solidFill>
                            <a:srgbClr val="F0E6D2"/>
                          </a:solidFill>
                          <a:latin typeface="Malgun Gothic"/>
                          <a:ea typeface="Malgun Gothic"/>
                          <a:cs typeface="Malgun Gothic"/>
                          <a:sym typeface="Malgun Gothic"/>
                        </a:rPr>
                        <a:t>무엇을 세나</a:t>
                      </a:r>
                      <a:endParaRPr sz="1500"/>
                    </a:p>
                  </a:txBody>
                  <a:tcPr marT="45725" marB="45725" marR="91450" marL="91450" anchor="ctr">
                    <a:solidFill>
                      <a:srgbClr val="3C3F3E"/>
                    </a:solidFill>
                  </a:tcPr>
                </a:tc>
              </a:tr>
              <a:tr h="279150">
                <a:tc>
                  <a:txBody>
                    <a:bodyPr/>
                    <a:lstStyle/>
                    <a:p>
                      <a:pPr indent="0" lvl="0" marL="0" marR="0" rtl="0" algn="l">
                        <a:spcBef>
                          <a:spcPts val="0"/>
                        </a:spcBef>
                        <a:spcAft>
                          <a:spcPts val="0"/>
                        </a:spcAft>
                        <a:buNone/>
                      </a:pPr>
                      <a:r>
                        <a:rPr b="1" lang="en-US" sz="1250" u="none" cap="none" strike="noStrike">
                          <a:solidFill>
                            <a:srgbClr val="F0E6D2"/>
                          </a:solidFill>
                          <a:latin typeface="Malgun Gothic"/>
                          <a:ea typeface="Malgun Gothic"/>
                          <a:cs typeface="Malgun Gothic"/>
                          <a:sym typeface="Malgun Gothic"/>
                        </a:rPr>
                        <a:t>골드(돈) 차이 (GoldDiff)</a:t>
                      </a:r>
                      <a:endParaRPr sz="15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250" u="none" cap="none" strike="noStrike">
                          <a:solidFill>
                            <a:srgbClr val="F0E6D2"/>
                          </a:solidFill>
                          <a:latin typeface="Malgun Gothic"/>
                          <a:ea typeface="Malgun Gothic"/>
                          <a:cs typeface="Malgun Gothic"/>
                          <a:sym typeface="Malgun Gothic"/>
                        </a:rPr>
                        <a:t>10분까지 번 돈의 차</a:t>
                      </a:r>
                      <a:endParaRPr sz="1500"/>
                    </a:p>
                  </a:txBody>
                  <a:tcPr marT="45725" marB="45725" marR="91450" marL="91450" anchor="ctr">
                    <a:solidFill>
                      <a:srgbClr val="2D353E"/>
                    </a:solidFill>
                  </a:tcPr>
                </a:tc>
              </a:tr>
              <a:tr h="279150">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경험치 차이 (ExpDiff)</a:t>
                      </a:r>
                      <a:endParaRPr sz="125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쌓은 경험치의 차</a:t>
                      </a:r>
                      <a:endParaRPr sz="1250"/>
                    </a:p>
                  </a:txBody>
                  <a:tcPr marT="45725" marB="45725" marR="91450" marL="91450" anchor="ctr">
                    <a:solidFill>
                      <a:srgbClr val="09172B"/>
                    </a:solidFill>
                  </a:tcPr>
                </a:tc>
              </a:tr>
              <a:tr h="462575">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평균 레벨 차이 (AvgLevelDiff)</a:t>
                      </a:r>
                      <a:endParaRPr sz="125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다섯 명 평균 레벨의 차</a:t>
                      </a:r>
                      <a:endParaRPr sz="1250"/>
                    </a:p>
                  </a:txBody>
                  <a:tcPr marT="45725" marB="45725" marR="91450" marL="91450" anchor="ctr">
                    <a:solidFill>
                      <a:srgbClr val="10223E"/>
                    </a:solidFill>
                  </a:tcPr>
                </a:tc>
              </a:tr>
              <a:tr h="462575">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미니언(CS) 차이 (TotalMinionsKilledDiff)</a:t>
                      </a:r>
                      <a:endParaRPr sz="125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잡은 미니언 수의 차 — 돈의 주 수입원</a:t>
                      </a:r>
                      <a:endParaRPr sz="1250"/>
                    </a:p>
                  </a:txBody>
                  <a:tcPr marT="45725" marB="45725" marR="91450" marL="91450" anchor="ctr">
                    <a:solidFill>
                      <a:srgbClr val="09172B"/>
                    </a:solidFill>
                  </a:tcPr>
                </a:tc>
              </a:tr>
              <a:tr h="646025">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정글 몬스터 차이 (TotalJungleMinionsKilledDiff)</a:t>
                      </a:r>
                      <a:endParaRPr sz="125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숲에서 잡은 몬스터 수의 차</a:t>
                      </a:r>
                      <a:endParaRPr sz="1250"/>
                    </a:p>
                  </a:txBody>
                  <a:tcPr marT="45725" marB="45725" marR="91450" marL="91450" anchor="ctr">
                    <a:solidFill>
                      <a:srgbClr val="10223E"/>
                    </a:solidFill>
                  </a:tcPr>
                </a:tc>
              </a:tr>
              <a:tr h="279150">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킬 차이 (KillsDiff)</a:t>
                      </a:r>
                      <a:endParaRPr sz="125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상대를 쓰러뜨린 횟수의 차</a:t>
                      </a:r>
                      <a:endParaRPr sz="1250"/>
                    </a:p>
                  </a:txBody>
                  <a:tcPr marT="45725" marB="45725" marR="91450" marL="91450" anchor="ctr">
                    <a:solidFill>
                      <a:srgbClr val="09172B"/>
                    </a:solidFill>
                  </a:tcPr>
                </a:tc>
              </a:tr>
              <a:tr h="462575">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어시스트 차이 (AssistsDiff)</a:t>
                      </a:r>
                      <a:endParaRPr sz="125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킬을 거든 횟수의 차</a:t>
                      </a:r>
                      <a:endParaRPr sz="1250"/>
                    </a:p>
                  </a:txBody>
                  <a:tcPr marT="45725" marB="45725" marR="91450" marL="91450" anchor="ctr">
                    <a:solidFill>
                      <a:srgbClr val="10223E"/>
                    </a:solidFill>
                  </a:tcPr>
                </a:tc>
              </a:tr>
            </a:tbl>
          </a:graphicData>
        </a:graphic>
      </p:graphicFrame>
      <p:graphicFrame>
        <p:nvGraphicFramePr>
          <p:cNvPr id="422" name="Google Shape;422;p10"/>
          <p:cNvGraphicFramePr/>
          <p:nvPr/>
        </p:nvGraphicFramePr>
        <p:xfrm>
          <a:off x="6181344" y="1280160"/>
          <a:ext cx="3000000" cy="3000000"/>
        </p:xfrm>
        <a:graphic>
          <a:graphicData uri="http://schemas.openxmlformats.org/drawingml/2006/table">
            <a:tbl>
              <a:tblPr>
                <a:noFill/>
                <a:tableStyleId>{46956E51-EF99-4CE0-B1A4-93B49CD02E09}</a:tableStyleId>
              </a:tblPr>
              <a:tblGrid>
                <a:gridCol w="1828800"/>
                <a:gridCol w="3401575"/>
              </a:tblGrid>
              <a:tr h="384050">
                <a:tc>
                  <a:txBody>
                    <a:bodyPr/>
                    <a:lstStyle/>
                    <a:p>
                      <a:pPr indent="0" lvl="0" marL="0" marR="0" rtl="0" algn="l">
                        <a:spcBef>
                          <a:spcPts val="0"/>
                        </a:spcBef>
                        <a:spcAft>
                          <a:spcPts val="0"/>
                        </a:spcAft>
                        <a:buNone/>
                      </a:pPr>
                      <a:r>
                        <a:rPr b="1" lang="en-US" sz="1250" u="none" cap="none" strike="noStrike">
                          <a:solidFill>
                            <a:srgbClr val="F0E6D2"/>
                          </a:solidFill>
                          <a:latin typeface="Malgun Gothic"/>
                          <a:ea typeface="Malgun Gothic"/>
                          <a:cs typeface="Malgun Gothic"/>
                          <a:sym typeface="Malgun Gothic"/>
                        </a:rPr>
                        <a:t>오브젝트 · 시야 (6개)</a:t>
                      </a:r>
                      <a:endParaRPr sz="15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250" u="none" cap="none" strike="noStrike">
                          <a:solidFill>
                            <a:srgbClr val="F0E6D2"/>
                          </a:solidFill>
                          <a:latin typeface="Malgun Gothic"/>
                          <a:ea typeface="Malgun Gothic"/>
                          <a:cs typeface="Malgun Gothic"/>
                          <a:sym typeface="Malgun Gothic"/>
                        </a:rPr>
                        <a:t>무엇을 세나</a:t>
                      </a:r>
                      <a:endParaRPr sz="1250"/>
                    </a:p>
                  </a:txBody>
                  <a:tcPr marT="45725" marB="45725" marR="91450" marL="91450" anchor="ctr">
                    <a:solidFill>
                      <a:srgbClr val="3C3F3E"/>
                    </a:solidFill>
                  </a:tcPr>
                </a:tc>
              </a:tr>
              <a:tr h="365750">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드래곤 차이 (DragonsDiff)</a:t>
                      </a:r>
                      <a:endParaRPr sz="125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잡은 드래곤 수의 차 — 팀 전체가 강해진다</a:t>
                      </a:r>
                      <a:endParaRPr sz="1250"/>
                    </a:p>
                  </a:txBody>
                  <a:tcPr marT="45725" marB="45725" marR="91450" marL="91450" anchor="ctr">
                    <a:solidFill>
                      <a:srgbClr val="10223E"/>
                    </a:solidFill>
                  </a:tcPr>
                </a:tc>
              </a:tr>
              <a:tr h="365750">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전령 차이 (HeraldsDiff)</a:t>
                      </a:r>
                      <a:endParaRPr sz="125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잡은 전령 수의 차 — 타워를 미는 데 쓴다</a:t>
                      </a:r>
                      <a:endParaRPr sz="1250"/>
                    </a:p>
                  </a:txBody>
                  <a:tcPr marT="45725" marB="45725" marR="91450" marL="91450" anchor="ctr">
                    <a:solidFill>
                      <a:srgbClr val="09172B"/>
                    </a:solidFill>
                  </a:tcPr>
                </a:tc>
              </a:tr>
              <a:tr h="365750">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타워 파괴 차이 (TowersDestroyedDiff)</a:t>
                      </a:r>
                      <a:endParaRPr sz="125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부순 타워 수의 차</a:t>
                      </a:r>
                      <a:endParaRPr sz="1250"/>
                    </a:p>
                  </a:txBody>
                  <a:tcPr marT="45725" marB="45725" marR="91450" marL="91450" anchor="ctr">
                    <a:solidFill>
                      <a:srgbClr val="10223E"/>
                    </a:solidFill>
                  </a:tcPr>
                </a:tc>
              </a:tr>
              <a:tr h="365750">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첫 킬 (FirstBlood)</a:t>
                      </a:r>
                      <a:endParaRPr sz="125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첫 킬을 누가 냈나 — 유일하게 0 / 1</a:t>
                      </a:r>
                      <a:endParaRPr sz="1250"/>
                    </a:p>
                  </a:txBody>
                  <a:tcPr marT="45725" marB="45725" marR="91450" marL="91450" anchor="ctr">
                    <a:solidFill>
                      <a:srgbClr val="09172B"/>
                    </a:solidFill>
                  </a:tcPr>
                </a:tc>
              </a:tr>
              <a:tr h="365750">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와드 설치 차이 (WardsPlacedDiff)</a:t>
                      </a:r>
                      <a:endParaRPr sz="125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시야를 밝히는 물건을 놓은 수의 차</a:t>
                      </a:r>
                      <a:endParaRPr sz="1250"/>
                    </a:p>
                  </a:txBody>
                  <a:tcPr marT="45725" marB="45725" marR="91450" marL="91450" anchor="ctr">
                    <a:solidFill>
                      <a:srgbClr val="10223E"/>
                    </a:solidFill>
                  </a:tcPr>
                </a:tc>
              </a:tr>
              <a:tr h="365750">
                <a:tc>
                  <a:txBody>
                    <a:bodyPr/>
                    <a:lstStyle/>
                    <a:p>
                      <a:pPr indent="0" lvl="0" marL="0" marR="0" rtl="0" algn="l">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와드 제거 차이 (WardsDestroyedDiff)</a:t>
                      </a:r>
                      <a:endParaRPr sz="125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상대 와드를 지운 수의 차</a:t>
                      </a:r>
                      <a:endParaRPr sz="1250"/>
                    </a:p>
                  </a:txBody>
                  <a:tcPr marT="45725" marB="45725" marR="91450" marL="91450" anchor="ctr">
                    <a:solidFill>
                      <a:srgbClr val="09172B"/>
                    </a:solidFill>
                  </a:tcPr>
                </a:tc>
              </a:tr>
            </a:tbl>
          </a:graphicData>
        </a:graphic>
      </p:graphicFrame>
      <p:sp>
        <p:nvSpPr>
          <p:cNvPr id="423" name="Google Shape;423;p10"/>
          <p:cNvSpPr txBox="1"/>
          <p:nvPr/>
        </p:nvSpPr>
        <p:spPr>
          <a:xfrm>
            <a:off x="853408" y="4968659"/>
            <a:ext cx="10607100" cy="3078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2000" u="none" cap="none" strike="noStrike">
                <a:solidFill>
                  <a:srgbClr val="C8C5BC"/>
                </a:solidFill>
                <a:latin typeface="Malgun Gothic"/>
                <a:ea typeface="Malgun Gothic"/>
                <a:cs typeface="Malgun Gothic"/>
                <a:sym typeface="Malgun Gothic"/>
              </a:rPr>
              <a:t>레드팀-블루팀 대칭적인 정보 및 중복 제거 결과</a:t>
            </a:r>
            <a:endParaRPr b="1" i="0" sz="2000" u="none" cap="none" strike="noStrike">
              <a:solidFill>
                <a:srgbClr val="C8C5BC"/>
              </a:solidFill>
              <a:latin typeface="Malgun Gothic"/>
              <a:ea typeface="Malgun Gothic"/>
              <a:cs typeface="Malgun Gothic"/>
              <a:sym typeface="Malgun Gothic"/>
            </a:endParaRPr>
          </a:p>
        </p:txBody>
      </p:sp>
      <p:sp>
        <p:nvSpPr>
          <p:cNvPr id="424" name="Google Shape;424;p10"/>
          <p:cNvSpPr/>
          <p:nvPr/>
        </p:nvSpPr>
        <p:spPr>
          <a:xfrm>
            <a:off x="777240" y="5351800"/>
            <a:ext cx="10634472" cy="916412"/>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5" name="Google Shape;425;p10"/>
          <p:cNvSpPr/>
          <p:nvPr/>
        </p:nvSpPr>
        <p:spPr>
          <a:xfrm>
            <a:off x="807688" y="5345382"/>
            <a:ext cx="45720" cy="91641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6" name="Google Shape;426;p10"/>
          <p:cNvSpPr txBox="1"/>
          <p:nvPr/>
        </p:nvSpPr>
        <p:spPr>
          <a:xfrm>
            <a:off x="713231" y="5503160"/>
            <a:ext cx="10588752" cy="577081"/>
          </a:xfrm>
          <a:prstGeom prst="rect">
            <a:avLst/>
          </a:prstGeom>
          <a:noFill/>
          <a:ln>
            <a:noFill/>
          </a:ln>
        </p:spPr>
        <p:txBody>
          <a:bodyPr anchorCtr="0" anchor="ctr" bIns="0" lIns="0" spcFirstLastPara="1" rIns="0" wrap="square" tIns="0">
            <a:spAutoFit/>
          </a:bodyPr>
          <a:lstStyle/>
          <a:p>
            <a:pPr indent="0" lvl="0" marL="0" marR="0" rtl="0" algn="ctr">
              <a:lnSpc>
                <a:spcPct val="132000"/>
              </a:lnSpc>
              <a:spcBef>
                <a:spcPts val="0"/>
              </a:spcBef>
              <a:spcAft>
                <a:spcPts val="0"/>
              </a:spcAft>
              <a:buNone/>
            </a:pPr>
            <a:r>
              <a:rPr b="1" i="0" lang="en-US" sz="3200" u="none" cap="none" strike="noStrike">
                <a:solidFill>
                  <a:srgbClr val="F0E6D2"/>
                </a:solidFill>
                <a:latin typeface="Malgun Gothic"/>
                <a:ea typeface="Malgun Gothic"/>
                <a:cs typeface="Malgun Gothic"/>
                <a:sym typeface="Malgun Gothic"/>
              </a:rPr>
              <a:t>컬럼 40 → 차이 피처 13</a:t>
            </a:r>
            <a:endParaRPr/>
          </a:p>
        </p:txBody>
      </p:sp>
      <p:sp>
        <p:nvSpPr>
          <p:cNvPr id="427" name="Google Shape;427;p10"/>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정본 · lolwin/features.py (DIFF13 · KOREAN)    |    같은 정의로 DB 뷰 SQL 도 생성합니다</a:t>
            </a:r>
            <a:endParaRPr/>
          </a:p>
        </p:txBody>
      </p:sp>
      <p:sp>
        <p:nvSpPr>
          <p:cNvPr id="428" name="Google Shape;428;p10"/>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3" name="Shape 433"/>
        <p:cNvGrpSpPr/>
        <p:nvPr/>
      </p:nvGrpSpPr>
      <p:grpSpPr>
        <a:xfrm>
          <a:off x="0" y="0"/>
          <a:ext cx="0" cy="0"/>
          <a:chOff x="0" y="0"/>
          <a:chExt cx="0" cy="0"/>
        </a:xfrm>
      </p:grpSpPr>
      <p:pic>
        <p:nvPicPr>
          <p:cNvPr descr="rift_scene_dim.jpg" id="434" name="Google Shape;434;p11"/>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435" name="Google Shape;435;p11"/>
          <p:cNvSpPr/>
          <p:nvPr/>
        </p:nvSpPr>
        <p:spPr>
          <a:xfrm>
            <a:off x="0" y="548640"/>
            <a:ext cx="12191969" cy="6309360"/>
          </a:xfrm>
          <a:prstGeom prst="rect">
            <a:avLst/>
          </a:prstGeom>
          <a:gradFill>
            <a:gsLst>
              <a:gs pos="0">
                <a:srgbClr val="0A1428">
                  <a:alpha val="0"/>
                </a:srgbClr>
              </a:gs>
              <a:gs pos="100000">
                <a:srgbClr val="010A13">
                  <a:alpha val="76078"/>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6" name="Google Shape;436;p11"/>
          <p:cNvSpPr/>
          <p:nvPr/>
        </p:nvSpPr>
        <p:spPr>
          <a:xfrm>
            <a:off x="0" y="0"/>
            <a:ext cx="12191969" cy="548640"/>
          </a:xfrm>
          <a:prstGeom prst="rect">
            <a:avLst/>
          </a:prstGeom>
          <a:gradFill>
            <a:gsLst>
              <a:gs pos="0">
                <a:srgbClr val="010A13">
                  <a:alpha val="54902"/>
                </a:srgbClr>
              </a:gs>
              <a:gs pos="100000">
                <a:srgbClr val="0A1428">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7" name="Google Shape;437;p11"/>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8" name="Google Shape;438;p11"/>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9" name="Google Shape;439;p11"/>
          <p:cNvSpPr/>
          <p:nvPr/>
        </p:nvSpPr>
        <p:spPr>
          <a:xfrm>
            <a:off x="384048" y="370332"/>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0" name="Google Shape;440;p11"/>
          <p:cNvSpPr/>
          <p:nvPr/>
        </p:nvSpPr>
        <p:spPr>
          <a:xfrm>
            <a:off x="370332" y="384048"/>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1" name="Google Shape;441;p11"/>
          <p:cNvSpPr/>
          <p:nvPr/>
        </p:nvSpPr>
        <p:spPr>
          <a:xfrm>
            <a:off x="338328" y="338328"/>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2" name="Google Shape;442;p11"/>
          <p:cNvSpPr/>
          <p:nvPr/>
        </p:nvSpPr>
        <p:spPr>
          <a:xfrm>
            <a:off x="10619201" y="370332"/>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3" name="Google Shape;443;p11"/>
          <p:cNvSpPr/>
          <p:nvPr/>
        </p:nvSpPr>
        <p:spPr>
          <a:xfrm>
            <a:off x="11794205" y="384048"/>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4" name="Google Shape;444;p11"/>
          <p:cNvSpPr/>
          <p:nvPr/>
        </p:nvSpPr>
        <p:spPr>
          <a:xfrm>
            <a:off x="11853641" y="338328"/>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5" name="Google Shape;445;p11"/>
          <p:cNvSpPr/>
          <p:nvPr/>
        </p:nvSpPr>
        <p:spPr>
          <a:xfrm>
            <a:off x="384048" y="6460236"/>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6" name="Google Shape;446;p11"/>
          <p:cNvSpPr/>
          <p:nvPr/>
        </p:nvSpPr>
        <p:spPr>
          <a:xfrm>
            <a:off x="370332" y="5285232"/>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7" name="Google Shape;447;p11"/>
          <p:cNvSpPr/>
          <p:nvPr/>
        </p:nvSpPr>
        <p:spPr>
          <a:xfrm>
            <a:off x="338328" y="6519672"/>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8" name="Google Shape;448;p11"/>
          <p:cNvSpPr/>
          <p:nvPr/>
        </p:nvSpPr>
        <p:spPr>
          <a:xfrm>
            <a:off x="10619201" y="6460236"/>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9" name="Google Shape;449;p11"/>
          <p:cNvSpPr/>
          <p:nvPr/>
        </p:nvSpPr>
        <p:spPr>
          <a:xfrm>
            <a:off x="11794205" y="5285232"/>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0" name="Google Shape;450;p11"/>
          <p:cNvSpPr/>
          <p:nvPr/>
        </p:nvSpPr>
        <p:spPr>
          <a:xfrm>
            <a:off x="11853641" y="6519672"/>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1" name="Google Shape;451;p11"/>
          <p:cNvSpPr txBox="1"/>
          <p:nvPr/>
        </p:nvSpPr>
        <p:spPr>
          <a:xfrm>
            <a:off x="1371600" y="2590038"/>
            <a:ext cx="9418320" cy="4572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1300" u="none" cap="none" strike="noStrike">
                <a:solidFill>
                  <a:srgbClr val="C89B3C"/>
                </a:solidFill>
                <a:latin typeface="Malgun Gothic"/>
                <a:ea typeface="Malgun Gothic"/>
                <a:cs typeface="Malgun Gothic"/>
                <a:sym typeface="Malgun Gothic"/>
              </a:rPr>
              <a:t>SECTION 02</a:t>
            </a:r>
            <a:endParaRPr/>
          </a:p>
        </p:txBody>
      </p:sp>
      <p:sp>
        <p:nvSpPr>
          <p:cNvPr id="452" name="Google Shape;452;p11"/>
          <p:cNvSpPr txBox="1"/>
          <p:nvPr/>
        </p:nvSpPr>
        <p:spPr>
          <a:xfrm>
            <a:off x="1371600" y="3138678"/>
            <a:ext cx="9601200" cy="792268"/>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4600" u="none" cap="none" strike="noStrike">
                <a:solidFill>
                  <a:srgbClr val="F0E6D2"/>
                </a:solidFill>
                <a:latin typeface="Malgun Gothic"/>
                <a:ea typeface="Malgun Gothic"/>
                <a:cs typeface="Malgun Gothic"/>
                <a:sym typeface="Malgun Gothic"/>
              </a:rPr>
              <a:t>Phase 1  |  승패 예측과 원인 분석</a:t>
            </a:r>
            <a:endParaRPr b="1" i="0" sz="4600" u="none" cap="none" strike="noStrike">
              <a:solidFill>
                <a:srgbClr val="F0E6D2"/>
              </a:solidFill>
              <a:latin typeface="Malgun Gothic"/>
              <a:ea typeface="Malgun Gothic"/>
              <a:cs typeface="Malgun Gothic"/>
              <a:sym typeface="Malgun Gothic"/>
            </a:endParaRPr>
          </a:p>
        </p:txBody>
      </p:sp>
      <p:sp>
        <p:nvSpPr>
          <p:cNvPr id="453" name="Google Shape;453;p11"/>
          <p:cNvSpPr/>
          <p:nvPr/>
        </p:nvSpPr>
        <p:spPr>
          <a:xfrm>
            <a:off x="5641848" y="4235958"/>
            <a:ext cx="91440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png" id="454" name="Google Shape;454;p11"/>
          <p:cNvPicPr preferRelativeResize="0"/>
          <p:nvPr/>
        </p:nvPicPr>
        <p:blipFill rotWithShape="1">
          <a:blip r:embed="rId4">
            <a:alphaModFix/>
          </a:blip>
          <a:srcRect b="0" l="0" r="0" t="0"/>
          <a:stretch/>
        </p:blipFill>
        <p:spPr>
          <a:xfrm>
            <a:off x="566928" y="4855464"/>
            <a:ext cx="1070346" cy="1591056"/>
          </a:xfrm>
          <a:prstGeom prst="rect">
            <a:avLst/>
          </a:prstGeom>
          <a:noFill/>
          <a:ln>
            <a:noFill/>
          </a:ln>
        </p:spPr>
      </p:pic>
      <p:pic>
        <p:nvPicPr>
          <p:cNvPr descr="악어_small.png" id="455" name="Google Shape;455;p11"/>
          <p:cNvPicPr preferRelativeResize="0"/>
          <p:nvPr/>
        </p:nvPicPr>
        <p:blipFill rotWithShape="1">
          <a:blip r:embed="rId5">
            <a:alphaModFix/>
          </a:blip>
          <a:srcRect b="0" l="0" r="0" t="0"/>
          <a:stretch/>
        </p:blipFill>
        <p:spPr>
          <a:xfrm>
            <a:off x="10401216" y="5129783"/>
            <a:ext cx="1229951" cy="1316736"/>
          </a:xfrm>
          <a:prstGeom prst="rect">
            <a:avLst/>
          </a:prstGeom>
          <a:noFill/>
          <a:ln>
            <a:noFill/>
          </a:ln>
        </p:spPr>
      </p:pic>
      <p:sp>
        <p:nvSpPr>
          <p:cNvPr id="456" name="Google Shape;456;p11"/>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g3fa15e3bff5_2_14"/>
          <p:cNvPicPr preferRelativeResize="0"/>
          <p:nvPr/>
        </p:nvPicPr>
        <p:blipFill>
          <a:blip r:embed="rId3">
            <a:alphaModFix/>
          </a:blip>
          <a:stretch>
            <a:fillRect/>
          </a:stretch>
        </p:blipFill>
        <p:spPr>
          <a:xfrm>
            <a:off x="0" y="0"/>
            <a:ext cx="12191999" cy="687034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13"/>
          <p:cNvSpPr/>
          <p:nvPr/>
        </p:nvSpPr>
        <p:spPr>
          <a:xfrm>
            <a:off x="0" y="-36171"/>
            <a:ext cx="12192000"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468" name="Google Shape;468;p13"/>
          <p:cNvPicPr preferRelativeResize="0"/>
          <p:nvPr/>
        </p:nvPicPr>
        <p:blipFill rotWithShape="1">
          <a:blip r:embed="rId3">
            <a:alphaModFix/>
          </a:blip>
          <a:srcRect b="0" l="0" r="0" t="0"/>
          <a:stretch/>
        </p:blipFill>
        <p:spPr>
          <a:xfrm>
            <a:off x="0" y="-36171"/>
            <a:ext cx="12191971" cy="6858000"/>
          </a:xfrm>
          <a:prstGeom prst="rect">
            <a:avLst/>
          </a:prstGeom>
          <a:noFill/>
          <a:ln>
            <a:noFill/>
          </a:ln>
        </p:spPr>
      </p:pic>
      <p:sp>
        <p:nvSpPr>
          <p:cNvPr id="469" name="Google Shape;469;p13"/>
          <p:cNvSpPr/>
          <p:nvPr/>
        </p:nvSpPr>
        <p:spPr>
          <a:xfrm>
            <a:off x="0" y="-36171"/>
            <a:ext cx="12192000"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0" name="Google Shape;470;p13"/>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1" name="Google Shape;471;p13"/>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2" name="Google Shape;472;p13"/>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3" name="Google Shape;473;p13"/>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4" name="Google Shape;474;p13"/>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5" name="Google Shape;475;p13"/>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6" name="Google Shape;476;p13"/>
          <p:cNvSpPr txBox="1"/>
          <p:nvPr/>
        </p:nvSpPr>
        <p:spPr>
          <a:xfrm>
            <a:off x="777240" y="530352"/>
            <a:ext cx="10634400" cy="4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2. Phase 1   |   </a:t>
            </a:r>
            <a:r>
              <a:rPr b="1" i="0" lang="en-US" sz="2500" u="none" cap="none" strike="noStrike">
                <a:solidFill>
                  <a:srgbClr val="F0E6D2"/>
                </a:solidFill>
                <a:latin typeface="Malgun Gothic"/>
                <a:ea typeface="Malgun Gothic"/>
                <a:cs typeface="Malgun Gothic"/>
                <a:sym typeface="Malgun Gothic"/>
              </a:rPr>
              <a:t>모델 8종 비교 — 동일</a:t>
            </a:r>
            <a:r>
              <a:rPr b="1" lang="en-US" sz="2500">
                <a:solidFill>
                  <a:srgbClr val="F0E6D2"/>
                </a:solidFill>
                <a:latin typeface="Malgun Gothic"/>
                <a:ea typeface="Malgun Gothic"/>
                <a:cs typeface="Malgun Gothic"/>
                <a:sym typeface="Malgun Gothic"/>
              </a:rPr>
              <a:t>한</a:t>
            </a:r>
            <a:r>
              <a:rPr b="1" i="0" lang="en-US" sz="2500" u="none" cap="none" strike="noStrike">
                <a:solidFill>
                  <a:srgbClr val="F0E6D2"/>
                </a:solidFill>
                <a:latin typeface="Malgun Gothic"/>
                <a:ea typeface="Malgun Gothic"/>
                <a:cs typeface="Malgun Gothic"/>
                <a:sym typeface="Malgun Gothic"/>
              </a:rPr>
              <a:t> 조건</a:t>
            </a:r>
            <a:r>
              <a:rPr b="1" lang="en-US" sz="2500">
                <a:solidFill>
                  <a:srgbClr val="F0E6D2"/>
                </a:solidFill>
                <a:latin typeface="Malgun Gothic"/>
                <a:ea typeface="Malgun Gothic"/>
                <a:cs typeface="Malgun Gothic"/>
                <a:sym typeface="Malgun Gothic"/>
              </a:rPr>
              <a:t>으로</a:t>
            </a:r>
            <a:endParaRPr/>
          </a:p>
        </p:txBody>
      </p:sp>
      <p:sp>
        <p:nvSpPr>
          <p:cNvPr id="477" name="Google Shape;477;p13"/>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8" name="Google Shape;478;p13"/>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9" name="Google Shape;479;p13"/>
          <p:cNvSpPr/>
          <p:nvPr/>
        </p:nvSpPr>
        <p:spPr>
          <a:xfrm>
            <a:off x="731525" y="1243978"/>
            <a:ext cx="5120700" cy="25200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0" name="Google Shape;480;p13"/>
          <p:cNvSpPr/>
          <p:nvPr/>
        </p:nvSpPr>
        <p:spPr>
          <a:xfrm>
            <a:off x="777250" y="1292830"/>
            <a:ext cx="5029200" cy="2471100"/>
          </a:xfrm>
          <a:prstGeom prst="rect">
            <a:avLst/>
          </a:prstGeom>
          <a:solidFill>
            <a:srgbClr val="F5F2EB"/>
          </a:solid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model_choice_1_scores.png" id="481" name="Google Shape;481;p13"/>
          <p:cNvPicPr preferRelativeResize="0"/>
          <p:nvPr/>
        </p:nvPicPr>
        <p:blipFill rotWithShape="1">
          <a:blip r:embed="rId4">
            <a:alphaModFix/>
          </a:blip>
          <a:srcRect b="0" l="0" r="0" t="0"/>
          <a:stretch/>
        </p:blipFill>
        <p:spPr>
          <a:xfrm>
            <a:off x="848800" y="1292829"/>
            <a:ext cx="4907201" cy="2471099"/>
          </a:xfrm>
          <a:prstGeom prst="rect">
            <a:avLst/>
          </a:prstGeom>
          <a:noFill/>
          <a:ln>
            <a:noFill/>
          </a:ln>
        </p:spPr>
      </p:pic>
      <p:sp>
        <p:nvSpPr>
          <p:cNvPr id="482" name="Google Shape;482;p13"/>
          <p:cNvSpPr txBox="1"/>
          <p:nvPr/>
        </p:nvSpPr>
        <p:spPr>
          <a:xfrm>
            <a:off x="777240" y="3812120"/>
            <a:ext cx="5029200" cy="2310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500" u="none" cap="none" strike="noStrike">
                <a:solidFill>
                  <a:srgbClr val="85837A"/>
                </a:solidFill>
                <a:latin typeface="Malgun Gothic"/>
                <a:ea typeface="Malgun Gothic"/>
                <a:cs typeface="Malgun Gothic"/>
                <a:sym typeface="Malgun Gothic"/>
              </a:rPr>
              <a:t>장면 1 — 점수로 줄 세우기</a:t>
            </a:r>
            <a:endParaRPr sz="1500"/>
          </a:p>
        </p:txBody>
      </p:sp>
      <p:sp>
        <p:nvSpPr>
          <p:cNvPr id="483" name="Google Shape;483;p13"/>
          <p:cNvSpPr/>
          <p:nvPr/>
        </p:nvSpPr>
        <p:spPr>
          <a:xfrm>
            <a:off x="6217925" y="1243978"/>
            <a:ext cx="5239500" cy="25200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4" name="Google Shape;484;p13"/>
          <p:cNvSpPr/>
          <p:nvPr/>
        </p:nvSpPr>
        <p:spPr>
          <a:xfrm>
            <a:off x="6263650" y="1292830"/>
            <a:ext cx="5148000" cy="2471100"/>
          </a:xfrm>
          <a:prstGeom prst="rect">
            <a:avLst/>
          </a:prstGeom>
          <a:solidFill>
            <a:srgbClr val="F5F2EB"/>
          </a:solid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model_choice_2_overfit.png" id="485" name="Google Shape;485;p13"/>
          <p:cNvPicPr preferRelativeResize="0"/>
          <p:nvPr/>
        </p:nvPicPr>
        <p:blipFill rotWithShape="1">
          <a:blip r:embed="rId5">
            <a:alphaModFix/>
          </a:blip>
          <a:srcRect b="0" l="0" r="0" t="0"/>
          <a:stretch/>
        </p:blipFill>
        <p:spPr>
          <a:xfrm>
            <a:off x="6263650" y="1292829"/>
            <a:ext cx="5120625" cy="2471100"/>
          </a:xfrm>
          <a:prstGeom prst="rect">
            <a:avLst/>
          </a:prstGeom>
          <a:noFill/>
          <a:ln>
            <a:noFill/>
          </a:ln>
        </p:spPr>
      </p:pic>
      <p:sp>
        <p:nvSpPr>
          <p:cNvPr id="486" name="Google Shape;486;p13"/>
          <p:cNvSpPr txBox="1"/>
          <p:nvPr/>
        </p:nvSpPr>
        <p:spPr>
          <a:xfrm>
            <a:off x="6263640" y="3812120"/>
            <a:ext cx="5148000" cy="2310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500" u="none" cap="none" strike="noStrike">
                <a:solidFill>
                  <a:srgbClr val="85837A"/>
                </a:solidFill>
                <a:latin typeface="Malgun Gothic"/>
                <a:ea typeface="Malgun Gothic"/>
                <a:cs typeface="Malgun Gothic"/>
                <a:sym typeface="Malgun Gothic"/>
              </a:rPr>
              <a:t>장면 2 — 배웠나, 외웠나</a:t>
            </a:r>
            <a:endParaRPr sz="1500"/>
          </a:p>
        </p:txBody>
      </p:sp>
      <p:graphicFrame>
        <p:nvGraphicFramePr>
          <p:cNvPr id="487" name="Google Shape;487;p13"/>
          <p:cNvGraphicFramePr/>
          <p:nvPr/>
        </p:nvGraphicFramePr>
        <p:xfrm>
          <a:off x="777240" y="4147188"/>
          <a:ext cx="3000000" cy="3000000"/>
        </p:xfrm>
        <a:graphic>
          <a:graphicData uri="http://schemas.openxmlformats.org/drawingml/2006/table">
            <a:tbl>
              <a:tblPr>
                <a:noFill/>
                <a:tableStyleId>{46956E51-EF99-4CE0-B1A4-93B49CD02E09}</a:tableStyleId>
              </a:tblPr>
              <a:tblGrid>
                <a:gridCol w="2883925"/>
                <a:gridCol w="2703675"/>
                <a:gridCol w="2433300"/>
                <a:gridCol w="2613550"/>
              </a:tblGrid>
              <a:tr h="310900">
                <a:tc>
                  <a:txBody>
                    <a:bodyPr/>
                    <a:lstStyle/>
                    <a:p>
                      <a:pPr indent="0" lvl="0" marL="0" marR="0" rtl="0" algn="l">
                        <a:spcBef>
                          <a:spcPts val="0"/>
                        </a:spcBef>
                        <a:spcAft>
                          <a:spcPts val="0"/>
                        </a:spcAft>
                        <a:buNone/>
                      </a:pPr>
                      <a:r>
                        <a:rPr b="1" lang="en-US" u="none" cap="none" strike="noStrike">
                          <a:solidFill>
                            <a:srgbClr val="F0E6D2"/>
                          </a:solidFill>
                          <a:latin typeface="Malgun Gothic"/>
                          <a:ea typeface="Malgun Gothic"/>
                          <a:cs typeface="Malgun Gothic"/>
                          <a:sym typeface="Malgun Gothic"/>
                        </a:rPr>
                        <a:t>모델</a:t>
                      </a:r>
                      <a:endParaRPr/>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교차검증 정확도</a:t>
                      </a:r>
                      <a:endParaRPr/>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연습 − 검증 격차</a:t>
                      </a:r>
                      <a:endParaRPr/>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판정</a:t>
                      </a:r>
                      <a:endParaRPr/>
                    </a:p>
                  </a:txBody>
                  <a:tcPr marT="45725" marB="45725" marR="91450" marL="91450" anchor="ctr">
                    <a:solidFill>
                      <a:srgbClr val="3C3F3E"/>
                    </a:solidFill>
                  </a:tcPr>
                </a:tc>
              </a:tr>
              <a:tr h="256025">
                <a:tc>
                  <a:txBody>
                    <a:bodyPr/>
                    <a:lstStyle/>
                    <a:p>
                      <a:pPr indent="0" lvl="0" marL="0" marR="0" rtl="0" algn="l">
                        <a:spcBef>
                          <a:spcPts val="0"/>
                        </a:spcBef>
                        <a:spcAft>
                          <a:spcPts val="0"/>
                        </a:spcAft>
                        <a:buNone/>
                      </a:pPr>
                      <a:r>
                        <a:rPr b="1" lang="en-US" u="none" cap="none" strike="noStrike">
                          <a:solidFill>
                            <a:srgbClr val="F0E6D2"/>
                          </a:solidFill>
                          <a:latin typeface="Malgun Gothic"/>
                          <a:ea typeface="Malgun Gothic"/>
                          <a:cs typeface="Malgun Gothic"/>
                          <a:sym typeface="Malgun Gothic"/>
                        </a:rPr>
                        <a:t>로지스틱 회귀</a:t>
                      </a:r>
                      <a:endParaRPr/>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0.7280 ± 0.0163</a:t>
                      </a:r>
                      <a:endParaRPr/>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+0.0047</a:t>
                      </a:r>
                      <a:endParaRPr/>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채택</a:t>
                      </a:r>
                      <a:endParaRPr/>
                    </a:p>
                  </a:txBody>
                  <a:tcPr marT="45725" marB="45725" marR="91450" marL="91450" anchor="ctr">
                    <a:solidFill>
                      <a:srgbClr val="2D353E"/>
                    </a:solidFill>
                  </a:tcPr>
                </a:tc>
              </a:tr>
              <a:tr h="25602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랜덤포레스트</a:t>
                      </a:r>
                      <a:endParaRPr/>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0.7191 (연습 1.0000)</a:t>
                      </a:r>
                      <a:endParaRPr/>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+0.2809</a:t>
                      </a:r>
                      <a:endParaRPr/>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통째로 외움</a:t>
                      </a:r>
                      <a:endParaRPr/>
                    </a:p>
                  </a:txBody>
                  <a:tcPr marT="45725" marB="45725" marR="91450" marL="91450" anchor="ctr">
                    <a:solidFill>
                      <a:srgbClr val="09172B"/>
                    </a:solidFill>
                  </a:tcPr>
                </a:tc>
              </a:tr>
              <a:tr h="25602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GaussianNB</a:t>
                      </a:r>
                      <a:endParaRPr/>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0.7250</a:t>
                      </a:r>
                      <a:endParaRPr/>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+0.0006</a:t>
                      </a:r>
                      <a:endParaRPr/>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2위</a:t>
                      </a:r>
                      <a:endParaRPr/>
                    </a:p>
                  </a:txBody>
                  <a:tcPr marT="45725" marB="45725" marR="91450" marL="91450" anchor="ctr">
                    <a:solidFill>
                      <a:srgbClr val="10223E"/>
                    </a:solidFill>
                  </a:tcPr>
                </a:tc>
              </a:tr>
              <a:tr h="25602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SVM (RBF)</a:t>
                      </a:r>
                      <a:endParaRPr/>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0.7226</a:t>
                      </a:r>
                      <a:endParaRPr/>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+0.0431</a:t>
                      </a:r>
                      <a:endParaRPr/>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기준 초과</a:t>
                      </a:r>
                      <a:endParaRPr/>
                    </a:p>
                  </a:txBody>
                  <a:tcPr marT="45725" marB="45725" marR="91450" marL="91450" anchor="ctr">
                    <a:solidFill>
                      <a:srgbClr val="09172B"/>
                    </a:solidFill>
                  </a:tcPr>
                </a:tc>
              </a:tr>
              <a:tr h="25602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HistGB · 결정트리 · KNN</a:t>
                      </a:r>
                      <a:endParaRPr/>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0.7116 ~ 0.7206</a:t>
                      </a:r>
                      <a:endParaRPr/>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최대 +0.1604</a:t>
                      </a:r>
                      <a:endParaRPr/>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탈락 / 하위</a:t>
                      </a:r>
                      <a:endParaRPr/>
                    </a:p>
                  </a:txBody>
                  <a:tcPr marT="45725" marB="45725" marR="91450" marL="91450" anchor="ctr">
                    <a:solidFill>
                      <a:srgbClr val="10223E"/>
                    </a:solidFill>
                  </a:tcPr>
                </a:tc>
              </a:tr>
              <a:tr h="25602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찍기 (기준선)</a:t>
                      </a:r>
                      <a:endParaRPr/>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0.5009</a:t>
                      </a:r>
                      <a:endParaRPr/>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a:t>
                      </a:r>
                      <a:endParaRPr/>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비교 출발선</a:t>
                      </a:r>
                      <a:endParaRPr/>
                    </a:p>
                  </a:txBody>
                  <a:tcPr marT="45725" marB="45725" marR="91450" marL="91450" anchor="ctr">
                    <a:solidFill>
                      <a:srgbClr val="09172B"/>
                    </a:solidFill>
                  </a:tcPr>
                </a:tc>
              </a:tr>
            </a:tbl>
          </a:graphicData>
        </a:graphic>
      </p:graphicFrame>
      <p:sp>
        <p:nvSpPr>
          <p:cNvPr id="488" name="Google Shape;488;p13"/>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runs.csv    |    점수로는 못 고릅니다 — 1위와 2위가 0.003 차이. 갈라준 건 "외웠나"와 "왜를 말할 수 있나"입니다</a:t>
            </a:r>
            <a:endParaRPr/>
          </a:p>
        </p:txBody>
      </p:sp>
      <p:sp>
        <p:nvSpPr>
          <p:cNvPr id="489" name="Google Shape;489;p13"/>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15"/>
          <p:cNvSpPr/>
          <p:nvPr/>
        </p:nvSpPr>
        <p:spPr>
          <a:xfrm>
            <a:off x="0" y="0"/>
            <a:ext cx="12192000"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496" name="Google Shape;496;p15"/>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497" name="Google Shape;497;p15"/>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8" name="Google Shape;498;p15"/>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9" name="Google Shape;499;p15"/>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0" name="Google Shape;500;p15"/>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1" name="Google Shape;501;p15"/>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2" name="Google Shape;502;p15"/>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3" name="Google Shape;503;p15"/>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4" name="Google Shape;504;p15"/>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2. Phase 1   |   </a:t>
            </a:r>
            <a:r>
              <a:rPr b="1" i="0" lang="en-US" sz="2500" u="none" cap="none" strike="noStrike">
                <a:solidFill>
                  <a:srgbClr val="F0E6D2"/>
                </a:solidFill>
                <a:latin typeface="Malgun Gothic"/>
                <a:ea typeface="Malgun Gothic"/>
                <a:cs typeface="Malgun Gothic"/>
                <a:sym typeface="Malgun Gothic"/>
              </a:rPr>
              <a:t>보충 — 나이브베이즈 탈락 사유</a:t>
            </a:r>
            <a:endParaRPr/>
          </a:p>
        </p:txBody>
      </p:sp>
      <p:sp>
        <p:nvSpPr>
          <p:cNvPr id="505" name="Google Shape;505;p15"/>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6" name="Google Shape;506;p15"/>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7" name="Google Shape;507;p15"/>
          <p:cNvSpPr/>
          <p:nvPr/>
        </p:nvSpPr>
        <p:spPr>
          <a:xfrm>
            <a:off x="731519" y="1438910"/>
            <a:ext cx="6492300" cy="26517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8" name="Google Shape;508;p15"/>
          <p:cNvSpPr/>
          <p:nvPr/>
        </p:nvSpPr>
        <p:spPr>
          <a:xfrm>
            <a:off x="777240" y="1487745"/>
            <a:ext cx="6400800" cy="2560200"/>
          </a:xfrm>
          <a:prstGeom prst="rect">
            <a:avLst/>
          </a:prstGeom>
          <a:solidFill>
            <a:srgbClr val="F5F2EB"/>
          </a:solid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supplement_nb_proba.png" id="509" name="Google Shape;509;p15"/>
          <p:cNvPicPr preferRelativeResize="0"/>
          <p:nvPr/>
        </p:nvPicPr>
        <p:blipFill rotWithShape="1">
          <a:blip r:embed="rId4">
            <a:alphaModFix/>
          </a:blip>
          <a:srcRect b="0" l="0" r="0" t="0"/>
          <a:stretch/>
        </p:blipFill>
        <p:spPr>
          <a:xfrm>
            <a:off x="777275" y="1487750"/>
            <a:ext cx="6400801" cy="2554758"/>
          </a:xfrm>
          <a:prstGeom prst="rect">
            <a:avLst/>
          </a:prstGeom>
          <a:noFill/>
          <a:ln>
            <a:noFill/>
          </a:ln>
        </p:spPr>
      </p:pic>
      <p:sp>
        <p:nvSpPr>
          <p:cNvPr id="510" name="Google Shape;510;p15"/>
          <p:cNvSpPr txBox="1"/>
          <p:nvPr/>
        </p:nvSpPr>
        <p:spPr>
          <a:xfrm>
            <a:off x="777240" y="4349497"/>
            <a:ext cx="6400800" cy="1923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250" u="none" cap="none" strike="noStrike">
                <a:solidFill>
                  <a:srgbClr val="85837A"/>
                </a:solidFill>
                <a:latin typeface="Malgun Gothic"/>
                <a:ea typeface="Malgun Gothic"/>
                <a:cs typeface="Malgun Gothic"/>
                <a:sym typeface="Malgun Gothic"/>
              </a:rPr>
              <a:t>왼쪽 로지스틱: 확률이 고르게 퍼집니다  ·  오른쪽 NB: 0과 1 양끝에 쌓입니다</a:t>
            </a:r>
            <a:endParaRPr sz="1500"/>
          </a:p>
        </p:txBody>
      </p:sp>
      <p:graphicFrame>
        <p:nvGraphicFramePr>
          <p:cNvPr id="511" name="Google Shape;511;p15"/>
          <p:cNvGraphicFramePr/>
          <p:nvPr/>
        </p:nvGraphicFramePr>
        <p:xfrm>
          <a:off x="777240" y="4886686"/>
          <a:ext cx="3000000" cy="3000000"/>
        </p:xfrm>
        <a:graphic>
          <a:graphicData uri="http://schemas.openxmlformats.org/drawingml/2006/table">
            <a:tbl>
              <a:tblPr>
                <a:noFill/>
                <a:tableStyleId>{46956E51-EF99-4CE0-B1A4-93B49CD02E09}</a:tableStyleId>
              </a:tblPr>
              <a:tblGrid>
                <a:gridCol w="1815150"/>
                <a:gridCol w="955350"/>
                <a:gridCol w="955350"/>
                <a:gridCol w="955350"/>
                <a:gridCol w="1719625"/>
              </a:tblGrid>
              <a:tr h="347475">
                <a:tc>
                  <a:txBody>
                    <a:bodyPr/>
                    <a:lstStyle/>
                    <a:p>
                      <a:pPr indent="0" lvl="0" marL="0" marR="0" rtl="0" algn="l">
                        <a:spcBef>
                          <a:spcPts val="0"/>
                        </a:spcBef>
                        <a:spcAft>
                          <a:spcPts val="0"/>
                        </a:spcAft>
                        <a:buNone/>
                      </a:pPr>
                      <a:r>
                        <a:t/>
                      </a:r>
                      <a:endParaRPr sz="2100" u="none" cap="none" strike="noStrike"/>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정확도</a:t>
                      </a:r>
                      <a:endParaRPr sz="17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AUC</a:t>
                      </a:r>
                      <a:endParaRPr sz="17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Brier</a:t>
                      </a:r>
                      <a:endParaRPr sz="17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95%↑/5%↓ 확신</a:t>
                      </a:r>
                      <a:endParaRPr sz="1700"/>
                    </a:p>
                  </a:txBody>
                  <a:tcPr marT="45725" marB="45725" marR="91450" marL="91450" anchor="ctr">
                    <a:solidFill>
                      <a:srgbClr val="3C3F3E"/>
                    </a:solidFill>
                  </a:tcPr>
                </a:tc>
              </a:tr>
              <a:tr h="365750">
                <a:tc>
                  <a:txBody>
                    <a:bodyPr/>
                    <a:lstStyle/>
                    <a:p>
                      <a:pPr indent="0" lvl="0" marL="0" marR="0" rtl="0" algn="l">
                        <a:spcBef>
                          <a:spcPts val="0"/>
                        </a:spcBef>
                        <a:spcAft>
                          <a:spcPts val="0"/>
                        </a:spcAft>
                        <a:buNone/>
                      </a:pPr>
                      <a:r>
                        <a:rPr b="1" lang="en-US" u="none" cap="none" strike="noStrike">
                          <a:solidFill>
                            <a:srgbClr val="F0E6D2"/>
                          </a:solidFill>
                          <a:latin typeface="Malgun Gothic"/>
                          <a:ea typeface="Malgun Gothic"/>
                          <a:cs typeface="Malgun Gothic"/>
                          <a:sym typeface="Malgun Gothic"/>
                        </a:rPr>
                        <a:t>로지스틱 (채택)</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0.7394</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0.8150</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0.1756</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4.9 %</a:t>
                      </a:r>
                      <a:endParaRPr sz="1700"/>
                    </a:p>
                  </a:txBody>
                  <a:tcPr marT="45725" marB="45725" marR="91450" marL="91450" anchor="ctr">
                    <a:solidFill>
                      <a:srgbClr val="2D353E"/>
                    </a:solidFill>
                  </a:tcPr>
                </a:tc>
              </a:tr>
              <a:tr h="365750">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나이브베이즈</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0.7313</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0.8096</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0.2179</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63.6 %</a:t>
                      </a:r>
                      <a:endParaRPr sz="1700"/>
                    </a:p>
                  </a:txBody>
                  <a:tcPr marT="45725" marB="45725" marR="91450" marL="91450" anchor="ctr">
                    <a:solidFill>
                      <a:srgbClr val="09172B"/>
                    </a:solidFill>
                  </a:tcPr>
                </a:tc>
              </a:tr>
            </a:tbl>
          </a:graphicData>
        </a:graphic>
      </p:graphicFrame>
      <p:sp>
        <p:nvSpPr>
          <p:cNvPr id="512" name="Google Shape;512;p15"/>
          <p:cNvSpPr/>
          <p:nvPr/>
        </p:nvSpPr>
        <p:spPr>
          <a:xfrm>
            <a:off x="7406650" y="1487751"/>
            <a:ext cx="4005000" cy="25602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3" name="Google Shape;513;p15"/>
          <p:cNvSpPr/>
          <p:nvPr/>
        </p:nvSpPr>
        <p:spPr>
          <a:xfrm>
            <a:off x="7406650" y="1487751"/>
            <a:ext cx="45600" cy="25602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4" name="Google Shape;514;p15"/>
          <p:cNvSpPr txBox="1"/>
          <p:nvPr/>
        </p:nvSpPr>
        <p:spPr>
          <a:xfrm>
            <a:off x="7635158" y="1908624"/>
            <a:ext cx="3547800" cy="16377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u="none" cap="none" strike="noStrike">
                <a:solidFill>
                  <a:srgbClr val="F0E6D2"/>
                </a:solidFill>
                <a:latin typeface="Malgun Gothic"/>
                <a:ea typeface="Malgun Gothic"/>
                <a:cs typeface="Malgun Gothic"/>
                <a:sym typeface="Malgun Gothic"/>
              </a:rPr>
              <a:t>정확도는 대등한데</a:t>
            </a:r>
            <a:br>
              <a:rPr b="1" i="0" lang="en-US" u="none" cap="none" strike="noStrike">
                <a:solidFill>
                  <a:srgbClr val="F0E6D2"/>
                </a:solidFill>
                <a:latin typeface="Malgun Gothic"/>
                <a:ea typeface="Malgun Gothic"/>
                <a:cs typeface="Malgun Gothic"/>
                <a:sym typeface="Malgun Gothic"/>
              </a:rPr>
            </a:br>
            <a:r>
              <a:rPr b="1" i="0" lang="en-US" u="none" cap="none" strike="noStrike">
                <a:solidFill>
                  <a:srgbClr val="F0E6D2"/>
                </a:solidFill>
                <a:latin typeface="Malgun Gothic"/>
                <a:ea typeface="Malgun Gothic"/>
                <a:cs typeface="Malgun Gothic"/>
                <a:sym typeface="Malgun Gothic"/>
              </a:rPr>
              <a:t>확률의 얼굴이 완전히 다릅니다.</a:t>
            </a:r>
            <a:br>
              <a:rPr b="1" i="0" lang="en-US" u="none" cap="none" strike="noStrike">
                <a:solidFill>
                  <a:srgbClr val="F0E6D2"/>
                </a:solidFill>
                <a:latin typeface="Malgun Gothic"/>
                <a:ea typeface="Malgun Gothic"/>
                <a:cs typeface="Malgun Gothic"/>
                <a:sym typeface="Malgun Gothic"/>
              </a:rPr>
            </a:br>
            <a:br>
              <a:rPr b="1" i="0" lang="en-US" u="none" cap="none" strike="noStrike">
                <a:solidFill>
                  <a:srgbClr val="F0E6D2"/>
                </a:solidFill>
                <a:latin typeface="Malgun Gothic"/>
                <a:ea typeface="Malgun Gothic"/>
                <a:cs typeface="Malgun Gothic"/>
                <a:sym typeface="Malgun Gothic"/>
              </a:rPr>
            </a:br>
            <a:r>
              <a:rPr b="1" i="0" lang="en-US" u="none" cap="none" strike="noStrike">
                <a:solidFill>
                  <a:srgbClr val="F0E6D2"/>
                </a:solidFill>
                <a:latin typeface="Malgun Gothic"/>
                <a:ea typeface="Malgun Gothic"/>
                <a:cs typeface="Malgun Gothic"/>
                <a:sym typeface="Malgun Gothic"/>
              </a:rPr>
              <a:t>NB 는 경기 3판 중 2판에</a:t>
            </a:r>
            <a:br>
              <a:rPr b="1" i="0" lang="en-US" u="none" cap="none" strike="noStrike">
                <a:solidFill>
                  <a:srgbClr val="F0E6D2"/>
                </a:solidFill>
                <a:latin typeface="Malgun Gothic"/>
                <a:ea typeface="Malgun Gothic"/>
                <a:cs typeface="Malgun Gothic"/>
                <a:sym typeface="Malgun Gothic"/>
              </a:rPr>
            </a:br>
            <a:r>
              <a:rPr b="1" i="0" lang="en-US" u="none" cap="none" strike="noStrike">
                <a:solidFill>
                  <a:srgbClr val="F0E6D2"/>
                </a:solidFill>
                <a:latin typeface="Malgun Gothic"/>
                <a:ea typeface="Malgun Gothic"/>
                <a:cs typeface="Malgun Gothic"/>
                <a:sym typeface="Malgun Gothic"/>
              </a:rPr>
              <a:t>"95% 이상 확신"을 겁니다.</a:t>
            </a:r>
            <a:br>
              <a:rPr b="1" i="0" lang="en-US" u="none" cap="none" strike="noStrike">
                <a:solidFill>
                  <a:srgbClr val="F0E6D2"/>
                </a:solidFill>
                <a:latin typeface="Malgun Gothic"/>
                <a:ea typeface="Malgun Gothic"/>
                <a:cs typeface="Malgun Gothic"/>
                <a:sym typeface="Malgun Gothic"/>
              </a:rPr>
            </a:br>
            <a:r>
              <a:rPr b="1" i="0" lang="en-US" u="none" cap="none" strike="noStrike">
                <a:solidFill>
                  <a:srgbClr val="F0E6D2"/>
                </a:solidFill>
                <a:latin typeface="Malgun Gothic"/>
                <a:ea typeface="Malgun Gothic"/>
                <a:cs typeface="Malgun Gothic"/>
                <a:sym typeface="Malgun Gothic"/>
              </a:rPr>
              <a:t>팽팽한 접전에도요.</a:t>
            </a:r>
            <a:endParaRPr/>
          </a:p>
        </p:txBody>
      </p:sp>
      <p:sp>
        <p:nvSpPr>
          <p:cNvPr id="515" name="Google Shape;515;p15"/>
          <p:cNvSpPr txBox="1"/>
          <p:nvPr/>
        </p:nvSpPr>
        <p:spPr>
          <a:xfrm>
            <a:off x="7406675" y="4314800"/>
            <a:ext cx="4218900" cy="18711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500" u="none" cap="none" strike="noStrike">
                <a:solidFill>
                  <a:srgbClr val="F0E6D2"/>
                </a:solidFill>
                <a:latin typeface="Malgun Gothic"/>
                <a:ea typeface="Malgun Gothic"/>
                <a:cs typeface="Malgun Gothic"/>
                <a:sym typeface="Malgun Gothic"/>
              </a:rPr>
              <a:t>◆  이런 일이 생기는 이유</a:t>
            </a:r>
            <a:endParaRPr sz="1700"/>
          </a:p>
          <a:p>
            <a:pPr indent="0" lvl="0" marL="0" marR="0" rtl="0" algn="l">
              <a:lnSpc>
                <a:spcPct val="130000"/>
              </a:lnSpc>
              <a:spcBef>
                <a:spcPts val="500"/>
              </a:spcBef>
              <a:spcAft>
                <a:spcPts val="0"/>
              </a:spcAft>
              <a:buNone/>
            </a:pPr>
            <a:r>
              <a:rPr b="0" i="0" lang="en-US" sz="1200" u="none" cap="none" strike="noStrike">
                <a:solidFill>
                  <a:srgbClr val="8E8B80"/>
                </a:solidFill>
                <a:latin typeface="Malgun Gothic"/>
                <a:ea typeface="Malgun Gothic"/>
                <a:cs typeface="Malgun Gothic"/>
                <a:sym typeface="Malgun Gothic"/>
              </a:rPr>
              <a:t>NB 는 "지표끼리 독립"이라 가정하고 확률을 곱해 나</a:t>
            </a:r>
            <a:r>
              <a:rPr lang="en-US" sz="1200">
                <a:solidFill>
                  <a:srgbClr val="8E8B80"/>
                </a:solidFill>
                <a:latin typeface="Malgun Gothic"/>
                <a:ea typeface="Malgun Gothic"/>
                <a:cs typeface="Malgun Gothic"/>
                <a:sym typeface="Malgun Gothic"/>
              </a:rPr>
              <a:t>가지만 지표 간 밀접한 관계가 형성됨(독립성이 깨짐)</a:t>
            </a:r>
            <a:endParaRPr sz="1200">
              <a:solidFill>
                <a:srgbClr val="8E8B80"/>
              </a:solidFill>
              <a:latin typeface="Malgun Gothic"/>
              <a:ea typeface="Malgun Gothic"/>
              <a:cs typeface="Malgun Gothic"/>
              <a:sym typeface="Malgun Gothic"/>
            </a:endParaRPr>
          </a:p>
          <a:p>
            <a:pPr indent="0" lvl="0" marL="0" marR="0" rtl="0" algn="l">
              <a:lnSpc>
                <a:spcPct val="130000"/>
              </a:lnSpc>
              <a:spcBef>
                <a:spcPts val="500"/>
              </a:spcBef>
              <a:spcAft>
                <a:spcPts val="0"/>
              </a:spcAft>
              <a:buNone/>
            </a:pPr>
            <a:r>
              <a:rPr lang="en-US" sz="1200">
                <a:solidFill>
                  <a:srgbClr val="8E8B80"/>
                </a:solidFill>
                <a:latin typeface="Malgun Gothic"/>
                <a:ea typeface="Malgun Gothic"/>
                <a:cs typeface="Malgun Gothic"/>
                <a:sym typeface="Malgun Gothic"/>
              </a:rPr>
              <a:t>→ 같은 증거를 여러번 세어 그래프 양 끝이 솟는 현상 발생</a:t>
            </a:r>
            <a:endParaRPr sz="1200">
              <a:solidFill>
                <a:srgbClr val="8E8B80"/>
              </a:solidFill>
              <a:latin typeface="Malgun Gothic"/>
              <a:ea typeface="Malgun Gothic"/>
              <a:cs typeface="Malgun Gothic"/>
              <a:sym typeface="Malgun Gothic"/>
            </a:endParaRPr>
          </a:p>
          <a:p>
            <a:pPr indent="0" lvl="0" marL="0" marR="0" rtl="0" algn="l">
              <a:lnSpc>
                <a:spcPct val="50000"/>
              </a:lnSpc>
              <a:spcBef>
                <a:spcPts val="500"/>
              </a:spcBef>
              <a:spcAft>
                <a:spcPts val="0"/>
              </a:spcAft>
              <a:buNone/>
            </a:pPr>
            <a:r>
              <a:t/>
            </a:r>
            <a:endParaRPr sz="1200">
              <a:solidFill>
                <a:srgbClr val="8E8B80"/>
              </a:solidFill>
              <a:latin typeface="Malgun Gothic"/>
              <a:ea typeface="Malgun Gothic"/>
              <a:cs typeface="Malgun Gothic"/>
              <a:sym typeface="Malgun Gothic"/>
            </a:endParaRPr>
          </a:p>
          <a:p>
            <a:pPr indent="0" lvl="0" marL="0" marR="0" rtl="0" algn="l">
              <a:lnSpc>
                <a:spcPct val="132000"/>
              </a:lnSpc>
              <a:spcBef>
                <a:spcPts val="200"/>
              </a:spcBef>
              <a:spcAft>
                <a:spcPts val="0"/>
              </a:spcAft>
              <a:buNone/>
            </a:pPr>
            <a:r>
              <a:rPr b="1" i="0" lang="en-US" sz="1500" u="none" cap="none" strike="noStrike">
                <a:solidFill>
                  <a:srgbClr val="F0E6D2"/>
                </a:solidFill>
                <a:latin typeface="Malgun Gothic"/>
                <a:ea typeface="Malgun Gothic"/>
                <a:cs typeface="Malgun Gothic"/>
                <a:sym typeface="Malgun Gothic"/>
              </a:rPr>
              <a:t>◆  분할 10회 반복에서 로지스틱 10전 10승 (평균 +0.009)</a:t>
            </a:r>
            <a:endParaRPr sz="1700"/>
          </a:p>
        </p:txBody>
      </p:sp>
      <p:sp>
        <p:nvSpPr>
          <p:cNvPr id="516" name="Google Shape;516;p15"/>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950" u="none" cap="none" strike="noStrike">
                <a:solidFill>
                  <a:srgbClr val="73726E"/>
                </a:solidFill>
                <a:latin typeface="Malgun Gothic"/>
                <a:ea typeface="Malgun Gothic"/>
                <a:cs typeface="Malgun Gothic"/>
                <a:sym typeface="Malgun Gothic"/>
              </a:rPr>
              <a:t>근거 · reports/tables/supplement_nb_vs_lr.csv    |    모델을 바꿔도 0.73 상한은 그대로 — 교차 확인용 보조로만 남깁니다</a:t>
            </a:r>
            <a:endParaRPr/>
          </a:p>
        </p:txBody>
      </p:sp>
      <p:sp>
        <p:nvSpPr>
          <p:cNvPr id="517" name="Google Shape;517;p15"/>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a15e3bff5_2_131"/>
          <p:cNvSpPr/>
          <p:nvPr/>
        </p:nvSpPr>
        <p:spPr>
          <a:xfrm>
            <a:off x="0" y="0"/>
            <a:ext cx="12192000" cy="6858000"/>
          </a:xfrm>
          <a:prstGeom prst="rect">
            <a:avLst/>
          </a:prstGeom>
          <a:gradFill>
            <a:gsLst>
              <a:gs pos="0">
                <a:srgbClr val="0A1428"/>
              </a:gs>
              <a:gs pos="100000">
                <a:srgbClr val="010A13"/>
              </a:gs>
            </a:gsLst>
            <a:lin ang="16200038"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524" name="Google Shape;524;g3fa15e3bff5_2_131"/>
          <p:cNvPicPr preferRelativeResize="0"/>
          <p:nvPr/>
        </p:nvPicPr>
        <p:blipFill rotWithShape="1">
          <a:blip r:embed="rId3">
            <a:alphaModFix/>
          </a:blip>
          <a:srcRect b="0" l="0" r="0" t="0"/>
          <a:stretch/>
        </p:blipFill>
        <p:spPr>
          <a:xfrm>
            <a:off x="0" y="0"/>
            <a:ext cx="12191971" cy="6858000"/>
          </a:xfrm>
          <a:prstGeom prst="rect">
            <a:avLst/>
          </a:prstGeom>
          <a:noFill/>
          <a:ln>
            <a:noFill/>
          </a:ln>
        </p:spPr>
      </p:pic>
      <p:sp>
        <p:nvSpPr>
          <p:cNvPr id="525" name="Google Shape;525;g3fa15e3bff5_2_131"/>
          <p:cNvSpPr/>
          <p:nvPr/>
        </p:nvSpPr>
        <p:spPr>
          <a:xfrm>
            <a:off x="0" y="0"/>
            <a:ext cx="12192000" cy="6858000"/>
          </a:xfrm>
          <a:prstGeom prst="rect">
            <a:avLst/>
          </a:prstGeom>
          <a:solidFill>
            <a:srgbClr val="010A13">
              <a:alpha val="8784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6" name="Google Shape;526;g3fa15e3bff5_2_131"/>
          <p:cNvSpPr/>
          <p:nvPr/>
        </p:nvSpPr>
        <p:spPr>
          <a:xfrm>
            <a:off x="0" y="0"/>
            <a:ext cx="12192000" cy="504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7" name="Google Shape;527;g3fa15e3bff5_2_131"/>
          <p:cNvSpPr/>
          <p:nvPr/>
        </p:nvSpPr>
        <p:spPr>
          <a:xfrm>
            <a:off x="0" y="6807708"/>
            <a:ext cx="12192000" cy="50400"/>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8" name="Google Shape;528;g3fa15e3bff5_2_131"/>
          <p:cNvSpPr/>
          <p:nvPr/>
        </p:nvSpPr>
        <p:spPr>
          <a:xfrm>
            <a:off x="274320" y="6569964"/>
            <a:ext cx="685800" cy="273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9" name="Google Shape;529;g3fa15e3bff5_2_131"/>
          <p:cNvSpPr/>
          <p:nvPr/>
        </p:nvSpPr>
        <p:spPr>
          <a:xfrm>
            <a:off x="260603" y="5897880"/>
            <a:ext cx="27300"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0" name="Google Shape;530;g3fa15e3bff5_2_131"/>
          <p:cNvSpPr/>
          <p:nvPr/>
        </p:nvSpPr>
        <p:spPr>
          <a:xfrm>
            <a:off x="11231849" y="6569964"/>
            <a:ext cx="685800" cy="273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1" name="Google Shape;531;g3fa15e3bff5_2_131"/>
          <p:cNvSpPr/>
          <p:nvPr/>
        </p:nvSpPr>
        <p:spPr>
          <a:xfrm>
            <a:off x="11903933" y="5897880"/>
            <a:ext cx="27300"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2" name="Google Shape;532;g3fa15e3bff5_2_131"/>
          <p:cNvSpPr txBox="1"/>
          <p:nvPr/>
        </p:nvSpPr>
        <p:spPr>
          <a:xfrm>
            <a:off x="777240" y="530352"/>
            <a:ext cx="10634400" cy="4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2. Phase 1   |   </a:t>
            </a:r>
            <a:r>
              <a:rPr b="1" i="0" lang="en-US" sz="2500" u="none" cap="none" strike="noStrike">
                <a:solidFill>
                  <a:srgbClr val="F0E6D2"/>
                </a:solidFill>
                <a:latin typeface="Malgun Gothic"/>
                <a:ea typeface="Malgun Gothic"/>
                <a:cs typeface="Malgun Gothic"/>
                <a:sym typeface="Malgun Gothic"/>
              </a:rPr>
              <a:t>모델 채택 — 설명 가능성 기준</a:t>
            </a:r>
            <a:endParaRPr/>
          </a:p>
        </p:txBody>
      </p:sp>
      <p:sp>
        <p:nvSpPr>
          <p:cNvPr id="533" name="Google Shape;533;g3fa15e3bff5_2_131"/>
          <p:cNvSpPr/>
          <p:nvPr/>
        </p:nvSpPr>
        <p:spPr>
          <a:xfrm>
            <a:off x="795528" y="1115568"/>
            <a:ext cx="1051500" cy="321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4" name="Google Shape;534;g3fa15e3bff5_2_131"/>
          <p:cNvSpPr/>
          <p:nvPr/>
        </p:nvSpPr>
        <p:spPr>
          <a:xfrm>
            <a:off x="1892807" y="1110996"/>
            <a:ext cx="41100" cy="41100"/>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5" name="Google Shape;535;g3fa15e3bff5_2_131"/>
          <p:cNvSpPr txBox="1"/>
          <p:nvPr/>
        </p:nvSpPr>
        <p:spPr>
          <a:xfrm>
            <a:off x="8890300" y="5897868"/>
            <a:ext cx="4572000" cy="1770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150" u="none" cap="none" strike="noStrike">
                <a:solidFill>
                  <a:srgbClr val="85837A"/>
                </a:solidFill>
                <a:latin typeface="Malgun Gothic"/>
                <a:ea typeface="Malgun Gothic"/>
                <a:cs typeface="Malgun Gothic"/>
                <a:sym typeface="Malgun Gothic"/>
              </a:rPr>
              <a:t>장면 4 — 마지막 기준</a:t>
            </a:r>
            <a:endParaRPr/>
          </a:p>
        </p:txBody>
      </p:sp>
      <p:sp>
        <p:nvSpPr>
          <p:cNvPr id="536" name="Google Shape;536;g3fa15e3bff5_2_131"/>
          <p:cNvSpPr txBox="1"/>
          <p:nvPr/>
        </p:nvSpPr>
        <p:spPr>
          <a:xfrm>
            <a:off x="777240" y="4819527"/>
            <a:ext cx="10607100" cy="13890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600" u="none" cap="none" strike="noStrike">
                <a:solidFill>
                  <a:srgbClr val="F0E6D2"/>
                </a:solidFill>
                <a:latin typeface="Malgun Gothic"/>
                <a:ea typeface="Malgun Gothic"/>
                <a:cs typeface="Malgun Gothic"/>
                <a:sym typeface="Malgun Gothic"/>
              </a:rPr>
              <a:t>◆  로지스틱만 세 칸 전부 통과 — 점수 1위 · 안 외움 · 가중치로 "왜"를 설명 가능</a:t>
            </a:r>
            <a:endParaRPr sz="1600"/>
          </a:p>
          <a:p>
            <a:pPr indent="0" lvl="0" marL="0" marR="0" rtl="0" algn="l">
              <a:lnSpc>
                <a:spcPct val="132000"/>
              </a:lnSpc>
              <a:spcBef>
                <a:spcPts val="600"/>
              </a:spcBef>
              <a:spcAft>
                <a:spcPts val="0"/>
              </a:spcAft>
              <a:buNone/>
            </a:pPr>
            <a:r>
              <a:rPr b="0" i="0" lang="en-US" sz="1450" u="none" cap="none" strike="noStrike">
                <a:solidFill>
                  <a:srgbClr val="C8C5BC"/>
                </a:solidFill>
                <a:latin typeface="Malgun Gothic"/>
                <a:ea typeface="Malgun Gothic"/>
                <a:cs typeface="Malgun Gothic"/>
                <a:sym typeface="Malgun Gothic"/>
              </a:rPr>
              <a:t>•  </a:t>
            </a:r>
            <a:r>
              <a:rPr b="0" i="0" lang="en-US" sz="1600" u="none" cap="none" strike="noStrike">
                <a:solidFill>
                  <a:srgbClr val="C8C5BC"/>
                </a:solidFill>
                <a:latin typeface="Malgun Gothic"/>
                <a:ea typeface="Malgun Gothic"/>
                <a:cs typeface="Malgun Gothic"/>
                <a:sym typeface="Malgun Gothic"/>
              </a:rPr>
              <a:t>랜덤포레스트는 어떤 지표가 중요한지는 말해도, 그게 유리한 쪽인지 불리한 쪽인지(+/−)를 못 말합니다</a:t>
            </a:r>
            <a:endParaRPr sz="1600"/>
          </a:p>
          <a:p>
            <a:pPr indent="0" lvl="0" marL="0" marR="0" rtl="0" algn="l">
              <a:lnSpc>
                <a:spcPct val="130000"/>
              </a:lnSpc>
              <a:spcBef>
                <a:spcPts val="600"/>
              </a:spcBef>
              <a:spcAft>
                <a:spcPts val="0"/>
              </a:spcAft>
              <a:buNone/>
            </a:pPr>
            <a:r>
              <a:rPr lang="en-US" sz="1500">
                <a:solidFill>
                  <a:srgbClr val="8E8B80"/>
                </a:solidFill>
                <a:latin typeface="Malgun Gothic"/>
                <a:ea typeface="Malgun Gothic"/>
                <a:cs typeface="Malgun Gothic"/>
                <a:sym typeface="Malgun Gothic"/>
              </a:rPr>
              <a:t>   </a:t>
            </a:r>
            <a:r>
              <a:rPr b="0" i="0" lang="en-US" sz="1500" u="none" cap="none" strike="noStrike">
                <a:solidFill>
                  <a:srgbClr val="8E8B80"/>
                </a:solidFill>
                <a:latin typeface="Malgun Gothic"/>
                <a:ea typeface="Malgun Gothic"/>
                <a:cs typeface="Malgun Gothic"/>
                <a:sym typeface="Malgun Gothic"/>
              </a:rPr>
              <a:t>성능이 모델 복잡도의 정확히 역순입니다 — 10분 정보량이 적어 복잡한 모델은 배울 게 없어 외우기만 했습니다</a:t>
            </a:r>
            <a:endParaRPr sz="1500"/>
          </a:p>
          <a:p>
            <a:pPr indent="0" lvl="0" marL="0" marR="0" rtl="0" algn="l">
              <a:lnSpc>
                <a:spcPct val="132000"/>
              </a:lnSpc>
              <a:spcBef>
                <a:spcPts val="300"/>
              </a:spcBef>
              <a:spcAft>
                <a:spcPts val="0"/>
              </a:spcAft>
              <a:buNone/>
            </a:pPr>
            <a:r>
              <a:rPr b="1" i="0" lang="en-US" sz="1600" u="none" cap="none" strike="noStrike">
                <a:solidFill>
                  <a:srgbClr val="F0E6D2"/>
                </a:solidFill>
                <a:latin typeface="Malgun Gothic"/>
                <a:ea typeface="Malgun Gothic"/>
                <a:cs typeface="Malgun Gothic"/>
                <a:sym typeface="Malgun Gothic"/>
              </a:rPr>
              <a:t>◆  튜닝 없음 — 골드 1개 0.7313 · 2개 0.7328 로 전체와 동급이라 짜낼 여지 없음</a:t>
            </a:r>
            <a:endParaRPr sz="1600"/>
          </a:p>
        </p:txBody>
      </p:sp>
      <p:sp>
        <p:nvSpPr>
          <p:cNvPr id="537" name="Google Shape;537;g3fa15e3bff5_2_131"/>
          <p:cNvSpPr txBox="1"/>
          <p:nvPr/>
        </p:nvSpPr>
        <p:spPr>
          <a:xfrm>
            <a:off x="777240" y="6382512"/>
            <a:ext cx="10607100" cy="1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개념 → STUDY 6번 과적합 · 7번 교차검증</a:t>
            </a:r>
            <a:endParaRPr/>
          </a:p>
        </p:txBody>
      </p:sp>
      <p:sp>
        <p:nvSpPr>
          <p:cNvPr id="538" name="Google Shape;538;g3fa15e3bff5_2_131"/>
          <p:cNvSpPr txBox="1"/>
          <p:nvPr/>
        </p:nvSpPr>
        <p:spPr>
          <a:xfrm>
            <a:off x="10972800" y="6574536"/>
            <a:ext cx="868800" cy="1461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graphicFrame>
        <p:nvGraphicFramePr>
          <p:cNvPr id="539" name="Google Shape;539;g3fa15e3bff5_2_131"/>
          <p:cNvGraphicFramePr/>
          <p:nvPr/>
        </p:nvGraphicFramePr>
        <p:xfrm>
          <a:off x="806353" y="1361156"/>
          <a:ext cx="3000000" cy="3000000"/>
        </p:xfrm>
        <a:graphic>
          <a:graphicData uri="http://schemas.openxmlformats.org/drawingml/2006/table">
            <a:tbl>
              <a:tblPr>
                <a:noFill/>
                <a:tableStyleId>{46956E51-EF99-4CE0-B1A4-93B49CD02E09}</a:tableStyleId>
              </a:tblPr>
              <a:tblGrid>
                <a:gridCol w="2868975"/>
                <a:gridCol w="2689650"/>
                <a:gridCol w="2420675"/>
                <a:gridCol w="2599975"/>
              </a:tblGrid>
              <a:tr h="707875">
                <a:tc>
                  <a:txBody>
                    <a:bodyPr/>
                    <a:lstStyle/>
                    <a:p>
                      <a:pPr indent="0" lvl="0" marL="0" marR="0" rtl="0" algn="ctr">
                        <a:spcBef>
                          <a:spcPts val="0"/>
                        </a:spcBef>
                        <a:spcAft>
                          <a:spcPts val="0"/>
                        </a:spcAft>
                        <a:buNone/>
                      </a:pPr>
                      <a:r>
                        <a:rPr b="1" lang="en-US" sz="1800" u="none" cap="none" strike="noStrike">
                          <a:solidFill>
                            <a:srgbClr val="F0E6D2"/>
                          </a:solidFill>
                          <a:latin typeface="Malgun Gothic"/>
                          <a:ea typeface="Malgun Gothic"/>
                          <a:cs typeface="Malgun Gothic"/>
                          <a:sym typeface="Malgun Gothic"/>
                        </a:rPr>
                        <a:t>모델</a:t>
                      </a:r>
                      <a:endParaRPr sz="18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800">
                          <a:solidFill>
                            <a:srgbClr val="F0E6D2"/>
                          </a:solidFill>
                          <a:latin typeface="Malgun Gothic"/>
                          <a:ea typeface="Malgun Gothic"/>
                          <a:cs typeface="Malgun Gothic"/>
                          <a:sym typeface="Malgun Gothic"/>
                        </a:rPr>
                        <a:t>점수</a:t>
                      </a:r>
                      <a:endParaRPr sz="18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800">
                          <a:solidFill>
                            <a:srgbClr val="F0E6D2"/>
                          </a:solidFill>
                          <a:latin typeface="Malgun Gothic"/>
                          <a:ea typeface="Malgun Gothic"/>
                          <a:cs typeface="Malgun Gothic"/>
                          <a:sym typeface="Malgun Gothic"/>
                        </a:rPr>
                        <a:t>안 외움</a:t>
                      </a:r>
                      <a:endParaRPr sz="18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800">
                          <a:solidFill>
                            <a:srgbClr val="F0E6D2"/>
                          </a:solidFill>
                          <a:latin typeface="Malgun Gothic"/>
                          <a:ea typeface="Malgun Gothic"/>
                          <a:cs typeface="Malgun Gothic"/>
                          <a:sym typeface="Malgun Gothic"/>
                        </a:rPr>
                        <a:t>이유 설명</a:t>
                      </a:r>
                      <a:endParaRPr sz="1800"/>
                    </a:p>
                  </a:txBody>
                  <a:tcPr marT="45725" marB="45725" marR="91450" marL="91450" anchor="ctr">
                    <a:solidFill>
                      <a:srgbClr val="3C3F3E"/>
                    </a:solidFill>
                  </a:tcPr>
                </a:tc>
              </a:tr>
              <a:tr h="607275">
                <a:tc>
                  <a:txBody>
                    <a:bodyPr/>
                    <a:lstStyle/>
                    <a:p>
                      <a:pPr indent="0" lvl="0" marL="0" marR="0" rtl="0" algn="ctr">
                        <a:spcBef>
                          <a:spcPts val="0"/>
                        </a:spcBef>
                        <a:spcAft>
                          <a:spcPts val="0"/>
                        </a:spcAft>
                        <a:buNone/>
                      </a:pPr>
                      <a:r>
                        <a:rPr b="1" lang="en-US" sz="1800" u="none" cap="none" strike="noStrike">
                          <a:solidFill>
                            <a:srgbClr val="F0E6D2"/>
                          </a:solidFill>
                          <a:latin typeface="Malgun Gothic"/>
                          <a:ea typeface="Malgun Gothic"/>
                          <a:cs typeface="Malgun Gothic"/>
                          <a:sym typeface="Malgun Gothic"/>
                        </a:rPr>
                        <a:t>로지스틱 회귀</a:t>
                      </a:r>
                      <a:endParaRPr sz="18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800">
                          <a:solidFill>
                            <a:srgbClr val="F0E6D2"/>
                          </a:solidFill>
                          <a:latin typeface="Malgun Gothic"/>
                          <a:ea typeface="Malgun Gothic"/>
                          <a:cs typeface="Malgun Gothic"/>
                          <a:sym typeface="Malgun Gothic"/>
                        </a:rPr>
                        <a:t>1위</a:t>
                      </a:r>
                      <a:endParaRPr sz="18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800">
                          <a:solidFill>
                            <a:srgbClr val="F0E6D2"/>
                          </a:solidFill>
                          <a:latin typeface="Malgun Gothic"/>
                          <a:ea typeface="Malgun Gothic"/>
                          <a:cs typeface="Malgun Gothic"/>
                          <a:sym typeface="Malgun Gothic"/>
                        </a:rPr>
                        <a:t>ㅇ</a:t>
                      </a:r>
                      <a:endParaRPr sz="18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800">
                          <a:solidFill>
                            <a:srgbClr val="F0E6D2"/>
                          </a:solidFill>
                          <a:latin typeface="Malgun Gothic"/>
                          <a:ea typeface="Malgun Gothic"/>
                          <a:cs typeface="Malgun Gothic"/>
                          <a:sym typeface="Malgun Gothic"/>
                        </a:rPr>
                        <a:t>ㅇ </a:t>
                      </a:r>
                      <a:endParaRPr b="1" sz="1800">
                        <a:solidFill>
                          <a:srgbClr val="F0E6D2"/>
                        </a:solidFill>
                        <a:latin typeface="Malgun Gothic"/>
                        <a:ea typeface="Malgun Gothic"/>
                        <a:cs typeface="Malgun Gothic"/>
                        <a:sym typeface="Malgun Gothic"/>
                      </a:endParaRPr>
                    </a:p>
                    <a:p>
                      <a:pPr indent="0" lvl="0" marL="0" marR="0" rtl="0" algn="ctr">
                        <a:spcBef>
                          <a:spcPts val="0"/>
                        </a:spcBef>
                        <a:spcAft>
                          <a:spcPts val="0"/>
                        </a:spcAft>
                        <a:buNone/>
                      </a:pPr>
                      <a:r>
                        <a:rPr b="1" lang="en-US" sz="1800">
                          <a:solidFill>
                            <a:srgbClr val="F0E6D2"/>
                          </a:solidFill>
                          <a:latin typeface="Malgun Gothic"/>
                          <a:ea typeface="Malgun Gothic"/>
                          <a:cs typeface="Malgun Gothic"/>
                          <a:sym typeface="Malgun Gothic"/>
                        </a:rPr>
                        <a:t>가중치를 읽을 수 있다.</a:t>
                      </a:r>
                      <a:endParaRPr sz="1800"/>
                    </a:p>
                  </a:txBody>
                  <a:tcPr marT="45725" marB="45725" marR="91450" marL="91450" anchor="ctr">
                    <a:solidFill>
                      <a:srgbClr val="2D353E"/>
                    </a:solidFill>
                  </a:tcPr>
                </a:tc>
              </a:tr>
              <a:tr h="607275">
                <a:tc>
                  <a:txBody>
                    <a:bodyPr/>
                    <a:lstStyle/>
                    <a:p>
                      <a:pPr indent="0" lvl="0" marL="0" marR="0" rtl="0" algn="ctr">
                        <a:spcBef>
                          <a:spcPts val="0"/>
                        </a:spcBef>
                        <a:spcAft>
                          <a:spcPts val="0"/>
                        </a:spcAft>
                        <a:buNone/>
                      </a:pPr>
                      <a:r>
                        <a:rPr b="0" lang="en-US" sz="1800" u="none" cap="none" strike="noStrike">
                          <a:solidFill>
                            <a:srgbClr val="C1BEB4"/>
                          </a:solidFill>
                          <a:latin typeface="Malgun Gothic"/>
                          <a:ea typeface="Malgun Gothic"/>
                          <a:cs typeface="Malgun Gothic"/>
                          <a:sym typeface="Malgun Gothic"/>
                        </a:rPr>
                        <a:t>GaussianNB</a:t>
                      </a:r>
                      <a:endParaRPr sz="1800"/>
                    </a:p>
                  </a:txBody>
                  <a:tcPr marT="45725" marB="45725" marR="91450" marL="91450" anchor="ctr">
                    <a:solidFill>
                      <a:srgbClr val="10223E"/>
                    </a:solidFill>
                  </a:tcPr>
                </a:tc>
                <a:tc>
                  <a:txBody>
                    <a:bodyPr/>
                    <a:lstStyle/>
                    <a:p>
                      <a:pPr indent="0" lvl="0" marL="0" marR="0" rtl="0" algn="ctr">
                        <a:spcBef>
                          <a:spcPts val="0"/>
                        </a:spcBef>
                        <a:spcAft>
                          <a:spcPts val="0"/>
                        </a:spcAft>
                        <a:buNone/>
                      </a:pPr>
                      <a:r>
                        <a:rPr lang="en-US" sz="1800">
                          <a:solidFill>
                            <a:srgbClr val="C1BEB4"/>
                          </a:solidFill>
                          <a:latin typeface="Malgun Gothic"/>
                          <a:ea typeface="Malgun Gothic"/>
                          <a:cs typeface="Malgun Gothic"/>
                          <a:sym typeface="Malgun Gothic"/>
                        </a:rPr>
                        <a:t>2위</a:t>
                      </a:r>
                      <a:endParaRPr sz="1800"/>
                    </a:p>
                  </a:txBody>
                  <a:tcPr marT="45725" marB="45725" marR="91450" marL="91450" anchor="ctr">
                    <a:solidFill>
                      <a:srgbClr val="10223E"/>
                    </a:solidFill>
                  </a:tcPr>
                </a:tc>
                <a:tc>
                  <a:txBody>
                    <a:bodyPr/>
                    <a:lstStyle/>
                    <a:p>
                      <a:pPr indent="0" lvl="0" marL="0" marR="0" rtl="0" algn="ctr">
                        <a:spcBef>
                          <a:spcPts val="0"/>
                        </a:spcBef>
                        <a:spcAft>
                          <a:spcPts val="0"/>
                        </a:spcAft>
                        <a:buNone/>
                      </a:pPr>
                      <a:r>
                        <a:rPr lang="en-US" sz="1800">
                          <a:solidFill>
                            <a:srgbClr val="C1BEB4"/>
                          </a:solidFill>
                          <a:latin typeface="Malgun Gothic"/>
                          <a:ea typeface="Malgun Gothic"/>
                          <a:cs typeface="Malgun Gothic"/>
                          <a:sym typeface="Malgun Gothic"/>
                        </a:rPr>
                        <a:t>X</a:t>
                      </a:r>
                      <a:endParaRPr sz="1800"/>
                    </a:p>
                  </a:txBody>
                  <a:tcPr marT="45725" marB="45725" marR="91450" marL="91450" anchor="ctr">
                    <a:solidFill>
                      <a:srgbClr val="10223E"/>
                    </a:solidFill>
                  </a:tcPr>
                </a:tc>
                <a:tc>
                  <a:txBody>
                    <a:bodyPr/>
                    <a:lstStyle/>
                    <a:p>
                      <a:pPr indent="0" lvl="0" marL="0" marR="0" rtl="0" algn="ctr">
                        <a:spcBef>
                          <a:spcPts val="0"/>
                        </a:spcBef>
                        <a:spcAft>
                          <a:spcPts val="0"/>
                        </a:spcAft>
                        <a:buNone/>
                      </a:pPr>
                      <a:r>
                        <a:rPr lang="en-US" sz="1800">
                          <a:solidFill>
                            <a:srgbClr val="C1BEB4"/>
                          </a:solidFill>
                          <a:latin typeface="Malgun Gothic"/>
                          <a:ea typeface="Malgun Gothic"/>
                          <a:cs typeface="Malgun Gothic"/>
                          <a:sym typeface="Malgun Gothic"/>
                        </a:rPr>
                        <a:t>X</a:t>
                      </a:r>
                      <a:endParaRPr sz="1800"/>
                    </a:p>
                  </a:txBody>
                  <a:tcPr marT="45725" marB="45725" marR="91450" marL="91450" anchor="ctr">
                    <a:solidFill>
                      <a:srgbClr val="10223E"/>
                    </a:solidFill>
                  </a:tcPr>
                </a:tc>
              </a:tr>
              <a:tr h="607275">
                <a:tc>
                  <a:txBody>
                    <a:bodyPr/>
                    <a:lstStyle/>
                    <a:p>
                      <a:pPr indent="0" lvl="0" marL="0" marR="0" rtl="0" algn="ctr">
                        <a:spcBef>
                          <a:spcPts val="0"/>
                        </a:spcBef>
                        <a:spcAft>
                          <a:spcPts val="0"/>
                        </a:spcAft>
                        <a:buNone/>
                      </a:pPr>
                      <a:r>
                        <a:rPr b="0" lang="en-US" sz="1800" u="none" cap="none" strike="noStrike">
                          <a:solidFill>
                            <a:srgbClr val="C1BEB4"/>
                          </a:solidFill>
                          <a:latin typeface="Malgun Gothic"/>
                          <a:ea typeface="Malgun Gothic"/>
                          <a:cs typeface="Malgun Gothic"/>
                          <a:sym typeface="Malgun Gothic"/>
                        </a:rPr>
                        <a:t>SVM (RBF)</a:t>
                      </a:r>
                      <a:endParaRPr sz="1800"/>
                    </a:p>
                  </a:txBody>
                  <a:tcPr marT="45725" marB="45725" marR="91450" marL="91450" anchor="ctr">
                    <a:solidFill>
                      <a:srgbClr val="09172B"/>
                    </a:solidFill>
                  </a:tcPr>
                </a:tc>
                <a:tc>
                  <a:txBody>
                    <a:bodyPr/>
                    <a:lstStyle/>
                    <a:p>
                      <a:pPr indent="0" lvl="0" marL="0" marR="0" rtl="0" algn="ctr">
                        <a:spcBef>
                          <a:spcPts val="0"/>
                        </a:spcBef>
                        <a:spcAft>
                          <a:spcPts val="0"/>
                        </a:spcAft>
                        <a:buNone/>
                      </a:pPr>
                      <a:r>
                        <a:rPr lang="en-US" sz="1800">
                          <a:solidFill>
                            <a:srgbClr val="C1BEB4"/>
                          </a:solidFill>
                          <a:latin typeface="Malgun Gothic"/>
                          <a:ea typeface="Malgun Gothic"/>
                          <a:cs typeface="Malgun Gothic"/>
                          <a:sym typeface="Malgun Gothic"/>
                        </a:rPr>
                        <a:t>3위</a:t>
                      </a:r>
                      <a:endParaRPr sz="1800"/>
                    </a:p>
                  </a:txBody>
                  <a:tcPr marT="45725" marB="45725" marR="91450" marL="91450" anchor="ctr">
                    <a:solidFill>
                      <a:srgbClr val="09172B"/>
                    </a:solidFill>
                  </a:tcPr>
                </a:tc>
                <a:tc>
                  <a:txBody>
                    <a:bodyPr/>
                    <a:lstStyle/>
                    <a:p>
                      <a:pPr indent="0" lvl="0" marL="0" marR="0" rtl="0" algn="ctr">
                        <a:spcBef>
                          <a:spcPts val="0"/>
                        </a:spcBef>
                        <a:spcAft>
                          <a:spcPts val="0"/>
                        </a:spcAft>
                        <a:buNone/>
                      </a:pPr>
                      <a:r>
                        <a:rPr lang="en-US" sz="1800">
                          <a:solidFill>
                            <a:srgbClr val="C1BEB4"/>
                          </a:solidFill>
                          <a:latin typeface="Malgun Gothic"/>
                          <a:ea typeface="Malgun Gothic"/>
                          <a:cs typeface="Malgun Gothic"/>
                          <a:sym typeface="Malgun Gothic"/>
                        </a:rPr>
                        <a:t>X</a:t>
                      </a:r>
                      <a:endParaRPr sz="1800"/>
                    </a:p>
                  </a:txBody>
                  <a:tcPr marT="45725" marB="45725" marR="91450" marL="91450" anchor="ctr">
                    <a:solidFill>
                      <a:srgbClr val="09172B"/>
                    </a:solidFill>
                  </a:tcPr>
                </a:tc>
                <a:tc>
                  <a:txBody>
                    <a:bodyPr/>
                    <a:lstStyle/>
                    <a:p>
                      <a:pPr indent="0" lvl="0" marL="0" marR="0" rtl="0" algn="ctr">
                        <a:spcBef>
                          <a:spcPts val="0"/>
                        </a:spcBef>
                        <a:spcAft>
                          <a:spcPts val="0"/>
                        </a:spcAft>
                        <a:buNone/>
                      </a:pPr>
                      <a:r>
                        <a:rPr lang="en-US" sz="1800">
                          <a:solidFill>
                            <a:srgbClr val="C1BEB4"/>
                          </a:solidFill>
                          <a:latin typeface="Malgun Gothic"/>
                          <a:ea typeface="Malgun Gothic"/>
                          <a:cs typeface="Malgun Gothic"/>
                          <a:sym typeface="Malgun Gothic"/>
                        </a:rPr>
                        <a:t>X</a:t>
                      </a:r>
                      <a:endParaRPr sz="1800"/>
                    </a:p>
                  </a:txBody>
                  <a:tcPr marT="45725" marB="45725" marR="91450" marL="91450" anchor="ctr">
                    <a:solidFill>
                      <a:srgbClr val="09172B"/>
                    </a:solidFill>
                  </a:tcPr>
                </a:tc>
              </a:tr>
              <a:tr h="607275">
                <a:tc>
                  <a:txBody>
                    <a:bodyPr/>
                    <a:lstStyle/>
                    <a:p>
                      <a:pPr indent="0" lvl="0" marL="0" marR="0" rtl="0" algn="ctr">
                        <a:spcBef>
                          <a:spcPts val="0"/>
                        </a:spcBef>
                        <a:spcAft>
                          <a:spcPts val="0"/>
                        </a:spcAft>
                        <a:buNone/>
                      </a:pPr>
                      <a:r>
                        <a:rPr b="0" lang="en-US" sz="1800" u="none" cap="none" strike="noStrike">
                          <a:solidFill>
                            <a:srgbClr val="C1BEB4"/>
                          </a:solidFill>
                          <a:latin typeface="Malgun Gothic"/>
                          <a:ea typeface="Malgun Gothic"/>
                          <a:cs typeface="Malgun Gothic"/>
                          <a:sym typeface="Malgun Gothic"/>
                        </a:rPr>
                        <a:t>HistGB · </a:t>
                      </a:r>
                      <a:r>
                        <a:rPr lang="en-US" sz="1800">
                          <a:solidFill>
                            <a:srgbClr val="C1BEB4"/>
                          </a:solidFill>
                          <a:latin typeface="Malgun Gothic"/>
                          <a:ea typeface="Malgun Gothic"/>
                          <a:cs typeface="Malgun Gothic"/>
                          <a:sym typeface="Malgun Gothic"/>
                        </a:rPr>
                        <a:t>랜덤포레스트</a:t>
                      </a:r>
                      <a:endParaRPr sz="1800">
                        <a:solidFill>
                          <a:srgbClr val="C1BEB4"/>
                        </a:solidFill>
                        <a:latin typeface="Malgun Gothic"/>
                        <a:ea typeface="Malgun Gothic"/>
                        <a:cs typeface="Malgun Gothic"/>
                        <a:sym typeface="Malgun Gothic"/>
                      </a:endParaRPr>
                    </a:p>
                    <a:p>
                      <a:pPr indent="0" lvl="0" marL="0" marR="0" rtl="0" algn="ctr">
                        <a:spcBef>
                          <a:spcPts val="0"/>
                        </a:spcBef>
                        <a:spcAft>
                          <a:spcPts val="0"/>
                        </a:spcAft>
                        <a:buNone/>
                      </a:pPr>
                      <a:r>
                        <a:rPr b="0" lang="en-US" sz="1800" u="none" cap="none" strike="noStrike">
                          <a:solidFill>
                            <a:srgbClr val="C1BEB4"/>
                          </a:solidFill>
                          <a:latin typeface="Malgun Gothic"/>
                          <a:ea typeface="Malgun Gothic"/>
                          <a:cs typeface="Malgun Gothic"/>
                          <a:sym typeface="Malgun Gothic"/>
                        </a:rPr>
                        <a:t> ·</a:t>
                      </a:r>
                      <a:r>
                        <a:rPr lang="en-US" sz="1800">
                          <a:solidFill>
                            <a:srgbClr val="C1BEB4"/>
                          </a:solidFill>
                          <a:latin typeface="Malgun Gothic"/>
                          <a:ea typeface="Malgun Gothic"/>
                          <a:cs typeface="Malgun Gothic"/>
                          <a:sym typeface="Malgun Gothic"/>
                        </a:rPr>
                        <a:t> 결정트리(d=4)</a:t>
                      </a:r>
                      <a:endParaRPr sz="1800"/>
                    </a:p>
                  </a:txBody>
                  <a:tcPr marT="45725" marB="45725" marR="91450" marL="91450" anchor="ctr">
                    <a:solidFill>
                      <a:srgbClr val="10223E"/>
                    </a:solidFill>
                  </a:tcPr>
                </a:tc>
                <a:tc>
                  <a:txBody>
                    <a:bodyPr/>
                    <a:lstStyle/>
                    <a:p>
                      <a:pPr indent="0" lvl="0" marL="0" marR="0" rtl="0" algn="ctr">
                        <a:spcBef>
                          <a:spcPts val="0"/>
                        </a:spcBef>
                        <a:spcAft>
                          <a:spcPts val="0"/>
                        </a:spcAft>
                        <a:buNone/>
                      </a:pPr>
                      <a:r>
                        <a:rPr lang="en-US" sz="1800">
                          <a:solidFill>
                            <a:srgbClr val="C1BEB4"/>
                          </a:solidFill>
                          <a:latin typeface="Malgun Gothic"/>
                          <a:ea typeface="Malgun Gothic"/>
                          <a:cs typeface="Malgun Gothic"/>
                          <a:sym typeface="Malgun Gothic"/>
                        </a:rPr>
                        <a:t>4위~</a:t>
                      </a:r>
                      <a:endParaRPr sz="1800"/>
                    </a:p>
                  </a:txBody>
                  <a:tcPr marT="45725" marB="45725" marR="91450" marL="91450" anchor="ctr">
                    <a:solidFill>
                      <a:srgbClr val="10223E"/>
                    </a:solidFill>
                  </a:tcPr>
                </a:tc>
                <a:tc>
                  <a:txBody>
                    <a:bodyPr/>
                    <a:lstStyle/>
                    <a:p>
                      <a:pPr indent="0" lvl="0" marL="0" marR="0" rtl="0" algn="ctr">
                        <a:spcBef>
                          <a:spcPts val="0"/>
                        </a:spcBef>
                        <a:spcAft>
                          <a:spcPts val="0"/>
                        </a:spcAft>
                        <a:buNone/>
                      </a:pPr>
                      <a:r>
                        <a:rPr lang="en-US" sz="1800">
                          <a:solidFill>
                            <a:srgbClr val="C1BEB4"/>
                          </a:solidFill>
                          <a:latin typeface="Malgun Gothic"/>
                          <a:ea typeface="Malgun Gothic"/>
                          <a:cs typeface="Malgun Gothic"/>
                          <a:sym typeface="Malgun Gothic"/>
                        </a:rPr>
                        <a:t>일부 X</a:t>
                      </a:r>
                      <a:endParaRPr sz="1800"/>
                    </a:p>
                  </a:txBody>
                  <a:tcPr marT="45725" marB="45725" marR="91450" marL="91450" anchor="ctr">
                    <a:solidFill>
                      <a:srgbClr val="10223E"/>
                    </a:solidFill>
                  </a:tcPr>
                </a:tc>
                <a:tc>
                  <a:txBody>
                    <a:bodyPr/>
                    <a:lstStyle/>
                    <a:p>
                      <a:pPr indent="0" lvl="0" marL="0" marR="0" rtl="0" algn="ctr">
                        <a:spcBef>
                          <a:spcPts val="0"/>
                        </a:spcBef>
                        <a:spcAft>
                          <a:spcPts val="0"/>
                        </a:spcAft>
                        <a:buNone/>
                      </a:pPr>
                      <a:r>
                        <a:rPr lang="en-US" sz="1800">
                          <a:solidFill>
                            <a:srgbClr val="C1BEB4"/>
                          </a:solidFill>
                          <a:latin typeface="Malgun Gothic"/>
                          <a:ea typeface="Malgun Gothic"/>
                          <a:cs typeface="Malgun Gothic"/>
                          <a:sym typeface="Malgun Gothic"/>
                        </a:rPr>
                        <a:t>X</a:t>
                      </a:r>
                      <a:endParaRPr sz="1800"/>
                    </a:p>
                  </a:txBody>
                  <a:tcPr marT="45725" marB="45725" marR="91450" marL="91450" anchor="ctr">
                    <a:solidFill>
                      <a:srgbClr val="10223E"/>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16"/>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546" name="Google Shape;546;p16"/>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547" name="Google Shape;547;p16"/>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48" name="Google Shape;548;p16"/>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49" name="Google Shape;549;p16"/>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0" name="Google Shape;550;p16"/>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1" name="Google Shape;551;p16"/>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2" name="Google Shape;552;p16"/>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3" name="Google Shape;553;p16"/>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4" name="Google Shape;554;p16"/>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2. Phase 1   |   </a:t>
            </a:r>
            <a:r>
              <a:rPr b="1" i="0" lang="en-US" sz="2500" u="none" cap="none" strike="noStrike">
                <a:solidFill>
                  <a:srgbClr val="F0E6D2"/>
                </a:solidFill>
                <a:latin typeface="Malgun Gothic"/>
                <a:ea typeface="Malgun Gothic"/>
                <a:cs typeface="Malgun Gothic"/>
                <a:sym typeface="Malgun Gothic"/>
              </a:rPr>
              <a:t>안정성 검증 — 교차검증 · 시드 10회 반복</a:t>
            </a:r>
            <a:endParaRPr/>
          </a:p>
        </p:txBody>
      </p:sp>
      <p:sp>
        <p:nvSpPr>
          <p:cNvPr id="555" name="Google Shape;555;p16"/>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6" name="Google Shape;556;p16"/>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557" name="Google Shape;557;p16"/>
          <p:cNvGrpSpPr/>
          <p:nvPr/>
        </p:nvGrpSpPr>
        <p:grpSpPr>
          <a:xfrm>
            <a:off x="777140" y="1527735"/>
            <a:ext cx="10634399" cy="2817411"/>
            <a:chOff x="7772400" y="1515677"/>
            <a:chExt cx="3639300" cy="2817411"/>
          </a:xfrm>
        </p:grpSpPr>
        <p:sp>
          <p:nvSpPr>
            <p:cNvPr id="558" name="Google Shape;558;p16"/>
            <p:cNvSpPr/>
            <p:nvPr/>
          </p:nvSpPr>
          <p:spPr>
            <a:xfrm>
              <a:off x="7772400" y="1515677"/>
              <a:ext cx="3639300" cy="1188600"/>
            </a:xfrm>
            <a:prstGeom prst="rect">
              <a:avLst/>
            </a:prstGeom>
            <a:solidFill>
              <a:srgbClr val="10223E">
                <a:alpha val="92157"/>
              </a:srgbClr>
            </a:solidFill>
            <a:ln cap="flat" cmpd="sng" w="12700">
              <a:solidFill>
                <a:srgbClr val="0E646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r>
                <a:rPr lang="en-US"/>
                <a:t> </a:t>
              </a:r>
              <a:endParaRPr/>
            </a:p>
          </p:txBody>
        </p:sp>
        <p:sp>
          <p:nvSpPr>
            <p:cNvPr id="559" name="Google Shape;559;p16"/>
            <p:cNvSpPr txBox="1"/>
            <p:nvPr/>
          </p:nvSpPr>
          <p:spPr>
            <a:xfrm>
              <a:off x="8028431" y="1635461"/>
              <a:ext cx="3182100" cy="1006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 u="none" cap="none" strike="noStrike">
                  <a:solidFill>
                    <a:srgbClr val="918E82"/>
                  </a:solidFill>
                  <a:latin typeface="Malgun Gothic"/>
                  <a:ea typeface="Malgun Gothic"/>
                  <a:cs typeface="Malgun Gothic"/>
                  <a:sym typeface="Malgun Gothic"/>
                </a:rPr>
                <a:t>5-fold 교차검증</a:t>
              </a:r>
              <a:endParaRPr sz="1800"/>
            </a:p>
            <a:p>
              <a:pPr indent="0" lvl="0" marL="0" marR="0" rtl="0" algn="l">
                <a:lnSpc>
                  <a:spcPct val="115000"/>
                </a:lnSpc>
                <a:spcBef>
                  <a:spcPts val="500"/>
                </a:spcBef>
                <a:spcAft>
                  <a:spcPts val="0"/>
                </a:spcAft>
                <a:buNone/>
              </a:pPr>
              <a:r>
                <a:rPr b="1" i="0" lang="en-US" sz="2300" u="none" cap="none" strike="noStrike">
                  <a:solidFill>
                    <a:srgbClr val="0AC8B9"/>
                  </a:solidFill>
                  <a:latin typeface="Malgun Gothic"/>
                  <a:ea typeface="Malgun Gothic"/>
                  <a:cs typeface="Malgun Gothic"/>
                  <a:sym typeface="Malgun Gothic"/>
                </a:rPr>
                <a:t>0.7315 ± 0.0153</a:t>
              </a:r>
              <a:endParaRPr sz="1800"/>
            </a:p>
            <a:p>
              <a:pPr indent="0" lvl="0" marL="0" marR="0" rtl="0" algn="l">
                <a:lnSpc>
                  <a:spcPct val="115000"/>
                </a:lnSpc>
                <a:spcBef>
                  <a:spcPts val="300"/>
                </a:spcBef>
                <a:spcAft>
                  <a:spcPts val="0"/>
                </a:spcAft>
                <a:buNone/>
              </a:pPr>
              <a:r>
                <a:rPr b="0" i="0" lang="en-US" sz="1500" u="none" cap="none" strike="noStrike">
                  <a:solidFill>
                    <a:srgbClr val="8A877D"/>
                  </a:solidFill>
                  <a:latin typeface="Malgun Gothic"/>
                  <a:ea typeface="Malgun Gothic"/>
                  <a:cs typeface="Malgun Gothic"/>
                  <a:sym typeface="Malgun Gothic"/>
                </a:rPr>
                <a:t>격차 +0.0022 — 외우지 않았습니다</a:t>
              </a:r>
              <a:endParaRPr sz="1800"/>
            </a:p>
          </p:txBody>
        </p:sp>
        <p:sp>
          <p:nvSpPr>
            <p:cNvPr id="560" name="Google Shape;560;p16"/>
            <p:cNvSpPr/>
            <p:nvPr/>
          </p:nvSpPr>
          <p:spPr>
            <a:xfrm>
              <a:off x="7772400" y="3144488"/>
              <a:ext cx="3639300" cy="1188600"/>
            </a:xfrm>
            <a:prstGeom prst="rect">
              <a:avLst/>
            </a:prstGeom>
            <a:solidFill>
              <a:srgbClr val="10223E">
                <a:alpha val="92157"/>
              </a:srgbClr>
            </a:solidFill>
            <a:ln cap="flat" cmpd="sng" w="12700">
              <a:solidFill>
                <a:srgbClr val="5A52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1" name="Google Shape;561;p16"/>
            <p:cNvSpPr txBox="1"/>
            <p:nvPr/>
          </p:nvSpPr>
          <p:spPr>
            <a:xfrm>
              <a:off x="8028431" y="3261388"/>
              <a:ext cx="3182100" cy="1006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 u="none" cap="none" strike="noStrike">
                  <a:solidFill>
                    <a:srgbClr val="918E82"/>
                  </a:solidFill>
                  <a:latin typeface="Malgun Gothic"/>
                  <a:ea typeface="Malgun Gothic"/>
                  <a:cs typeface="Malgun Gothic"/>
                  <a:sym typeface="Malgun Gothic"/>
                </a:rPr>
                <a:t>시드 10회 반복 평균</a:t>
              </a:r>
              <a:endParaRPr sz="1800"/>
            </a:p>
            <a:p>
              <a:pPr indent="0" lvl="0" marL="0" marR="0" rtl="0" algn="l">
                <a:lnSpc>
                  <a:spcPct val="115000"/>
                </a:lnSpc>
                <a:spcBef>
                  <a:spcPts val="500"/>
                </a:spcBef>
                <a:spcAft>
                  <a:spcPts val="0"/>
                </a:spcAft>
                <a:buNone/>
              </a:pPr>
              <a:r>
                <a:rPr b="1" i="0" lang="en-US" sz="2300" u="none" cap="none" strike="noStrike">
                  <a:solidFill>
                    <a:srgbClr val="F0E6D2"/>
                  </a:solidFill>
                  <a:latin typeface="Malgun Gothic"/>
                  <a:ea typeface="Malgun Gothic"/>
                  <a:cs typeface="Malgun Gothic"/>
                  <a:sym typeface="Malgun Gothic"/>
                </a:rPr>
                <a:t>0.7366 ± 0.0081</a:t>
              </a:r>
              <a:endParaRPr sz="1800"/>
            </a:p>
            <a:p>
              <a:pPr indent="0" lvl="0" marL="0" marR="0" rtl="0" algn="l">
                <a:lnSpc>
                  <a:spcPct val="115000"/>
                </a:lnSpc>
                <a:spcBef>
                  <a:spcPts val="300"/>
                </a:spcBef>
                <a:spcAft>
                  <a:spcPts val="0"/>
                </a:spcAft>
                <a:buNone/>
              </a:pPr>
              <a:r>
                <a:rPr b="0" i="0" lang="en-US" sz="1500" u="none" cap="none" strike="noStrike">
                  <a:solidFill>
                    <a:srgbClr val="8A877D"/>
                  </a:solidFill>
                  <a:latin typeface="Malgun Gothic"/>
                  <a:ea typeface="Malgun Gothic"/>
                  <a:cs typeface="Malgun Gothic"/>
                  <a:sym typeface="Malgun Gothic"/>
                </a:rPr>
                <a:t>0.7277 ~ 0.7520 · 10번 전부 목표 0.70 통과</a:t>
              </a:r>
              <a:endParaRPr sz="1800"/>
            </a:p>
          </p:txBody>
        </p:sp>
      </p:grpSp>
      <p:sp>
        <p:nvSpPr>
          <p:cNvPr id="562" name="Google Shape;562;p16"/>
          <p:cNvSpPr/>
          <p:nvPr/>
        </p:nvSpPr>
        <p:spPr>
          <a:xfrm>
            <a:off x="739775" y="3144488"/>
            <a:ext cx="45600" cy="11886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3" name="Google Shape;563;p16"/>
          <p:cNvSpPr/>
          <p:nvPr/>
        </p:nvSpPr>
        <p:spPr>
          <a:xfrm>
            <a:off x="755248" y="1520664"/>
            <a:ext cx="45600" cy="1188600"/>
          </a:xfrm>
          <a:prstGeom prst="rect">
            <a:avLst/>
          </a:prstGeom>
          <a:solidFill>
            <a:srgbClr val="0AC8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4" name="Google Shape;564;p16"/>
          <p:cNvSpPr/>
          <p:nvPr/>
        </p:nvSpPr>
        <p:spPr>
          <a:xfrm>
            <a:off x="777240" y="4896509"/>
            <a:ext cx="6766500" cy="11886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5" name="Google Shape;565;p16"/>
          <p:cNvSpPr/>
          <p:nvPr/>
        </p:nvSpPr>
        <p:spPr>
          <a:xfrm>
            <a:off x="777240" y="4896509"/>
            <a:ext cx="45600" cy="11886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6" name="Google Shape;566;p16"/>
          <p:cNvSpPr txBox="1"/>
          <p:nvPr/>
        </p:nvSpPr>
        <p:spPr>
          <a:xfrm>
            <a:off x="960133" y="5190072"/>
            <a:ext cx="6309300" cy="9477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sz="1650" u="none" cap="none" strike="noStrike">
                <a:solidFill>
                  <a:srgbClr val="F0E6D2"/>
                </a:solidFill>
                <a:latin typeface="Malgun Gothic"/>
                <a:ea typeface="Malgun Gothic"/>
                <a:cs typeface="Malgun Gothic"/>
                <a:sym typeface="Malgun Gothic"/>
              </a:rPr>
              <a:t>열 번 모두 목표선(0.70) 위 </a:t>
            </a:r>
            <a:br>
              <a:rPr b="1" i="0" lang="en-US" sz="1650" u="none" cap="none" strike="noStrike">
                <a:solidFill>
                  <a:srgbClr val="F0E6D2"/>
                </a:solidFill>
                <a:latin typeface="Malgun Gothic"/>
                <a:ea typeface="Malgun Gothic"/>
                <a:cs typeface="Malgun Gothic"/>
                <a:sym typeface="Malgun Gothic"/>
              </a:rPr>
            </a:br>
            <a:r>
              <a:rPr b="1" i="0" lang="en-US" sz="1650" u="none" cap="none" strike="noStrike">
                <a:solidFill>
                  <a:srgbClr val="F0E6D2"/>
                </a:solidFill>
                <a:latin typeface="Malgun Gothic"/>
                <a:ea typeface="Malgun Gothic"/>
                <a:cs typeface="Malgun Gothic"/>
                <a:sym typeface="Malgun Gothic"/>
              </a:rPr>
              <a:t>어느 분할에서도 결론이 바뀌지 않았습니다.</a:t>
            </a:r>
            <a:br>
              <a:rPr b="1" i="0" lang="en-US" sz="1650" u="none" cap="none" strike="noStrike">
                <a:solidFill>
                  <a:srgbClr val="F0E6D2"/>
                </a:solidFill>
                <a:latin typeface="Malgun Gothic"/>
                <a:ea typeface="Malgun Gothic"/>
                <a:cs typeface="Malgun Gothic"/>
                <a:sym typeface="Malgun Gothic"/>
              </a:rPr>
            </a:br>
            <a:endParaRPr sz="1800"/>
          </a:p>
        </p:txBody>
      </p:sp>
      <p:sp>
        <p:nvSpPr>
          <p:cNvPr id="567" name="Google Shape;567;p16"/>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reports/tables/repeat_experimentA.csv    |    개념 → STUDY 7번 교차검증</a:t>
            </a:r>
            <a:endParaRPr/>
          </a:p>
        </p:txBody>
      </p:sp>
      <p:sp>
        <p:nvSpPr>
          <p:cNvPr id="568" name="Google Shape;568;p16"/>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17"/>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575" name="Google Shape;575;p17"/>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576" name="Google Shape;576;p17"/>
          <p:cNvSpPr/>
          <p:nvPr/>
        </p:nvSpPr>
        <p:spPr>
          <a:xfrm>
            <a:off x="0" y="16136"/>
            <a:ext cx="12192000"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77" name="Google Shape;577;p17"/>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78" name="Google Shape;578;p17"/>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79" name="Google Shape;579;p17"/>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80" name="Google Shape;580;p17"/>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81" name="Google Shape;581;p17"/>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82" name="Google Shape;582;p17"/>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83" name="Google Shape;583;p17"/>
          <p:cNvSpPr txBox="1"/>
          <p:nvPr/>
        </p:nvSpPr>
        <p:spPr>
          <a:xfrm>
            <a:off x="777240" y="530352"/>
            <a:ext cx="10634400" cy="4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2. Phase 1   |   </a:t>
            </a:r>
            <a:r>
              <a:rPr b="1" i="0" lang="en-US" sz="2500" u="none" cap="none" strike="noStrike">
                <a:solidFill>
                  <a:srgbClr val="F0E6D2"/>
                </a:solidFill>
                <a:latin typeface="Malgun Gothic"/>
                <a:ea typeface="Malgun Gothic"/>
                <a:cs typeface="Malgun Gothic"/>
                <a:sym typeface="Malgun Gothic"/>
              </a:rPr>
              <a:t>홀드아웃 평가 </a:t>
            </a:r>
            <a:endParaRPr/>
          </a:p>
        </p:txBody>
      </p:sp>
      <p:sp>
        <p:nvSpPr>
          <p:cNvPr id="584" name="Google Shape;584;p17"/>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85" name="Google Shape;585;p17"/>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86" name="Google Shape;586;p17"/>
          <p:cNvSpPr/>
          <p:nvPr/>
        </p:nvSpPr>
        <p:spPr>
          <a:xfrm>
            <a:off x="777250" y="1470650"/>
            <a:ext cx="4069200" cy="1143000"/>
          </a:xfrm>
          <a:prstGeom prst="rect">
            <a:avLst/>
          </a:prstGeom>
          <a:solidFill>
            <a:srgbClr val="10223E">
              <a:alpha val="92157"/>
            </a:srgbClr>
          </a:solidFill>
          <a:ln cap="flat" cmpd="sng" w="12700">
            <a:solidFill>
              <a:srgbClr val="5A52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87" name="Google Shape;587;p17"/>
          <p:cNvSpPr/>
          <p:nvPr/>
        </p:nvSpPr>
        <p:spPr>
          <a:xfrm>
            <a:off x="777240" y="1470660"/>
            <a:ext cx="45600" cy="11430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88" name="Google Shape;588;p17"/>
          <p:cNvSpPr txBox="1"/>
          <p:nvPr/>
        </p:nvSpPr>
        <p:spPr>
          <a:xfrm>
            <a:off x="1033246" y="1555265"/>
            <a:ext cx="2971800" cy="992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918E82"/>
                </a:solidFill>
                <a:latin typeface="Malgun Gothic"/>
                <a:ea typeface="Malgun Gothic"/>
                <a:cs typeface="Malgun Gothic"/>
                <a:sym typeface="Malgun Gothic"/>
              </a:rPr>
              <a:t>대표 정확도</a:t>
            </a:r>
            <a:endParaRPr b="0" i="0" sz="1500" u="none" cap="none" strike="noStrike">
              <a:solidFill>
                <a:srgbClr val="918E82"/>
              </a:solidFill>
              <a:latin typeface="Malgun Gothic"/>
              <a:ea typeface="Malgun Gothic"/>
              <a:cs typeface="Malgun Gothic"/>
              <a:sym typeface="Malgun Gothic"/>
            </a:endParaRPr>
          </a:p>
          <a:p>
            <a:pPr indent="0" lvl="0" marL="0" marR="0" rtl="0" algn="l">
              <a:lnSpc>
                <a:spcPct val="110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0.7366</a:t>
            </a:r>
            <a:endParaRPr/>
          </a:p>
          <a:p>
            <a:pPr indent="0" lvl="0" marL="0" marR="0" rtl="0" algn="l">
              <a:lnSpc>
                <a:spcPct val="110000"/>
              </a:lnSpc>
              <a:spcBef>
                <a:spcPts val="0"/>
              </a:spcBef>
              <a:spcAft>
                <a:spcPts val="0"/>
              </a:spcAft>
              <a:buNone/>
            </a:pPr>
            <a:r>
              <a:rPr b="0" i="0" lang="en-US" sz="1500" u="none" cap="none" strike="noStrike">
                <a:solidFill>
                  <a:srgbClr val="8A877D"/>
                </a:solidFill>
                <a:latin typeface="Malgun Gothic"/>
                <a:ea typeface="Malgun Gothic"/>
                <a:cs typeface="Malgun Gothic"/>
                <a:sym typeface="Malgun Gothic"/>
              </a:rPr>
              <a:t>찍기 대비 +23.8%p</a:t>
            </a:r>
            <a:endParaRPr sz="1800"/>
          </a:p>
        </p:txBody>
      </p:sp>
      <p:sp>
        <p:nvSpPr>
          <p:cNvPr id="589" name="Google Shape;589;p17"/>
          <p:cNvSpPr/>
          <p:nvPr/>
        </p:nvSpPr>
        <p:spPr>
          <a:xfrm>
            <a:off x="5111400" y="1472100"/>
            <a:ext cx="3415200" cy="1143000"/>
          </a:xfrm>
          <a:prstGeom prst="rect">
            <a:avLst/>
          </a:prstGeom>
          <a:solidFill>
            <a:srgbClr val="10223E">
              <a:alpha val="92157"/>
            </a:srgbClr>
          </a:solidFill>
          <a:ln cap="flat" cmpd="sng" w="12700">
            <a:solidFill>
              <a:srgbClr val="0E646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90" name="Google Shape;590;p17"/>
          <p:cNvSpPr/>
          <p:nvPr/>
        </p:nvSpPr>
        <p:spPr>
          <a:xfrm>
            <a:off x="5097725" y="1472100"/>
            <a:ext cx="45600" cy="1143000"/>
          </a:xfrm>
          <a:prstGeom prst="rect">
            <a:avLst/>
          </a:prstGeom>
          <a:solidFill>
            <a:srgbClr val="0AC8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91" name="Google Shape;591;p17"/>
          <p:cNvSpPr txBox="1"/>
          <p:nvPr/>
        </p:nvSpPr>
        <p:spPr>
          <a:xfrm>
            <a:off x="5353760" y="1528187"/>
            <a:ext cx="2971800" cy="1025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600" u="none" cap="none" strike="noStrike">
                <a:solidFill>
                  <a:srgbClr val="918E82"/>
                </a:solidFill>
                <a:latin typeface="Malgun Gothic"/>
                <a:ea typeface="Malgun Gothic"/>
                <a:cs typeface="Malgun Gothic"/>
                <a:sym typeface="Malgun Gothic"/>
              </a:rPr>
              <a:t>AUC</a:t>
            </a:r>
            <a:endParaRPr sz="1900"/>
          </a:p>
          <a:p>
            <a:pPr indent="0" lvl="0" marL="0" marR="0" rtl="0" algn="l">
              <a:lnSpc>
                <a:spcPct val="110000"/>
              </a:lnSpc>
              <a:spcBef>
                <a:spcPts val="0"/>
              </a:spcBef>
              <a:spcAft>
                <a:spcPts val="0"/>
              </a:spcAft>
              <a:buNone/>
            </a:pPr>
            <a:r>
              <a:rPr b="1" i="0" lang="en-US" sz="3000" u="none" cap="none" strike="noStrike">
                <a:solidFill>
                  <a:srgbClr val="0AC8B9"/>
                </a:solidFill>
                <a:latin typeface="Malgun Gothic"/>
                <a:ea typeface="Malgun Gothic"/>
                <a:cs typeface="Malgun Gothic"/>
                <a:sym typeface="Malgun Gothic"/>
              </a:rPr>
              <a:t>0.8150</a:t>
            </a:r>
            <a:endParaRPr/>
          </a:p>
          <a:p>
            <a:pPr indent="0" lvl="0" marL="0" marR="0" rtl="0" algn="l">
              <a:lnSpc>
                <a:spcPct val="110000"/>
              </a:lnSpc>
              <a:spcBef>
                <a:spcPts val="0"/>
              </a:spcBef>
              <a:spcAft>
                <a:spcPts val="0"/>
              </a:spcAft>
              <a:buNone/>
            </a:pPr>
            <a:r>
              <a:rPr b="0" i="0" lang="en-US" sz="1600" u="none" cap="none" strike="noStrike">
                <a:solidFill>
                  <a:srgbClr val="8A877D"/>
                </a:solidFill>
                <a:latin typeface="Malgun Gothic"/>
                <a:ea typeface="Malgun Gothic"/>
                <a:cs typeface="Malgun Gothic"/>
                <a:sym typeface="Malgun Gothic"/>
              </a:rPr>
              <a:t>임계값과 무관한 순위 능력</a:t>
            </a:r>
            <a:endParaRPr b="0" i="0" sz="1600" u="none" cap="none" strike="noStrike">
              <a:solidFill>
                <a:srgbClr val="8A877D"/>
              </a:solidFill>
              <a:latin typeface="Malgun Gothic"/>
              <a:ea typeface="Malgun Gothic"/>
              <a:cs typeface="Malgun Gothic"/>
              <a:sym typeface="Malgun Gothic"/>
            </a:endParaRPr>
          </a:p>
        </p:txBody>
      </p:sp>
      <p:sp>
        <p:nvSpPr>
          <p:cNvPr id="592" name="Google Shape;592;p17"/>
          <p:cNvSpPr/>
          <p:nvPr/>
        </p:nvSpPr>
        <p:spPr>
          <a:xfrm>
            <a:off x="731525" y="2853875"/>
            <a:ext cx="4114800" cy="27795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93" name="Google Shape;593;p17"/>
          <p:cNvSpPr/>
          <p:nvPr/>
        </p:nvSpPr>
        <p:spPr>
          <a:xfrm>
            <a:off x="777246" y="2906444"/>
            <a:ext cx="4023300" cy="2682000"/>
          </a:xfrm>
          <a:prstGeom prst="rect">
            <a:avLst/>
          </a:prstGeom>
          <a:solidFill>
            <a:srgbClr val="F5F2EB"/>
          </a:solid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fig1_confusion_matrix.png" id="594" name="Google Shape;594;p17"/>
          <p:cNvPicPr preferRelativeResize="0"/>
          <p:nvPr/>
        </p:nvPicPr>
        <p:blipFill rotWithShape="1">
          <a:blip r:embed="rId4">
            <a:alphaModFix/>
          </a:blip>
          <a:srcRect b="0" l="0" r="0" t="0"/>
          <a:stretch/>
        </p:blipFill>
        <p:spPr>
          <a:xfrm>
            <a:off x="867125" y="2932150"/>
            <a:ext cx="3843601" cy="2606101"/>
          </a:xfrm>
          <a:prstGeom prst="rect">
            <a:avLst/>
          </a:prstGeom>
          <a:noFill/>
          <a:ln>
            <a:noFill/>
          </a:ln>
        </p:spPr>
      </p:pic>
      <p:sp>
        <p:nvSpPr>
          <p:cNvPr id="595" name="Google Shape;595;p17"/>
          <p:cNvSpPr txBox="1"/>
          <p:nvPr/>
        </p:nvSpPr>
        <p:spPr>
          <a:xfrm>
            <a:off x="777240" y="5775196"/>
            <a:ext cx="4023300" cy="2154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u="none" cap="none" strike="noStrike">
                <a:solidFill>
                  <a:srgbClr val="85837A"/>
                </a:solidFill>
                <a:latin typeface="Malgun Gothic"/>
                <a:ea typeface="Malgun Gothic"/>
                <a:cs typeface="Malgun Gothic"/>
                <a:sym typeface="Malgun Gothic"/>
              </a:rPr>
              <a:t>혼동행렬 — TN 746 · FP 244 / FN 271 · TP 715</a:t>
            </a:r>
            <a:endParaRPr/>
          </a:p>
        </p:txBody>
      </p:sp>
      <p:sp>
        <p:nvSpPr>
          <p:cNvPr id="596" name="Google Shape;596;p17"/>
          <p:cNvSpPr/>
          <p:nvPr/>
        </p:nvSpPr>
        <p:spPr>
          <a:xfrm>
            <a:off x="5111400" y="2853725"/>
            <a:ext cx="3429000" cy="27795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97" name="Google Shape;597;p17"/>
          <p:cNvSpPr/>
          <p:nvPr/>
        </p:nvSpPr>
        <p:spPr>
          <a:xfrm>
            <a:off x="5159030" y="2887400"/>
            <a:ext cx="3333600" cy="2701200"/>
          </a:xfrm>
          <a:prstGeom prst="rect">
            <a:avLst/>
          </a:prstGeom>
          <a:solidFill>
            <a:srgbClr val="F5F2EB"/>
          </a:solid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fig4_roc.png" id="598" name="Google Shape;598;p17"/>
          <p:cNvPicPr preferRelativeResize="0"/>
          <p:nvPr/>
        </p:nvPicPr>
        <p:blipFill rotWithShape="1">
          <a:blip r:embed="rId5">
            <a:alphaModFix/>
          </a:blip>
          <a:srcRect b="0" l="0" r="0" t="0"/>
          <a:stretch/>
        </p:blipFill>
        <p:spPr>
          <a:xfrm>
            <a:off x="5240300" y="2932150"/>
            <a:ext cx="3200399" cy="2606100"/>
          </a:xfrm>
          <a:prstGeom prst="rect">
            <a:avLst/>
          </a:prstGeom>
          <a:noFill/>
          <a:ln>
            <a:noFill/>
          </a:ln>
        </p:spPr>
      </p:pic>
      <p:sp>
        <p:nvSpPr>
          <p:cNvPr id="599" name="Google Shape;599;p17"/>
          <p:cNvSpPr txBox="1"/>
          <p:nvPr/>
        </p:nvSpPr>
        <p:spPr>
          <a:xfrm>
            <a:off x="5212080" y="5775196"/>
            <a:ext cx="3200400" cy="2154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u="none" cap="none" strike="noStrike">
                <a:solidFill>
                  <a:srgbClr val="85837A"/>
                </a:solidFill>
                <a:latin typeface="Malgun Gothic"/>
                <a:ea typeface="Malgun Gothic"/>
                <a:cs typeface="Malgun Gothic"/>
                <a:sym typeface="Malgun Gothic"/>
              </a:rPr>
              <a:t>ROC — 기준을 0~1 로 전부 바꿔가며</a:t>
            </a:r>
            <a:endParaRPr/>
          </a:p>
        </p:txBody>
      </p:sp>
      <p:sp>
        <p:nvSpPr>
          <p:cNvPr id="600" name="Google Shape;600;p17"/>
          <p:cNvSpPr/>
          <p:nvPr/>
        </p:nvSpPr>
        <p:spPr>
          <a:xfrm>
            <a:off x="8732520" y="2978910"/>
            <a:ext cx="2679300" cy="25146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01" name="Google Shape;601;p17"/>
          <p:cNvSpPr/>
          <p:nvPr/>
        </p:nvSpPr>
        <p:spPr>
          <a:xfrm>
            <a:off x="8732520" y="2978910"/>
            <a:ext cx="45600" cy="25146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02" name="Google Shape;602;p17"/>
          <p:cNvSpPr txBox="1"/>
          <p:nvPr/>
        </p:nvSpPr>
        <p:spPr>
          <a:xfrm>
            <a:off x="8970264" y="3072543"/>
            <a:ext cx="2222100" cy="23490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u="none" cap="none" strike="noStrike">
                <a:solidFill>
                  <a:srgbClr val="F0E6D2"/>
                </a:solidFill>
                <a:latin typeface="Malgun Gothic"/>
                <a:ea typeface="Malgun Gothic"/>
                <a:cs typeface="Malgun Gothic"/>
                <a:sym typeface="Malgun Gothic"/>
              </a:rPr>
              <a:t>틀리는 방향이</a:t>
            </a:r>
            <a:br>
              <a:rPr b="1" i="0" lang="en-US" u="none" cap="none" strike="noStrike">
                <a:solidFill>
                  <a:srgbClr val="F0E6D2"/>
                </a:solidFill>
                <a:latin typeface="Malgun Gothic"/>
                <a:ea typeface="Malgun Gothic"/>
                <a:cs typeface="Malgun Gothic"/>
                <a:sym typeface="Malgun Gothic"/>
              </a:rPr>
            </a:br>
            <a:r>
              <a:rPr b="1" i="0" lang="en-US" u="none" cap="none" strike="noStrike">
                <a:solidFill>
                  <a:srgbClr val="F0E6D2"/>
                </a:solidFill>
                <a:latin typeface="Malgun Gothic"/>
                <a:ea typeface="Malgun Gothic"/>
                <a:cs typeface="Malgun Gothic"/>
                <a:sym typeface="Malgun Gothic"/>
              </a:rPr>
              <a:t>244 대 271 로 대칭입니다.</a:t>
            </a:r>
            <a:br>
              <a:rPr b="1" i="0" lang="en-US" u="none" cap="none" strike="noStrike">
                <a:solidFill>
                  <a:srgbClr val="F0E6D2"/>
                </a:solidFill>
                <a:latin typeface="Malgun Gothic"/>
                <a:ea typeface="Malgun Gothic"/>
                <a:cs typeface="Malgun Gothic"/>
                <a:sym typeface="Malgun Gothic"/>
              </a:rPr>
            </a:br>
            <a:br>
              <a:rPr b="1" i="0" lang="en-US" u="none" cap="none" strike="noStrike">
                <a:solidFill>
                  <a:srgbClr val="F0E6D2"/>
                </a:solidFill>
                <a:latin typeface="Malgun Gothic"/>
                <a:ea typeface="Malgun Gothic"/>
                <a:cs typeface="Malgun Gothic"/>
                <a:sym typeface="Malgun Gothic"/>
              </a:rPr>
            </a:br>
            <a:r>
              <a:rPr b="1" i="0" lang="en-US" u="none" cap="none" strike="noStrike">
                <a:solidFill>
                  <a:srgbClr val="F0E6D2"/>
                </a:solidFill>
                <a:latin typeface="Malgun Gothic"/>
                <a:ea typeface="Malgun Gothic"/>
                <a:cs typeface="Malgun Gothic"/>
                <a:sym typeface="Malgun Gothic"/>
              </a:rPr>
              <a:t>어느 팀도 편들지 않으므로</a:t>
            </a:r>
            <a:br>
              <a:rPr b="1" i="0" lang="en-US" u="none" cap="none" strike="noStrike">
                <a:solidFill>
                  <a:srgbClr val="F0E6D2"/>
                </a:solidFill>
                <a:latin typeface="Malgun Gothic"/>
                <a:ea typeface="Malgun Gothic"/>
                <a:cs typeface="Malgun Gothic"/>
                <a:sym typeface="Malgun Gothic"/>
              </a:rPr>
            </a:br>
            <a:r>
              <a:rPr b="1" i="0" lang="en-US" u="none" cap="none" strike="noStrike">
                <a:solidFill>
                  <a:srgbClr val="F0E6D2"/>
                </a:solidFill>
                <a:latin typeface="Malgun Gothic"/>
                <a:ea typeface="Malgun Gothic"/>
                <a:cs typeface="Malgun Gothic"/>
                <a:sym typeface="Malgun Gothic"/>
              </a:rPr>
              <a:t>임계값 0.5 를</a:t>
            </a:r>
            <a:br>
              <a:rPr b="1" i="0" lang="en-US" u="none" cap="none" strike="noStrike">
                <a:solidFill>
                  <a:srgbClr val="F0E6D2"/>
                </a:solidFill>
                <a:latin typeface="Malgun Gothic"/>
                <a:ea typeface="Malgun Gothic"/>
                <a:cs typeface="Malgun Gothic"/>
                <a:sym typeface="Malgun Gothic"/>
              </a:rPr>
            </a:br>
            <a:r>
              <a:rPr b="1" i="0" lang="en-US" u="none" cap="none" strike="noStrike">
                <a:solidFill>
                  <a:srgbClr val="F0E6D2"/>
                </a:solidFill>
                <a:latin typeface="Malgun Gothic"/>
                <a:ea typeface="Malgun Gothic"/>
                <a:cs typeface="Malgun Gothic"/>
                <a:sym typeface="Malgun Gothic"/>
              </a:rPr>
              <a:t>손볼 이유가 없었습니다.</a:t>
            </a:r>
            <a:br>
              <a:rPr b="1" i="0" lang="en-US" u="none" cap="none" strike="noStrike">
                <a:solidFill>
                  <a:srgbClr val="F0E6D2"/>
                </a:solidFill>
                <a:latin typeface="Malgun Gothic"/>
                <a:ea typeface="Malgun Gothic"/>
                <a:cs typeface="Malgun Gothic"/>
                <a:sym typeface="Malgun Gothic"/>
              </a:rPr>
            </a:br>
            <a:br>
              <a:rPr b="1" i="0" lang="en-US" u="none" cap="none" strike="noStrike">
                <a:solidFill>
                  <a:srgbClr val="F0E6D2"/>
                </a:solidFill>
                <a:latin typeface="Malgun Gothic"/>
                <a:ea typeface="Malgun Gothic"/>
                <a:cs typeface="Malgun Gothic"/>
                <a:sym typeface="Malgun Gothic"/>
              </a:rPr>
            </a:br>
            <a:r>
              <a:rPr b="1" i="0" lang="en-US" u="none" cap="none" strike="noStrike">
                <a:solidFill>
                  <a:srgbClr val="F0E6D2"/>
                </a:solidFill>
                <a:latin typeface="Malgun Gothic"/>
                <a:ea typeface="Malgun Gothic"/>
                <a:cs typeface="Malgun Gothic"/>
                <a:sym typeface="Malgun Gothic"/>
              </a:rPr>
              <a:t>AUC 0.8150 </a:t>
            </a:r>
            <a:br>
              <a:rPr b="1" i="0" lang="en-US" u="none" cap="none" strike="noStrike">
                <a:solidFill>
                  <a:srgbClr val="F0E6D2"/>
                </a:solidFill>
                <a:latin typeface="Malgun Gothic"/>
                <a:ea typeface="Malgun Gothic"/>
                <a:cs typeface="Malgun Gothic"/>
                <a:sym typeface="Malgun Gothic"/>
              </a:rPr>
            </a:br>
            <a:r>
              <a:rPr b="1" i="0" lang="en-US" u="none" cap="none" strike="noStrike">
                <a:solidFill>
                  <a:srgbClr val="F0E6D2"/>
                </a:solidFill>
                <a:latin typeface="Malgun Gothic"/>
                <a:ea typeface="Malgun Gothic"/>
                <a:cs typeface="Malgun Gothic"/>
                <a:sym typeface="Malgun Gothic"/>
              </a:rPr>
              <a:t>승리 경기에 더 높은 확률을</a:t>
            </a:r>
            <a:br>
              <a:rPr b="1" i="0" lang="en-US" u="none" cap="none" strike="noStrike">
                <a:solidFill>
                  <a:srgbClr val="F0E6D2"/>
                </a:solidFill>
                <a:latin typeface="Malgun Gothic"/>
                <a:ea typeface="Malgun Gothic"/>
                <a:cs typeface="Malgun Gothic"/>
                <a:sym typeface="Malgun Gothic"/>
              </a:rPr>
            </a:br>
            <a:r>
              <a:rPr b="1" i="0" lang="en-US" u="none" cap="none" strike="noStrike">
                <a:solidFill>
                  <a:srgbClr val="F0E6D2"/>
                </a:solidFill>
                <a:latin typeface="Malgun Gothic"/>
                <a:ea typeface="Malgun Gothic"/>
                <a:cs typeface="Malgun Gothic"/>
                <a:sym typeface="Malgun Gothic"/>
              </a:rPr>
              <a:t>줄 가능성이 81.5%.</a:t>
            </a:r>
            <a:endParaRPr/>
          </a:p>
        </p:txBody>
      </p:sp>
      <p:sp>
        <p:nvSpPr>
          <p:cNvPr id="603" name="Google Shape;603;p17"/>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artifacts/schema.json · reports/model_report.ipynb    |    개념 → STUDY 8번 평가지표</a:t>
            </a:r>
            <a:endParaRPr/>
          </a:p>
        </p:txBody>
      </p:sp>
      <p:sp>
        <p:nvSpPr>
          <p:cNvPr id="604" name="Google Shape;604;p17"/>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19"/>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611" name="Google Shape;611;p19"/>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612" name="Google Shape;612;p19"/>
          <p:cNvSpPr/>
          <p:nvPr/>
        </p:nvSpPr>
        <p:spPr>
          <a:xfrm>
            <a:off x="0" y="16136"/>
            <a:ext cx="12192000"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13" name="Google Shape;613;p19"/>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14" name="Google Shape;614;p19"/>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15" name="Google Shape;615;p19"/>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16" name="Google Shape;616;p19"/>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17" name="Google Shape;617;p19"/>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18" name="Google Shape;618;p19"/>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19" name="Google Shape;619;p19"/>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2. Phase 1   |   </a:t>
            </a:r>
            <a:r>
              <a:rPr b="1" i="0" lang="en-US" sz="2500" u="none" cap="none" strike="noStrike">
                <a:solidFill>
                  <a:srgbClr val="F0E6D2"/>
                </a:solidFill>
                <a:latin typeface="Malgun Gothic"/>
                <a:ea typeface="Malgun Gothic"/>
                <a:cs typeface="Malgun Gothic"/>
                <a:sym typeface="Malgun Gothic"/>
              </a:rPr>
              <a:t>승리요인 분석 — 유의미 요인 3개</a:t>
            </a:r>
            <a:endParaRPr/>
          </a:p>
        </p:txBody>
      </p:sp>
      <p:sp>
        <p:nvSpPr>
          <p:cNvPr id="620" name="Google Shape;620;p19"/>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21" name="Google Shape;621;p19"/>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22" name="Google Shape;622;p19"/>
          <p:cNvSpPr/>
          <p:nvPr/>
        </p:nvSpPr>
        <p:spPr>
          <a:xfrm>
            <a:off x="430625" y="1482080"/>
            <a:ext cx="6833400" cy="4343400"/>
          </a:xfrm>
          <a:prstGeom prst="rect">
            <a:avLst/>
          </a:prstGeom>
          <a:solidFill>
            <a:srgbClr val="5F5131"/>
          </a:solidFill>
          <a:ln>
            <a:noFill/>
          </a:ln>
        </p:spPr>
        <p:txBody>
          <a:bodyPr anchorCtr="0" anchor="ctr" bIns="48100" lIns="96225" spcFirstLastPara="1" rIns="96225" wrap="square" tIns="48100">
            <a:noAutofit/>
          </a:bodyPr>
          <a:lstStyle/>
          <a:p>
            <a:pPr indent="0" lvl="0" marL="0" marR="0" rtl="0" algn="ctr">
              <a:spcBef>
                <a:spcPts val="0"/>
              </a:spcBef>
              <a:spcAft>
                <a:spcPts val="0"/>
              </a:spcAft>
              <a:buNone/>
            </a:pPr>
            <a:r>
              <a:t/>
            </a:r>
            <a:endParaRPr b="0" i="0" sz="1895" u="none" cap="none" strike="noStrike">
              <a:solidFill>
                <a:schemeClr val="lt1"/>
              </a:solidFill>
              <a:latin typeface="Calibri"/>
              <a:ea typeface="Calibri"/>
              <a:cs typeface="Calibri"/>
              <a:sym typeface="Calibri"/>
            </a:endParaRPr>
          </a:p>
        </p:txBody>
      </p:sp>
      <p:sp>
        <p:nvSpPr>
          <p:cNvPr id="623" name="Google Shape;623;p19"/>
          <p:cNvSpPr/>
          <p:nvPr/>
        </p:nvSpPr>
        <p:spPr>
          <a:xfrm>
            <a:off x="478748" y="1537976"/>
            <a:ext cx="6737100" cy="4238700"/>
          </a:xfrm>
          <a:prstGeom prst="rect">
            <a:avLst/>
          </a:prstGeom>
          <a:solidFill>
            <a:srgbClr val="F5F2EB"/>
          </a:solidFill>
          <a:ln cap="flat" cmpd="sng" w="16700">
            <a:solidFill>
              <a:srgbClr val="C89B3C"/>
            </a:solidFill>
            <a:prstDash val="solid"/>
            <a:round/>
            <a:headEnd len="sm" w="sm" type="none"/>
            <a:tailEnd len="sm" w="sm" type="none"/>
          </a:ln>
        </p:spPr>
        <p:txBody>
          <a:bodyPr anchorCtr="0" anchor="ctr" bIns="48100" lIns="96225" spcFirstLastPara="1" rIns="96225" wrap="square" tIns="48100">
            <a:noAutofit/>
          </a:bodyPr>
          <a:lstStyle/>
          <a:p>
            <a:pPr indent="0" lvl="0" marL="0" marR="0" rtl="0" algn="ctr">
              <a:spcBef>
                <a:spcPts val="0"/>
              </a:spcBef>
              <a:spcAft>
                <a:spcPts val="0"/>
              </a:spcAft>
              <a:buNone/>
            </a:pPr>
            <a:r>
              <a:t/>
            </a:r>
            <a:endParaRPr b="0" i="0" sz="1895" u="none" cap="none" strike="noStrike">
              <a:solidFill>
                <a:schemeClr val="lt1"/>
              </a:solidFill>
              <a:latin typeface="Calibri"/>
              <a:ea typeface="Calibri"/>
              <a:cs typeface="Calibri"/>
              <a:sym typeface="Calibri"/>
            </a:endParaRPr>
          </a:p>
        </p:txBody>
      </p:sp>
      <p:pic>
        <p:nvPicPr>
          <p:cNvPr descr="fig2_coefficients.png" id="624" name="Google Shape;624;p19"/>
          <p:cNvPicPr preferRelativeResize="0"/>
          <p:nvPr/>
        </p:nvPicPr>
        <p:blipFill rotWithShape="1">
          <a:blip r:embed="rId4">
            <a:alphaModFix/>
          </a:blip>
          <a:srcRect b="0" l="0" r="0" t="0"/>
          <a:stretch/>
        </p:blipFill>
        <p:spPr>
          <a:xfrm>
            <a:off x="478750" y="1559050"/>
            <a:ext cx="6737101" cy="4133375"/>
          </a:xfrm>
          <a:prstGeom prst="rect">
            <a:avLst/>
          </a:prstGeom>
          <a:noFill/>
          <a:ln>
            <a:noFill/>
          </a:ln>
        </p:spPr>
      </p:pic>
      <p:sp>
        <p:nvSpPr>
          <p:cNvPr id="625" name="Google Shape;625;p19"/>
          <p:cNvSpPr txBox="1"/>
          <p:nvPr/>
        </p:nvSpPr>
        <p:spPr>
          <a:xfrm>
            <a:off x="822204" y="5864924"/>
            <a:ext cx="6400800" cy="1770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150" u="none" cap="none" strike="noStrike">
                <a:solidFill>
                  <a:srgbClr val="85837A"/>
                </a:solidFill>
                <a:latin typeface="Malgun Gothic"/>
                <a:ea typeface="Malgun Gothic"/>
                <a:cs typeface="Malgun Gothic"/>
                <a:sym typeface="Malgun Gothic"/>
              </a:rPr>
              <a:t>모델이 배운 가중치 13개 — 오른쪽(파랑)이면 블루에 유리</a:t>
            </a:r>
            <a:endParaRPr/>
          </a:p>
        </p:txBody>
      </p:sp>
      <p:sp>
        <p:nvSpPr>
          <p:cNvPr id="626" name="Google Shape;626;p19"/>
          <p:cNvSpPr/>
          <p:nvPr/>
        </p:nvSpPr>
        <p:spPr>
          <a:xfrm>
            <a:off x="7662015" y="4635052"/>
            <a:ext cx="4005000" cy="11886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27" name="Google Shape;627;p19"/>
          <p:cNvSpPr/>
          <p:nvPr/>
        </p:nvSpPr>
        <p:spPr>
          <a:xfrm>
            <a:off x="7662015" y="4635039"/>
            <a:ext cx="45600" cy="1188600"/>
          </a:xfrm>
          <a:prstGeom prst="rect">
            <a:avLst/>
          </a:prstGeom>
          <a:solidFill>
            <a:srgbClr val="BE1E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28" name="Google Shape;628;p19"/>
          <p:cNvSpPr txBox="1"/>
          <p:nvPr/>
        </p:nvSpPr>
        <p:spPr>
          <a:xfrm>
            <a:off x="7850258" y="4865039"/>
            <a:ext cx="3547800" cy="6072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lang="en-US" sz="1700">
                <a:solidFill>
                  <a:srgbClr val="F0E6D2"/>
                </a:solidFill>
                <a:latin typeface="Malgun Gothic"/>
                <a:ea typeface="Malgun Gothic"/>
                <a:cs typeface="Malgun Gothic"/>
                <a:sym typeface="Malgun Gothic"/>
              </a:rPr>
              <a:t>골드 지표의 압도적 우세 </a:t>
            </a:r>
            <a:endParaRPr b="1" sz="1700">
              <a:solidFill>
                <a:srgbClr val="F0E6D2"/>
              </a:solidFill>
              <a:latin typeface="Malgun Gothic"/>
              <a:ea typeface="Malgun Gothic"/>
              <a:cs typeface="Malgun Gothic"/>
              <a:sym typeface="Malgun Gothic"/>
            </a:endParaRPr>
          </a:p>
          <a:p>
            <a:pPr indent="0" lvl="0" marL="0" marR="0" rtl="0" algn="l">
              <a:lnSpc>
                <a:spcPct val="132000"/>
              </a:lnSpc>
              <a:spcBef>
                <a:spcPts val="0"/>
              </a:spcBef>
              <a:spcAft>
                <a:spcPts val="0"/>
              </a:spcAft>
              <a:buNone/>
            </a:pPr>
            <a:r>
              <a:rPr b="1" lang="en-US" sz="1700">
                <a:solidFill>
                  <a:srgbClr val="F0E6D2"/>
                </a:solidFill>
                <a:latin typeface="Malgun Gothic"/>
                <a:ea typeface="Malgun Gothic"/>
                <a:cs typeface="Malgun Gothic"/>
                <a:sym typeface="Malgun Gothic"/>
              </a:rPr>
              <a:t>→ 페이즈 2에서 해결해야 할 과제</a:t>
            </a:r>
            <a:endParaRPr sz="1900"/>
          </a:p>
        </p:txBody>
      </p:sp>
      <p:sp>
        <p:nvSpPr>
          <p:cNvPr id="629" name="Google Shape;629;p19"/>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reports/tables/win_factor_ranking.csv    |    개념 → STUDY 11번 permutation</a:t>
            </a:r>
            <a:endParaRPr/>
          </a:p>
        </p:txBody>
      </p:sp>
      <p:sp>
        <p:nvSpPr>
          <p:cNvPr id="630" name="Google Shape;630;p19"/>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20"/>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637" name="Google Shape;637;p20"/>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638" name="Google Shape;638;p20"/>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39" name="Google Shape;639;p20"/>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40" name="Google Shape;640;p20"/>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41" name="Google Shape;641;p20"/>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42" name="Google Shape;642;p20"/>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43" name="Google Shape;643;p20"/>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44" name="Google Shape;644;p20"/>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45" name="Google Shape;645;p20"/>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2. Phase 1   |   </a:t>
            </a:r>
            <a:r>
              <a:rPr b="1" i="0" lang="en-US" sz="2500" u="none" cap="none" strike="noStrike">
                <a:solidFill>
                  <a:srgbClr val="F0E6D2"/>
                </a:solidFill>
                <a:latin typeface="Malgun Gothic"/>
                <a:ea typeface="Malgun Gothic"/>
                <a:cs typeface="Malgun Gothic"/>
                <a:sym typeface="Malgun Gothic"/>
              </a:rPr>
              <a:t>킬 계수 음수의 원인 — 골드 흐름</a:t>
            </a:r>
            <a:endParaRPr/>
          </a:p>
        </p:txBody>
      </p:sp>
      <p:sp>
        <p:nvSpPr>
          <p:cNvPr id="646" name="Google Shape;646;p20"/>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47" name="Google Shape;647;p20"/>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48" name="Google Shape;648;p20"/>
          <p:cNvSpPr/>
          <p:nvPr/>
        </p:nvSpPr>
        <p:spPr>
          <a:xfrm>
            <a:off x="413630" y="1627889"/>
            <a:ext cx="7209900" cy="3897300"/>
          </a:xfrm>
          <a:prstGeom prst="rect">
            <a:avLst/>
          </a:prstGeom>
          <a:solidFill>
            <a:srgbClr val="5F5131"/>
          </a:solidFill>
          <a:ln>
            <a:noFill/>
          </a:ln>
        </p:spPr>
        <p:txBody>
          <a:bodyPr anchorCtr="0" anchor="ctr" bIns="48700" lIns="97425" spcFirstLastPara="1" rIns="97425" wrap="square" tIns="48700">
            <a:noAutofit/>
          </a:bodyPr>
          <a:lstStyle/>
          <a:p>
            <a:pPr indent="0" lvl="0" marL="0" marR="0" rtl="0" algn="ctr">
              <a:spcBef>
                <a:spcPts val="0"/>
              </a:spcBef>
              <a:spcAft>
                <a:spcPts val="0"/>
              </a:spcAft>
              <a:buNone/>
            </a:pPr>
            <a:r>
              <a:t/>
            </a:r>
            <a:endParaRPr b="0" i="0" sz="1918" u="none" cap="none" strike="noStrike">
              <a:solidFill>
                <a:schemeClr val="lt1"/>
              </a:solidFill>
              <a:latin typeface="Calibri"/>
              <a:ea typeface="Calibri"/>
              <a:cs typeface="Calibri"/>
              <a:sym typeface="Calibri"/>
            </a:endParaRPr>
          </a:p>
        </p:txBody>
      </p:sp>
      <p:sp>
        <p:nvSpPr>
          <p:cNvPr id="649" name="Google Shape;649;p20"/>
          <p:cNvSpPr/>
          <p:nvPr/>
        </p:nvSpPr>
        <p:spPr>
          <a:xfrm>
            <a:off x="462347" y="1679924"/>
            <a:ext cx="7112400" cy="3799800"/>
          </a:xfrm>
          <a:prstGeom prst="rect">
            <a:avLst/>
          </a:prstGeom>
          <a:solidFill>
            <a:srgbClr val="F5F2EB"/>
          </a:solidFill>
          <a:ln cap="flat" cmpd="sng" w="16925">
            <a:solidFill>
              <a:srgbClr val="C89B3C"/>
            </a:solidFill>
            <a:prstDash val="solid"/>
            <a:round/>
            <a:headEnd len="sm" w="sm" type="none"/>
            <a:tailEnd len="sm" w="sm" type="none"/>
          </a:ln>
        </p:spPr>
        <p:txBody>
          <a:bodyPr anchorCtr="0" anchor="ctr" bIns="48700" lIns="97425" spcFirstLastPara="1" rIns="97425" wrap="square" tIns="48700">
            <a:noAutofit/>
          </a:bodyPr>
          <a:lstStyle/>
          <a:p>
            <a:pPr indent="0" lvl="0" marL="0" marR="0" rtl="0" algn="ctr">
              <a:spcBef>
                <a:spcPts val="0"/>
              </a:spcBef>
              <a:spcAft>
                <a:spcPts val="0"/>
              </a:spcAft>
              <a:buNone/>
            </a:pPr>
            <a:r>
              <a:t/>
            </a:r>
            <a:endParaRPr b="0" i="0" sz="1918" u="none" cap="none" strike="noStrike">
              <a:solidFill>
                <a:schemeClr val="lt1"/>
              </a:solidFill>
              <a:latin typeface="Calibri"/>
              <a:ea typeface="Calibri"/>
              <a:cs typeface="Calibri"/>
              <a:sym typeface="Calibri"/>
            </a:endParaRPr>
          </a:p>
        </p:txBody>
      </p:sp>
      <p:pic>
        <p:nvPicPr>
          <p:cNvPr descr="fig5_gold_flow.png" id="650" name="Google Shape;650;p20"/>
          <p:cNvPicPr preferRelativeResize="0"/>
          <p:nvPr/>
        </p:nvPicPr>
        <p:blipFill rotWithShape="1">
          <a:blip r:embed="rId4">
            <a:alphaModFix/>
          </a:blip>
          <a:srcRect b="0" l="0" r="0" t="0"/>
          <a:stretch/>
        </p:blipFill>
        <p:spPr>
          <a:xfrm>
            <a:off x="579267" y="1878063"/>
            <a:ext cx="6878791" cy="3428899"/>
          </a:xfrm>
          <a:prstGeom prst="rect">
            <a:avLst/>
          </a:prstGeom>
          <a:noFill/>
          <a:ln>
            <a:noFill/>
          </a:ln>
        </p:spPr>
      </p:pic>
      <p:sp>
        <p:nvSpPr>
          <p:cNvPr id="651" name="Google Shape;651;p20"/>
          <p:cNvSpPr txBox="1"/>
          <p:nvPr/>
        </p:nvSpPr>
        <p:spPr>
          <a:xfrm>
            <a:off x="777240" y="5671338"/>
            <a:ext cx="6675000" cy="1770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150" u="none" cap="none" strike="noStrike">
                <a:solidFill>
                  <a:srgbClr val="85837A"/>
                </a:solidFill>
                <a:latin typeface="Malgun Gothic"/>
                <a:ea typeface="Malgun Gothic"/>
                <a:cs typeface="Malgun Gothic"/>
                <a:sym typeface="Malgun Gothic"/>
              </a:rPr>
              <a:t>킬 · 미니언 · 타워 → 전부 골드로 흘러 들어갑니다</a:t>
            </a:r>
            <a:endParaRPr/>
          </a:p>
        </p:txBody>
      </p:sp>
      <p:sp>
        <p:nvSpPr>
          <p:cNvPr id="652" name="Google Shape;652;p20"/>
          <p:cNvSpPr txBox="1"/>
          <p:nvPr/>
        </p:nvSpPr>
        <p:spPr>
          <a:xfrm>
            <a:off x="7692850" y="1648253"/>
            <a:ext cx="4331100" cy="20007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550" u="none" cap="none" strike="noStrike">
                <a:solidFill>
                  <a:srgbClr val="F0E6D2"/>
                </a:solidFill>
                <a:latin typeface="Malgun Gothic"/>
                <a:ea typeface="Malgun Gothic"/>
                <a:cs typeface="Malgun Gothic"/>
                <a:sym typeface="Malgun Gothic"/>
              </a:rPr>
              <a:t>◆  킬만 따로 보면 승패를 잘 가름</a:t>
            </a:r>
            <a:endParaRPr sz="1700"/>
          </a:p>
          <a:p>
            <a:pPr indent="0" lvl="0" marL="0" marR="0" rtl="0" algn="l">
              <a:lnSpc>
                <a:spcPct val="130000"/>
              </a:lnSpc>
              <a:spcBef>
                <a:spcPts val="600"/>
              </a:spcBef>
              <a:spcAft>
                <a:spcPts val="0"/>
              </a:spcAft>
              <a:buNone/>
            </a:pPr>
            <a:r>
              <a:rPr b="0" i="0" lang="en-US" sz="1150" u="none" cap="none" strike="noStrike">
                <a:solidFill>
                  <a:srgbClr val="8E8B80"/>
                </a:solidFill>
                <a:latin typeface="Malgun Gothic"/>
                <a:ea typeface="Malgun Gothic"/>
                <a:cs typeface="Malgun Gothic"/>
                <a:sym typeface="Malgun Gothic"/>
              </a:rPr>
              <a:t>    </a:t>
            </a:r>
            <a:r>
              <a:rPr b="0" i="0" lang="en-US" sz="1350" u="none" cap="none" strike="noStrike">
                <a:solidFill>
                  <a:srgbClr val="8E8B80"/>
                </a:solidFill>
                <a:latin typeface="Malgun Gothic"/>
                <a:ea typeface="Malgun Gothic"/>
                <a:cs typeface="Malgun Gothic"/>
                <a:sym typeface="Malgun Gothic"/>
              </a:rPr>
              <a:t> 효과크기 1.09 로 13개 중 3위 · 승패와의 상관 +0.48</a:t>
            </a:r>
            <a:endParaRPr sz="1700"/>
          </a:p>
          <a:p>
            <a:pPr indent="0" lvl="0" marL="0" marR="0" rtl="0" algn="l">
              <a:lnSpc>
                <a:spcPct val="132000"/>
              </a:lnSpc>
              <a:spcBef>
                <a:spcPts val="300"/>
              </a:spcBef>
              <a:spcAft>
                <a:spcPts val="0"/>
              </a:spcAft>
              <a:buNone/>
            </a:pPr>
            <a:r>
              <a:rPr b="1" i="0" lang="en-US" sz="1550" u="none" cap="none" strike="noStrike">
                <a:solidFill>
                  <a:srgbClr val="F0E6D2"/>
                </a:solidFill>
                <a:latin typeface="Malgun Gothic"/>
                <a:ea typeface="Malgun Gothic"/>
                <a:cs typeface="Malgun Gothic"/>
                <a:sym typeface="Malgun Gothic"/>
              </a:rPr>
              <a:t>◆  그런데 골드를 아는 모델에게 </a:t>
            </a:r>
            <a:endParaRPr b="1" i="0" sz="1550" u="none" cap="none" strike="noStrike">
              <a:solidFill>
                <a:srgbClr val="F0E6D2"/>
              </a:solidFill>
              <a:latin typeface="Malgun Gothic"/>
              <a:ea typeface="Malgun Gothic"/>
              <a:cs typeface="Malgun Gothic"/>
              <a:sym typeface="Malgun Gothic"/>
            </a:endParaRPr>
          </a:p>
          <a:p>
            <a:pPr indent="0" lvl="0" marL="0" marR="0" rtl="0" algn="l">
              <a:lnSpc>
                <a:spcPct val="132000"/>
              </a:lnSpc>
              <a:spcBef>
                <a:spcPts val="300"/>
              </a:spcBef>
              <a:spcAft>
                <a:spcPts val="0"/>
              </a:spcAft>
              <a:buNone/>
            </a:pPr>
            <a:r>
              <a:rPr b="1" lang="en-US" sz="1550">
                <a:solidFill>
                  <a:srgbClr val="F0E6D2"/>
                </a:solidFill>
                <a:latin typeface="Malgun Gothic"/>
                <a:ea typeface="Malgun Gothic"/>
                <a:cs typeface="Malgun Gothic"/>
                <a:sym typeface="Malgun Gothic"/>
              </a:rPr>
              <a:t>     </a:t>
            </a:r>
            <a:r>
              <a:rPr b="1" i="0" lang="en-US" sz="1550" u="none" cap="none" strike="noStrike">
                <a:solidFill>
                  <a:srgbClr val="F0E6D2"/>
                </a:solidFill>
                <a:latin typeface="Malgun Gothic"/>
                <a:ea typeface="Malgun Gothic"/>
                <a:cs typeface="Malgun Gothic"/>
                <a:sym typeface="Malgun Gothic"/>
              </a:rPr>
              <a:t>킬은 새 정보가 아님</a:t>
            </a:r>
            <a:endParaRPr sz="1700"/>
          </a:p>
          <a:p>
            <a:pPr indent="0" lvl="0" marL="0" marR="0" rtl="0" algn="l">
              <a:lnSpc>
                <a:spcPct val="130000"/>
              </a:lnSpc>
              <a:spcBef>
                <a:spcPts val="600"/>
              </a:spcBef>
              <a:spcAft>
                <a:spcPts val="0"/>
              </a:spcAft>
              <a:buNone/>
            </a:pPr>
            <a:r>
              <a:rPr lang="en-US" sz="1350">
                <a:solidFill>
                  <a:srgbClr val="8E8B80"/>
                </a:solidFill>
                <a:latin typeface="Malgun Gothic"/>
                <a:ea typeface="Malgun Gothic"/>
                <a:cs typeface="Malgun Gothic"/>
                <a:sym typeface="Malgun Gothic"/>
              </a:rPr>
              <a:t>    </a:t>
            </a:r>
            <a:r>
              <a:rPr b="0" i="0" lang="en-US" sz="1350" u="none" cap="none" strike="noStrike">
                <a:solidFill>
                  <a:srgbClr val="8E8B80"/>
                </a:solidFill>
                <a:latin typeface="Malgun Gothic"/>
                <a:ea typeface="Malgun Gothic"/>
                <a:cs typeface="Malgun Gothic"/>
                <a:sym typeface="Malgun Gothic"/>
              </a:rPr>
              <a:t>킬↔골드 상관 +0.92. 남은 몫의 부호가 </a:t>
            </a:r>
            <a:endParaRPr b="0" i="0" sz="1350" u="none" cap="none" strike="noStrike">
              <a:solidFill>
                <a:srgbClr val="8E8B80"/>
              </a:solidFill>
              <a:latin typeface="Malgun Gothic"/>
              <a:ea typeface="Malgun Gothic"/>
              <a:cs typeface="Malgun Gothic"/>
              <a:sym typeface="Malgun Gothic"/>
            </a:endParaRPr>
          </a:p>
          <a:p>
            <a:pPr indent="0" lvl="0" marL="0" marR="0" rtl="0" algn="l">
              <a:lnSpc>
                <a:spcPct val="130000"/>
              </a:lnSpc>
              <a:spcBef>
                <a:spcPts val="600"/>
              </a:spcBef>
              <a:spcAft>
                <a:spcPts val="0"/>
              </a:spcAft>
              <a:buNone/>
            </a:pPr>
            <a:r>
              <a:rPr lang="en-US" sz="1350">
                <a:solidFill>
                  <a:srgbClr val="8E8B80"/>
                </a:solidFill>
                <a:latin typeface="Malgun Gothic"/>
                <a:ea typeface="Malgun Gothic"/>
                <a:cs typeface="Malgun Gothic"/>
                <a:sym typeface="Malgun Gothic"/>
              </a:rPr>
              <a:t>    </a:t>
            </a:r>
            <a:r>
              <a:rPr b="0" i="0" lang="en-US" sz="1350" u="none" cap="none" strike="noStrike">
                <a:solidFill>
                  <a:srgbClr val="8E8B80"/>
                </a:solidFill>
                <a:latin typeface="Malgun Gothic"/>
                <a:ea typeface="Malgun Gothic"/>
                <a:cs typeface="Malgun Gothic"/>
                <a:sym typeface="Malgun Gothic"/>
              </a:rPr>
              <a:t>음수(−0.107)로 나옵니다</a:t>
            </a:r>
            <a:endParaRPr sz="1700"/>
          </a:p>
        </p:txBody>
      </p:sp>
      <p:sp>
        <p:nvSpPr>
          <p:cNvPr id="653" name="Google Shape;653;p20"/>
          <p:cNvSpPr/>
          <p:nvPr/>
        </p:nvSpPr>
        <p:spPr>
          <a:xfrm>
            <a:off x="7863850" y="3751225"/>
            <a:ext cx="3843300" cy="17739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54" name="Google Shape;654;p20"/>
          <p:cNvSpPr/>
          <p:nvPr/>
        </p:nvSpPr>
        <p:spPr>
          <a:xfrm>
            <a:off x="7863850" y="3751225"/>
            <a:ext cx="49500" cy="17739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55" name="Google Shape;655;p20"/>
          <p:cNvSpPr txBox="1"/>
          <p:nvPr/>
        </p:nvSpPr>
        <p:spPr>
          <a:xfrm>
            <a:off x="8101583" y="3808570"/>
            <a:ext cx="3090600" cy="1669800"/>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n-US" sz="1350" u="none" cap="none" strike="noStrike">
                <a:solidFill>
                  <a:srgbClr val="F0E6D2"/>
                </a:solidFill>
                <a:latin typeface="Malgun Gothic"/>
                <a:ea typeface="Malgun Gothic"/>
                <a:cs typeface="Malgun Gothic"/>
                <a:sym typeface="Malgun Gothic"/>
              </a:rPr>
              <a:t>정확한 해석 —</a:t>
            </a:r>
            <a:br>
              <a:rPr b="1" i="0" lang="en-US" sz="1300" u="none" cap="none" strike="noStrike">
                <a:solidFill>
                  <a:srgbClr val="F0E6D2"/>
                </a:solidFill>
                <a:latin typeface="Malgun Gothic"/>
                <a:ea typeface="Malgun Gothic"/>
                <a:cs typeface="Malgun Gothic"/>
                <a:sym typeface="Malgun Gothic"/>
              </a:rPr>
            </a:br>
            <a:r>
              <a:rPr b="1" i="0" lang="en-US" sz="1350" u="none" cap="none" strike="noStrike">
                <a:solidFill>
                  <a:srgbClr val="F0E6D2"/>
                </a:solidFill>
                <a:latin typeface="Malgun Gothic"/>
                <a:ea typeface="Malgun Gothic"/>
                <a:cs typeface="Malgun Gothic"/>
                <a:sym typeface="Malgun Gothic"/>
              </a:rPr>
              <a:t>"킬은 돈으로 환산됐을 때만</a:t>
            </a:r>
            <a:br>
              <a:rPr b="1" i="0" lang="en-US" sz="1300" u="none" cap="none" strike="noStrike">
                <a:solidFill>
                  <a:srgbClr val="F0E6D2"/>
                </a:solidFill>
                <a:latin typeface="Malgun Gothic"/>
                <a:ea typeface="Malgun Gothic"/>
                <a:cs typeface="Malgun Gothic"/>
                <a:sym typeface="Malgun Gothic"/>
              </a:rPr>
            </a:br>
            <a:r>
              <a:rPr b="1" i="0" lang="en-US" sz="1350" u="none" cap="none" strike="noStrike">
                <a:solidFill>
                  <a:srgbClr val="F0E6D2"/>
                </a:solidFill>
                <a:latin typeface="Malgun Gothic"/>
                <a:ea typeface="Malgun Gothic"/>
                <a:cs typeface="Malgun Gothic"/>
                <a:sym typeface="Malgun Gothic"/>
              </a:rPr>
              <a:t>의미가 있다"</a:t>
            </a:r>
            <a:br>
              <a:rPr b="1" i="0" lang="en-US" sz="1300" u="none" cap="none" strike="noStrike">
                <a:solidFill>
                  <a:srgbClr val="F0E6D2"/>
                </a:solidFill>
                <a:latin typeface="Malgun Gothic"/>
                <a:ea typeface="Malgun Gothic"/>
                <a:cs typeface="Malgun Gothic"/>
                <a:sym typeface="Malgun Gothic"/>
              </a:rPr>
            </a:br>
            <a:br>
              <a:rPr b="1" i="0" lang="en-US" sz="1300" u="none" cap="none" strike="noStrike">
                <a:solidFill>
                  <a:srgbClr val="F0E6D2"/>
                </a:solidFill>
                <a:latin typeface="Malgun Gothic"/>
                <a:ea typeface="Malgun Gothic"/>
                <a:cs typeface="Malgun Gothic"/>
                <a:sym typeface="Malgun Gothic"/>
              </a:rPr>
            </a:br>
            <a:r>
              <a:rPr b="1" i="0" lang="en-US" sz="1350" u="none" cap="none" strike="noStrike">
                <a:solidFill>
                  <a:srgbClr val="F0E6D2"/>
                </a:solidFill>
                <a:latin typeface="Malgun Gothic"/>
                <a:ea typeface="Malgun Gothic"/>
                <a:cs typeface="Malgun Gothic"/>
                <a:sym typeface="Malgun Gothic"/>
              </a:rPr>
              <a:t>복기할 때도 "싸움을 이겼나"가 아니라</a:t>
            </a:r>
            <a:br>
              <a:rPr b="1" i="0" lang="en-US" sz="1300" u="none" cap="none" strike="noStrike">
                <a:solidFill>
                  <a:srgbClr val="F0E6D2"/>
                </a:solidFill>
                <a:latin typeface="Malgun Gothic"/>
                <a:ea typeface="Malgun Gothic"/>
                <a:cs typeface="Malgun Gothic"/>
                <a:sym typeface="Malgun Gothic"/>
              </a:rPr>
            </a:br>
            <a:r>
              <a:rPr b="1" i="0" lang="en-US" sz="1350" u="none" cap="none" strike="noStrike">
                <a:solidFill>
                  <a:srgbClr val="F0E6D2"/>
                </a:solidFill>
                <a:latin typeface="Malgun Gothic"/>
                <a:ea typeface="Malgun Gothic"/>
                <a:cs typeface="Malgun Gothic"/>
                <a:sym typeface="Malgun Gothic"/>
              </a:rPr>
              <a:t>"그 싸움이 돈 격차로 이어졌나"를</a:t>
            </a:r>
            <a:br>
              <a:rPr b="1" i="0" lang="en-US" sz="1300" u="none" cap="none" strike="noStrike">
                <a:solidFill>
                  <a:srgbClr val="F0E6D2"/>
                </a:solidFill>
                <a:latin typeface="Malgun Gothic"/>
                <a:ea typeface="Malgun Gothic"/>
                <a:cs typeface="Malgun Gothic"/>
                <a:sym typeface="Malgun Gothic"/>
              </a:rPr>
            </a:br>
            <a:r>
              <a:rPr b="1" i="0" lang="en-US" sz="1350" u="none" cap="none" strike="noStrike">
                <a:solidFill>
                  <a:srgbClr val="F0E6D2"/>
                </a:solidFill>
                <a:latin typeface="Malgun Gothic"/>
                <a:ea typeface="Malgun Gothic"/>
                <a:cs typeface="Malgun Gothic"/>
                <a:sym typeface="Malgun Gothic"/>
              </a:rPr>
              <a:t>봐야 합니다.</a:t>
            </a:r>
            <a:endParaRPr sz="1500"/>
          </a:p>
        </p:txBody>
      </p:sp>
      <p:sp>
        <p:nvSpPr>
          <p:cNvPr id="656" name="Google Shape;656;p20"/>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950" u="none" cap="none" strike="noStrike">
                <a:solidFill>
                  <a:srgbClr val="73726E"/>
                </a:solidFill>
                <a:latin typeface="Malgun Gothic"/>
                <a:ea typeface="Malgun Gothic"/>
                <a:cs typeface="Malgun Gothic"/>
                <a:sym typeface="Malgun Gothic"/>
              </a:rPr>
              <a:t>근거 · reports/figures/fig5_gold_flow.png · docs/data_analysis.md 3장    |    개념 → STUDY 10번 다중공선성</a:t>
            </a:r>
            <a:endParaRPr/>
          </a:p>
        </p:txBody>
      </p:sp>
      <p:sp>
        <p:nvSpPr>
          <p:cNvPr id="657" name="Google Shape;657;p20"/>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8"/>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664" name="Google Shape;664;p18"/>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665" name="Google Shape;665;p18"/>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66" name="Google Shape;666;p18"/>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67" name="Google Shape;667;p18"/>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68" name="Google Shape;668;p18"/>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69" name="Google Shape;669;p18"/>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70" name="Google Shape;670;p18"/>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71" name="Google Shape;671;p18"/>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72" name="Google Shape;672;p18"/>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2. Phase 1   |   </a:t>
            </a:r>
            <a:r>
              <a:rPr b="1" i="0" lang="en-US" sz="2500" u="none" cap="none" strike="noStrike">
                <a:solidFill>
                  <a:srgbClr val="F0E6D2"/>
                </a:solidFill>
                <a:latin typeface="Malgun Gothic"/>
                <a:ea typeface="Malgun Gothic"/>
                <a:cs typeface="Malgun Gothic"/>
                <a:sym typeface="Malgun Gothic"/>
              </a:rPr>
              <a:t>골드 격차별 승률 분석</a:t>
            </a:r>
            <a:endParaRPr/>
          </a:p>
        </p:txBody>
      </p:sp>
      <p:sp>
        <p:nvSpPr>
          <p:cNvPr id="673" name="Google Shape;673;p18"/>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74" name="Google Shape;674;p18"/>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75" name="Google Shape;675;p18"/>
          <p:cNvSpPr/>
          <p:nvPr/>
        </p:nvSpPr>
        <p:spPr>
          <a:xfrm>
            <a:off x="731519" y="1550035"/>
            <a:ext cx="6949500" cy="40233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76" name="Google Shape;676;p18"/>
          <p:cNvSpPr/>
          <p:nvPr/>
        </p:nvSpPr>
        <p:spPr>
          <a:xfrm>
            <a:off x="777240" y="1598870"/>
            <a:ext cx="6858000" cy="3931800"/>
          </a:xfrm>
          <a:prstGeom prst="rect">
            <a:avLst/>
          </a:prstGeom>
          <a:solidFill>
            <a:srgbClr val="F5F2EB"/>
          </a:solid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eda1_winrate_curve.png" id="677" name="Google Shape;677;p18"/>
          <p:cNvPicPr preferRelativeResize="0"/>
          <p:nvPr/>
        </p:nvPicPr>
        <p:blipFill rotWithShape="1">
          <a:blip r:embed="rId4">
            <a:alphaModFix/>
          </a:blip>
          <a:srcRect b="0" l="0" r="0" t="0"/>
          <a:stretch/>
        </p:blipFill>
        <p:spPr>
          <a:xfrm>
            <a:off x="886968" y="1729097"/>
            <a:ext cx="6638544" cy="3688080"/>
          </a:xfrm>
          <a:prstGeom prst="rect">
            <a:avLst/>
          </a:prstGeom>
          <a:noFill/>
          <a:ln>
            <a:noFill/>
          </a:ln>
        </p:spPr>
      </p:pic>
      <p:sp>
        <p:nvSpPr>
          <p:cNvPr id="678" name="Google Shape;678;p18"/>
          <p:cNvSpPr txBox="1"/>
          <p:nvPr/>
        </p:nvSpPr>
        <p:spPr>
          <a:xfrm>
            <a:off x="777240" y="5786777"/>
            <a:ext cx="6858000" cy="1770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150" u="none" cap="none" strike="noStrike">
                <a:solidFill>
                  <a:srgbClr val="85837A"/>
                </a:solidFill>
                <a:latin typeface="Malgun Gothic"/>
                <a:ea typeface="Malgun Gothic"/>
                <a:cs typeface="Malgun Gothic"/>
                <a:sym typeface="Malgun Gothic"/>
              </a:rPr>
              <a:t>가로축: 10분 골드 차이 · 파란 선: 그 구간의 실제 승률 · 회색 막대: 경기 수</a:t>
            </a:r>
            <a:endParaRPr/>
          </a:p>
        </p:txBody>
      </p:sp>
      <p:sp>
        <p:nvSpPr>
          <p:cNvPr id="679" name="Google Shape;679;p18"/>
          <p:cNvSpPr txBox="1"/>
          <p:nvPr/>
        </p:nvSpPr>
        <p:spPr>
          <a:xfrm>
            <a:off x="7863850" y="1588773"/>
            <a:ext cx="3547800" cy="21138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550" u="none" cap="none" strike="noStrike">
                <a:solidFill>
                  <a:srgbClr val="F0E6D2"/>
                </a:solidFill>
                <a:latin typeface="Malgun Gothic"/>
                <a:ea typeface="Malgun Gothic"/>
                <a:cs typeface="Malgun Gothic"/>
                <a:sym typeface="Malgun Gothic"/>
              </a:rPr>
              <a:t>◆  승률이 S자로 매끄럽게 상승</a:t>
            </a:r>
            <a:endParaRPr sz="1700"/>
          </a:p>
          <a:p>
            <a:pPr indent="0" lvl="0" marL="0" marR="0" rtl="0" algn="l">
              <a:lnSpc>
                <a:spcPct val="130000"/>
              </a:lnSpc>
              <a:spcBef>
                <a:spcPts val="700"/>
              </a:spcBef>
              <a:spcAft>
                <a:spcPts val="0"/>
              </a:spcAft>
              <a:buNone/>
            </a:pPr>
            <a:r>
              <a:rPr b="0" i="0" lang="en-US" sz="1350" u="none" cap="none" strike="noStrike">
                <a:solidFill>
                  <a:srgbClr val="8E8B80"/>
                </a:solidFill>
                <a:latin typeface="Malgun Gothic"/>
                <a:ea typeface="Malgun Gothic"/>
                <a:cs typeface="Malgun Gothic"/>
                <a:sym typeface="Malgun Gothic"/>
              </a:rPr>
              <a:t>5,000 이상 뒤진 경기는 1.7%만 이기고, 5,000 이상 앞선 경기는 99.5% 이깁니다 — 가설대로입니다</a:t>
            </a:r>
            <a:endParaRPr sz="1700"/>
          </a:p>
          <a:p>
            <a:pPr indent="0" lvl="0" marL="0" marR="0" rtl="0" algn="l">
              <a:lnSpc>
                <a:spcPct val="132000"/>
              </a:lnSpc>
              <a:spcBef>
                <a:spcPts val="400"/>
              </a:spcBef>
              <a:spcAft>
                <a:spcPts val="0"/>
              </a:spcAft>
              <a:buNone/>
            </a:pPr>
            <a:r>
              <a:rPr b="1" i="0" lang="en-US" sz="1550" u="none" cap="none" strike="noStrike">
                <a:solidFill>
                  <a:srgbClr val="F0E6D2"/>
                </a:solidFill>
                <a:latin typeface="Malgun Gothic"/>
                <a:ea typeface="Malgun Gothic"/>
                <a:cs typeface="Malgun Gothic"/>
                <a:sym typeface="Malgun Gothic"/>
              </a:rPr>
              <a:t>◆  그런데 중요한 것은 가운데 구간</a:t>
            </a:r>
            <a:endParaRPr sz="1700"/>
          </a:p>
          <a:p>
            <a:pPr indent="0" lvl="0" marL="0" marR="0" rtl="0" algn="l">
              <a:lnSpc>
                <a:spcPct val="130000"/>
              </a:lnSpc>
              <a:spcBef>
                <a:spcPts val="700"/>
              </a:spcBef>
              <a:spcAft>
                <a:spcPts val="0"/>
              </a:spcAft>
              <a:buNone/>
            </a:pPr>
            <a:r>
              <a:rPr b="0" i="0" lang="en-US" sz="1250" u="none" cap="none" strike="noStrike">
                <a:solidFill>
                  <a:srgbClr val="8E8B80"/>
                </a:solidFill>
                <a:latin typeface="Malgun Gothic"/>
                <a:ea typeface="Malgun Gothic"/>
                <a:cs typeface="Malgun Gothic"/>
                <a:sym typeface="Malgun Gothic"/>
              </a:rPr>
              <a:t>경기가 가장 많은 ±1,000 구간이 전체의 33%인데 그 구간 승률은 49.5% — 사실상 동전 던지기</a:t>
            </a:r>
            <a:endParaRPr sz="1600"/>
          </a:p>
        </p:txBody>
      </p:sp>
      <p:sp>
        <p:nvSpPr>
          <p:cNvPr id="680" name="Google Shape;680;p18"/>
          <p:cNvSpPr/>
          <p:nvPr/>
        </p:nvSpPr>
        <p:spPr>
          <a:xfrm>
            <a:off x="7863850" y="3960006"/>
            <a:ext cx="3547800" cy="15642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81" name="Google Shape;681;p18"/>
          <p:cNvSpPr/>
          <p:nvPr/>
        </p:nvSpPr>
        <p:spPr>
          <a:xfrm>
            <a:off x="7863850" y="3960006"/>
            <a:ext cx="45600" cy="15642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82" name="Google Shape;682;p18"/>
          <p:cNvSpPr txBox="1"/>
          <p:nvPr/>
        </p:nvSpPr>
        <p:spPr>
          <a:xfrm>
            <a:off x="8101583" y="4102253"/>
            <a:ext cx="3090600" cy="11982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sz="1250" u="none" cap="none" strike="noStrike">
                <a:solidFill>
                  <a:srgbClr val="F0E6D2"/>
                </a:solidFill>
                <a:latin typeface="Malgun Gothic"/>
                <a:ea typeface="Malgun Gothic"/>
                <a:cs typeface="Malgun Gothic"/>
                <a:sym typeface="Malgun Gothic"/>
              </a:rPr>
              <a:t>데이터가 가장 많이 몰린 곳에서</a:t>
            </a:r>
            <a:br>
              <a:rPr b="1" i="0" lang="en-US" sz="1200" u="none" cap="none" strike="noStrike">
                <a:solidFill>
                  <a:srgbClr val="F0E6D2"/>
                </a:solidFill>
                <a:latin typeface="Malgun Gothic"/>
                <a:ea typeface="Malgun Gothic"/>
                <a:cs typeface="Malgun Gothic"/>
                <a:sym typeface="Malgun Gothic"/>
              </a:rPr>
            </a:br>
            <a:r>
              <a:rPr b="1" i="0" lang="en-US" sz="1250" u="none" cap="none" strike="noStrike">
                <a:solidFill>
                  <a:srgbClr val="F0E6D2"/>
                </a:solidFill>
                <a:latin typeface="Malgun Gothic"/>
                <a:ea typeface="Malgun Gothic"/>
                <a:cs typeface="Malgun Gothic"/>
                <a:sym typeface="Malgun Gothic"/>
              </a:rPr>
              <a:t>골드가 아무 말도 못 합니다.</a:t>
            </a:r>
            <a:br>
              <a:rPr b="1" i="0" lang="en-US" sz="1200" u="none" cap="none" strike="noStrike">
                <a:solidFill>
                  <a:srgbClr val="F0E6D2"/>
                </a:solidFill>
                <a:latin typeface="Malgun Gothic"/>
                <a:ea typeface="Malgun Gothic"/>
                <a:cs typeface="Malgun Gothic"/>
                <a:sym typeface="Malgun Gothic"/>
              </a:rPr>
            </a:br>
            <a:br>
              <a:rPr b="1" i="0" lang="en-US" sz="1200" u="none" cap="none" strike="noStrike">
                <a:solidFill>
                  <a:srgbClr val="F0E6D2"/>
                </a:solidFill>
                <a:latin typeface="Malgun Gothic"/>
                <a:ea typeface="Malgun Gothic"/>
                <a:cs typeface="Malgun Gothic"/>
                <a:sym typeface="Malgun Gothic"/>
              </a:rPr>
            </a:br>
            <a:r>
              <a:rPr b="1" i="0" lang="en-US" sz="1250" u="none" cap="none" strike="noStrike">
                <a:solidFill>
                  <a:srgbClr val="F0E6D2"/>
                </a:solidFill>
                <a:latin typeface="Malgun Gothic"/>
                <a:ea typeface="Malgun Gothic"/>
                <a:cs typeface="Malgun Gothic"/>
                <a:sym typeface="Malgun Gothic"/>
              </a:rPr>
              <a:t>뒤에 나올 "접전 정확도 0.615"가</a:t>
            </a:r>
            <a:br>
              <a:rPr b="1" i="0" lang="en-US" sz="1200" u="none" cap="none" strike="noStrike">
                <a:solidFill>
                  <a:srgbClr val="F0E6D2"/>
                </a:solidFill>
                <a:latin typeface="Malgun Gothic"/>
                <a:ea typeface="Malgun Gothic"/>
                <a:cs typeface="Malgun Gothic"/>
                <a:sym typeface="Malgun Gothic"/>
              </a:rPr>
            </a:br>
            <a:r>
              <a:rPr b="1" i="0" lang="en-US" sz="1250" u="none" cap="none" strike="noStrike">
                <a:solidFill>
                  <a:srgbClr val="F0E6D2"/>
                </a:solidFill>
                <a:latin typeface="Malgun Gothic"/>
                <a:ea typeface="Malgun Gothic"/>
                <a:cs typeface="Malgun Gothic"/>
                <a:sym typeface="Malgun Gothic"/>
              </a:rPr>
              <a:t>이미 여기서 예고됩니다.</a:t>
            </a:r>
            <a:endParaRPr/>
          </a:p>
        </p:txBody>
      </p:sp>
      <p:sp>
        <p:nvSpPr>
          <p:cNvPr id="683" name="Google Shape;683;p18"/>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reports/figures/eda1_winrate_curve.png (학습셋 7,903행)</a:t>
            </a:r>
            <a:endParaRPr/>
          </a:p>
        </p:txBody>
      </p:sp>
      <p:sp>
        <p:nvSpPr>
          <p:cNvPr id="684" name="Google Shape;684;p18"/>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9" name="Shape 689"/>
        <p:cNvGrpSpPr/>
        <p:nvPr/>
      </p:nvGrpSpPr>
      <p:grpSpPr>
        <a:xfrm>
          <a:off x="0" y="0"/>
          <a:ext cx="0" cy="0"/>
          <a:chOff x="0" y="0"/>
          <a:chExt cx="0" cy="0"/>
        </a:xfrm>
      </p:grpSpPr>
      <p:pic>
        <p:nvPicPr>
          <p:cNvPr descr="rift_scene_dim.jpg" id="690" name="Google Shape;690;p21"/>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691" name="Google Shape;691;p21"/>
          <p:cNvSpPr/>
          <p:nvPr/>
        </p:nvSpPr>
        <p:spPr>
          <a:xfrm>
            <a:off x="0" y="548640"/>
            <a:ext cx="12191969" cy="6309360"/>
          </a:xfrm>
          <a:prstGeom prst="rect">
            <a:avLst/>
          </a:prstGeom>
          <a:gradFill>
            <a:gsLst>
              <a:gs pos="0">
                <a:srgbClr val="0A1428">
                  <a:alpha val="0"/>
                </a:srgbClr>
              </a:gs>
              <a:gs pos="100000">
                <a:srgbClr val="010A13">
                  <a:alpha val="76078"/>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2" name="Google Shape;692;p21"/>
          <p:cNvSpPr/>
          <p:nvPr/>
        </p:nvSpPr>
        <p:spPr>
          <a:xfrm>
            <a:off x="0" y="0"/>
            <a:ext cx="12191969" cy="548640"/>
          </a:xfrm>
          <a:prstGeom prst="rect">
            <a:avLst/>
          </a:prstGeom>
          <a:gradFill>
            <a:gsLst>
              <a:gs pos="0">
                <a:srgbClr val="010A13">
                  <a:alpha val="54902"/>
                </a:srgbClr>
              </a:gs>
              <a:gs pos="100000">
                <a:srgbClr val="0A1428">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3" name="Google Shape;693;p21"/>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4" name="Google Shape;694;p21"/>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5" name="Google Shape;695;p21"/>
          <p:cNvSpPr/>
          <p:nvPr/>
        </p:nvSpPr>
        <p:spPr>
          <a:xfrm>
            <a:off x="384048" y="370332"/>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6" name="Google Shape;696;p21"/>
          <p:cNvSpPr/>
          <p:nvPr/>
        </p:nvSpPr>
        <p:spPr>
          <a:xfrm>
            <a:off x="370332" y="384048"/>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7" name="Google Shape;697;p21"/>
          <p:cNvSpPr/>
          <p:nvPr/>
        </p:nvSpPr>
        <p:spPr>
          <a:xfrm>
            <a:off x="338328" y="338328"/>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8" name="Google Shape;698;p21"/>
          <p:cNvSpPr/>
          <p:nvPr/>
        </p:nvSpPr>
        <p:spPr>
          <a:xfrm>
            <a:off x="10619201" y="370332"/>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9" name="Google Shape;699;p21"/>
          <p:cNvSpPr/>
          <p:nvPr/>
        </p:nvSpPr>
        <p:spPr>
          <a:xfrm>
            <a:off x="11794205" y="384048"/>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0" name="Google Shape;700;p21"/>
          <p:cNvSpPr/>
          <p:nvPr/>
        </p:nvSpPr>
        <p:spPr>
          <a:xfrm>
            <a:off x="11853641" y="338328"/>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1" name="Google Shape;701;p21"/>
          <p:cNvSpPr/>
          <p:nvPr/>
        </p:nvSpPr>
        <p:spPr>
          <a:xfrm>
            <a:off x="384048" y="6460236"/>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2" name="Google Shape;702;p21"/>
          <p:cNvSpPr/>
          <p:nvPr/>
        </p:nvSpPr>
        <p:spPr>
          <a:xfrm>
            <a:off x="370332" y="5285232"/>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3" name="Google Shape;703;p21"/>
          <p:cNvSpPr/>
          <p:nvPr/>
        </p:nvSpPr>
        <p:spPr>
          <a:xfrm>
            <a:off x="338328" y="6519672"/>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4" name="Google Shape;704;p21"/>
          <p:cNvSpPr/>
          <p:nvPr/>
        </p:nvSpPr>
        <p:spPr>
          <a:xfrm>
            <a:off x="10619201" y="6460236"/>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5" name="Google Shape;705;p21"/>
          <p:cNvSpPr/>
          <p:nvPr/>
        </p:nvSpPr>
        <p:spPr>
          <a:xfrm>
            <a:off x="11794205" y="5285232"/>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6" name="Google Shape;706;p21"/>
          <p:cNvSpPr/>
          <p:nvPr/>
        </p:nvSpPr>
        <p:spPr>
          <a:xfrm>
            <a:off x="11853641" y="6519672"/>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7" name="Google Shape;707;p21"/>
          <p:cNvSpPr txBox="1"/>
          <p:nvPr/>
        </p:nvSpPr>
        <p:spPr>
          <a:xfrm>
            <a:off x="1371600" y="2590038"/>
            <a:ext cx="9418320" cy="4572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1300" u="none" cap="none" strike="noStrike">
                <a:solidFill>
                  <a:srgbClr val="C89B3C"/>
                </a:solidFill>
                <a:latin typeface="Malgun Gothic"/>
                <a:ea typeface="Malgun Gothic"/>
                <a:cs typeface="Malgun Gothic"/>
                <a:sym typeface="Malgun Gothic"/>
              </a:rPr>
              <a:t>SECTION 03</a:t>
            </a:r>
            <a:endParaRPr/>
          </a:p>
        </p:txBody>
      </p:sp>
      <p:sp>
        <p:nvSpPr>
          <p:cNvPr id="708" name="Google Shape;708;p21"/>
          <p:cNvSpPr txBox="1"/>
          <p:nvPr/>
        </p:nvSpPr>
        <p:spPr>
          <a:xfrm>
            <a:off x="1389950" y="3120216"/>
            <a:ext cx="9418200" cy="16623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4600" u="none" cap="none" strike="noStrike">
                <a:solidFill>
                  <a:srgbClr val="F0E6D2"/>
                </a:solidFill>
                <a:latin typeface="Malgun Gothic"/>
                <a:ea typeface="Malgun Gothic"/>
                <a:cs typeface="Malgun Gothic"/>
                <a:sym typeface="Malgun Gothic"/>
              </a:rPr>
              <a:t>Phase 2  | </a:t>
            </a:r>
            <a:r>
              <a:rPr b="1" i="0" lang="en-US" sz="4800" u="none" cap="none" strike="noStrike">
                <a:solidFill>
                  <a:srgbClr val="F0E6D2"/>
                </a:solidFill>
                <a:latin typeface="Malgun Gothic"/>
                <a:ea typeface="Malgun Gothic"/>
                <a:cs typeface="Malgun Gothic"/>
                <a:sym typeface="Malgun Gothic"/>
              </a:rPr>
              <a:t>문제 확인 : </a:t>
            </a:r>
            <a:endParaRPr/>
          </a:p>
          <a:p>
            <a:pPr indent="0" lvl="0" marL="0" marR="0" rtl="0" algn="ctr">
              <a:lnSpc>
                <a:spcPct val="125000"/>
              </a:lnSpc>
              <a:spcBef>
                <a:spcPts val="0"/>
              </a:spcBef>
              <a:spcAft>
                <a:spcPts val="0"/>
              </a:spcAft>
              <a:buNone/>
            </a:pPr>
            <a:r>
              <a:rPr b="1" i="0" lang="en-US" sz="4800" u="none" cap="none" strike="noStrike">
                <a:solidFill>
                  <a:srgbClr val="F0E6D2"/>
                </a:solidFill>
                <a:latin typeface="Malgun Gothic"/>
                <a:ea typeface="Malgun Gothic"/>
                <a:cs typeface="Malgun Gothic"/>
                <a:sym typeface="Malgun Gothic"/>
              </a:rPr>
              <a:t>재분석 및 군집화</a:t>
            </a:r>
            <a:endParaRPr b="1" i="0" sz="4600" u="none" cap="none" strike="noStrike">
              <a:solidFill>
                <a:srgbClr val="F0E6D2"/>
              </a:solidFill>
              <a:latin typeface="Malgun Gothic"/>
              <a:ea typeface="Malgun Gothic"/>
              <a:cs typeface="Malgun Gothic"/>
              <a:sym typeface="Malgun Gothic"/>
            </a:endParaRPr>
          </a:p>
        </p:txBody>
      </p:sp>
      <p:sp>
        <p:nvSpPr>
          <p:cNvPr id="709" name="Google Shape;709;p21"/>
          <p:cNvSpPr/>
          <p:nvPr/>
        </p:nvSpPr>
        <p:spPr>
          <a:xfrm>
            <a:off x="5641848" y="5097779"/>
            <a:ext cx="91440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png" id="710" name="Google Shape;710;p21"/>
          <p:cNvPicPr preferRelativeResize="0"/>
          <p:nvPr/>
        </p:nvPicPr>
        <p:blipFill rotWithShape="1">
          <a:blip r:embed="rId4">
            <a:alphaModFix/>
          </a:blip>
          <a:srcRect b="0" l="0" r="0" t="0"/>
          <a:stretch/>
        </p:blipFill>
        <p:spPr>
          <a:xfrm>
            <a:off x="566928" y="4855464"/>
            <a:ext cx="1070346" cy="1591056"/>
          </a:xfrm>
          <a:prstGeom prst="rect">
            <a:avLst/>
          </a:prstGeom>
          <a:noFill/>
          <a:ln>
            <a:noFill/>
          </a:ln>
        </p:spPr>
      </p:pic>
      <p:pic>
        <p:nvPicPr>
          <p:cNvPr descr="악어_small.png" id="711" name="Google Shape;711;p21"/>
          <p:cNvPicPr preferRelativeResize="0"/>
          <p:nvPr/>
        </p:nvPicPr>
        <p:blipFill rotWithShape="1">
          <a:blip r:embed="rId5">
            <a:alphaModFix/>
          </a:blip>
          <a:srcRect b="0" l="0" r="0" t="0"/>
          <a:stretch/>
        </p:blipFill>
        <p:spPr>
          <a:xfrm>
            <a:off x="10401216" y="5129783"/>
            <a:ext cx="1229951" cy="1316736"/>
          </a:xfrm>
          <a:prstGeom prst="rect">
            <a:avLst/>
          </a:prstGeom>
          <a:noFill/>
          <a:ln>
            <a:noFill/>
          </a:ln>
        </p:spPr>
      </p:pic>
      <p:sp>
        <p:nvSpPr>
          <p:cNvPr id="712" name="Google Shape;712;p21"/>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pic>
        <p:nvPicPr>
          <p:cNvPr id="717" name="Google Shape;717;g3fa15e3bff5_2_11"/>
          <p:cNvPicPr preferRelativeResize="0"/>
          <p:nvPr/>
        </p:nvPicPr>
        <p:blipFill>
          <a:blip r:embed="rId3">
            <a:alphaModFix/>
          </a:blip>
          <a:stretch>
            <a:fillRect/>
          </a:stretch>
        </p:blipFill>
        <p:spPr>
          <a:xfrm>
            <a:off x="0" y="0"/>
            <a:ext cx="12192000" cy="685601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22"/>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724" name="Google Shape;724;p22"/>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725" name="Google Shape;725;p22"/>
          <p:cNvSpPr/>
          <p:nvPr/>
        </p:nvSpPr>
        <p:spPr>
          <a:xfrm>
            <a:off x="39375" y="0"/>
            <a:ext cx="12192000"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26" name="Google Shape;726;p22"/>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27" name="Google Shape;727;p22"/>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28" name="Google Shape;728;p22"/>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29" name="Google Shape;729;p22"/>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30" name="Google Shape;730;p22"/>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31" name="Google Shape;731;p22"/>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32" name="Google Shape;732;p22"/>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3. Phase 2   |   </a:t>
            </a:r>
            <a:r>
              <a:rPr b="1" i="0" lang="en-US" sz="2500" u="none" cap="none" strike="noStrike">
                <a:solidFill>
                  <a:srgbClr val="F0E6D2"/>
                </a:solidFill>
                <a:latin typeface="Malgun Gothic"/>
                <a:ea typeface="Malgun Gothic"/>
                <a:cs typeface="Malgun Gothic"/>
                <a:sym typeface="Malgun Gothic"/>
              </a:rPr>
              <a:t>다중공선성 진단 — 중복의 중심</a:t>
            </a:r>
            <a:endParaRPr/>
          </a:p>
        </p:txBody>
      </p:sp>
      <p:sp>
        <p:nvSpPr>
          <p:cNvPr id="733" name="Google Shape;733;p22"/>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34" name="Google Shape;734;p22"/>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35" name="Google Shape;735;p22"/>
          <p:cNvSpPr/>
          <p:nvPr/>
        </p:nvSpPr>
        <p:spPr>
          <a:xfrm>
            <a:off x="1259288" y="1303025"/>
            <a:ext cx="4806900" cy="4363200"/>
          </a:xfrm>
          <a:prstGeom prst="rect">
            <a:avLst/>
          </a:prstGeom>
          <a:solidFill>
            <a:srgbClr val="5F5131"/>
          </a:solidFill>
          <a:ln>
            <a:noFill/>
          </a:ln>
        </p:spPr>
        <p:txBody>
          <a:bodyPr anchorCtr="0" anchor="ctr" bIns="47675" lIns="95350" spcFirstLastPara="1" rIns="95350" wrap="square" tIns="47675">
            <a:noAutofit/>
          </a:bodyPr>
          <a:lstStyle/>
          <a:p>
            <a:pPr indent="0" lvl="0" marL="0" marR="0" rtl="0" algn="ctr">
              <a:spcBef>
                <a:spcPts val="0"/>
              </a:spcBef>
              <a:spcAft>
                <a:spcPts val="0"/>
              </a:spcAft>
              <a:buNone/>
            </a:pPr>
            <a:r>
              <a:t/>
            </a:r>
            <a:endParaRPr b="0" i="0" sz="1877" u="none" cap="none" strike="noStrike">
              <a:solidFill>
                <a:schemeClr val="lt1"/>
              </a:solidFill>
              <a:latin typeface="Calibri"/>
              <a:ea typeface="Calibri"/>
              <a:cs typeface="Calibri"/>
              <a:sym typeface="Calibri"/>
            </a:endParaRPr>
          </a:p>
        </p:txBody>
      </p:sp>
      <p:sp>
        <p:nvSpPr>
          <p:cNvPr id="736" name="Google Shape;736;p22"/>
          <p:cNvSpPr/>
          <p:nvPr/>
        </p:nvSpPr>
        <p:spPr>
          <a:xfrm>
            <a:off x="1259288" y="1344760"/>
            <a:ext cx="4778100" cy="4273800"/>
          </a:xfrm>
          <a:prstGeom prst="rect">
            <a:avLst/>
          </a:prstGeom>
          <a:solidFill>
            <a:srgbClr val="F5F2EB"/>
          </a:solidFill>
          <a:ln cap="flat" cmpd="sng" w="16550">
            <a:solidFill>
              <a:srgbClr val="C89B3C"/>
            </a:solidFill>
            <a:prstDash val="solid"/>
            <a:round/>
            <a:headEnd len="sm" w="sm" type="none"/>
            <a:tailEnd len="sm" w="sm" type="none"/>
          </a:ln>
        </p:spPr>
        <p:txBody>
          <a:bodyPr anchorCtr="0" anchor="ctr" bIns="47675" lIns="95350" spcFirstLastPara="1" rIns="95350" wrap="square" tIns="47675">
            <a:noAutofit/>
          </a:bodyPr>
          <a:lstStyle/>
          <a:p>
            <a:pPr indent="0" lvl="0" marL="0" marR="0" rtl="0" algn="ctr">
              <a:spcBef>
                <a:spcPts val="0"/>
              </a:spcBef>
              <a:spcAft>
                <a:spcPts val="0"/>
              </a:spcAft>
              <a:buNone/>
            </a:pPr>
            <a:r>
              <a:t/>
            </a:r>
            <a:endParaRPr b="0" i="0" sz="1877" u="none" cap="none" strike="noStrike">
              <a:solidFill>
                <a:schemeClr val="lt1"/>
              </a:solidFill>
              <a:latin typeface="Calibri"/>
              <a:ea typeface="Calibri"/>
              <a:cs typeface="Calibri"/>
              <a:sym typeface="Calibri"/>
            </a:endParaRPr>
          </a:p>
        </p:txBody>
      </p:sp>
      <p:sp>
        <p:nvSpPr>
          <p:cNvPr id="737" name="Google Shape;737;p22"/>
          <p:cNvSpPr txBox="1"/>
          <p:nvPr/>
        </p:nvSpPr>
        <p:spPr>
          <a:xfrm>
            <a:off x="1261088" y="5746447"/>
            <a:ext cx="4572000" cy="4848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400" u="none" cap="none" strike="noStrike">
                <a:solidFill>
                  <a:srgbClr val="85837A"/>
                </a:solidFill>
                <a:latin typeface="Malgun Gothic"/>
                <a:ea typeface="Malgun Gothic"/>
                <a:cs typeface="Malgun Gothic"/>
                <a:sym typeface="Malgun Gothic"/>
              </a:rPr>
              <a:t>지표끼리 얼마나 겹치는가 — 진한 블록이 성장 지표 6개 (상관 0.9)</a:t>
            </a:r>
            <a:endParaRPr/>
          </a:p>
        </p:txBody>
      </p:sp>
      <p:graphicFrame>
        <p:nvGraphicFramePr>
          <p:cNvPr id="738" name="Google Shape;738;p22"/>
          <p:cNvGraphicFramePr/>
          <p:nvPr/>
        </p:nvGraphicFramePr>
        <p:xfrm>
          <a:off x="6731967" y="1263917"/>
          <a:ext cx="3000000" cy="3000000"/>
        </p:xfrm>
        <a:graphic>
          <a:graphicData uri="http://schemas.openxmlformats.org/drawingml/2006/table">
            <a:tbl>
              <a:tblPr>
                <a:noFill/>
                <a:tableStyleId>{46956E51-EF99-4CE0-B1A4-93B49CD02E09}</a:tableStyleId>
              </a:tblPr>
              <a:tblGrid>
                <a:gridCol w="2846500"/>
                <a:gridCol w="1366325"/>
              </a:tblGrid>
              <a:tr h="365750">
                <a:tc>
                  <a:txBody>
                    <a:bodyPr/>
                    <a:lstStyle/>
                    <a:p>
                      <a:pPr indent="0" lvl="0" marL="0" marR="0" rtl="0" algn="l">
                        <a:spcBef>
                          <a:spcPts val="0"/>
                        </a:spcBef>
                        <a:spcAft>
                          <a:spcPts val="0"/>
                        </a:spcAft>
                        <a:buNone/>
                      </a:pPr>
                      <a:r>
                        <a:rPr b="1" lang="en-US" u="none" cap="none" strike="noStrike">
                          <a:solidFill>
                            <a:srgbClr val="F0E6D2"/>
                          </a:solidFill>
                          <a:latin typeface="Malgun Gothic"/>
                          <a:ea typeface="Malgun Gothic"/>
                          <a:cs typeface="Malgun Gothic"/>
                          <a:sym typeface="Malgun Gothic"/>
                        </a:rPr>
                        <a:t>상관 0.7 이상 (8쌍 중 4)</a:t>
                      </a:r>
                      <a:endParaRPr sz="17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상관</a:t>
                      </a:r>
                      <a:endParaRPr sz="1700"/>
                    </a:p>
                  </a:txBody>
                  <a:tcPr marT="45725" marB="45725" marR="91450" marL="91450" anchor="ctr">
                    <a:solidFill>
                      <a:srgbClr val="3C3F3E"/>
                    </a:solidFill>
                  </a:tcPr>
                </a:tc>
              </a:tr>
              <a:tr h="32917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ExpDiff ↔ AvgLevelDiff</a:t>
                      </a:r>
                      <a:endParaRPr sz="17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+0.920</a:t>
                      </a:r>
                      <a:endParaRPr sz="1700"/>
                    </a:p>
                  </a:txBody>
                  <a:tcPr marT="45725" marB="45725" marR="91450" marL="91450" anchor="ctr">
                    <a:solidFill>
                      <a:srgbClr val="10223E"/>
                    </a:solidFill>
                  </a:tcPr>
                </a:tc>
              </a:tr>
              <a:tr h="32917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KillsDiff ↔ GoldDiff</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+0.918</a:t>
                      </a:r>
                      <a:endParaRPr sz="1700"/>
                    </a:p>
                  </a:txBody>
                  <a:tcPr marT="45725" marB="45725" marR="91450" marL="91450" anchor="ctr">
                    <a:solidFill>
                      <a:srgbClr val="09172B"/>
                    </a:solidFill>
                  </a:tcPr>
                </a:tc>
              </a:tr>
              <a:tr h="32917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GoldDiff ↔ ExpDiff</a:t>
                      </a:r>
                      <a:endParaRPr sz="17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+0.896</a:t>
                      </a:r>
                      <a:endParaRPr sz="1700"/>
                    </a:p>
                  </a:txBody>
                  <a:tcPr marT="45725" marB="45725" marR="91450" marL="91450" anchor="ctr">
                    <a:solidFill>
                      <a:srgbClr val="10223E"/>
                    </a:solidFill>
                  </a:tcPr>
                </a:tc>
              </a:tr>
              <a:tr h="32917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GoldDiff ↔ AvgLevelDiff</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+0.834</a:t>
                      </a:r>
                      <a:endParaRPr sz="1700"/>
                    </a:p>
                  </a:txBody>
                  <a:tcPr marT="45725" marB="45725" marR="91450" marL="91450" anchor="ctr">
                    <a:solidFill>
                      <a:srgbClr val="09172B"/>
                    </a:solidFill>
                  </a:tcPr>
                </a:tc>
              </a:tr>
            </a:tbl>
          </a:graphicData>
        </a:graphic>
      </p:graphicFrame>
      <p:graphicFrame>
        <p:nvGraphicFramePr>
          <p:cNvPr id="739" name="Google Shape;739;p22"/>
          <p:cNvGraphicFramePr/>
          <p:nvPr/>
        </p:nvGraphicFramePr>
        <p:xfrm>
          <a:off x="6731967" y="3143123"/>
          <a:ext cx="3000000" cy="3000000"/>
        </p:xfrm>
        <a:graphic>
          <a:graphicData uri="http://schemas.openxmlformats.org/drawingml/2006/table">
            <a:tbl>
              <a:tblPr>
                <a:noFill/>
                <a:tableStyleId>{46956E51-EF99-4CE0-B1A4-93B49CD02E09}</a:tableStyleId>
              </a:tblPr>
              <a:tblGrid>
                <a:gridCol w="2846500"/>
                <a:gridCol w="1366325"/>
              </a:tblGrid>
              <a:tr h="365750">
                <a:tc>
                  <a:txBody>
                    <a:bodyPr/>
                    <a:lstStyle/>
                    <a:p>
                      <a:pPr indent="0" lvl="0" marL="0" marR="0" rtl="0" algn="l">
                        <a:spcBef>
                          <a:spcPts val="0"/>
                        </a:spcBef>
                        <a:spcAft>
                          <a:spcPts val="0"/>
                        </a:spcAft>
                        <a:buNone/>
                      </a:pPr>
                      <a:r>
                        <a:rPr b="1" lang="en-US" u="none" cap="none" strike="noStrike">
                          <a:solidFill>
                            <a:srgbClr val="F0E6D2"/>
                          </a:solidFill>
                          <a:latin typeface="Malgun Gothic"/>
                          <a:ea typeface="Malgun Gothic"/>
                          <a:cs typeface="Malgun Gothic"/>
                          <a:sym typeface="Malgun Gothic"/>
                        </a:rPr>
                        <a:t>VIF &gt; 10 = 중복 의심</a:t>
                      </a:r>
                      <a:endParaRPr sz="17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VIF</a:t>
                      </a:r>
                      <a:endParaRPr sz="1700"/>
                    </a:p>
                  </a:txBody>
                  <a:tcPr marT="45725" marB="45725" marR="91450" marL="91450" anchor="ctr">
                    <a:solidFill>
                      <a:srgbClr val="3C3F3E"/>
                    </a:solidFill>
                  </a:tcPr>
                </a:tc>
              </a:tr>
              <a:tr h="32917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GoldDiff</a:t>
                      </a:r>
                      <a:endParaRPr sz="17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23.37</a:t>
                      </a:r>
                      <a:endParaRPr sz="1700"/>
                    </a:p>
                  </a:txBody>
                  <a:tcPr marT="45725" marB="45725" marR="91450" marL="91450" anchor="ctr">
                    <a:solidFill>
                      <a:srgbClr val="10223E"/>
                    </a:solidFill>
                  </a:tcPr>
                </a:tc>
              </a:tr>
              <a:tr h="32917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KillsDiff</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14.07</a:t>
                      </a:r>
                      <a:endParaRPr sz="1700"/>
                    </a:p>
                  </a:txBody>
                  <a:tcPr marT="45725" marB="45725" marR="91450" marL="91450" anchor="ctr">
                    <a:solidFill>
                      <a:srgbClr val="09172B"/>
                    </a:solidFill>
                  </a:tcPr>
                </a:tc>
              </a:tr>
              <a:tr h="329175">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ExpDiff</a:t>
                      </a:r>
                      <a:endParaRPr sz="17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12.92</a:t>
                      </a:r>
                      <a:endParaRPr sz="1700"/>
                    </a:p>
                  </a:txBody>
                  <a:tcPr marT="45725" marB="45725" marR="91450" marL="91450" anchor="ctr">
                    <a:solidFill>
                      <a:srgbClr val="10223E"/>
                    </a:solidFill>
                  </a:tcPr>
                </a:tc>
              </a:tr>
            </a:tbl>
          </a:graphicData>
        </a:graphic>
      </p:graphicFrame>
      <p:sp>
        <p:nvSpPr>
          <p:cNvPr id="740" name="Google Shape;740;p22"/>
          <p:cNvSpPr/>
          <p:nvPr/>
        </p:nvSpPr>
        <p:spPr>
          <a:xfrm>
            <a:off x="6731900" y="4662875"/>
            <a:ext cx="4212900" cy="13386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41" name="Google Shape;741;p22"/>
          <p:cNvSpPr/>
          <p:nvPr/>
        </p:nvSpPr>
        <p:spPr>
          <a:xfrm>
            <a:off x="6717952" y="4677416"/>
            <a:ext cx="45600" cy="1338600"/>
          </a:xfrm>
          <a:prstGeom prst="rect">
            <a:avLst/>
          </a:prstGeom>
          <a:solidFill>
            <a:srgbClr val="BE1E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42" name="Google Shape;742;p22"/>
          <p:cNvSpPr txBox="1"/>
          <p:nvPr/>
        </p:nvSpPr>
        <p:spPr>
          <a:xfrm>
            <a:off x="6830496" y="4888628"/>
            <a:ext cx="4015800" cy="9162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sz="1200" u="none" cap="none" strike="noStrike">
                <a:solidFill>
                  <a:srgbClr val="F0E6D2"/>
                </a:solidFill>
                <a:latin typeface="Malgun Gothic"/>
                <a:ea typeface="Malgun Gothic"/>
                <a:cs typeface="Malgun Gothic"/>
                <a:sym typeface="Malgun Gothic"/>
              </a:rPr>
              <a:t>성장 지표끼리 상관 0.9 —한 몸처럼 움직입니다.</a:t>
            </a:r>
            <a:endParaRPr b="1" i="0" sz="1200" u="none" cap="none" strike="noStrike">
              <a:solidFill>
                <a:srgbClr val="F0E6D2"/>
              </a:solidFill>
              <a:latin typeface="Malgun Gothic"/>
              <a:ea typeface="Malgun Gothic"/>
              <a:cs typeface="Malgun Gothic"/>
              <a:sym typeface="Malgun Gothic"/>
            </a:endParaRPr>
          </a:p>
          <a:p>
            <a:pPr indent="0" lvl="0" marL="0" marR="0" rtl="0" algn="l">
              <a:lnSpc>
                <a:spcPct val="132000"/>
              </a:lnSpc>
              <a:spcBef>
                <a:spcPts val="0"/>
              </a:spcBef>
              <a:spcAft>
                <a:spcPts val="0"/>
              </a:spcAft>
              <a:buNone/>
            </a:pPr>
            <a:r>
              <a:rPr b="1" lang="en-US" sz="1200">
                <a:solidFill>
                  <a:srgbClr val="F0E6D2"/>
                </a:solidFill>
                <a:latin typeface="Malgun Gothic"/>
                <a:ea typeface="Malgun Gothic"/>
                <a:cs typeface="Malgun Gothic"/>
                <a:sym typeface="Malgun Gothic"/>
              </a:rPr>
              <a:t>(골드·경험치·킬)</a:t>
            </a:r>
            <a:endParaRPr b="1" sz="1200">
              <a:solidFill>
                <a:srgbClr val="F0E6D2"/>
              </a:solidFill>
              <a:latin typeface="Malgun Gothic"/>
              <a:ea typeface="Malgun Gothic"/>
              <a:cs typeface="Malgun Gothic"/>
              <a:sym typeface="Malgun Gothic"/>
            </a:endParaRPr>
          </a:p>
          <a:p>
            <a:pPr indent="0" lvl="0" marL="0" marR="0" rtl="0" algn="l">
              <a:lnSpc>
                <a:spcPct val="132000"/>
              </a:lnSpc>
              <a:spcBef>
                <a:spcPts val="0"/>
              </a:spcBef>
              <a:spcAft>
                <a:spcPts val="0"/>
              </a:spcAft>
              <a:buNone/>
            </a:pPr>
            <a:r>
              <a:rPr b="1" i="0" lang="en-US" sz="1200" u="none" cap="none" strike="noStrike">
                <a:solidFill>
                  <a:srgbClr val="F0E6D2"/>
                </a:solidFill>
                <a:latin typeface="Malgun Gothic"/>
                <a:ea typeface="Malgun Gothic"/>
                <a:cs typeface="Malgun Gothic"/>
                <a:sym typeface="Malgun Gothic"/>
              </a:rPr>
              <a:t>승패와 관련 있는 5개</a:t>
            </a:r>
            <a:r>
              <a:rPr b="1" lang="en-US" sz="1200">
                <a:solidFill>
                  <a:srgbClr val="F0E6D2"/>
                </a:solidFill>
                <a:latin typeface="Malgun Gothic"/>
                <a:ea typeface="Malgun Gothic"/>
                <a:cs typeface="Malgun Gothic"/>
                <a:sym typeface="Malgun Gothic"/>
              </a:rPr>
              <a:t> </a:t>
            </a:r>
            <a:r>
              <a:rPr b="1" i="0" lang="en-US" sz="1200" u="none" cap="none" strike="noStrike">
                <a:solidFill>
                  <a:srgbClr val="F0E6D2"/>
                </a:solidFill>
                <a:latin typeface="Malgun Gothic"/>
                <a:ea typeface="Malgun Gothic"/>
                <a:cs typeface="Malgun Gothic"/>
                <a:sym typeface="Malgun Gothic"/>
              </a:rPr>
              <a:t>(킬·어시·미니언·타워·정글 몹)의</a:t>
            </a:r>
            <a:endParaRPr b="1" sz="1200">
              <a:solidFill>
                <a:srgbClr val="F0E6D2"/>
              </a:solidFill>
              <a:latin typeface="Malgun Gothic"/>
              <a:ea typeface="Malgun Gothic"/>
              <a:cs typeface="Malgun Gothic"/>
              <a:sym typeface="Malgun Gothic"/>
            </a:endParaRPr>
          </a:p>
          <a:p>
            <a:pPr indent="0" lvl="0" marL="0" marR="0" rtl="0" algn="l">
              <a:lnSpc>
                <a:spcPct val="132000"/>
              </a:lnSpc>
              <a:spcBef>
                <a:spcPts val="0"/>
              </a:spcBef>
              <a:spcAft>
                <a:spcPts val="0"/>
              </a:spcAft>
              <a:buNone/>
            </a:pPr>
            <a:r>
              <a:rPr b="1" lang="en-US" sz="1200">
                <a:solidFill>
                  <a:srgbClr val="F0E6D2"/>
                </a:solidFill>
                <a:latin typeface="Malgun Gothic"/>
                <a:ea typeface="Malgun Gothic"/>
                <a:cs typeface="Malgun Gothic"/>
                <a:sym typeface="Malgun Gothic"/>
              </a:rPr>
              <a:t> </a:t>
            </a:r>
            <a:r>
              <a:rPr b="1" i="0" lang="en-US" sz="1200" u="none" cap="none" strike="noStrike">
                <a:solidFill>
                  <a:srgbClr val="F0E6D2"/>
                </a:solidFill>
                <a:latin typeface="Malgun Gothic"/>
                <a:ea typeface="Malgun Gothic"/>
                <a:cs typeface="Malgun Gothic"/>
                <a:sym typeface="Malgun Gothic"/>
              </a:rPr>
              <a:t>가중치가</a:t>
            </a:r>
            <a:r>
              <a:rPr b="1" lang="en-US" sz="1200">
                <a:solidFill>
                  <a:srgbClr val="F0E6D2"/>
                </a:solidFill>
                <a:latin typeface="Malgun Gothic"/>
                <a:ea typeface="Malgun Gothic"/>
                <a:cs typeface="Malgun Gothic"/>
                <a:sym typeface="Malgun Gothic"/>
              </a:rPr>
              <a:t> </a:t>
            </a:r>
            <a:r>
              <a:rPr b="1" i="0" lang="en-US" sz="1200" u="none" cap="none" strike="noStrike">
                <a:solidFill>
                  <a:srgbClr val="F0E6D2"/>
                </a:solidFill>
                <a:latin typeface="Malgun Gothic"/>
                <a:ea typeface="Malgun Gothic"/>
                <a:cs typeface="Malgun Gothic"/>
                <a:sym typeface="Malgun Gothic"/>
              </a:rPr>
              <a:t>음수로 눌렸습니다.</a:t>
            </a:r>
            <a:endParaRPr sz="1500"/>
          </a:p>
        </p:txBody>
      </p:sp>
      <p:sp>
        <p:nvSpPr>
          <p:cNvPr id="743" name="Google Shape;743;p22"/>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reports/phase2_feature_reduction.md    |    골드는 킬·미니언·타워의 보상을 한 번에 담는 지표입니다</a:t>
            </a:r>
            <a:endParaRPr/>
          </a:p>
        </p:txBody>
      </p:sp>
      <p:sp>
        <p:nvSpPr>
          <p:cNvPr id="744" name="Google Shape;744;p22"/>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pic>
        <p:nvPicPr>
          <p:cNvPr descr="eda3_correlation.png" id="745" name="Google Shape;745;p22"/>
          <p:cNvPicPr preferRelativeResize="0"/>
          <p:nvPr/>
        </p:nvPicPr>
        <p:blipFill rotWithShape="1">
          <a:blip r:embed="rId4">
            <a:alphaModFix/>
          </a:blip>
          <a:srcRect b="0" l="0" r="0" t="0"/>
          <a:stretch/>
        </p:blipFill>
        <p:spPr>
          <a:xfrm>
            <a:off x="1259288" y="1374552"/>
            <a:ext cx="4740852" cy="418310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23"/>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752" name="Google Shape;752;p23"/>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753" name="Google Shape;753;p23"/>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4" name="Google Shape;754;p23"/>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5" name="Google Shape;755;p23"/>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6" name="Google Shape;756;p23"/>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7" name="Google Shape;757;p23"/>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8" name="Google Shape;758;p23"/>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9" name="Google Shape;759;p23"/>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60" name="Google Shape;760;p23"/>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3. Phase 2   |   </a:t>
            </a:r>
            <a:r>
              <a:rPr b="1" i="0" lang="en-US" sz="2500" u="none" cap="none" strike="noStrike">
                <a:solidFill>
                  <a:srgbClr val="F0E6D2"/>
                </a:solidFill>
                <a:latin typeface="Malgun Gothic"/>
                <a:ea typeface="Malgun Gothic"/>
                <a:cs typeface="Malgun Gothic"/>
                <a:sym typeface="Malgun Gothic"/>
              </a:rPr>
              <a:t>골드 제외 재학습 — 계수 변화</a:t>
            </a:r>
            <a:endParaRPr/>
          </a:p>
        </p:txBody>
      </p:sp>
      <p:sp>
        <p:nvSpPr>
          <p:cNvPr id="761" name="Google Shape;761;p23"/>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62" name="Google Shape;762;p23"/>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63" name="Google Shape;763;p23"/>
          <p:cNvSpPr/>
          <p:nvPr/>
        </p:nvSpPr>
        <p:spPr>
          <a:xfrm>
            <a:off x="731519" y="1280160"/>
            <a:ext cx="6675120" cy="278892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64" name="Google Shape;764;p23"/>
          <p:cNvSpPr/>
          <p:nvPr/>
        </p:nvSpPr>
        <p:spPr>
          <a:xfrm>
            <a:off x="777240" y="1328995"/>
            <a:ext cx="6583680" cy="2697480"/>
          </a:xfrm>
          <a:prstGeom prst="rect">
            <a:avLst/>
          </a:prstGeom>
          <a:solidFill>
            <a:srgbClr val="F5F2EB"/>
          </a:solid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07_phase2_without_gold.png" id="765" name="Google Shape;765;p23"/>
          <p:cNvPicPr preferRelativeResize="0"/>
          <p:nvPr/>
        </p:nvPicPr>
        <p:blipFill rotWithShape="1">
          <a:blip r:embed="rId4">
            <a:alphaModFix/>
          </a:blip>
          <a:srcRect b="0" l="0" r="0" t="0"/>
          <a:stretch/>
        </p:blipFill>
        <p:spPr>
          <a:xfrm>
            <a:off x="795525" y="1345525"/>
            <a:ext cx="6565402" cy="2686881"/>
          </a:xfrm>
          <a:prstGeom prst="rect">
            <a:avLst/>
          </a:prstGeom>
          <a:noFill/>
          <a:ln>
            <a:noFill/>
          </a:ln>
        </p:spPr>
      </p:pic>
      <p:sp>
        <p:nvSpPr>
          <p:cNvPr id="766" name="Google Shape;766;p23"/>
          <p:cNvSpPr txBox="1"/>
          <p:nvPr/>
        </p:nvSpPr>
        <p:spPr>
          <a:xfrm>
            <a:off x="777165" y="4238317"/>
            <a:ext cx="6583800" cy="2079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350" u="none" cap="none" strike="noStrike">
                <a:solidFill>
                  <a:srgbClr val="85837A"/>
                </a:solidFill>
                <a:latin typeface="Malgun Gothic"/>
                <a:ea typeface="Malgun Gothic"/>
                <a:cs typeface="Malgun Gothic"/>
                <a:sym typeface="Malgun Gothic"/>
              </a:rPr>
              <a:t>왼쪽: 계수가 어떻게 바뀌었나  ·  오른쪽: 그 대가로 점수를 얼마나 잃었나</a:t>
            </a:r>
            <a:endParaRPr sz="1600"/>
          </a:p>
        </p:txBody>
      </p:sp>
      <p:graphicFrame>
        <p:nvGraphicFramePr>
          <p:cNvPr id="767" name="Google Shape;767;p23"/>
          <p:cNvGraphicFramePr/>
          <p:nvPr/>
        </p:nvGraphicFramePr>
        <p:xfrm>
          <a:off x="7589520" y="1299229"/>
          <a:ext cx="3000000" cy="3000000"/>
        </p:xfrm>
        <a:graphic>
          <a:graphicData uri="http://schemas.openxmlformats.org/drawingml/2006/table">
            <a:tbl>
              <a:tblPr>
                <a:noFill/>
                <a:tableStyleId>{46956E51-EF99-4CE0-B1A4-93B49CD02E09}</a:tableStyleId>
              </a:tblPr>
              <a:tblGrid>
                <a:gridCol w="1820150"/>
                <a:gridCol w="1001075"/>
                <a:gridCol w="1001075"/>
              </a:tblGrid>
              <a:tr h="416250">
                <a:tc>
                  <a:txBody>
                    <a:bodyPr/>
                    <a:lstStyle/>
                    <a:p>
                      <a:pPr indent="0" lvl="0" marL="0" marR="0" rtl="0" algn="l">
                        <a:spcBef>
                          <a:spcPts val="0"/>
                        </a:spcBef>
                        <a:spcAft>
                          <a:spcPts val="0"/>
                        </a:spcAft>
                        <a:buNone/>
                      </a:pPr>
                      <a:r>
                        <a:rPr b="1" lang="en-US" u="none" cap="none" strike="noStrike">
                          <a:solidFill>
                            <a:srgbClr val="F0E6D2"/>
                          </a:solidFill>
                          <a:latin typeface="Malgun Gothic"/>
                          <a:ea typeface="Malgun Gothic"/>
                          <a:cs typeface="Malgun Gothic"/>
                          <a:sym typeface="Malgun Gothic"/>
                        </a:rPr>
                        <a:t>지표</a:t>
                      </a:r>
                      <a:endParaRPr sz="17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골드 포함</a:t>
                      </a:r>
                      <a:endParaRPr sz="17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골드 제외</a:t>
                      </a:r>
                      <a:endParaRPr sz="1700"/>
                    </a:p>
                  </a:txBody>
                  <a:tcPr marT="45725" marB="45725" marR="91450" marL="91450" anchor="ctr">
                    <a:solidFill>
                      <a:srgbClr val="3C3F3E"/>
                    </a:solidFill>
                  </a:tcPr>
                </a:tc>
              </a:tr>
              <a:tr h="395450">
                <a:tc>
                  <a:txBody>
                    <a:bodyPr/>
                    <a:lstStyle/>
                    <a:p>
                      <a:pPr indent="0" lvl="0" marL="0" marR="0" rtl="0" algn="l">
                        <a:spcBef>
                          <a:spcPts val="0"/>
                        </a:spcBef>
                        <a:spcAft>
                          <a:spcPts val="0"/>
                        </a:spcAft>
                        <a:buNone/>
                      </a:pPr>
                      <a:r>
                        <a:rPr b="1" lang="en-US" u="none" cap="none" strike="noStrike">
                          <a:solidFill>
                            <a:srgbClr val="F0E6D2"/>
                          </a:solidFill>
                          <a:latin typeface="Malgun Gothic"/>
                          <a:ea typeface="Malgun Gothic"/>
                          <a:cs typeface="Malgun Gothic"/>
                          <a:sym typeface="Malgun Gothic"/>
                        </a:rPr>
                        <a:t>킬 차이</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−0.107</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u="none" cap="none" strike="noStrike">
                          <a:solidFill>
                            <a:srgbClr val="F0E6D2"/>
                          </a:solidFill>
                          <a:latin typeface="Malgun Gothic"/>
                          <a:ea typeface="Malgun Gothic"/>
                          <a:cs typeface="Malgun Gothic"/>
                          <a:sym typeface="Malgun Gothic"/>
                        </a:rPr>
                        <a:t>+0.508</a:t>
                      </a:r>
                      <a:endParaRPr sz="1700"/>
                    </a:p>
                  </a:txBody>
                  <a:tcPr marT="45725" marB="45725" marR="91450" marL="91450" anchor="ctr">
                    <a:solidFill>
                      <a:srgbClr val="2D353E"/>
                    </a:solidFill>
                  </a:tcPr>
                </a:tc>
              </a:tr>
              <a:tr h="395450">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미니언 차이</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−0.157</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+0.114</a:t>
                      </a:r>
                      <a:endParaRPr sz="1700"/>
                    </a:p>
                  </a:txBody>
                  <a:tcPr marT="45725" marB="45725" marR="91450" marL="91450" anchor="ctr">
                    <a:solidFill>
                      <a:srgbClr val="09172B"/>
                    </a:solidFill>
                  </a:tcPr>
                </a:tc>
              </a:tr>
              <a:tr h="395450">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어시스트 차이</a:t>
                      </a:r>
                      <a:endParaRPr sz="17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−0.079</a:t>
                      </a:r>
                      <a:endParaRPr sz="17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+0.096</a:t>
                      </a:r>
                      <a:endParaRPr sz="1700"/>
                    </a:p>
                  </a:txBody>
                  <a:tcPr marT="45725" marB="45725" marR="91450" marL="91450" anchor="ctr">
                    <a:solidFill>
                      <a:srgbClr val="10223E"/>
                    </a:solidFill>
                  </a:tcPr>
                </a:tc>
              </a:tr>
              <a:tr h="395450">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타워 차이</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−0.064</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+0.114</a:t>
                      </a:r>
                      <a:endParaRPr sz="1700"/>
                    </a:p>
                  </a:txBody>
                  <a:tcPr marT="45725" marB="45725" marR="91450" marL="91450" anchor="ctr">
                    <a:solidFill>
                      <a:srgbClr val="09172B"/>
                    </a:solidFill>
                  </a:tcPr>
                </a:tc>
              </a:tr>
              <a:tr h="395450">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정글 몹 차이</a:t>
                      </a:r>
                      <a:endParaRPr sz="17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−0.000</a:t>
                      </a:r>
                      <a:endParaRPr sz="17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+0.107</a:t>
                      </a:r>
                      <a:endParaRPr sz="1700"/>
                    </a:p>
                  </a:txBody>
                  <a:tcPr marT="45725" marB="45725" marR="91450" marL="91450" anchor="ctr">
                    <a:solidFill>
                      <a:srgbClr val="10223E"/>
                    </a:solidFill>
                  </a:tcPr>
                </a:tc>
              </a:tr>
              <a:tr h="395450">
                <a:tc>
                  <a:txBody>
                    <a:bodyPr/>
                    <a:lstStyle/>
                    <a:p>
                      <a:pPr indent="0" lvl="0" marL="0" marR="0" rtl="0" algn="l">
                        <a:spcBef>
                          <a:spcPts val="0"/>
                        </a:spcBef>
                        <a:spcAft>
                          <a:spcPts val="0"/>
                        </a:spcAft>
                        <a:buNone/>
                      </a:pPr>
                      <a:r>
                        <a:rPr b="0" lang="en-US" u="none" cap="none" strike="noStrike">
                          <a:solidFill>
                            <a:srgbClr val="C1BEB4"/>
                          </a:solidFill>
                          <a:latin typeface="Malgun Gothic"/>
                          <a:ea typeface="Malgun Gothic"/>
                          <a:cs typeface="Malgun Gothic"/>
                          <a:sym typeface="Malgun Gothic"/>
                        </a:rPr>
                        <a:t>(참고) 경험치</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+0.461</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u="none" cap="none" strike="noStrike">
                          <a:solidFill>
                            <a:srgbClr val="C1BEB4"/>
                          </a:solidFill>
                          <a:latin typeface="Malgun Gothic"/>
                          <a:ea typeface="Malgun Gothic"/>
                          <a:cs typeface="Malgun Gothic"/>
                          <a:sym typeface="Malgun Gothic"/>
                        </a:rPr>
                        <a:t>+0.650</a:t>
                      </a:r>
                      <a:endParaRPr sz="1700"/>
                    </a:p>
                  </a:txBody>
                  <a:tcPr marT="45725" marB="45725" marR="91450" marL="91450" anchor="ctr">
                    <a:solidFill>
                      <a:srgbClr val="09172B"/>
                    </a:solidFill>
                  </a:tcPr>
                </a:tc>
              </a:tr>
            </a:tbl>
          </a:graphicData>
        </a:graphic>
      </p:graphicFrame>
      <p:grpSp>
        <p:nvGrpSpPr>
          <p:cNvPr id="768" name="Google Shape;768;p23"/>
          <p:cNvGrpSpPr/>
          <p:nvPr/>
        </p:nvGrpSpPr>
        <p:grpSpPr>
          <a:xfrm>
            <a:off x="7589525" y="4466037"/>
            <a:ext cx="3822300" cy="1600500"/>
            <a:chOff x="7589525" y="4466037"/>
            <a:chExt cx="3822300" cy="1600500"/>
          </a:xfrm>
        </p:grpSpPr>
        <p:sp>
          <p:nvSpPr>
            <p:cNvPr id="769" name="Google Shape;769;p23"/>
            <p:cNvSpPr/>
            <p:nvPr/>
          </p:nvSpPr>
          <p:spPr>
            <a:xfrm>
              <a:off x="7589525" y="4466037"/>
              <a:ext cx="3822300" cy="16005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70" name="Google Shape;770;p23"/>
            <p:cNvSpPr/>
            <p:nvPr/>
          </p:nvSpPr>
          <p:spPr>
            <a:xfrm>
              <a:off x="7589525" y="4466037"/>
              <a:ext cx="45600" cy="16005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771" name="Google Shape;771;p23"/>
          <p:cNvSpPr txBox="1"/>
          <p:nvPr/>
        </p:nvSpPr>
        <p:spPr>
          <a:xfrm>
            <a:off x="7827264" y="4632537"/>
            <a:ext cx="3365100" cy="1267500"/>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n-US" sz="1450" u="none" cap="none" strike="noStrike">
                <a:solidFill>
                  <a:srgbClr val="F0E6D2"/>
                </a:solidFill>
                <a:latin typeface="Malgun Gothic"/>
                <a:ea typeface="Malgun Gothic"/>
                <a:cs typeface="Malgun Gothic"/>
                <a:sym typeface="Malgun Gothic"/>
              </a:rPr>
              <a:t>음수로 눌려 있던 5개가</a:t>
            </a:r>
            <a:br>
              <a:rPr b="1" i="0" lang="en-US" u="none" cap="none" strike="noStrike">
                <a:solidFill>
                  <a:srgbClr val="F0E6D2"/>
                </a:solidFill>
                <a:latin typeface="Malgun Gothic"/>
                <a:ea typeface="Malgun Gothic"/>
                <a:cs typeface="Malgun Gothic"/>
                <a:sym typeface="Malgun Gothic"/>
              </a:rPr>
            </a:br>
            <a:r>
              <a:rPr b="1" i="0" lang="en-US" sz="1450" u="none" cap="none" strike="noStrike">
                <a:solidFill>
                  <a:srgbClr val="F0E6D2"/>
                </a:solidFill>
                <a:latin typeface="Malgun Gothic"/>
                <a:ea typeface="Malgun Gothic"/>
                <a:cs typeface="Malgun Gothic"/>
                <a:sym typeface="Malgun Gothic"/>
              </a:rPr>
              <a:t>전부 양수로 올라왔습니다.</a:t>
            </a:r>
            <a:br>
              <a:rPr b="1" i="0" lang="en-US" u="none" cap="none" strike="noStrike">
                <a:solidFill>
                  <a:srgbClr val="F0E6D2"/>
                </a:solidFill>
                <a:latin typeface="Malgun Gothic"/>
                <a:ea typeface="Malgun Gothic"/>
                <a:cs typeface="Malgun Gothic"/>
                <a:sym typeface="Malgun Gothic"/>
              </a:rPr>
            </a:br>
            <a:br>
              <a:rPr b="1" i="0" lang="en-US" u="none" cap="none" strike="noStrike">
                <a:solidFill>
                  <a:srgbClr val="F0E6D2"/>
                </a:solidFill>
                <a:latin typeface="Malgun Gothic"/>
                <a:ea typeface="Malgun Gothic"/>
                <a:cs typeface="Malgun Gothic"/>
                <a:sym typeface="Malgun Gothic"/>
              </a:rPr>
            </a:br>
            <a:r>
              <a:rPr b="1" i="0" lang="en-US" sz="1450" u="none" cap="none" strike="noStrike">
                <a:solidFill>
                  <a:srgbClr val="F0E6D2"/>
                </a:solidFill>
                <a:latin typeface="Malgun Gothic"/>
                <a:ea typeface="Malgun Gothic"/>
                <a:cs typeface="Malgun Gothic"/>
                <a:sym typeface="Malgun Gothic"/>
              </a:rPr>
              <a:t>킬은 방향이 바뀌면서</a:t>
            </a:r>
            <a:br>
              <a:rPr b="1" i="0" lang="en-US" u="none" cap="none" strike="noStrike">
                <a:solidFill>
                  <a:srgbClr val="F0E6D2"/>
                </a:solidFill>
                <a:latin typeface="Malgun Gothic"/>
                <a:ea typeface="Malgun Gothic"/>
                <a:cs typeface="Malgun Gothic"/>
                <a:sym typeface="Malgun Gothic"/>
              </a:rPr>
            </a:br>
            <a:r>
              <a:rPr b="1" i="0" lang="en-US" sz="1450" u="none" cap="none" strike="noStrike">
                <a:solidFill>
                  <a:srgbClr val="F0E6D2"/>
                </a:solidFill>
                <a:latin typeface="Malgun Gothic"/>
                <a:ea typeface="Malgun Gothic"/>
                <a:cs typeface="Malgun Gothic"/>
                <a:sym typeface="Malgun Gothic"/>
              </a:rPr>
              <a:t>크기도 5배가 됐습니다.</a:t>
            </a:r>
            <a:endParaRPr sz="1600"/>
          </a:p>
        </p:txBody>
      </p:sp>
      <p:sp>
        <p:nvSpPr>
          <p:cNvPr id="772" name="Google Shape;772;p23"/>
          <p:cNvSpPr txBox="1"/>
          <p:nvPr/>
        </p:nvSpPr>
        <p:spPr>
          <a:xfrm>
            <a:off x="585251" y="4943788"/>
            <a:ext cx="7050000" cy="10380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650" u="none" cap="none" strike="noStrike">
                <a:solidFill>
                  <a:srgbClr val="F0E6D2"/>
                </a:solidFill>
                <a:latin typeface="Malgun Gothic"/>
                <a:ea typeface="Malgun Gothic"/>
                <a:cs typeface="Malgun Gothic"/>
                <a:sym typeface="Malgun Gothic"/>
              </a:rPr>
              <a:t>◆  킬이 승패와 무관했던 것이 아니라, 골드가 킬의 몫까지 흡수</a:t>
            </a:r>
            <a:endParaRPr sz="1800"/>
          </a:p>
          <a:p>
            <a:pPr indent="0" lvl="0" marL="0" marR="0" rtl="0" algn="l">
              <a:lnSpc>
                <a:spcPct val="130000"/>
              </a:lnSpc>
              <a:spcBef>
                <a:spcPts val="600"/>
              </a:spcBef>
              <a:spcAft>
                <a:spcPts val="0"/>
              </a:spcAft>
              <a:buNone/>
            </a:pPr>
            <a:r>
              <a:rPr b="0" i="0" lang="en-US" sz="1450" u="none" cap="none" strike="noStrike">
                <a:solidFill>
                  <a:srgbClr val="8E8B80"/>
                </a:solidFill>
                <a:latin typeface="Malgun Gothic"/>
                <a:ea typeface="Malgun Gothic"/>
                <a:cs typeface="Malgun Gothic"/>
                <a:sym typeface="Malgun Gothic"/>
              </a:rPr>
              <a:t>    </a:t>
            </a:r>
            <a:r>
              <a:rPr b="0" i="0" lang="en-US" sz="1550" u="none" cap="none" strike="noStrike">
                <a:solidFill>
                  <a:srgbClr val="8E8B80"/>
                </a:solidFill>
                <a:latin typeface="Malgun Gothic"/>
                <a:ea typeface="Malgun Gothic"/>
                <a:cs typeface="Malgun Gothic"/>
                <a:sym typeface="Malgun Gothic"/>
              </a:rPr>
              <a:t> 정글 몹은 원래 −0.000(사실상 0)이었는데 +0.107 이 됐다 </a:t>
            </a:r>
            <a:endParaRPr b="0" i="0" sz="1550" u="none" cap="none" strike="noStrike">
              <a:solidFill>
                <a:srgbClr val="8E8B80"/>
              </a:solidFill>
              <a:latin typeface="Malgun Gothic"/>
              <a:ea typeface="Malgun Gothic"/>
              <a:cs typeface="Malgun Gothic"/>
              <a:sym typeface="Malgun Gothic"/>
            </a:endParaRPr>
          </a:p>
          <a:p>
            <a:pPr indent="457200" lvl="0" marL="0" marR="0" rtl="0" algn="l">
              <a:lnSpc>
                <a:spcPct val="130000"/>
              </a:lnSpc>
              <a:spcBef>
                <a:spcPts val="600"/>
              </a:spcBef>
              <a:spcAft>
                <a:spcPts val="0"/>
              </a:spcAft>
              <a:buNone/>
            </a:pPr>
            <a:r>
              <a:rPr lang="en-US" sz="1550">
                <a:solidFill>
                  <a:srgbClr val="8E8B80"/>
                </a:solidFill>
                <a:latin typeface="Malgun Gothic"/>
                <a:ea typeface="Malgun Gothic"/>
                <a:cs typeface="Malgun Gothic"/>
                <a:sym typeface="Malgun Gothic"/>
              </a:rPr>
              <a:t>→ </a:t>
            </a:r>
            <a:r>
              <a:rPr b="0" i="0" lang="en-US" sz="1550" u="none" cap="none" strike="noStrike">
                <a:solidFill>
                  <a:srgbClr val="8E8B80"/>
                </a:solidFill>
                <a:latin typeface="Malgun Gothic"/>
                <a:ea typeface="Malgun Gothic"/>
                <a:cs typeface="Malgun Gothic"/>
                <a:sym typeface="Malgun Gothic"/>
              </a:rPr>
              <a:t>골드에 가려</a:t>
            </a:r>
            <a:r>
              <a:rPr lang="en-US" sz="1550">
                <a:solidFill>
                  <a:srgbClr val="8E8B80"/>
                </a:solidFill>
                <a:latin typeface="Malgun Gothic"/>
                <a:ea typeface="Malgun Gothic"/>
                <a:cs typeface="Malgun Gothic"/>
                <a:sym typeface="Malgun Gothic"/>
              </a:rPr>
              <a:t>진</a:t>
            </a:r>
            <a:r>
              <a:rPr b="0" i="0" lang="en-US" sz="1550" u="none" cap="none" strike="noStrike">
                <a:solidFill>
                  <a:srgbClr val="8E8B80"/>
                </a:solidFill>
                <a:latin typeface="Malgun Gothic"/>
                <a:ea typeface="Malgun Gothic"/>
                <a:cs typeface="Malgun Gothic"/>
                <a:sym typeface="Malgun Gothic"/>
              </a:rPr>
              <a:t> 지표 </a:t>
            </a:r>
            <a:r>
              <a:rPr lang="en-US" sz="1550">
                <a:solidFill>
                  <a:srgbClr val="8E8B80"/>
                </a:solidFill>
                <a:latin typeface="Malgun Gothic"/>
                <a:ea typeface="Malgun Gothic"/>
                <a:cs typeface="Malgun Gothic"/>
                <a:sym typeface="Malgun Gothic"/>
              </a:rPr>
              <a:t>발견</a:t>
            </a:r>
            <a:endParaRPr sz="1900"/>
          </a:p>
        </p:txBody>
      </p:sp>
      <p:sp>
        <p:nvSpPr>
          <p:cNvPr id="773" name="Google Shape;773;p23"/>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reports/tables/phase2_coef_shift.csv</a:t>
            </a:r>
            <a:endParaRPr/>
          </a:p>
        </p:txBody>
      </p:sp>
      <p:sp>
        <p:nvSpPr>
          <p:cNvPr id="774" name="Google Shape;774;p23"/>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24"/>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781" name="Google Shape;781;p24"/>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782" name="Google Shape;782;p24"/>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83" name="Google Shape;783;p24"/>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84" name="Google Shape;784;p24"/>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85" name="Google Shape;785;p24"/>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86" name="Google Shape;786;p24"/>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87" name="Google Shape;787;p24"/>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88" name="Google Shape;788;p24"/>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89" name="Google Shape;789;p24"/>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3. Phase 2   |   </a:t>
            </a:r>
            <a:r>
              <a:rPr b="1" i="0" lang="en-US" sz="2500" u="none" cap="none" strike="noStrike">
                <a:solidFill>
                  <a:srgbClr val="F0E6D2"/>
                </a:solidFill>
                <a:latin typeface="Malgun Gothic"/>
                <a:ea typeface="Malgun Gothic"/>
                <a:cs typeface="Malgun Gothic"/>
                <a:sym typeface="Malgun Gothic"/>
              </a:rPr>
              <a:t>골드 제외의 대가 — 정확도 0.002 하락</a:t>
            </a:r>
            <a:endParaRPr/>
          </a:p>
        </p:txBody>
      </p:sp>
      <p:sp>
        <p:nvSpPr>
          <p:cNvPr id="790" name="Google Shape;790;p24"/>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91" name="Google Shape;791;p24"/>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aphicFrame>
        <p:nvGraphicFramePr>
          <p:cNvPr id="792" name="Google Shape;792;p24"/>
          <p:cNvGraphicFramePr/>
          <p:nvPr/>
        </p:nvGraphicFramePr>
        <p:xfrm>
          <a:off x="777240" y="1365205"/>
          <a:ext cx="3000000" cy="3000000"/>
        </p:xfrm>
        <a:graphic>
          <a:graphicData uri="http://schemas.openxmlformats.org/drawingml/2006/table">
            <a:tbl>
              <a:tblPr>
                <a:noFill/>
                <a:tableStyleId>{46956E51-EF99-4CE0-B1A4-93B49CD02E09}</a:tableStyleId>
              </a:tblPr>
              <a:tblGrid>
                <a:gridCol w="2750300"/>
                <a:gridCol w="1100125"/>
                <a:gridCol w="1558500"/>
                <a:gridCol w="1558500"/>
                <a:gridCol w="3667050"/>
              </a:tblGrid>
              <a:tr h="438900">
                <a:tc>
                  <a:txBody>
                    <a:bodyPr/>
                    <a:lstStyle/>
                    <a:p>
                      <a:pPr indent="0" lvl="0" marL="0" marR="0" rtl="0" algn="l">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구성</a:t>
                      </a:r>
                      <a:endParaRPr sz="16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지표 수</a:t>
                      </a:r>
                      <a:endParaRPr sz="16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교차검증</a:t>
                      </a:r>
                      <a:endParaRPr sz="16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홀드아웃</a:t>
                      </a:r>
                      <a:endParaRPr sz="16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1위 요인</a:t>
                      </a:r>
                      <a:endParaRPr sz="1600"/>
                    </a:p>
                  </a:txBody>
                  <a:tcPr marT="45725" marB="45725" marR="91450" marL="91450" anchor="ctr">
                    <a:solidFill>
                      <a:srgbClr val="3C3F3E"/>
                    </a:solidFill>
                  </a:tcPr>
                </a:tc>
              </a:tr>
              <a:tr h="475500">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전체 13개</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13</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0.7315</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0.7394</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GoldDiff +1.23</a:t>
                      </a:r>
                      <a:endParaRPr sz="1600"/>
                    </a:p>
                  </a:txBody>
                  <a:tcPr marT="45725" marB="45725" marR="91450" marL="91450" anchor="ctr">
                    <a:solidFill>
                      <a:srgbClr val="10223E"/>
                    </a:solidFill>
                  </a:tcPr>
                </a:tc>
              </a:tr>
              <a:tr h="475500">
                <a:tc>
                  <a:txBody>
                    <a:bodyPr/>
                    <a:lstStyle/>
                    <a:p>
                      <a:pPr indent="0" lvl="0" marL="0" marR="0" rtl="0" algn="l">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골드 제외</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12</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0.7214</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0.7373</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ExpDiff +0.65 · KillsDiff +0.51</a:t>
                      </a:r>
                      <a:endParaRPr sz="1600"/>
                    </a:p>
                  </a:txBody>
                  <a:tcPr marT="45725" marB="45725" marR="91450" marL="91450" anchor="ctr">
                    <a:solidFill>
                      <a:srgbClr val="2D353E"/>
                    </a:solidFill>
                  </a:tcPr>
                </a:tc>
              </a:tr>
              <a:tr h="475500">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골드 + 경험치 제외</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11</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0.7197</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0.7328</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KillsDiff +0.79</a:t>
                      </a:r>
                      <a:endParaRPr sz="1600"/>
                    </a:p>
                  </a:txBody>
                  <a:tcPr marT="45725" marB="45725" marR="91450" marL="91450" anchor="ctr">
                    <a:solidFill>
                      <a:srgbClr val="10223E"/>
                    </a:solidFill>
                  </a:tcPr>
                </a:tc>
              </a:tr>
              <a:tr h="475500">
                <a:tc>
                  <a:txBody>
                    <a:bodyPr/>
                    <a:lstStyle/>
                    <a:p>
                      <a:pPr indent="0" lvl="0" marL="0" marR="0" rtl="0" algn="l">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성장 지표 전부 제외</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7</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0.6409</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0.6336</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DragonsDiff +0.37</a:t>
                      </a:r>
                      <a:endParaRPr sz="1600"/>
                    </a:p>
                  </a:txBody>
                  <a:tcPr marT="45725" marB="45725" marR="91450" marL="91450" anchor="ctr">
                    <a:solidFill>
                      <a:srgbClr val="2D353E"/>
                    </a:solidFill>
                  </a:tcPr>
                </a:tc>
              </a:tr>
            </a:tbl>
          </a:graphicData>
        </a:graphic>
      </p:graphicFrame>
      <p:sp>
        <p:nvSpPr>
          <p:cNvPr id="793" name="Google Shape;793;p24"/>
          <p:cNvSpPr txBox="1"/>
          <p:nvPr/>
        </p:nvSpPr>
        <p:spPr>
          <a:xfrm>
            <a:off x="777240" y="3897646"/>
            <a:ext cx="10607100" cy="15297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700" u="none" cap="none" strike="noStrike">
                <a:solidFill>
                  <a:srgbClr val="F0E6D2"/>
                </a:solidFill>
                <a:latin typeface="Malgun Gothic"/>
                <a:ea typeface="Malgun Gothic"/>
                <a:cs typeface="Malgun Gothic"/>
                <a:sym typeface="Malgun Gothic"/>
              </a:rPr>
              <a:t>◆  골드가 특별해서 1위였던 것이 아님</a:t>
            </a:r>
            <a:endParaRPr sz="1700"/>
          </a:p>
          <a:p>
            <a:pPr indent="0" lvl="0" marL="0" marR="0" rtl="0" algn="l">
              <a:lnSpc>
                <a:spcPct val="130000"/>
              </a:lnSpc>
              <a:spcBef>
                <a:spcPts val="900"/>
              </a:spcBef>
              <a:spcAft>
                <a:spcPts val="0"/>
              </a:spcAft>
              <a:buNone/>
            </a:pPr>
            <a:r>
              <a:rPr b="0" i="0" lang="en-US" sz="1300" u="none" cap="none" strike="noStrike">
                <a:solidFill>
                  <a:srgbClr val="8E8B80"/>
                </a:solidFill>
                <a:latin typeface="Malgun Gothic"/>
                <a:ea typeface="Malgun Gothic"/>
                <a:cs typeface="Malgun Gothic"/>
                <a:sym typeface="Malgun Gothic"/>
              </a:rPr>
              <a:t> </a:t>
            </a:r>
            <a:r>
              <a:rPr b="0" i="0" lang="en-US" u="none" cap="none" strike="noStrike">
                <a:solidFill>
                  <a:srgbClr val="8E8B80"/>
                </a:solidFill>
                <a:latin typeface="Malgun Gothic"/>
                <a:ea typeface="Malgun Gothic"/>
                <a:cs typeface="Malgun Gothic"/>
                <a:sym typeface="Malgun Gothic"/>
              </a:rPr>
              <a:t>    </a:t>
            </a:r>
            <a:r>
              <a:rPr b="0" i="0" lang="en-US" sz="1500" u="none" cap="none" strike="noStrike">
                <a:solidFill>
                  <a:srgbClr val="8E8B80"/>
                </a:solidFill>
                <a:latin typeface="Malgun Gothic"/>
                <a:ea typeface="Malgun Gothic"/>
                <a:cs typeface="Malgun Gothic"/>
                <a:sym typeface="Malgun Gothic"/>
              </a:rPr>
              <a:t>다른 지표들이 이미 같은 정보를 담고 있어서, 골드가 없어도 경험치와 킬이 그 자리를 대신 채웁니다</a:t>
            </a:r>
            <a:endParaRPr sz="1700"/>
          </a:p>
          <a:p>
            <a:pPr indent="0" lvl="0" marL="0" marR="0" rtl="0" algn="l">
              <a:lnSpc>
                <a:spcPct val="132000"/>
              </a:lnSpc>
              <a:spcBef>
                <a:spcPts val="600"/>
              </a:spcBef>
              <a:spcAft>
                <a:spcPts val="0"/>
              </a:spcAft>
              <a:buNone/>
            </a:pPr>
            <a:r>
              <a:rPr b="1" i="0" lang="en-US" sz="1700" u="none" cap="none" strike="noStrike">
                <a:solidFill>
                  <a:srgbClr val="F0E6D2"/>
                </a:solidFill>
                <a:latin typeface="Malgun Gothic"/>
                <a:ea typeface="Malgun Gothic"/>
                <a:cs typeface="Malgun Gothic"/>
                <a:sym typeface="Malgun Gothic"/>
              </a:rPr>
              <a:t>◆  어디까지가 진짜 한계인지도 확인</a:t>
            </a:r>
            <a:endParaRPr sz="1700"/>
          </a:p>
          <a:p>
            <a:pPr indent="0" lvl="0" marL="0" marR="0" rtl="0" algn="l">
              <a:lnSpc>
                <a:spcPct val="130000"/>
              </a:lnSpc>
              <a:spcBef>
                <a:spcPts val="900"/>
              </a:spcBef>
              <a:spcAft>
                <a:spcPts val="0"/>
              </a:spcAft>
              <a:buNone/>
            </a:pPr>
            <a:r>
              <a:rPr b="0" i="0" lang="en-US" u="none" cap="none" strike="noStrike">
                <a:solidFill>
                  <a:srgbClr val="8E8B80"/>
                </a:solidFill>
                <a:latin typeface="Malgun Gothic"/>
                <a:ea typeface="Malgun Gothic"/>
                <a:cs typeface="Malgun Gothic"/>
                <a:sym typeface="Malgun Gothic"/>
              </a:rPr>
              <a:t>  </a:t>
            </a:r>
            <a:r>
              <a:rPr b="0" i="0" lang="en-US" sz="1500" u="none" cap="none" strike="noStrike">
                <a:solidFill>
                  <a:srgbClr val="8E8B80"/>
                </a:solidFill>
                <a:latin typeface="Malgun Gothic"/>
                <a:ea typeface="Malgun Gothic"/>
                <a:cs typeface="Malgun Gothic"/>
                <a:sym typeface="Malgun Gothic"/>
              </a:rPr>
              <a:t>   성장 지표를 전부 빼면 0.6336 으로 확 떨어집니다 — 드래곤·전령·와드만으로는 안 됩니다</a:t>
            </a:r>
            <a:endParaRPr sz="1700"/>
          </a:p>
        </p:txBody>
      </p:sp>
      <p:sp>
        <p:nvSpPr>
          <p:cNvPr id="794" name="Google Shape;794;p24"/>
          <p:cNvSpPr/>
          <p:nvPr/>
        </p:nvSpPr>
        <p:spPr>
          <a:xfrm>
            <a:off x="777240" y="5584362"/>
            <a:ext cx="10634400" cy="5487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95" name="Google Shape;795;p24"/>
          <p:cNvSpPr/>
          <p:nvPr/>
        </p:nvSpPr>
        <p:spPr>
          <a:xfrm>
            <a:off x="777240" y="5584362"/>
            <a:ext cx="45600" cy="5487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96" name="Google Shape;796;p24"/>
          <p:cNvSpPr txBox="1"/>
          <p:nvPr/>
        </p:nvSpPr>
        <p:spPr>
          <a:xfrm>
            <a:off x="1007383" y="5730487"/>
            <a:ext cx="10177200" cy="2463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sz="1600" u="none" cap="none" strike="noStrike">
                <a:solidFill>
                  <a:srgbClr val="F0E6D2"/>
                </a:solidFill>
                <a:latin typeface="Malgun Gothic"/>
                <a:ea typeface="Malgun Gothic"/>
                <a:cs typeface="Malgun Gothic"/>
                <a:sym typeface="Malgun Gothic"/>
              </a:rPr>
              <a:t>"10분 승패는 결국 성장 격차가 가른다"는 Phase 1의 결론이, 지표를 빼는 반대 방향에서도 확인됐습니다.</a:t>
            </a:r>
            <a:endParaRPr sz="1700"/>
          </a:p>
        </p:txBody>
      </p:sp>
      <p:sp>
        <p:nvSpPr>
          <p:cNvPr id="797" name="Google Shape;797;p24"/>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reports/tables/phase2_without_gold.csv</a:t>
            </a:r>
            <a:endParaRPr/>
          </a:p>
        </p:txBody>
      </p:sp>
      <p:sp>
        <p:nvSpPr>
          <p:cNvPr id="798" name="Google Shape;798;p24"/>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25"/>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805" name="Google Shape;805;p25"/>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806" name="Google Shape;806;p25"/>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07" name="Google Shape;807;p25"/>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08" name="Google Shape;808;p25"/>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09" name="Google Shape;809;p25"/>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0" name="Google Shape;810;p25"/>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1" name="Google Shape;811;p25"/>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2" name="Google Shape;812;p25"/>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3" name="Google Shape;813;p25"/>
          <p:cNvSpPr txBox="1"/>
          <p:nvPr/>
        </p:nvSpPr>
        <p:spPr>
          <a:xfrm>
            <a:off x="777240" y="530352"/>
            <a:ext cx="10634400" cy="4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3. Phase 2   |   </a:t>
            </a:r>
            <a:r>
              <a:rPr b="1" i="0" lang="en-US" sz="2500" u="none" cap="none" strike="noStrike">
                <a:solidFill>
                  <a:srgbClr val="F0E6D2"/>
                </a:solidFill>
                <a:latin typeface="Malgun Gothic"/>
                <a:ea typeface="Malgun Gothic"/>
                <a:cs typeface="Malgun Gothic"/>
                <a:sym typeface="Malgun Gothic"/>
              </a:rPr>
              <a:t>군집 — PCA 실패 → KMeans </a:t>
            </a:r>
            <a:r>
              <a:rPr b="1" lang="en-US" sz="2500">
                <a:solidFill>
                  <a:srgbClr val="F0E6D2"/>
                </a:solidFill>
                <a:latin typeface="Malgun Gothic"/>
                <a:ea typeface="Malgun Gothic"/>
                <a:cs typeface="Malgun Gothic"/>
                <a:sym typeface="Malgun Gothic"/>
              </a:rPr>
              <a:t>채택</a:t>
            </a:r>
            <a:endParaRPr b="1" i="0" sz="2500" u="none" cap="none" strike="noStrike">
              <a:solidFill>
                <a:srgbClr val="F0E6D2"/>
              </a:solidFill>
              <a:latin typeface="Malgun Gothic"/>
              <a:ea typeface="Malgun Gothic"/>
              <a:cs typeface="Malgun Gothic"/>
              <a:sym typeface="Malgun Gothic"/>
            </a:endParaRPr>
          </a:p>
        </p:txBody>
      </p:sp>
      <p:sp>
        <p:nvSpPr>
          <p:cNvPr id="814" name="Google Shape;814;p25"/>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5" name="Google Shape;815;p25"/>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6" name="Google Shape;816;p25"/>
          <p:cNvSpPr/>
          <p:nvPr/>
        </p:nvSpPr>
        <p:spPr>
          <a:xfrm>
            <a:off x="731519" y="1613535"/>
            <a:ext cx="6766500" cy="36120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7" name="Google Shape;817;p25"/>
          <p:cNvSpPr/>
          <p:nvPr/>
        </p:nvSpPr>
        <p:spPr>
          <a:xfrm>
            <a:off x="777240" y="1662370"/>
            <a:ext cx="6675000" cy="3520500"/>
          </a:xfrm>
          <a:prstGeom prst="rect">
            <a:avLst/>
          </a:prstGeom>
          <a:solidFill>
            <a:srgbClr val="F5F2EB"/>
          </a:solid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day2_pca_cluster.png" id="818" name="Google Shape;818;p25"/>
          <p:cNvPicPr preferRelativeResize="0"/>
          <p:nvPr/>
        </p:nvPicPr>
        <p:blipFill rotWithShape="1">
          <a:blip r:embed="rId4">
            <a:alphaModFix/>
          </a:blip>
          <a:srcRect b="0" l="0" r="0" t="0"/>
          <a:stretch/>
        </p:blipFill>
        <p:spPr>
          <a:xfrm>
            <a:off x="886968" y="2288793"/>
            <a:ext cx="6455665" cy="2347514"/>
          </a:xfrm>
          <a:prstGeom prst="rect">
            <a:avLst/>
          </a:prstGeom>
          <a:noFill/>
          <a:ln>
            <a:noFill/>
          </a:ln>
        </p:spPr>
      </p:pic>
      <p:sp>
        <p:nvSpPr>
          <p:cNvPr id="819" name="Google Shape;819;p25"/>
          <p:cNvSpPr txBox="1"/>
          <p:nvPr/>
        </p:nvSpPr>
        <p:spPr>
          <a:xfrm>
            <a:off x="777240" y="5438539"/>
            <a:ext cx="6675000" cy="1617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050" u="none" cap="none" strike="noStrike">
                <a:solidFill>
                  <a:srgbClr val="85837A"/>
                </a:solidFill>
                <a:latin typeface="Malgun Gothic"/>
                <a:ea typeface="Malgun Gothic"/>
                <a:cs typeface="Malgun Gothic"/>
                <a:sym typeface="Malgun Gothic"/>
              </a:rPr>
              <a:t>왼쪽: 축을 하나씩 더할 때마다 얼마나 설명하나  ·  오른쪽: PC1·PC2 평면에 9,879판을 흩뿌리고 두 덩어리로</a:t>
            </a:r>
            <a:endParaRPr/>
          </a:p>
        </p:txBody>
      </p:sp>
      <p:sp>
        <p:nvSpPr>
          <p:cNvPr id="820" name="Google Shape;820;p25"/>
          <p:cNvSpPr txBox="1"/>
          <p:nvPr/>
        </p:nvSpPr>
        <p:spPr>
          <a:xfrm>
            <a:off x="7863840" y="1662370"/>
            <a:ext cx="3547800" cy="23505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650" u="none" cap="none" strike="noStrike">
                <a:solidFill>
                  <a:srgbClr val="F0E6D2"/>
                </a:solidFill>
                <a:latin typeface="Malgun Gothic"/>
                <a:ea typeface="Malgun Gothic"/>
                <a:cs typeface="Malgun Gothic"/>
                <a:sym typeface="Malgun Gothic"/>
              </a:rPr>
              <a:t>◆  첫 축 하나가 39% 를 설명</a:t>
            </a:r>
            <a:endParaRPr sz="1800"/>
          </a:p>
          <a:p>
            <a:pPr indent="0" lvl="0" marL="0" marR="0" rtl="0" algn="l">
              <a:lnSpc>
                <a:spcPct val="130000"/>
              </a:lnSpc>
              <a:spcBef>
                <a:spcPts val="600"/>
              </a:spcBef>
              <a:spcAft>
                <a:spcPts val="0"/>
              </a:spcAft>
              <a:buNone/>
            </a:pPr>
            <a:r>
              <a:rPr b="0" i="0" lang="en-US" sz="1250" u="none" cap="none" strike="noStrike">
                <a:solidFill>
                  <a:srgbClr val="8E8B80"/>
                </a:solidFill>
                <a:latin typeface="Malgun Gothic"/>
                <a:ea typeface="Malgun Gothic"/>
                <a:cs typeface="Malgun Gothic"/>
                <a:sym typeface="Malgun Gothic"/>
              </a:rPr>
              <a:t>그다음부터는 한 축당 10% 미만 — "정보가 한 방향에 쏠려 있다"는 뜻이라 여기까지는 쓸 만합니다</a:t>
            </a:r>
            <a:endParaRPr sz="1600"/>
          </a:p>
          <a:p>
            <a:pPr indent="0" lvl="0" marL="0" marR="0" rtl="0" algn="l">
              <a:lnSpc>
                <a:spcPct val="132000"/>
              </a:lnSpc>
              <a:spcBef>
                <a:spcPts val="300"/>
              </a:spcBef>
              <a:spcAft>
                <a:spcPts val="0"/>
              </a:spcAft>
              <a:buNone/>
            </a:pPr>
            <a:r>
              <a:rPr b="1" i="0" lang="en-US" sz="1550" u="none" cap="none" strike="noStrike">
                <a:solidFill>
                  <a:srgbClr val="F0E6D2"/>
                </a:solidFill>
                <a:latin typeface="Malgun Gothic"/>
                <a:ea typeface="Malgun Gothic"/>
                <a:cs typeface="Malgun Gothic"/>
                <a:sym typeface="Malgun Gothic"/>
              </a:rPr>
              <a:t>◆  그런데 두 덩어리는 PC1 의 0 을 기준으로 세로로 갈렸을 뿐</a:t>
            </a:r>
            <a:endParaRPr sz="1700"/>
          </a:p>
          <a:p>
            <a:pPr indent="0" lvl="0" marL="0" marR="0" rtl="0" algn="l">
              <a:lnSpc>
                <a:spcPct val="130000"/>
              </a:lnSpc>
              <a:spcBef>
                <a:spcPts val="600"/>
              </a:spcBef>
              <a:spcAft>
                <a:spcPts val="0"/>
              </a:spcAft>
              <a:buNone/>
            </a:pPr>
            <a:r>
              <a:rPr b="0" i="0" lang="en-US" sz="1250" u="none" cap="none" strike="noStrike">
                <a:solidFill>
                  <a:srgbClr val="8E8B80"/>
                </a:solidFill>
                <a:latin typeface="Malgun Gothic"/>
                <a:ea typeface="Malgun Gothic"/>
                <a:cs typeface="Malgun Gothic"/>
                <a:sym typeface="Malgun Gothic"/>
              </a:rPr>
              <a:t>결국 "블루가 앞선 판 / 레드가 앞선 판" — 정답을 그대로 되비춘 것이라 새 정보가 없습니다</a:t>
            </a:r>
            <a:endParaRPr sz="1600"/>
          </a:p>
        </p:txBody>
      </p:sp>
      <p:sp>
        <p:nvSpPr>
          <p:cNvPr id="821" name="Google Shape;821;p25"/>
          <p:cNvSpPr/>
          <p:nvPr/>
        </p:nvSpPr>
        <p:spPr>
          <a:xfrm>
            <a:off x="7863850" y="4228300"/>
            <a:ext cx="3547800" cy="15585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22" name="Google Shape;822;p25"/>
          <p:cNvSpPr/>
          <p:nvPr/>
        </p:nvSpPr>
        <p:spPr>
          <a:xfrm>
            <a:off x="7863850" y="4228300"/>
            <a:ext cx="45600" cy="15585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23" name="Google Shape;823;p25"/>
          <p:cNvSpPr txBox="1"/>
          <p:nvPr/>
        </p:nvSpPr>
        <p:spPr>
          <a:xfrm>
            <a:off x="8101583" y="4379488"/>
            <a:ext cx="3090600" cy="1265400"/>
          </a:xfrm>
          <a:prstGeom prst="rect">
            <a:avLst/>
          </a:prstGeom>
          <a:noFill/>
          <a:ln>
            <a:noFill/>
          </a:ln>
        </p:spPr>
        <p:txBody>
          <a:bodyPr anchorCtr="0" anchor="ctr" bIns="0" lIns="0" spcFirstLastPara="1" rIns="0" wrap="square" tIns="0">
            <a:spAutoFit/>
          </a:bodyPr>
          <a:lstStyle/>
          <a:p>
            <a:pPr indent="0" lvl="0" marL="0" marR="0" rtl="0" algn="l">
              <a:lnSpc>
                <a:spcPct val="118000"/>
              </a:lnSpc>
              <a:spcBef>
                <a:spcPts val="0"/>
              </a:spcBef>
              <a:spcAft>
                <a:spcPts val="0"/>
              </a:spcAft>
              <a:buNone/>
            </a:pPr>
            <a:r>
              <a:rPr b="1" i="0" lang="en-US" sz="1200" u="none" cap="none" strike="noStrike">
                <a:solidFill>
                  <a:srgbClr val="F0E6D2"/>
                </a:solidFill>
                <a:latin typeface="Malgun Gothic"/>
                <a:ea typeface="Malgun Gothic"/>
                <a:cs typeface="Malgun Gothic"/>
                <a:sym typeface="Malgun Gothic"/>
              </a:rPr>
              <a:t>여기서 의심이 하나 남습니다 —</a:t>
            </a:r>
            <a:br>
              <a:rPr b="1" i="0" lang="en-US" sz="1150" u="none" cap="none" strike="noStrike">
                <a:solidFill>
                  <a:srgbClr val="F0E6D2"/>
                </a:solidFill>
                <a:latin typeface="Malgun Gothic"/>
                <a:ea typeface="Malgun Gothic"/>
                <a:cs typeface="Malgun Gothic"/>
                <a:sym typeface="Malgun Gothic"/>
              </a:rPr>
            </a:br>
            <a:r>
              <a:rPr b="1" i="0" lang="en-US" sz="1200" u="none" cap="none" strike="noStrike">
                <a:solidFill>
                  <a:srgbClr val="F0E6D2"/>
                </a:solidFill>
                <a:latin typeface="Malgun Gothic"/>
                <a:ea typeface="Malgun Gothic"/>
                <a:cs typeface="Malgun Gothic"/>
                <a:sym typeface="Malgun Gothic"/>
              </a:rPr>
              <a:t>골드가 워낙 세니까</a:t>
            </a:r>
            <a:br>
              <a:rPr b="1" i="0" lang="en-US" sz="1150" u="none" cap="none" strike="noStrike">
                <a:solidFill>
                  <a:srgbClr val="F0E6D2"/>
                </a:solidFill>
                <a:latin typeface="Malgun Gothic"/>
                <a:ea typeface="Malgun Gothic"/>
                <a:cs typeface="Malgun Gothic"/>
                <a:sym typeface="Malgun Gothic"/>
              </a:rPr>
            </a:br>
            <a:r>
              <a:rPr b="1" i="0" lang="en-US" sz="1200" u="none" cap="none" strike="noStrike">
                <a:solidFill>
                  <a:srgbClr val="F0E6D2"/>
                </a:solidFill>
                <a:latin typeface="Malgun Gothic"/>
                <a:ea typeface="Malgun Gothic"/>
                <a:cs typeface="Malgun Gothic"/>
                <a:sym typeface="Malgun Gothic"/>
              </a:rPr>
              <a:t>PCA 가 안 통한 것 아닐까?</a:t>
            </a:r>
            <a:br>
              <a:rPr b="1" i="0" lang="en-US" sz="1150" u="none" cap="none" strike="noStrike">
                <a:solidFill>
                  <a:srgbClr val="F0E6D2"/>
                </a:solidFill>
                <a:latin typeface="Malgun Gothic"/>
                <a:ea typeface="Malgun Gothic"/>
                <a:cs typeface="Malgun Gothic"/>
                <a:sym typeface="Malgun Gothic"/>
              </a:rPr>
            </a:br>
            <a:br>
              <a:rPr b="1" i="0" lang="en-US" sz="1150" u="none" cap="none" strike="noStrike">
                <a:solidFill>
                  <a:srgbClr val="F0E6D2"/>
                </a:solidFill>
                <a:latin typeface="Malgun Gothic"/>
                <a:ea typeface="Malgun Gothic"/>
                <a:cs typeface="Malgun Gothic"/>
                <a:sym typeface="Malgun Gothic"/>
              </a:rPr>
            </a:br>
            <a:r>
              <a:rPr b="1" i="0" lang="en-US" sz="1200" u="none" cap="none" strike="noStrike">
                <a:solidFill>
                  <a:srgbClr val="F0E6D2"/>
                </a:solidFill>
                <a:latin typeface="Malgun Gothic"/>
                <a:ea typeface="Malgun Gothic"/>
                <a:cs typeface="Malgun Gothic"/>
                <a:sym typeface="Malgun Gothic"/>
              </a:rPr>
              <a:t>그렇다면 골드를 빼면</a:t>
            </a:r>
            <a:br>
              <a:rPr b="1" i="0" lang="en-US" sz="1150" u="none" cap="none" strike="noStrike">
                <a:solidFill>
                  <a:srgbClr val="F0E6D2"/>
                </a:solidFill>
                <a:latin typeface="Malgun Gothic"/>
                <a:ea typeface="Malgun Gothic"/>
                <a:cs typeface="Malgun Gothic"/>
                <a:sym typeface="Malgun Gothic"/>
              </a:rPr>
            </a:br>
            <a:r>
              <a:rPr b="1" i="0" lang="en-US" sz="1200" u="none" cap="none" strike="noStrike">
                <a:solidFill>
                  <a:srgbClr val="F0E6D2"/>
                </a:solidFill>
                <a:latin typeface="Malgun Gothic"/>
                <a:ea typeface="Malgun Gothic"/>
                <a:cs typeface="Malgun Gothic"/>
                <a:sym typeface="Malgun Gothic"/>
              </a:rPr>
              <a:t>다른 구조가 나와야 합니다.</a:t>
            </a:r>
            <a:endParaRPr/>
          </a:p>
        </p:txBody>
      </p:sp>
      <p:sp>
        <p:nvSpPr>
          <p:cNvPr id="824" name="Google Shape;824;p25"/>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reports/figures/day2_pca_cluster.png    |    개념 → STUDY 12번 PCA · 13번 KMeans</a:t>
            </a:r>
            <a:endParaRPr/>
          </a:p>
        </p:txBody>
      </p:sp>
      <p:sp>
        <p:nvSpPr>
          <p:cNvPr id="825" name="Google Shape;825;p25"/>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26"/>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832" name="Google Shape;832;p26"/>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833" name="Google Shape;833;p26"/>
          <p:cNvSpPr/>
          <p:nvPr/>
        </p:nvSpPr>
        <p:spPr>
          <a:xfrm>
            <a:off x="0" y="0"/>
            <a:ext cx="12192000"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34" name="Google Shape;834;p26"/>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35" name="Google Shape;835;p26"/>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36" name="Google Shape;836;p26"/>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37" name="Google Shape;837;p26"/>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38" name="Google Shape;838;p26"/>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39" name="Google Shape;839;p26"/>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40" name="Google Shape;840;p26"/>
          <p:cNvSpPr txBox="1"/>
          <p:nvPr/>
        </p:nvSpPr>
        <p:spPr>
          <a:xfrm>
            <a:off x="777240" y="530352"/>
            <a:ext cx="10634400" cy="4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3. Phase 2   |   </a:t>
            </a:r>
            <a:r>
              <a:rPr b="1" lang="en-US" sz="2500">
                <a:solidFill>
                  <a:srgbClr val="F0E6D2"/>
                </a:solidFill>
                <a:latin typeface="Malgun Gothic"/>
                <a:ea typeface="Malgun Gothic"/>
                <a:cs typeface="Malgun Gothic"/>
                <a:sym typeface="Malgun Gothic"/>
              </a:rPr>
              <a:t>KMeans</a:t>
            </a:r>
            <a:r>
              <a:rPr b="1" i="0" lang="en-US" sz="2500" u="none" cap="none" strike="noStrike">
                <a:solidFill>
                  <a:srgbClr val="F0E6D2"/>
                </a:solidFill>
                <a:latin typeface="Malgun Gothic"/>
                <a:ea typeface="Malgun Gothic"/>
                <a:cs typeface="Malgun Gothic"/>
                <a:sym typeface="Malgun Gothic"/>
              </a:rPr>
              <a:t>  — 유형 지도</a:t>
            </a:r>
            <a:endParaRPr/>
          </a:p>
        </p:txBody>
      </p:sp>
      <p:sp>
        <p:nvSpPr>
          <p:cNvPr id="841" name="Google Shape;841;p26"/>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42" name="Google Shape;842;p26"/>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day2b_game_types.png" id="843" name="Google Shape;843;p26"/>
          <p:cNvPicPr preferRelativeResize="0"/>
          <p:nvPr/>
        </p:nvPicPr>
        <p:blipFill rotWithShape="1">
          <a:blip r:embed="rId4">
            <a:alphaModFix/>
          </a:blip>
          <a:srcRect b="0" l="0" r="0" t="0"/>
          <a:stretch/>
        </p:blipFill>
        <p:spPr>
          <a:xfrm>
            <a:off x="3492245" y="1182344"/>
            <a:ext cx="5204462" cy="3233074"/>
          </a:xfrm>
          <a:prstGeom prst="rect">
            <a:avLst/>
          </a:prstGeom>
          <a:noFill/>
          <a:ln>
            <a:noFill/>
          </a:ln>
        </p:spPr>
      </p:pic>
      <p:sp>
        <p:nvSpPr>
          <p:cNvPr id="844" name="Google Shape;844;p26"/>
          <p:cNvSpPr txBox="1"/>
          <p:nvPr/>
        </p:nvSpPr>
        <p:spPr>
          <a:xfrm>
            <a:off x="3708000" y="4500000"/>
            <a:ext cx="4663440" cy="27432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100" u="none" cap="none" strike="noStrike">
                <a:solidFill>
                  <a:srgbClr val="85837A"/>
                </a:solidFill>
                <a:latin typeface="Malgun Gothic"/>
                <a:ea typeface="Malgun Gothic"/>
                <a:cs typeface="Malgun Gothic"/>
                <a:sym typeface="Malgun Gothic"/>
              </a:rPr>
              <a:t>기울기(가로) × 싸움 빈도(세로) — X 가 각 유형의 중심</a:t>
            </a:r>
            <a:endParaRPr b="0" i="0" sz="1100" u="none" cap="none" strike="noStrike">
              <a:solidFill>
                <a:srgbClr val="85837A"/>
              </a:solidFill>
              <a:latin typeface="Malgun Gothic"/>
              <a:ea typeface="Malgun Gothic"/>
              <a:cs typeface="Malgun Gothic"/>
              <a:sym typeface="Malgun Gothic"/>
            </a:endParaRPr>
          </a:p>
        </p:txBody>
      </p:sp>
      <p:graphicFrame>
        <p:nvGraphicFramePr>
          <p:cNvPr id="845" name="Google Shape;845;p26"/>
          <p:cNvGraphicFramePr/>
          <p:nvPr/>
        </p:nvGraphicFramePr>
        <p:xfrm>
          <a:off x="1303170" y="4738448"/>
          <a:ext cx="3000000" cy="3000000"/>
        </p:xfrm>
        <a:graphic>
          <a:graphicData uri="http://schemas.openxmlformats.org/drawingml/2006/table">
            <a:tbl>
              <a:tblPr>
                <a:noFill/>
                <a:tableStyleId>{46956E51-EF99-4CE0-B1A4-93B49CD02E09}</a:tableStyleId>
              </a:tblPr>
              <a:tblGrid>
                <a:gridCol w="1994800"/>
                <a:gridCol w="1263375"/>
                <a:gridCol w="6324425"/>
              </a:tblGrid>
              <a:tr h="329175">
                <a:tc>
                  <a:txBody>
                    <a:bodyPr/>
                    <a:lstStyle/>
                    <a:p>
                      <a:pPr indent="0" lvl="0" marL="0" marR="0" rtl="0" algn="l">
                        <a:spcBef>
                          <a:spcPts val="0"/>
                        </a:spcBef>
                        <a:spcAft>
                          <a:spcPts val="0"/>
                        </a:spcAft>
                        <a:buNone/>
                      </a:pPr>
                      <a:r>
                        <a:rPr b="1" lang="en-US" sz="1450" u="none" cap="none" strike="noStrike">
                          <a:solidFill>
                            <a:srgbClr val="F0E6D2"/>
                          </a:solidFill>
                          <a:latin typeface="Malgun Gothic"/>
                          <a:ea typeface="Malgun Gothic"/>
                          <a:cs typeface="Malgun Gothic"/>
                          <a:sym typeface="Malgun Gothic"/>
                        </a:rPr>
                        <a:t>유형</a:t>
                      </a:r>
                      <a:endParaRPr b="1" sz="1450" u="none" cap="none" strike="noStrike">
                        <a:solidFill>
                          <a:srgbClr val="F0E6D2"/>
                        </a:solidFill>
                        <a:latin typeface="Malgun Gothic"/>
                        <a:ea typeface="Malgun Gothic"/>
                        <a:cs typeface="Malgun Gothic"/>
                        <a:sym typeface="Malgun Gothic"/>
                      </a:endParaRPr>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450" u="none" cap="none" strike="noStrike">
                          <a:solidFill>
                            <a:srgbClr val="F0E6D2"/>
                          </a:solidFill>
                          <a:latin typeface="Malgun Gothic"/>
                          <a:ea typeface="Malgun Gothic"/>
                          <a:cs typeface="Malgun Gothic"/>
                          <a:sym typeface="Malgun Gothic"/>
                        </a:rPr>
                        <a:t>비중</a:t>
                      </a:r>
                      <a:endParaRPr b="1" sz="1450" u="none" cap="none" strike="noStrike">
                        <a:solidFill>
                          <a:srgbClr val="F0E6D2"/>
                        </a:solidFill>
                        <a:latin typeface="Malgun Gothic"/>
                        <a:ea typeface="Malgun Gothic"/>
                        <a:cs typeface="Malgun Gothic"/>
                        <a:sym typeface="Malgun Gothic"/>
                      </a:endParaRPr>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450" u="none" cap="none" strike="noStrike">
                          <a:solidFill>
                            <a:srgbClr val="F0E6D2"/>
                          </a:solidFill>
                          <a:latin typeface="Malgun Gothic"/>
                          <a:ea typeface="Malgun Gothic"/>
                          <a:cs typeface="Malgun Gothic"/>
                          <a:sym typeface="Malgun Gothic"/>
                        </a:rPr>
                        <a:t>어떤 경기인가</a:t>
                      </a:r>
                      <a:endParaRPr b="1" sz="1450" u="none" cap="none" strike="noStrike">
                        <a:solidFill>
                          <a:srgbClr val="F0E6D2"/>
                        </a:solidFill>
                        <a:latin typeface="Malgun Gothic"/>
                        <a:ea typeface="Malgun Gothic"/>
                        <a:cs typeface="Malgun Gothic"/>
                        <a:sym typeface="Malgun Gothic"/>
                      </a:endParaRPr>
                    </a:p>
                  </a:txBody>
                  <a:tcPr marT="45725" marB="45725" marR="91450" marL="91450" anchor="ctr">
                    <a:solidFill>
                      <a:srgbClr val="3C3F3E"/>
                    </a:solidFill>
                  </a:tcPr>
                </a:tc>
              </a:tr>
              <a:tr h="274325">
                <a:tc>
                  <a:txBody>
                    <a:bodyPr/>
                    <a:lstStyle/>
                    <a:p>
                      <a:pPr indent="0" lvl="0" marL="0" marR="0" rtl="0" algn="l">
                        <a:spcBef>
                          <a:spcPts val="0"/>
                        </a:spcBef>
                        <a:spcAft>
                          <a:spcPts val="0"/>
                        </a:spcAft>
                        <a:buNone/>
                      </a:pPr>
                      <a:r>
                        <a:rPr b="0" lang="en-US" sz="1450" u="none" cap="none" strike="noStrike">
                          <a:solidFill>
                            <a:srgbClr val="C1BEB4"/>
                          </a:solidFill>
                          <a:latin typeface="Malgun Gothic"/>
                          <a:ea typeface="Malgun Gothic"/>
                          <a:cs typeface="Malgun Gothic"/>
                          <a:sym typeface="Malgun Gothic"/>
                        </a:rPr>
                        <a:t>운영전</a:t>
                      </a:r>
                      <a:endParaRPr sz="17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450" u="none" cap="none" strike="noStrike">
                          <a:solidFill>
                            <a:srgbClr val="C1BEB4"/>
                          </a:solidFill>
                          <a:latin typeface="Malgun Gothic"/>
                          <a:ea typeface="Malgun Gothic"/>
                          <a:cs typeface="Malgun Gothic"/>
                          <a:sym typeface="Malgun Gothic"/>
                        </a:rPr>
                        <a:t>41 %</a:t>
                      </a:r>
                      <a:endParaRPr sz="17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450" u="none" cap="none" strike="noStrike">
                          <a:solidFill>
                            <a:srgbClr val="C1BEB4"/>
                          </a:solidFill>
                          <a:latin typeface="Malgun Gothic"/>
                          <a:ea typeface="Malgun Gothic"/>
                          <a:cs typeface="Malgun Gothic"/>
                          <a:sym typeface="Malgun Gothic"/>
                        </a:rPr>
                        <a:t>킬이 적고(9회) CS 가 가장 많다(456) — 싸움 없이 조용히 크는 판</a:t>
                      </a:r>
                      <a:endParaRPr sz="1700"/>
                    </a:p>
                  </a:txBody>
                  <a:tcPr marT="45725" marB="45725" marR="91450" marL="91450" anchor="ctr">
                    <a:solidFill>
                      <a:srgbClr val="10223E"/>
                    </a:solidFill>
                  </a:tcPr>
                </a:tc>
              </a:tr>
              <a:tr h="297200">
                <a:tc>
                  <a:txBody>
                    <a:bodyPr/>
                    <a:lstStyle/>
                    <a:p>
                      <a:pPr indent="0" lvl="0" marL="0" marR="0" rtl="0" algn="l">
                        <a:spcBef>
                          <a:spcPts val="0"/>
                        </a:spcBef>
                        <a:spcAft>
                          <a:spcPts val="0"/>
                        </a:spcAft>
                        <a:buNone/>
                      </a:pPr>
                      <a:r>
                        <a:rPr b="0" lang="en-US" sz="1450" u="none" cap="none" strike="noStrike">
                          <a:solidFill>
                            <a:srgbClr val="C1BEB4"/>
                          </a:solidFill>
                          <a:latin typeface="Malgun Gothic"/>
                          <a:ea typeface="Malgun Gothic"/>
                          <a:cs typeface="Malgun Gothic"/>
                          <a:sym typeface="Malgun Gothic"/>
                        </a:rPr>
                        <a:t>난타전</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450" u="none" cap="none" strike="noStrike">
                          <a:solidFill>
                            <a:srgbClr val="C1BEB4"/>
                          </a:solidFill>
                          <a:latin typeface="Malgun Gothic"/>
                          <a:ea typeface="Malgun Gothic"/>
                          <a:cs typeface="Malgun Gothic"/>
                          <a:sym typeface="Malgun Gothic"/>
                        </a:rPr>
                        <a:t>32 %</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450" u="none" cap="none" strike="noStrike">
                          <a:solidFill>
                            <a:srgbClr val="C1BEB4"/>
                          </a:solidFill>
                          <a:latin typeface="Malgun Gothic"/>
                          <a:ea typeface="Malgun Gothic"/>
                          <a:cs typeface="Malgun Gothic"/>
                          <a:sym typeface="Malgun Gothic"/>
                        </a:rPr>
                        <a:t>이 가장 많다(15회) — 계속 싸우는 판</a:t>
                      </a:r>
                      <a:endParaRPr sz="1700"/>
                    </a:p>
                  </a:txBody>
                  <a:tcPr marT="45725" marB="45725" marR="91450" marL="91450" anchor="ctr">
                    <a:solidFill>
                      <a:srgbClr val="09172B"/>
                    </a:solidFill>
                  </a:tcPr>
                </a:tc>
              </a:tr>
              <a:tr h="274325">
                <a:tc>
                  <a:txBody>
                    <a:bodyPr/>
                    <a:lstStyle/>
                    <a:p>
                      <a:pPr indent="0" lvl="0" marL="0" marR="0" rtl="0" algn="l">
                        <a:spcBef>
                          <a:spcPts val="0"/>
                        </a:spcBef>
                        <a:spcAft>
                          <a:spcPts val="0"/>
                        </a:spcAft>
                        <a:buNone/>
                      </a:pPr>
                      <a:r>
                        <a:rPr b="1" lang="en-US" sz="1450" u="none" cap="none" strike="noStrike">
                          <a:solidFill>
                            <a:srgbClr val="F0E6D2"/>
                          </a:solidFill>
                          <a:latin typeface="Malgun Gothic"/>
                          <a:ea typeface="Malgun Gothic"/>
                          <a:cs typeface="Malgun Gothic"/>
                          <a:sym typeface="Malgun Gothic"/>
                        </a:rPr>
                        <a:t>일방적 경기</a:t>
                      </a:r>
                      <a:endParaRPr b="1" sz="1450" u="none" cap="none" strike="noStrike">
                        <a:solidFill>
                          <a:srgbClr val="F0E6D2"/>
                        </a:solidFill>
                        <a:latin typeface="Malgun Gothic"/>
                        <a:ea typeface="Malgun Gothic"/>
                        <a:cs typeface="Malgun Gothic"/>
                        <a:sym typeface="Malgun Gothic"/>
                      </a:endParaRPr>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450" u="none" cap="none" strike="noStrike">
                          <a:solidFill>
                            <a:srgbClr val="F0E6D2"/>
                          </a:solidFill>
                          <a:latin typeface="Malgun Gothic"/>
                          <a:ea typeface="Malgun Gothic"/>
                          <a:cs typeface="Malgun Gothic"/>
                          <a:sym typeface="Malgun Gothic"/>
                        </a:rPr>
                        <a:t>19 %</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450" u="none" cap="none" strike="noStrike">
                          <a:solidFill>
                            <a:srgbClr val="F0E6D2"/>
                          </a:solidFill>
                          <a:latin typeface="Malgun Gothic"/>
                          <a:ea typeface="Malgun Gothic"/>
                          <a:cs typeface="Malgun Gothic"/>
                          <a:sym typeface="Malgun Gothic"/>
                        </a:rPr>
                        <a:t>골드차가 3배 이상 벌어진 판</a:t>
                      </a:r>
                      <a:endParaRPr sz="1700"/>
                    </a:p>
                  </a:txBody>
                  <a:tcPr marT="45725" marB="45725" marR="91450" marL="91450" anchor="ctr">
                    <a:solidFill>
                      <a:srgbClr val="2D353E"/>
                    </a:solidFill>
                  </a:tcPr>
                </a:tc>
              </a:tr>
              <a:tr h="274325">
                <a:tc>
                  <a:txBody>
                    <a:bodyPr/>
                    <a:lstStyle/>
                    <a:p>
                      <a:pPr indent="0" lvl="0" marL="0" marR="0" rtl="0" algn="l">
                        <a:spcBef>
                          <a:spcPts val="0"/>
                        </a:spcBef>
                        <a:spcAft>
                          <a:spcPts val="0"/>
                        </a:spcAft>
                        <a:buNone/>
                      </a:pPr>
                      <a:r>
                        <a:rPr b="0" lang="en-US" sz="1450" u="none" cap="none" strike="noStrike">
                          <a:solidFill>
                            <a:srgbClr val="C1BEB4"/>
                          </a:solidFill>
                          <a:latin typeface="Malgun Gothic"/>
                          <a:ea typeface="Malgun Gothic"/>
                          <a:cs typeface="Malgun Gothic"/>
                          <a:sym typeface="Malgun Gothic"/>
                        </a:rPr>
                        <a:t>시야전</a:t>
                      </a:r>
                      <a:endParaRPr b="0" sz="1450" u="none" cap="none" strike="noStrike">
                        <a:solidFill>
                          <a:srgbClr val="C1BEB4"/>
                        </a:solidFill>
                        <a:latin typeface="Malgun Gothic"/>
                        <a:ea typeface="Malgun Gothic"/>
                        <a:cs typeface="Malgun Gothic"/>
                        <a:sym typeface="Malgun Gothic"/>
                      </a:endParaRPr>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450" u="none" cap="none" strike="noStrike">
                          <a:solidFill>
                            <a:srgbClr val="C1BEB4"/>
                          </a:solidFill>
                          <a:latin typeface="Malgun Gothic"/>
                          <a:ea typeface="Malgun Gothic"/>
                          <a:cs typeface="Malgun Gothic"/>
                          <a:sym typeface="Malgun Gothic"/>
                        </a:rPr>
                        <a:t>7 %</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450" u="none" cap="none" strike="noStrike">
                          <a:solidFill>
                            <a:srgbClr val="C1BEB4"/>
                          </a:solidFill>
                          <a:latin typeface="Malgun Gothic"/>
                          <a:ea typeface="Malgun Gothic"/>
                          <a:cs typeface="Malgun Gothic"/>
                          <a:sym typeface="Malgun Gothic"/>
                        </a:rPr>
                        <a:t>와드가 119개로 평균의 3배 — 서로 시야만 재는 판</a:t>
                      </a:r>
                      <a:endParaRPr sz="1700"/>
                    </a:p>
                  </a:txBody>
                  <a:tcPr marT="45725" marB="45725" marR="91450" marL="91450" anchor="ctr">
                    <a:solidFill>
                      <a:srgbClr val="09172B"/>
                    </a:solidFill>
                  </a:tcPr>
                </a:tc>
              </a:tr>
            </a:tbl>
          </a:graphicData>
        </a:graphic>
      </p:graphicFrame>
      <p:sp>
        <p:nvSpPr>
          <p:cNvPr id="846" name="Google Shape;846;p26"/>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reports/tables/day2b_game_type_profile.csv    |    ※ k=4 는 설명 편의로 고른 값(한계)</a:t>
            </a:r>
            <a:endParaRPr/>
          </a:p>
        </p:txBody>
      </p:sp>
      <p:sp>
        <p:nvSpPr>
          <p:cNvPr id="847" name="Google Shape;847;p26"/>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27"/>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853" name="Google Shape;853;p27"/>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854" name="Google Shape;854;p27"/>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5" name="Google Shape;855;p27"/>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6" name="Google Shape;856;p27"/>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7" name="Google Shape;857;p27"/>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8" name="Google Shape;858;p27"/>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9" name="Google Shape;859;p27"/>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0" name="Google Shape;860;p27"/>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1" name="Google Shape;861;p27"/>
          <p:cNvSpPr txBox="1"/>
          <p:nvPr/>
        </p:nvSpPr>
        <p:spPr>
          <a:xfrm>
            <a:off x="777240" y="530352"/>
            <a:ext cx="10634400" cy="4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3. Phase 2   |   </a:t>
            </a:r>
            <a:r>
              <a:rPr b="1" lang="en-US" sz="2500">
                <a:solidFill>
                  <a:srgbClr val="F0E6D2"/>
                </a:solidFill>
                <a:latin typeface="Malgun Gothic"/>
                <a:ea typeface="Malgun Gothic"/>
                <a:cs typeface="Malgun Gothic"/>
                <a:sym typeface="Malgun Gothic"/>
              </a:rPr>
              <a:t>KMeans</a:t>
            </a:r>
            <a:r>
              <a:rPr b="1" i="0" lang="en-US" sz="2500" u="none" cap="none" strike="noStrike">
                <a:solidFill>
                  <a:srgbClr val="F0E6D2"/>
                </a:solidFill>
                <a:latin typeface="Malgun Gothic"/>
                <a:ea typeface="Malgun Gothic"/>
                <a:cs typeface="Malgun Gothic"/>
                <a:sym typeface="Malgun Gothic"/>
              </a:rPr>
              <a:t> — 유형별 성적</a:t>
            </a:r>
            <a:endParaRPr/>
          </a:p>
        </p:txBody>
      </p:sp>
      <p:sp>
        <p:nvSpPr>
          <p:cNvPr id="862" name="Google Shape;862;p27"/>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3" name="Google Shape;863;p27"/>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viz_3_game_types.png" id="864" name="Google Shape;864;p27"/>
          <p:cNvPicPr preferRelativeResize="0"/>
          <p:nvPr/>
        </p:nvPicPr>
        <p:blipFill rotWithShape="1">
          <a:blip r:embed="rId4">
            <a:alphaModFix/>
          </a:blip>
          <a:srcRect b="0" l="0" r="0" t="0"/>
          <a:stretch/>
        </p:blipFill>
        <p:spPr>
          <a:xfrm>
            <a:off x="1218048" y="1519011"/>
            <a:ext cx="9725423" cy="2988542"/>
          </a:xfrm>
          <a:prstGeom prst="rect">
            <a:avLst/>
          </a:prstGeom>
          <a:noFill/>
          <a:ln>
            <a:noFill/>
          </a:ln>
        </p:spPr>
      </p:pic>
      <p:sp>
        <p:nvSpPr>
          <p:cNvPr id="865" name="Google Shape;865;p27"/>
          <p:cNvSpPr txBox="1"/>
          <p:nvPr/>
        </p:nvSpPr>
        <p:spPr>
          <a:xfrm>
            <a:off x="3323843" y="4866124"/>
            <a:ext cx="5559600" cy="2310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500" u="none" cap="none" strike="noStrike">
                <a:solidFill>
                  <a:srgbClr val="85837A"/>
                </a:solidFill>
                <a:latin typeface="Malgun Gothic"/>
                <a:ea typeface="Malgun Gothic"/>
                <a:cs typeface="Malgun Gothic"/>
                <a:sym typeface="Malgun Gothic"/>
              </a:rPr>
              <a:t>비중 · 평균 골드차 · 10분 리드팀이 실제로 이긴 비율</a:t>
            </a:r>
            <a:endParaRPr b="0" i="0" sz="1500" u="none" cap="none" strike="noStrike">
              <a:solidFill>
                <a:srgbClr val="85837A"/>
              </a:solidFill>
              <a:latin typeface="Malgun Gothic"/>
              <a:ea typeface="Malgun Gothic"/>
              <a:cs typeface="Malgun Gothic"/>
              <a:sym typeface="Malgun Gothic"/>
            </a:endParaRPr>
          </a:p>
        </p:txBody>
      </p:sp>
      <p:sp>
        <p:nvSpPr>
          <p:cNvPr id="866" name="Google Shape;866;p27"/>
          <p:cNvSpPr/>
          <p:nvPr/>
        </p:nvSpPr>
        <p:spPr>
          <a:xfrm>
            <a:off x="807688" y="5478330"/>
            <a:ext cx="10634472" cy="438912"/>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7" name="Google Shape;867;p27"/>
          <p:cNvSpPr/>
          <p:nvPr/>
        </p:nvSpPr>
        <p:spPr>
          <a:xfrm>
            <a:off x="799045" y="5451972"/>
            <a:ext cx="45720" cy="43891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8" name="Google Shape;868;p27"/>
          <p:cNvSpPr txBox="1"/>
          <p:nvPr/>
        </p:nvSpPr>
        <p:spPr>
          <a:xfrm>
            <a:off x="1065275" y="5585917"/>
            <a:ext cx="10177200" cy="2232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sz="1450" u="none" cap="none" strike="noStrike">
                <a:solidFill>
                  <a:srgbClr val="F0E6D2"/>
                </a:solidFill>
                <a:latin typeface="Malgun Gothic"/>
                <a:ea typeface="Malgun Gothic"/>
                <a:cs typeface="Malgun Gothic"/>
                <a:sym typeface="Malgun Gothic"/>
              </a:rPr>
              <a:t>난타전과 운영전은 스타일만 다르고 결과는 같습니다(66% vs 69%) · 일방적 경기만 이미 끝나 있습니다(90%).</a:t>
            </a:r>
            <a:endParaRPr sz="1600"/>
          </a:p>
        </p:txBody>
      </p:sp>
      <p:sp>
        <p:nvSpPr>
          <p:cNvPr id="869" name="Google Shape;869;p27"/>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reports/tables/day2b_game_type_profile.csv    |    ※ k=4 는 설명 편의로 고른 값(한계)</a:t>
            </a:r>
            <a:endParaRPr/>
          </a:p>
        </p:txBody>
      </p:sp>
      <p:sp>
        <p:nvSpPr>
          <p:cNvPr id="870" name="Google Shape;870;p27"/>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5" name="Shape 875"/>
        <p:cNvGrpSpPr/>
        <p:nvPr/>
      </p:nvGrpSpPr>
      <p:grpSpPr>
        <a:xfrm>
          <a:off x="0" y="0"/>
          <a:ext cx="0" cy="0"/>
          <a:chOff x="0" y="0"/>
          <a:chExt cx="0" cy="0"/>
        </a:xfrm>
      </p:grpSpPr>
      <p:pic>
        <p:nvPicPr>
          <p:cNvPr descr="rift_flow.jpg" id="876" name="Google Shape;876;p28"/>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877" name="Google Shape;877;p28"/>
          <p:cNvSpPr/>
          <p:nvPr/>
        </p:nvSpPr>
        <p:spPr>
          <a:xfrm>
            <a:off x="0" y="548640"/>
            <a:ext cx="12191969" cy="6309360"/>
          </a:xfrm>
          <a:prstGeom prst="rect">
            <a:avLst/>
          </a:prstGeom>
          <a:gradFill>
            <a:gsLst>
              <a:gs pos="0">
                <a:srgbClr val="0A1428">
                  <a:alpha val="0"/>
                </a:srgbClr>
              </a:gs>
              <a:gs pos="100000">
                <a:srgbClr val="010A13">
                  <a:alpha val="76078"/>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78" name="Google Shape;878;p28"/>
          <p:cNvSpPr/>
          <p:nvPr/>
        </p:nvSpPr>
        <p:spPr>
          <a:xfrm>
            <a:off x="0" y="0"/>
            <a:ext cx="12191969" cy="548640"/>
          </a:xfrm>
          <a:prstGeom prst="rect">
            <a:avLst/>
          </a:prstGeom>
          <a:gradFill>
            <a:gsLst>
              <a:gs pos="0">
                <a:srgbClr val="010A13">
                  <a:alpha val="54902"/>
                </a:srgbClr>
              </a:gs>
              <a:gs pos="100000">
                <a:srgbClr val="0A1428">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79" name="Google Shape;879;p28"/>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0" name="Google Shape;880;p28"/>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1" name="Google Shape;881;p28"/>
          <p:cNvSpPr/>
          <p:nvPr/>
        </p:nvSpPr>
        <p:spPr>
          <a:xfrm>
            <a:off x="384048" y="370332"/>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2" name="Google Shape;882;p28"/>
          <p:cNvSpPr/>
          <p:nvPr/>
        </p:nvSpPr>
        <p:spPr>
          <a:xfrm>
            <a:off x="370332" y="384048"/>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3" name="Google Shape;883;p28"/>
          <p:cNvSpPr/>
          <p:nvPr/>
        </p:nvSpPr>
        <p:spPr>
          <a:xfrm>
            <a:off x="338328" y="338328"/>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4" name="Google Shape;884;p28"/>
          <p:cNvSpPr/>
          <p:nvPr/>
        </p:nvSpPr>
        <p:spPr>
          <a:xfrm>
            <a:off x="10619201" y="370332"/>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5" name="Google Shape;885;p28"/>
          <p:cNvSpPr/>
          <p:nvPr/>
        </p:nvSpPr>
        <p:spPr>
          <a:xfrm>
            <a:off x="11794205" y="384048"/>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6" name="Google Shape;886;p28"/>
          <p:cNvSpPr/>
          <p:nvPr/>
        </p:nvSpPr>
        <p:spPr>
          <a:xfrm>
            <a:off x="11853641" y="338328"/>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7" name="Google Shape;887;p28"/>
          <p:cNvSpPr/>
          <p:nvPr/>
        </p:nvSpPr>
        <p:spPr>
          <a:xfrm>
            <a:off x="384048" y="6460236"/>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8" name="Google Shape;888;p28"/>
          <p:cNvSpPr/>
          <p:nvPr/>
        </p:nvSpPr>
        <p:spPr>
          <a:xfrm>
            <a:off x="370332" y="5285232"/>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89" name="Google Shape;889;p28"/>
          <p:cNvSpPr/>
          <p:nvPr/>
        </p:nvSpPr>
        <p:spPr>
          <a:xfrm>
            <a:off x="338328" y="6519672"/>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0" name="Google Shape;890;p28"/>
          <p:cNvSpPr/>
          <p:nvPr/>
        </p:nvSpPr>
        <p:spPr>
          <a:xfrm>
            <a:off x="10619201" y="6460236"/>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1" name="Google Shape;891;p28"/>
          <p:cNvSpPr/>
          <p:nvPr/>
        </p:nvSpPr>
        <p:spPr>
          <a:xfrm>
            <a:off x="11794205" y="5285232"/>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2" name="Google Shape;892;p28"/>
          <p:cNvSpPr/>
          <p:nvPr/>
        </p:nvSpPr>
        <p:spPr>
          <a:xfrm>
            <a:off x="11853641" y="6519672"/>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3" name="Google Shape;893;p28"/>
          <p:cNvSpPr txBox="1"/>
          <p:nvPr/>
        </p:nvSpPr>
        <p:spPr>
          <a:xfrm>
            <a:off x="1371600" y="2590038"/>
            <a:ext cx="9418320" cy="4572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1300" u="none" cap="none" strike="noStrike">
                <a:solidFill>
                  <a:srgbClr val="C89B3C"/>
                </a:solidFill>
                <a:latin typeface="Malgun Gothic"/>
                <a:ea typeface="Malgun Gothic"/>
                <a:cs typeface="Malgun Gothic"/>
                <a:sym typeface="Malgun Gothic"/>
              </a:rPr>
              <a:t>SECTION 04</a:t>
            </a:r>
            <a:endParaRPr/>
          </a:p>
        </p:txBody>
      </p:sp>
      <p:sp>
        <p:nvSpPr>
          <p:cNvPr id="894" name="Google Shape;894;p28"/>
          <p:cNvSpPr txBox="1"/>
          <p:nvPr/>
        </p:nvSpPr>
        <p:spPr>
          <a:xfrm>
            <a:off x="823965" y="3138678"/>
            <a:ext cx="10420139" cy="826701"/>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4600" u="none" cap="none" strike="noStrike">
                <a:solidFill>
                  <a:srgbClr val="F0E6D2"/>
                </a:solidFill>
                <a:latin typeface="Malgun Gothic"/>
                <a:ea typeface="Malgun Gothic"/>
                <a:cs typeface="Malgun Gothic"/>
                <a:sym typeface="Malgun Gothic"/>
              </a:rPr>
              <a:t>Phase 3  | </a:t>
            </a:r>
            <a:r>
              <a:rPr b="1" i="0" lang="en-US" sz="4800" u="none" cap="none" strike="noStrike">
                <a:solidFill>
                  <a:srgbClr val="F0E6D2"/>
                </a:solidFill>
                <a:latin typeface="Malgun Gothic"/>
                <a:ea typeface="Malgun Gothic"/>
                <a:cs typeface="Malgun Gothic"/>
                <a:sym typeface="Malgun Gothic"/>
              </a:rPr>
              <a:t>시점 비교 (10분 vs 15분)</a:t>
            </a:r>
            <a:endParaRPr b="1" i="0" sz="4600" u="none" cap="none" strike="noStrike">
              <a:solidFill>
                <a:srgbClr val="F0E6D2"/>
              </a:solidFill>
              <a:latin typeface="Malgun Gothic"/>
              <a:ea typeface="Malgun Gothic"/>
              <a:cs typeface="Malgun Gothic"/>
              <a:sym typeface="Malgun Gothic"/>
            </a:endParaRPr>
          </a:p>
        </p:txBody>
      </p:sp>
      <p:sp>
        <p:nvSpPr>
          <p:cNvPr id="895" name="Google Shape;895;p28"/>
          <p:cNvSpPr/>
          <p:nvPr/>
        </p:nvSpPr>
        <p:spPr>
          <a:xfrm>
            <a:off x="5641848" y="4235958"/>
            <a:ext cx="91440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png" id="896" name="Google Shape;896;p28"/>
          <p:cNvPicPr preferRelativeResize="0"/>
          <p:nvPr/>
        </p:nvPicPr>
        <p:blipFill rotWithShape="1">
          <a:blip r:embed="rId4">
            <a:alphaModFix/>
          </a:blip>
          <a:srcRect b="0" l="0" r="0" t="0"/>
          <a:stretch/>
        </p:blipFill>
        <p:spPr>
          <a:xfrm>
            <a:off x="566928" y="4855464"/>
            <a:ext cx="1070346" cy="1591056"/>
          </a:xfrm>
          <a:prstGeom prst="rect">
            <a:avLst/>
          </a:prstGeom>
          <a:noFill/>
          <a:ln>
            <a:noFill/>
          </a:ln>
        </p:spPr>
      </p:pic>
      <p:pic>
        <p:nvPicPr>
          <p:cNvPr descr="악어_small.png" id="897" name="Google Shape;897;p28"/>
          <p:cNvPicPr preferRelativeResize="0"/>
          <p:nvPr/>
        </p:nvPicPr>
        <p:blipFill rotWithShape="1">
          <a:blip r:embed="rId5">
            <a:alphaModFix/>
          </a:blip>
          <a:srcRect b="0" l="0" r="0" t="0"/>
          <a:stretch/>
        </p:blipFill>
        <p:spPr>
          <a:xfrm>
            <a:off x="10401216" y="5129783"/>
            <a:ext cx="1229951" cy="1316736"/>
          </a:xfrm>
          <a:prstGeom prst="rect">
            <a:avLst/>
          </a:prstGeom>
          <a:noFill/>
          <a:ln>
            <a:noFill/>
          </a:ln>
        </p:spPr>
      </p:pic>
      <p:sp>
        <p:nvSpPr>
          <p:cNvPr id="898" name="Google Shape;898;p28"/>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pic>
        <p:nvPicPr>
          <p:cNvPr id="903" name="Google Shape;903;g3fa15e3bff5_2_20"/>
          <p:cNvPicPr preferRelativeResize="0"/>
          <p:nvPr/>
        </p:nvPicPr>
        <p:blipFill>
          <a:blip r:embed="rId3">
            <a:alphaModFix/>
          </a:blip>
          <a:stretch>
            <a:fillRect/>
          </a:stretch>
        </p:blipFill>
        <p:spPr>
          <a:xfrm>
            <a:off x="0" y="-85925"/>
            <a:ext cx="12192002" cy="69439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29"/>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909" name="Google Shape;909;p29"/>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910" name="Google Shape;910;p29"/>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1" name="Google Shape;911;p29"/>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2" name="Google Shape;912;p29"/>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3" name="Google Shape;913;p29"/>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4" name="Google Shape;914;p29"/>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5" name="Google Shape;915;p29"/>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6" name="Google Shape;916;p29"/>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7" name="Google Shape;917;p29"/>
          <p:cNvSpPr txBox="1"/>
          <p:nvPr/>
        </p:nvSpPr>
        <p:spPr>
          <a:xfrm>
            <a:off x="777240" y="530352"/>
            <a:ext cx="10634472" cy="51668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4. Phase 3   |   </a:t>
            </a:r>
            <a:r>
              <a:rPr b="1" i="0" lang="en-US" sz="2500" u="none" cap="none" strike="noStrike">
                <a:solidFill>
                  <a:srgbClr val="F0E6D2"/>
                </a:solidFill>
                <a:latin typeface="Malgun Gothic"/>
                <a:ea typeface="Malgun Gothic"/>
                <a:cs typeface="Malgun Gothic"/>
                <a:sym typeface="Malgun Gothic"/>
              </a:rPr>
              <a:t>추가 데이터 개요</a:t>
            </a:r>
            <a:endParaRPr b="1" i="0" sz="2500" u="none" cap="none" strike="noStrike">
              <a:solidFill>
                <a:srgbClr val="F0E6D2"/>
              </a:solidFill>
              <a:latin typeface="Malgun Gothic"/>
              <a:ea typeface="Malgun Gothic"/>
              <a:cs typeface="Malgun Gothic"/>
              <a:sym typeface="Malgun Gothic"/>
            </a:endParaRPr>
          </a:p>
        </p:txBody>
      </p:sp>
      <p:sp>
        <p:nvSpPr>
          <p:cNvPr id="918" name="Google Shape;918;p29"/>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9" name="Google Shape;919;p29"/>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aphicFrame>
        <p:nvGraphicFramePr>
          <p:cNvPr id="920" name="Google Shape;920;p29"/>
          <p:cNvGraphicFramePr/>
          <p:nvPr/>
        </p:nvGraphicFramePr>
        <p:xfrm>
          <a:off x="689450" y="1624630"/>
          <a:ext cx="3000000" cy="3000000"/>
        </p:xfrm>
        <a:graphic>
          <a:graphicData uri="http://schemas.openxmlformats.org/drawingml/2006/table">
            <a:tbl>
              <a:tblPr>
                <a:noFill/>
                <a:tableStyleId>{46956E51-EF99-4CE0-B1A4-93B49CD02E09}</a:tableStyleId>
              </a:tblPr>
              <a:tblGrid>
                <a:gridCol w="1859525"/>
                <a:gridCol w="3904975"/>
                <a:gridCol w="5048600"/>
              </a:tblGrid>
              <a:tr h="524100">
                <a:tc>
                  <a:txBody>
                    <a:bodyPr/>
                    <a:lstStyle/>
                    <a:p>
                      <a:pPr indent="0" lvl="0" marL="0" marR="0" rtl="0" algn="l">
                        <a:spcBef>
                          <a:spcPts val="0"/>
                        </a:spcBef>
                        <a:spcAft>
                          <a:spcPts val="0"/>
                        </a:spcAft>
                        <a:buNone/>
                      </a:pPr>
                      <a:r>
                        <a:rPr b="1" lang="en-US" sz="1600" u="none" cap="none" strike="noStrike">
                          <a:solidFill>
                            <a:srgbClr val="F0E6D2"/>
                          </a:solidFill>
                          <a:latin typeface="Malgun Gothic"/>
                          <a:ea typeface="Malgun Gothic"/>
                          <a:cs typeface="Malgun Gothic"/>
                          <a:sym typeface="Malgun Gothic"/>
                        </a:rPr>
                        <a:t>항목</a:t>
                      </a:r>
                      <a:endParaRPr sz="16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600" u="none" cap="none" strike="noStrike">
                          <a:solidFill>
                            <a:srgbClr val="F0E6D2"/>
                          </a:solidFill>
                          <a:latin typeface="Malgun Gothic"/>
                          <a:ea typeface="Malgun Gothic"/>
                          <a:cs typeface="Malgun Gothic"/>
                          <a:sym typeface="Malgun Gothic"/>
                        </a:rPr>
                        <a:t>값</a:t>
                      </a:r>
                      <a:endParaRPr sz="16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600" u="none" cap="none" strike="noStrike">
                          <a:solidFill>
                            <a:srgbClr val="F0E6D2"/>
                          </a:solidFill>
                          <a:latin typeface="Malgun Gothic"/>
                          <a:ea typeface="Malgun Gothic"/>
                          <a:cs typeface="Malgun Gothic"/>
                          <a:sym typeface="Malgun Gothic"/>
                        </a:rPr>
                        <a:t>비고</a:t>
                      </a:r>
                      <a:endParaRPr sz="1600"/>
                    </a:p>
                  </a:txBody>
                  <a:tcPr marT="45725" marB="45725" marR="91450" marL="91450" anchor="ctr">
                    <a:solidFill>
                      <a:srgbClr val="3C3F3E"/>
                    </a:solidFill>
                  </a:tcPr>
                </a:tc>
              </a:tr>
              <a:tr h="673825">
                <a:tc>
                  <a:txBody>
                    <a:bodyPr/>
                    <a:lstStyle/>
                    <a:p>
                      <a:pPr indent="0" lvl="0" marL="0" marR="0" rtl="0" algn="l">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데이터 출처</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Oracle's Elixir · 2022 프로 경기</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다이아가 아니라 프로 — Phase 1 점수와 직접 비교 금지</a:t>
                      </a:r>
                      <a:endParaRPr sz="1600"/>
                    </a:p>
                  </a:txBody>
                  <a:tcPr marT="45725" marB="45725" marR="91450" marL="91450" anchor="ctr">
                    <a:solidFill>
                      <a:srgbClr val="10223E"/>
                    </a:solidFill>
                  </a:tcPr>
                </a:tc>
              </a:tr>
              <a:tr h="673825">
                <a:tc>
                  <a:txBody>
                    <a:bodyPr/>
                    <a:lstStyle/>
                    <a:p>
                      <a:pPr indent="0" lvl="0" marL="0" marR="0" rtl="0" algn="l">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규모</a:t>
                      </a:r>
                      <a:endParaRPr sz="16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원본 150,588행 → 10,656판</a:t>
                      </a:r>
                      <a:endParaRPr sz="16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10분·15분 기록이 둘 다 있는 경기만</a:t>
                      </a:r>
                      <a:br>
                        <a:rPr b="0" lang="en-US" sz="1600" u="none" cap="none" strike="noStrike">
                          <a:solidFill>
                            <a:srgbClr val="C1BEB4"/>
                          </a:solidFill>
                          <a:latin typeface="Malgun Gothic"/>
                          <a:ea typeface="Malgun Gothic"/>
                          <a:cs typeface="Malgun Gothic"/>
                          <a:sym typeface="Malgun Gothic"/>
                        </a:rPr>
                      </a:br>
                      <a:endParaRPr b="0" sz="1600" u="none" cap="none" strike="noStrike">
                        <a:solidFill>
                          <a:srgbClr val="C1BEB4"/>
                        </a:solidFill>
                        <a:latin typeface="Malgun Gothic"/>
                        <a:ea typeface="Malgun Gothic"/>
                        <a:cs typeface="Malgun Gothic"/>
                        <a:sym typeface="Malgun Gothic"/>
                      </a:endParaRPr>
                    </a:p>
                  </a:txBody>
                  <a:tcPr marT="45725" marB="45725" marR="91450" marL="91450" anchor="ctr">
                    <a:solidFill>
                      <a:srgbClr val="09172B"/>
                    </a:solidFill>
                  </a:tcPr>
                </a:tc>
              </a:tr>
              <a:tr h="673825">
                <a:tc>
                  <a:txBody>
                    <a:bodyPr/>
                    <a:lstStyle/>
                    <a:p>
                      <a:pPr indent="0" lvl="0" marL="0" marR="0" rtl="0" algn="l">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한 경기 = 한 줄</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블루 줄만 남김</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그대로 쓰면 같은 경기가 학습·시험 양쪽에 들어간다</a:t>
                      </a:r>
                      <a:endParaRPr sz="1600"/>
                    </a:p>
                  </a:txBody>
                  <a:tcPr marT="45725" marB="45725" marR="91450" marL="91450" anchor="ctr">
                    <a:solidFill>
                      <a:srgbClr val="10223E"/>
                    </a:solidFill>
                  </a:tcPr>
                </a:tc>
              </a:tr>
              <a:tr h="673825">
                <a:tc>
                  <a:txBody>
                    <a:bodyPr/>
                    <a:lstStyle/>
                    <a:p>
                      <a:pPr indent="0" lvl="0" marL="0" marR="0" rtl="0" algn="l">
                        <a:spcBef>
                          <a:spcPts val="0"/>
                        </a:spcBef>
                        <a:spcAft>
                          <a:spcPts val="0"/>
                        </a:spcAft>
                        <a:buNone/>
                      </a:pPr>
                      <a:r>
                        <a:rPr b="1" lang="en-US" sz="1600" u="none" cap="none" strike="noStrike">
                          <a:solidFill>
                            <a:srgbClr val="F0E6D2"/>
                          </a:solidFill>
                          <a:latin typeface="Malgun Gothic"/>
                          <a:ea typeface="Malgun Gothic"/>
                          <a:cs typeface="Malgun Gothic"/>
                          <a:sym typeface="Malgun Gothic"/>
                        </a:rPr>
                        <a:t>지표</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600" u="none" cap="none" strike="noStrike">
                          <a:solidFill>
                            <a:srgbClr val="F0E6D2"/>
                          </a:solidFill>
                          <a:latin typeface="Malgun Gothic"/>
                          <a:ea typeface="Malgun Gothic"/>
                          <a:cs typeface="Malgun Gothic"/>
                          <a:sym typeface="Malgun Gothic"/>
                        </a:rPr>
                        <a:t>5개 — 골드·경험치·CS·킬·어시스트</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600" u="none" cap="none" strike="noStrike">
                          <a:solidFill>
                            <a:srgbClr val="F0E6D2"/>
                          </a:solidFill>
                          <a:latin typeface="Malgun Gothic"/>
                          <a:ea typeface="Malgun Gothic"/>
                          <a:cs typeface="Malgun Gothic"/>
                          <a:sym typeface="Malgun Gothic"/>
                        </a:rPr>
                        <a:t>드래곤·전령·타워는 누적값뿐 — 미래 정보라 제외</a:t>
                      </a:r>
                      <a:endParaRPr sz="1600"/>
                    </a:p>
                  </a:txBody>
                  <a:tcPr marT="45725" marB="45725" marR="91450" marL="91450" anchor="ctr">
                    <a:solidFill>
                      <a:srgbClr val="2D353E"/>
                    </a:solidFill>
                  </a:tcPr>
                </a:tc>
              </a:tr>
              <a:tr h="673825">
                <a:tc>
                  <a:txBody>
                    <a:bodyPr/>
                    <a:lstStyle/>
                    <a:p>
                      <a:pPr indent="0" lvl="0" marL="0" marR="0" rtl="0" algn="l">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조건 통제</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같은 분할 · 같은 모델 · 시드 42</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600" u="none" cap="none" strike="noStrike">
                          <a:solidFill>
                            <a:srgbClr val="C1BEB4"/>
                          </a:solidFill>
                          <a:latin typeface="Malgun Gothic"/>
                          <a:ea typeface="Malgun Gothic"/>
                          <a:cs typeface="Malgun Gothic"/>
                          <a:sym typeface="Malgun Gothic"/>
                        </a:rPr>
                        <a:t>시점 말고는 전부 동일</a:t>
                      </a:r>
                      <a:endParaRPr sz="1600"/>
                    </a:p>
                  </a:txBody>
                  <a:tcPr marT="45725" marB="45725" marR="91450" marL="91450" anchor="ctr">
                    <a:solidFill>
                      <a:srgbClr val="10223E"/>
                    </a:solidFill>
                  </a:tcPr>
                </a:tc>
              </a:tr>
            </a:tbl>
          </a:graphicData>
        </a:graphic>
      </p:graphicFrame>
      <p:sp>
        <p:nvSpPr>
          <p:cNvPr id="921" name="Google Shape;921;p29"/>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docs/experiment_report.md    |    개념 → README 페이즈 3</a:t>
            </a:r>
            <a:endParaRPr/>
          </a:p>
        </p:txBody>
      </p:sp>
      <p:sp>
        <p:nvSpPr>
          <p:cNvPr id="922" name="Google Shape;922;p29"/>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30"/>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929" name="Google Shape;929;p30"/>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930" name="Google Shape;930;p30"/>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1" name="Google Shape;931;p30"/>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2" name="Google Shape;932;p30"/>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3" name="Google Shape;933;p30"/>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4" name="Google Shape;934;p30"/>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5" name="Google Shape;935;p30"/>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6" name="Google Shape;936;p30"/>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7" name="Google Shape;937;p30"/>
          <p:cNvSpPr txBox="1"/>
          <p:nvPr/>
        </p:nvSpPr>
        <p:spPr>
          <a:xfrm>
            <a:off x="777240" y="530352"/>
            <a:ext cx="10634400" cy="4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4. Phase 3   |   </a:t>
            </a:r>
            <a:r>
              <a:rPr b="1" i="0" lang="en-US" sz="2500" u="none" cap="none" strike="noStrike">
                <a:solidFill>
                  <a:srgbClr val="F0E6D2"/>
                </a:solidFill>
                <a:latin typeface="Malgun Gothic"/>
                <a:ea typeface="Malgun Gothic"/>
                <a:cs typeface="Malgun Gothic"/>
                <a:sym typeface="Malgun Gothic"/>
              </a:rPr>
              <a:t>시점 비교 결과 — +5.25%p </a:t>
            </a:r>
            <a:r>
              <a:rPr b="1" lang="en-US" sz="2500">
                <a:solidFill>
                  <a:srgbClr val="F0E6D2"/>
                </a:solidFill>
                <a:latin typeface="Malgun Gothic"/>
                <a:ea typeface="Malgun Gothic"/>
                <a:cs typeface="Malgun Gothic"/>
                <a:sym typeface="Malgun Gothic"/>
              </a:rPr>
              <a:t>더 정확</a:t>
            </a:r>
            <a:endParaRPr/>
          </a:p>
        </p:txBody>
      </p:sp>
      <p:sp>
        <p:nvSpPr>
          <p:cNvPr id="938" name="Google Shape;938;p30"/>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9" name="Google Shape;939;p30"/>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0" name="Google Shape;940;p30"/>
          <p:cNvSpPr/>
          <p:nvPr/>
        </p:nvSpPr>
        <p:spPr>
          <a:xfrm>
            <a:off x="731519" y="1438910"/>
            <a:ext cx="6949500" cy="27432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1" name="Google Shape;941;p30"/>
          <p:cNvSpPr/>
          <p:nvPr/>
        </p:nvSpPr>
        <p:spPr>
          <a:xfrm>
            <a:off x="777240" y="1487745"/>
            <a:ext cx="6858000" cy="2651700"/>
          </a:xfrm>
          <a:prstGeom prst="rect">
            <a:avLst/>
          </a:prstGeom>
          <a:solidFill>
            <a:srgbClr val="F5F2EB"/>
          </a:solid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viz_4_timepoint.png" id="942" name="Google Shape;942;p30"/>
          <p:cNvPicPr preferRelativeResize="0"/>
          <p:nvPr/>
        </p:nvPicPr>
        <p:blipFill rotWithShape="1">
          <a:blip r:embed="rId4">
            <a:alphaModFix/>
          </a:blip>
          <a:srcRect b="0" l="0" r="0" t="0"/>
          <a:stretch/>
        </p:blipFill>
        <p:spPr>
          <a:xfrm>
            <a:off x="886968" y="1628853"/>
            <a:ext cx="6638544" cy="2387546"/>
          </a:xfrm>
          <a:prstGeom prst="rect">
            <a:avLst/>
          </a:prstGeom>
          <a:noFill/>
          <a:ln>
            <a:noFill/>
          </a:ln>
        </p:spPr>
      </p:pic>
      <p:sp>
        <p:nvSpPr>
          <p:cNvPr id="943" name="Google Shape;943;p30"/>
          <p:cNvSpPr txBox="1"/>
          <p:nvPr/>
        </p:nvSpPr>
        <p:spPr>
          <a:xfrm>
            <a:off x="777240" y="4288418"/>
            <a:ext cx="6858000" cy="1923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250" u="none" cap="none" strike="noStrike">
                <a:solidFill>
                  <a:srgbClr val="85837A"/>
                </a:solidFill>
                <a:latin typeface="Malgun Gothic"/>
                <a:ea typeface="Malgun Gothic"/>
                <a:cs typeface="Malgun Gothic"/>
                <a:sym typeface="Malgun Gothic"/>
              </a:rPr>
              <a:t>왼쪽: 점수가 얼마나 올랐나 (빨간 점선 = 찍기 0.523)  ·  오른쪽: 무엇이 중요해졌나</a:t>
            </a:r>
            <a:endParaRPr sz="1600"/>
          </a:p>
        </p:txBody>
      </p:sp>
      <p:sp>
        <p:nvSpPr>
          <p:cNvPr id="944" name="Google Shape;944;p30"/>
          <p:cNvSpPr/>
          <p:nvPr/>
        </p:nvSpPr>
        <p:spPr>
          <a:xfrm>
            <a:off x="7863840" y="1487745"/>
            <a:ext cx="3547800" cy="1234500"/>
          </a:xfrm>
          <a:prstGeom prst="rect">
            <a:avLst/>
          </a:prstGeom>
          <a:solidFill>
            <a:srgbClr val="10223E">
              <a:alpha val="92157"/>
            </a:srgbClr>
          </a:solidFill>
          <a:ln cap="flat" cmpd="sng" w="12700">
            <a:solidFill>
              <a:srgbClr val="0E646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5" name="Google Shape;945;p30"/>
          <p:cNvSpPr/>
          <p:nvPr/>
        </p:nvSpPr>
        <p:spPr>
          <a:xfrm>
            <a:off x="7863840" y="1487745"/>
            <a:ext cx="45600" cy="1234500"/>
          </a:xfrm>
          <a:prstGeom prst="rect">
            <a:avLst/>
          </a:prstGeom>
          <a:solidFill>
            <a:srgbClr val="0AC8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6" name="Google Shape;946;p30"/>
          <p:cNvSpPr txBox="1"/>
          <p:nvPr/>
        </p:nvSpPr>
        <p:spPr>
          <a:xfrm>
            <a:off x="8119871" y="1564024"/>
            <a:ext cx="3090600" cy="10722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918E82"/>
                </a:solidFill>
                <a:latin typeface="Malgun Gothic"/>
                <a:ea typeface="Malgun Gothic"/>
                <a:cs typeface="Malgun Gothic"/>
                <a:sym typeface="Malgun Gothic"/>
              </a:rPr>
              <a:t>10분 정보 → 15분 정보</a:t>
            </a:r>
            <a:endParaRPr sz="1500"/>
          </a:p>
          <a:p>
            <a:pPr indent="0" lvl="0" marL="0" marR="0" rtl="0" algn="l">
              <a:lnSpc>
                <a:spcPct val="100000"/>
              </a:lnSpc>
              <a:spcBef>
                <a:spcPts val="500"/>
              </a:spcBef>
              <a:spcAft>
                <a:spcPts val="0"/>
              </a:spcAft>
              <a:buNone/>
            </a:pPr>
            <a:r>
              <a:rPr b="1" i="0" lang="en-US" sz="2100" u="none" cap="none" strike="noStrike">
                <a:solidFill>
                  <a:srgbClr val="0AC8B9"/>
                </a:solidFill>
                <a:latin typeface="Malgun Gothic"/>
                <a:ea typeface="Malgun Gothic"/>
                <a:cs typeface="Malgun Gothic"/>
                <a:sym typeface="Malgun Gothic"/>
              </a:rPr>
              <a:t>0.704 → 0.756</a:t>
            </a:r>
            <a:endParaRPr/>
          </a:p>
          <a:p>
            <a:pPr indent="0" lvl="0" marL="0" marR="0" rtl="0" algn="l">
              <a:lnSpc>
                <a:spcPct val="125000"/>
              </a:lnSpc>
              <a:spcBef>
                <a:spcPts val="300"/>
              </a:spcBef>
              <a:spcAft>
                <a:spcPts val="0"/>
              </a:spcAft>
              <a:buNone/>
            </a:pPr>
            <a:r>
              <a:rPr b="0" i="0" lang="en-US" sz="1200" u="none" cap="none" strike="noStrike">
                <a:solidFill>
                  <a:srgbClr val="8A877D"/>
                </a:solidFill>
                <a:latin typeface="Malgun Gothic"/>
                <a:ea typeface="Malgun Gothic"/>
                <a:cs typeface="Malgun Gothic"/>
                <a:sym typeface="Malgun Gothic"/>
              </a:rPr>
              <a:t>+5.25%p · 시드 10회 반복 +4.77 ± 0.89%p, 10/10 일관</a:t>
            </a:r>
            <a:endParaRPr sz="1500"/>
          </a:p>
        </p:txBody>
      </p:sp>
      <p:graphicFrame>
        <p:nvGraphicFramePr>
          <p:cNvPr id="947" name="Google Shape;947;p30"/>
          <p:cNvGraphicFramePr/>
          <p:nvPr/>
        </p:nvGraphicFramePr>
        <p:xfrm>
          <a:off x="7863840" y="3226284"/>
          <a:ext cx="3000000" cy="3000000"/>
        </p:xfrm>
        <a:graphic>
          <a:graphicData uri="http://schemas.openxmlformats.org/drawingml/2006/table">
            <a:tbl>
              <a:tblPr>
                <a:noFill/>
                <a:tableStyleId>{46956E51-EF99-4CE0-B1A4-93B49CD02E09}</a:tableStyleId>
              </a:tblPr>
              <a:tblGrid>
                <a:gridCol w="1229925"/>
                <a:gridCol w="756875"/>
                <a:gridCol w="756875"/>
                <a:gridCol w="804175"/>
              </a:tblGrid>
              <a:tr h="365750">
                <a:tc>
                  <a:txBody>
                    <a:bodyPr/>
                    <a:lstStyle/>
                    <a:p>
                      <a:pPr indent="0" lvl="0" marL="0" marR="0" rtl="0" algn="l">
                        <a:spcBef>
                          <a:spcPts val="0"/>
                        </a:spcBef>
                        <a:spcAft>
                          <a:spcPts val="0"/>
                        </a:spcAft>
                        <a:buNone/>
                      </a:pPr>
                      <a:r>
                        <a:rPr b="1" lang="en-US" sz="1300" u="none" cap="none" strike="noStrike">
                          <a:solidFill>
                            <a:srgbClr val="F0E6D2"/>
                          </a:solidFill>
                          <a:latin typeface="Malgun Gothic"/>
                          <a:ea typeface="Malgun Gothic"/>
                          <a:cs typeface="Malgun Gothic"/>
                          <a:sym typeface="Malgun Gothic"/>
                        </a:rPr>
                        <a:t>지표</a:t>
                      </a:r>
                      <a:endParaRPr sz="16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300" u="none" cap="none" strike="noStrike">
                          <a:solidFill>
                            <a:srgbClr val="F0E6D2"/>
                          </a:solidFill>
                          <a:latin typeface="Malgun Gothic"/>
                          <a:ea typeface="Malgun Gothic"/>
                          <a:cs typeface="Malgun Gothic"/>
                          <a:sym typeface="Malgun Gothic"/>
                        </a:rPr>
                        <a:t>10분</a:t>
                      </a:r>
                      <a:endParaRPr sz="16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300" u="none" cap="none" strike="noStrike">
                          <a:solidFill>
                            <a:srgbClr val="F0E6D2"/>
                          </a:solidFill>
                          <a:latin typeface="Malgun Gothic"/>
                          <a:ea typeface="Malgun Gothic"/>
                          <a:cs typeface="Malgun Gothic"/>
                          <a:sym typeface="Malgun Gothic"/>
                        </a:rPr>
                        <a:t>15분</a:t>
                      </a:r>
                      <a:endParaRPr sz="16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300" u="none" cap="none" strike="noStrike">
                          <a:solidFill>
                            <a:srgbClr val="F0E6D2"/>
                          </a:solidFill>
                          <a:latin typeface="Malgun Gothic"/>
                          <a:ea typeface="Malgun Gothic"/>
                          <a:cs typeface="Malgun Gothic"/>
                          <a:sym typeface="Malgun Gothic"/>
                        </a:rPr>
                        <a:t>변화</a:t>
                      </a:r>
                      <a:endParaRPr sz="1600"/>
                    </a:p>
                  </a:txBody>
                  <a:tcPr marT="45725" marB="45725" marR="91450" marL="91450" anchor="ctr">
                    <a:solidFill>
                      <a:srgbClr val="3C3F3E"/>
                    </a:solidFill>
                  </a:tcPr>
                </a:tc>
              </a:tr>
              <a:tr h="329175">
                <a:tc>
                  <a:txBody>
                    <a:bodyPr/>
                    <a:lstStyle/>
                    <a:p>
                      <a:pPr indent="0" lvl="0" marL="0" marR="0" rtl="0" algn="l">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GoldDiff</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0.913</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1.175</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+0.26</a:t>
                      </a:r>
                      <a:endParaRPr sz="1600"/>
                    </a:p>
                  </a:txBody>
                  <a:tcPr marT="45725" marB="45725" marR="91450" marL="91450" anchor="ctr">
                    <a:solidFill>
                      <a:srgbClr val="10223E"/>
                    </a:solidFill>
                  </a:tcPr>
                </a:tc>
              </a:tr>
              <a:tr h="329175">
                <a:tc>
                  <a:txBody>
                    <a:bodyPr/>
                    <a:lstStyle/>
                    <a:p>
                      <a:pPr indent="0" lvl="0" marL="0" marR="0" rtl="0" algn="l">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ExpDiff</a:t>
                      </a:r>
                      <a:endParaRPr sz="16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0.165</a:t>
                      </a:r>
                      <a:endParaRPr sz="16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0.425</a:t>
                      </a:r>
                      <a:endParaRPr sz="16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+0.26</a:t>
                      </a:r>
                      <a:endParaRPr sz="1600"/>
                    </a:p>
                  </a:txBody>
                  <a:tcPr marT="45725" marB="45725" marR="91450" marL="91450" anchor="ctr">
                    <a:solidFill>
                      <a:srgbClr val="09172B"/>
                    </a:solidFill>
                  </a:tcPr>
                </a:tc>
              </a:tr>
              <a:tr h="329175">
                <a:tc>
                  <a:txBody>
                    <a:bodyPr/>
                    <a:lstStyle/>
                    <a:p>
                      <a:pPr indent="0" lvl="0" marL="0" marR="0" rtl="0" algn="l">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CSDiff</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0.196</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0.102</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300" u="none" cap="none" strike="noStrike">
                          <a:solidFill>
                            <a:srgbClr val="C1BEB4"/>
                          </a:solidFill>
                          <a:latin typeface="Malgun Gothic"/>
                          <a:ea typeface="Malgun Gothic"/>
                          <a:cs typeface="Malgun Gothic"/>
                          <a:sym typeface="Malgun Gothic"/>
                        </a:rPr>
                        <a:t>−0.09</a:t>
                      </a:r>
                      <a:endParaRPr sz="1600"/>
                    </a:p>
                  </a:txBody>
                  <a:tcPr marT="45725" marB="45725" marR="91450" marL="91450" anchor="ctr">
                    <a:solidFill>
                      <a:srgbClr val="10223E"/>
                    </a:solidFill>
                  </a:tcPr>
                </a:tc>
              </a:tr>
            </a:tbl>
          </a:graphicData>
        </a:graphic>
      </p:graphicFrame>
      <p:sp>
        <p:nvSpPr>
          <p:cNvPr id="948" name="Google Shape;948;p30"/>
          <p:cNvSpPr/>
          <p:nvPr/>
        </p:nvSpPr>
        <p:spPr>
          <a:xfrm>
            <a:off x="804672" y="4886686"/>
            <a:ext cx="10607100" cy="10974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9" name="Google Shape;949;p30"/>
          <p:cNvSpPr/>
          <p:nvPr/>
        </p:nvSpPr>
        <p:spPr>
          <a:xfrm>
            <a:off x="808189" y="4886686"/>
            <a:ext cx="45600" cy="10974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50" name="Google Shape;950;p30"/>
          <p:cNvSpPr txBox="1"/>
          <p:nvPr/>
        </p:nvSpPr>
        <p:spPr>
          <a:xfrm>
            <a:off x="1055077" y="5125776"/>
            <a:ext cx="10137300" cy="6429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sz="1800" u="none" cap="none" strike="noStrike">
                <a:solidFill>
                  <a:srgbClr val="F0E6D2"/>
                </a:solidFill>
                <a:latin typeface="Malgun Gothic"/>
                <a:ea typeface="Malgun Gothic"/>
                <a:cs typeface="Malgun Gothic"/>
                <a:sym typeface="Malgun Gothic"/>
              </a:rPr>
              <a:t>골드·경험치의 격차는 커지고 CS 는 줄어듭니다.</a:t>
            </a:r>
            <a:br>
              <a:rPr b="1" i="0" lang="en-US" sz="1800" u="none" cap="none" strike="noStrike">
                <a:solidFill>
                  <a:srgbClr val="F0E6D2"/>
                </a:solidFill>
                <a:latin typeface="Malgun Gothic"/>
                <a:ea typeface="Malgun Gothic"/>
                <a:cs typeface="Malgun Gothic"/>
                <a:sym typeface="Malgun Gothic"/>
              </a:rPr>
            </a:br>
            <a:r>
              <a:rPr b="1" i="0" lang="en-US" sz="1800" u="none" cap="none" strike="noStrike">
                <a:solidFill>
                  <a:srgbClr val="F0E6D2"/>
                </a:solidFill>
                <a:latin typeface="Malgun Gothic"/>
                <a:ea typeface="Malgun Gothic"/>
                <a:cs typeface="Malgun Gothic"/>
                <a:sym typeface="Malgun Gothic"/>
              </a:rPr>
              <a:t>10분 시점에서 보였던 경기 양상에서, 격차 자체가 승패를 말하는 단계로 넘어갑니다.</a:t>
            </a:r>
            <a:endParaRPr/>
          </a:p>
        </p:txBody>
      </p:sp>
      <p:sp>
        <p:nvSpPr>
          <p:cNvPr id="951" name="Google Shape;951;p30"/>
          <p:cNvSpPr txBox="1"/>
          <p:nvPr/>
        </p:nvSpPr>
        <p:spPr>
          <a:xfrm>
            <a:off x="777240" y="6382512"/>
            <a:ext cx="10607040" cy="25603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050" u="none" cap="none" strike="noStrike">
                <a:solidFill>
                  <a:srgbClr val="73726E"/>
                </a:solidFill>
                <a:latin typeface="Malgun Gothic"/>
                <a:ea typeface="Malgun Gothic"/>
                <a:cs typeface="Malgun Gothic"/>
                <a:sym typeface="Malgun Gothic"/>
              </a:rPr>
              <a:t>근거 · reports/tables/repeat_experimentB.csv · expB_coef_shift.csv</a:t>
            </a:r>
            <a:endParaRPr/>
          </a:p>
        </p:txBody>
      </p:sp>
      <p:sp>
        <p:nvSpPr>
          <p:cNvPr id="952" name="Google Shape;952;p30"/>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31"/>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rift_scene.jpg" id="959" name="Google Shape;959;p31"/>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960" name="Google Shape;960;p31"/>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61" name="Google Shape;961;p31"/>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62" name="Google Shape;962;p31"/>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63" name="Google Shape;963;p31"/>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64" name="Google Shape;964;p31"/>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65" name="Google Shape;965;p31"/>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66" name="Google Shape;966;p31"/>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67" name="Google Shape;967;p31"/>
          <p:cNvSpPr txBox="1"/>
          <p:nvPr/>
        </p:nvSpPr>
        <p:spPr>
          <a:xfrm>
            <a:off x="777240" y="530352"/>
            <a:ext cx="10634472" cy="51668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4. Phase 3   |   </a:t>
            </a:r>
            <a:r>
              <a:rPr b="1" i="0" lang="en-US" sz="2500" u="none" cap="none" strike="noStrike">
                <a:solidFill>
                  <a:srgbClr val="F0E6D2"/>
                </a:solidFill>
                <a:latin typeface="Malgun Gothic"/>
                <a:ea typeface="Malgun Gothic"/>
                <a:cs typeface="Malgun Gothic"/>
                <a:sym typeface="Malgun Gothic"/>
              </a:rPr>
              <a:t>구간별 이득 분석 — 접전에 집중</a:t>
            </a:r>
            <a:endParaRPr b="1" i="0" sz="2500" u="none" cap="none" strike="noStrike">
              <a:solidFill>
                <a:srgbClr val="F0E6D2"/>
              </a:solidFill>
              <a:latin typeface="Malgun Gothic"/>
              <a:ea typeface="Malgun Gothic"/>
              <a:cs typeface="Malgun Gothic"/>
              <a:sym typeface="Malgun Gothic"/>
            </a:endParaRPr>
          </a:p>
        </p:txBody>
      </p:sp>
      <p:sp>
        <p:nvSpPr>
          <p:cNvPr id="968" name="Google Shape;968;p31"/>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69" name="Google Shape;969;p31"/>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70" name="Google Shape;970;p31"/>
          <p:cNvSpPr/>
          <p:nvPr/>
        </p:nvSpPr>
        <p:spPr>
          <a:xfrm>
            <a:off x="731519" y="1449493"/>
            <a:ext cx="6675000" cy="3337500"/>
          </a:xfrm>
          <a:prstGeom prst="rect">
            <a:avLst/>
          </a:prstGeom>
          <a:solidFill>
            <a:srgbClr val="5F51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71" name="Google Shape;971;p31"/>
          <p:cNvSpPr/>
          <p:nvPr/>
        </p:nvSpPr>
        <p:spPr>
          <a:xfrm>
            <a:off x="777240" y="1498328"/>
            <a:ext cx="6583800" cy="3246000"/>
          </a:xfrm>
          <a:prstGeom prst="rect">
            <a:avLst/>
          </a:prstGeom>
          <a:solidFill>
            <a:srgbClr val="F5F2EB"/>
          </a:solidFill>
          <a:ln cap="flat" cmpd="sng" w="1587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viz_5_close_games.png" id="972" name="Google Shape;972;p31"/>
          <p:cNvPicPr preferRelativeResize="0"/>
          <p:nvPr/>
        </p:nvPicPr>
        <p:blipFill rotWithShape="1">
          <a:blip r:embed="rId4">
            <a:alphaModFix/>
          </a:blip>
          <a:srcRect b="0" l="0" r="0" t="0"/>
          <a:stretch/>
        </p:blipFill>
        <p:spPr>
          <a:xfrm>
            <a:off x="968594" y="1615533"/>
            <a:ext cx="6200971" cy="3026663"/>
          </a:xfrm>
          <a:prstGeom prst="rect">
            <a:avLst/>
          </a:prstGeom>
          <a:noFill/>
          <a:ln>
            <a:noFill/>
          </a:ln>
        </p:spPr>
      </p:pic>
      <p:sp>
        <p:nvSpPr>
          <p:cNvPr id="973" name="Google Shape;973;p31"/>
          <p:cNvSpPr txBox="1"/>
          <p:nvPr/>
        </p:nvSpPr>
        <p:spPr>
          <a:xfrm>
            <a:off x="777190" y="5133960"/>
            <a:ext cx="6583800" cy="2310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1500" u="none" cap="none" strike="noStrike">
                <a:solidFill>
                  <a:srgbClr val="85837A"/>
                </a:solidFill>
                <a:latin typeface="Malgun Gothic"/>
                <a:ea typeface="Malgun Gothic"/>
                <a:cs typeface="Malgun Gothic"/>
                <a:sym typeface="Malgun Gothic"/>
              </a:rPr>
              <a:t>10분에 어떤 상황이었</a:t>
            </a:r>
            <a:r>
              <a:rPr lang="en-US" sz="1500">
                <a:solidFill>
                  <a:srgbClr val="85837A"/>
                </a:solidFill>
                <a:latin typeface="Malgun Gothic"/>
                <a:ea typeface="Malgun Gothic"/>
                <a:cs typeface="Malgun Gothic"/>
                <a:sym typeface="Malgun Gothic"/>
              </a:rPr>
              <a:t>는지</a:t>
            </a:r>
            <a:r>
              <a:rPr b="0" i="0" lang="en-US" sz="1500" u="none" cap="none" strike="noStrike">
                <a:solidFill>
                  <a:srgbClr val="85837A"/>
                </a:solidFill>
                <a:latin typeface="Malgun Gothic"/>
                <a:ea typeface="Malgun Gothic"/>
                <a:cs typeface="Malgun Gothic"/>
                <a:sym typeface="Malgun Gothic"/>
              </a:rPr>
              <a:t> 나</a:t>
            </a:r>
            <a:r>
              <a:rPr lang="en-US" sz="1500">
                <a:solidFill>
                  <a:srgbClr val="85837A"/>
                </a:solidFill>
                <a:latin typeface="Malgun Gothic"/>
                <a:ea typeface="Malgun Gothic"/>
                <a:cs typeface="Malgun Gothic"/>
                <a:sym typeface="Malgun Gothic"/>
              </a:rPr>
              <a:t>누고</a:t>
            </a:r>
            <a:r>
              <a:rPr b="0" i="0" lang="en-US" sz="1500" u="none" cap="none" strike="noStrike">
                <a:solidFill>
                  <a:srgbClr val="85837A"/>
                </a:solidFill>
                <a:latin typeface="Malgun Gothic"/>
                <a:ea typeface="Malgun Gothic"/>
                <a:cs typeface="Malgun Gothic"/>
                <a:sym typeface="Malgun Gothic"/>
              </a:rPr>
              <a:t>, 5분을 더 봤을 때 얼마나 나아지는지</a:t>
            </a:r>
            <a:endParaRPr b="0" i="0" sz="1500" u="none" cap="none" strike="noStrike">
              <a:solidFill>
                <a:srgbClr val="85837A"/>
              </a:solidFill>
              <a:latin typeface="Malgun Gothic"/>
              <a:ea typeface="Malgun Gothic"/>
              <a:cs typeface="Malgun Gothic"/>
              <a:sym typeface="Malgun Gothic"/>
            </a:endParaRPr>
          </a:p>
        </p:txBody>
      </p:sp>
      <p:graphicFrame>
        <p:nvGraphicFramePr>
          <p:cNvPr id="974" name="Google Shape;974;p31"/>
          <p:cNvGraphicFramePr/>
          <p:nvPr/>
        </p:nvGraphicFramePr>
        <p:xfrm>
          <a:off x="7589520" y="1498328"/>
          <a:ext cx="3000000" cy="3000000"/>
        </p:xfrm>
        <a:graphic>
          <a:graphicData uri="http://schemas.openxmlformats.org/drawingml/2006/table">
            <a:tbl>
              <a:tblPr>
                <a:noFill/>
                <a:tableStyleId>{46956E51-EF99-4CE0-B1A4-93B49CD02E09}</a:tableStyleId>
              </a:tblPr>
              <a:tblGrid>
                <a:gridCol w="1343500"/>
                <a:gridCol w="716525"/>
                <a:gridCol w="626950"/>
                <a:gridCol w="626950"/>
                <a:gridCol w="761300"/>
              </a:tblGrid>
              <a:tr h="449600">
                <a:tc>
                  <a:txBody>
                    <a:bodyPr/>
                    <a:lstStyle/>
                    <a:p>
                      <a:pPr indent="0" lvl="0" marL="0" marR="0" rtl="0" algn="l">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10분 상황</a:t>
                      </a:r>
                      <a:endParaRPr sz="17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비중</a:t>
                      </a:r>
                      <a:endParaRPr sz="17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10분</a:t>
                      </a:r>
                      <a:endParaRPr sz="17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15분</a:t>
                      </a:r>
                      <a:endParaRPr sz="17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개선</a:t>
                      </a:r>
                      <a:endParaRPr sz="1700"/>
                    </a:p>
                  </a:txBody>
                  <a:tcPr marT="45725" marB="45725" marR="91450" marL="91450" anchor="ctr">
                    <a:solidFill>
                      <a:srgbClr val="3C3F3E"/>
                    </a:solidFill>
                  </a:tcPr>
                </a:tc>
              </a:tr>
              <a:tr h="449600">
                <a:tc>
                  <a:txBody>
                    <a:bodyPr/>
                    <a:lstStyle/>
                    <a:p>
                      <a:pPr indent="0" lvl="0" marL="0" marR="0" rtl="0" algn="l">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팽팽함 </a:t>
                      </a:r>
                      <a:endParaRPr b="1" sz="1350" u="none" cap="none" strike="noStrike">
                        <a:solidFill>
                          <a:srgbClr val="F0E6D2"/>
                        </a:solidFill>
                        <a:latin typeface="Malgun Gothic"/>
                        <a:ea typeface="Malgun Gothic"/>
                        <a:cs typeface="Malgun Gothic"/>
                        <a:sym typeface="Malgun Gothic"/>
                      </a:endParaRPr>
                    </a:p>
                    <a:p>
                      <a:pPr indent="0" lvl="0" marL="0" marR="0" rtl="0" algn="l">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(&lt; 1,000)</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52.1 %</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0.617</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0.696</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250" u="none" cap="none" strike="noStrike">
                          <a:solidFill>
                            <a:srgbClr val="F0E6D2"/>
                          </a:solidFill>
                          <a:latin typeface="Malgun Gothic"/>
                          <a:ea typeface="Malgun Gothic"/>
                          <a:cs typeface="Malgun Gothic"/>
                          <a:sym typeface="Malgun Gothic"/>
                        </a:rPr>
                        <a:t>+7.8%p</a:t>
                      </a:r>
                      <a:endParaRPr sz="1600"/>
                    </a:p>
                  </a:txBody>
                  <a:tcPr marT="45725" marB="45725" marR="91450" marL="91450" anchor="ctr">
                    <a:solidFill>
                      <a:srgbClr val="2D353E"/>
                    </a:solidFill>
                  </a:tcPr>
                </a:tc>
              </a:tr>
              <a:tr h="449600">
                <a:tc>
                  <a:txBody>
                    <a:bodyPr/>
                    <a:lstStyle/>
                    <a:p>
                      <a:pPr indent="0" lvl="0" marL="0" marR="0" rtl="0" algn="l">
                        <a:spcBef>
                          <a:spcPts val="0"/>
                        </a:spcBef>
                        <a:spcAft>
                          <a:spcPts val="0"/>
                        </a:spcAft>
                        <a:buNone/>
                      </a:pPr>
                      <a:r>
                        <a:rPr b="0" lang="en-US" sz="1350" u="none" cap="none" strike="noStrike">
                          <a:solidFill>
                            <a:srgbClr val="C1BEB4"/>
                          </a:solidFill>
                          <a:latin typeface="Malgun Gothic"/>
                          <a:ea typeface="Malgun Gothic"/>
                          <a:cs typeface="Malgun Gothic"/>
                          <a:sym typeface="Malgun Gothic"/>
                        </a:rPr>
                        <a:t>조금 앞섬</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350" u="none" cap="none" strike="noStrike">
                          <a:solidFill>
                            <a:srgbClr val="C1BEB4"/>
                          </a:solidFill>
                          <a:latin typeface="Malgun Gothic"/>
                          <a:ea typeface="Malgun Gothic"/>
                          <a:cs typeface="Malgun Gothic"/>
                          <a:sym typeface="Malgun Gothic"/>
                        </a:rPr>
                        <a:t>37.5 %</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350" u="none" cap="none" strike="noStrike">
                          <a:solidFill>
                            <a:srgbClr val="C1BEB4"/>
                          </a:solidFill>
                          <a:latin typeface="Malgun Gothic"/>
                          <a:ea typeface="Malgun Gothic"/>
                          <a:cs typeface="Malgun Gothic"/>
                          <a:sym typeface="Malgun Gothic"/>
                        </a:rPr>
                        <a:t>0.761</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350" u="none" cap="none" strike="noStrike">
                          <a:solidFill>
                            <a:srgbClr val="C1BEB4"/>
                          </a:solidFill>
                          <a:latin typeface="Malgun Gothic"/>
                          <a:ea typeface="Malgun Gothic"/>
                          <a:cs typeface="Malgun Gothic"/>
                          <a:sym typeface="Malgun Gothic"/>
                        </a:rPr>
                        <a:t>0.793</a:t>
                      </a:r>
                      <a:endParaRPr sz="17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250" u="none" cap="none" strike="noStrike">
                          <a:solidFill>
                            <a:srgbClr val="C1BEB4"/>
                          </a:solidFill>
                          <a:latin typeface="Malgun Gothic"/>
                          <a:ea typeface="Malgun Gothic"/>
                          <a:cs typeface="Malgun Gothic"/>
                          <a:sym typeface="Malgun Gothic"/>
                        </a:rPr>
                        <a:t>+3.1%p</a:t>
                      </a:r>
                      <a:endParaRPr sz="1600"/>
                    </a:p>
                  </a:txBody>
                  <a:tcPr marT="45725" marB="45725" marR="91450" marL="91450" anchor="ctr">
                    <a:solidFill>
                      <a:srgbClr val="09172B"/>
                    </a:solidFill>
                  </a:tcPr>
                </a:tc>
              </a:tr>
              <a:tr h="493900">
                <a:tc>
                  <a:txBody>
                    <a:bodyPr/>
                    <a:lstStyle/>
                    <a:p>
                      <a:pPr indent="0" lvl="0" marL="0" marR="0" rtl="0" algn="l">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많이 앞섬 (2,500+)</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10.4 %</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0.928</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350" u="none" cap="none" strike="noStrike">
                          <a:solidFill>
                            <a:srgbClr val="F0E6D2"/>
                          </a:solidFill>
                          <a:latin typeface="Malgun Gothic"/>
                          <a:ea typeface="Malgun Gothic"/>
                          <a:cs typeface="Malgun Gothic"/>
                          <a:sym typeface="Malgun Gothic"/>
                        </a:rPr>
                        <a:t>0.928</a:t>
                      </a:r>
                      <a:endParaRPr sz="17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250" u="none" cap="none" strike="noStrike">
                          <a:solidFill>
                            <a:srgbClr val="F0E6D2"/>
                          </a:solidFill>
                          <a:latin typeface="Malgun Gothic"/>
                          <a:ea typeface="Malgun Gothic"/>
                          <a:cs typeface="Malgun Gothic"/>
                          <a:sym typeface="Malgun Gothic"/>
                        </a:rPr>
                        <a:t>±0.0%p</a:t>
                      </a:r>
                      <a:endParaRPr sz="1600"/>
                    </a:p>
                  </a:txBody>
                  <a:tcPr marT="45725" marB="45725" marR="91450" marL="91450" anchor="ctr">
                    <a:solidFill>
                      <a:srgbClr val="2D353E"/>
                    </a:solidFill>
                  </a:tcPr>
                </a:tc>
              </a:tr>
            </a:tbl>
          </a:graphicData>
        </a:graphic>
      </p:graphicFrame>
      <p:sp>
        <p:nvSpPr>
          <p:cNvPr id="975" name="Google Shape;975;p31"/>
          <p:cNvSpPr/>
          <p:nvPr/>
        </p:nvSpPr>
        <p:spPr>
          <a:xfrm>
            <a:off x="7589525" y="3578708"/>
            <a:ext cx="4075200" cy="243360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76" name="Google Shape;976;p31"/>
          <p:cNvSpPr/>
          <p:nvPr/>
        </p:nvSpPr>
        <p:spPr>
          <a:xfrm>
            <a:off x="7589520" y="3578714"/>
            <a:ext cx="45600" cy="24336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77" name="Google Shape;977;p31"/>
          <p:cNvSpPr txBox="1"/>
          <p:nvPr/>
        </p:nvSpPr>
        <p:spPr>
          <a:xfrm>
            <a:off x="7818118" y="3740802"/>
            <a:ext cx="3365100" cy="20595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sz="1500" u="none" cap="none" strike="noStrike">
                <a:solidFill>
                  <a:srgbClr val="F0E6D2"/>
                </a:solidFill>
                <a:latin typeface="Malgun Gothic"/>
                <a:ea typeface="Malgun Gothic"/>
                <a:cs typeface="Malgun Gothic"/>
                <a:sym typeface="Malgun Gothic"/>
              </a:rPr>
              <a:t>이미 크게 벌어진 경기는</a:t>
            </a:r>
            <a:br>
              <a:rPr b="1" i="0" lang="en-US" sz="1500" u="none" cap="none" strike="noStrike">
                <a:solidFill>
                  <a:srgbClr val="F0E6D2"/>
                </a:solidFill>
                <a:latin typeface="Malgun Gothic"/>
                <a:ea typeface="Malgun Gothic"/>
                <a:cs typeface="Malgun Gothic"/>
                <a:sym typeface="Malgun Gothic"/>
              </a:rPr>
            </a:br>
            <a:r>
              <a:rPr b="1" i="0" lang="en-US" sz="1500" u="none" cap="none" strike="noStrike">
                <a:solidFill>
                  <a:srgbClr val="F0E6D2"/>
                </a:solidFill>
                <a:latin typeface="Malgun Gothic"/>
                <a:ea typeface="Malgun Gothic"/>
                <a:cs typeface="Malgun Gothic"/>
                <a:sym typeface="Malgun Gothic"/>
              </a:rPr>
              <a:t>5분을 더 봐도 변화가 정확히 0</a:t>
            </a:r>
            <a:br>
              <a:rPr b="1" i="0" lang="en-US" sz="1500" u="none" cap="none" strike="noStrike">
                <a:solidFill>
                  <a:srgbClr val="F0E6D2"/>
                </a:solidFill>
                <a:latin typeface="Malgun Gothic"/>
                <a:ea typeface="Malgun Gothic"/>
                <a:cs typeface="Malgun Gothic"/>
                <a:sym typeface="Malgun Gothic"/>
              </a:rPr>
            </a:br>
            <a:br>
              <a:rPr b="1" i="0" lang="en-US" sz="1500" u="none" cap="none" strike="noStrike">
                <a:solidFill>
                  <a:srgbClr val="F0E6D2"/>
                </a:solidFill>
                <a:latin typeface="Malgun Gothic"/>
                <a:ea typeface="Malgun Gothic"/>
                <a:cs typeface="Malgun Gothic"/>
                <a:sym typeface="Malgun Gothic"/>
              </a:rPr>
            </a:br>
            <a:r>
              <a:rPr b="1" i="0" lang="en-US" sz="1500" u="none" cap="none" strike="noStrike">
                <a:solidFill>
                  <a:srgbClr val="F0E6D2"/>
                </a:solidFill>
                <a:latin typeface="Malgun Gothic"/>
                <a:ea typeface="Malgun Gothic"/>
                <a:cs typeface="Malgun Gothic"/>
                <a:sym typeface="Malgun Gothic"/>
              </a:rPr>
              <a:t>반면 팽팽한 경기는 +7.8%p</a:t>
            </a:r>
            <a:br>
              <a:rPr b="1" i="0" lang="en-US" sz="1500" u="none" cap="none" strike="noStrike">
                <a:solidFill>
                  <a:srgbClr val="F0E6D2"/>
                </a:solidFill>
                <a:latin typeface="Malgun Gothic"/>
                <a:ea typeface="Malgun Gothic"/>
                <a:cs typeface="Malgun Gothic"/>
                <a:sym typeface="Malgun Gothic"/>
              </a:rPr>
            </a:br>
            <a:br>
              <a:rPr b="1" i="0" lang="en-US" sz="1500" u="none" cap="none" strike="noStrike">
                <a:solidFill>
                  <a:srgbClr val="F0E6D2"/>
                </a:solidFill>
                <a:latin typeface="Malgun Gothic"/>
                <a:ea typeface="Malgun Gothic"/>
                <a:cs typeface="Malgun Gothic"/>
                <a:sym typeface="Malgun Gothic"/>
              </a:rPr>
            </a:br>
            <a:r>
              <a:rPr b="1" i="0" lang="en-US" sz="1500" u="none" cap="none" strike="noStrike">
                <a:solidFill>
                  <a:srgbClr val="F0E6D2"/>
                </a:solidFill>
                <a:latin typeface="Malgun Gothic"/>
                <a:ea typeface="Malgun Gothic"/>
                <a:cs typeface="Malgun Gothic"/>
                <a:sym typeface="Malgun Gothic"/>
              </a:rPr>
              <a:t>10분에 팽팽했던 경기의 59% 가</a:t>
            </a:r>
            <a:br>
              <a:rPr b="1" i="0" lang="en-US" sz="1500" u="none" cap="none" strike="noStrike">
                <a:solidFill>
                  <a:srgbClr val="F0E6D2"/>
                </a:solidFill>
                <a:latin typeface="Malgun Gothic"/>
                <a:ea typeface="Malgun Gothic"/>
                <a:cs typeface="Malgun Gothic"/>
                <a:sym typeface="Malgun Gothic"/>
              </a:rPr>
            </a:br>
            <a:r>
              <a:rPr b="1" i="0" lang="en-US" sz="1500" u="none" cap="none" strike="noStrike">
                <a:solidFill>
                  <a:srgbClr val="F0E6D2"/>
                </a:solidFill>
                <a:latin typeface="Malgun Gothic"/>
                <a:ea typeface="Malgun Gothic"/>
                <a:cs typeface="Malgun Gothic"/>
                <a:sym typeface="Malgun Gothic"/>
              </a:rPr>
              <a:t>그 5분 사이에 한쪽으로 기웁니다.</a:t>
            </a:r>
            <a:endParaRPr sz="1500"/>
          </a:p>
        </p:txBody>
      </p:sp>
      <p:sp>
        <p:nvSpPr>
          <p:cNvPr id="978" name="Google Shape;978;p31"/>
          <p:cNvSpPr txBox="1"/>
          <p:nvPr/>
        </p:nvSpPr>
        <p:spPr>
          <a:xfrm>
            <a:off x="777240" y="5754464"/>
            <a:ext cx="6784800" cy="2772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800" u="none" cap="none" strike="noStrike">
                <a:solidFill>
                  <a:srgbClr val="F0E6D2"/>
                </a:solidFill>
                <a:latin typeface="Malgun Gothic"/>
                <a:ea typeface="Malgun Gothic"/>
                <a:cs typeface="Malgun Gothic"/>
                <a:sym typeface="Malgun Gothic"/>
              </a:rPr>
              <a:t>◆  "5분의 차이로, 결정짓지 못한 접전을 판가름 할 수 있음</a:t>
            </a:r>
            <a:endParaRPr b="0" i="0" sz="1800" u="none" cap="none" strike="noStrike">
              <a:solidFill>
                <a:srgbClr val="8E8B80"/>
              </a:solidFill>
              <a:latin typeface="Malgun Gothic"/>
              <a:ea typeface="Malgun Gothic"/>
              <a:cs typeface="Malgun Gothic"/>
              <a:sym typeface="Malgun Gothic"/>
            </a:endParaRPr>
          </a:p>
        </p:txBody>
      </p:sp>
      <p:sp>
        <p:nvSpPr>
          <p:cNvPr id="979" name="Google Shape;979;p31"/>
          <p:cNvSpPr txBox="1"/>
          <p:nvPr/>
        </p:nvSpPr>
        <p:spPr>
          <a:xfrm>
            <a:off x="777240" y="6382512"/>
            <a:ext cx="10607040" cy="241156"/>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400" u="none" cap="none" strike="noStrike">
                <a:solidFill>
                  <a:srgbClr val="73726E"/>
                </a:solidFill>
                <a:latin typeface="Malgun Gothic"/>
                <a:ea typeface="Malgun Gothic"/>
                <a:cs typeface="Malgun Gothic"/>
                <a:sym typeface="Malgun Gothic"/>
              </a:rPr>
              <a:t>근거 · reports/tables/expB_close_games.csv</a:t>
            </a:r>
            <a:endParaRPr/>
          </a:p>
        </p:txBody>
      </p:sp>
      <p:sp>
        <p:nvSpPr>
          <p:cNvPr id="980" name="Google Shape;980;p31"/>
          <p:cNvSpPr txBox="1"/>
          <p:nvPr/>
        </p:nvSpPr>
        <p:spPr>
          <a:xfrm>
            <a:off x="10972800" y="6567398"/>
            <a:ext cx="868680" cy="215444"/>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1400" u="none" cap="none" strike="noStrike">
                <a:solidFill>
                  <a:srgbClr val="73726E"/>
                </a:solidFill>
                <a:latin typeface="Malgun Gothic"/>
                <a:ea typeface="Malgun Gothic"/>
                <a:cs typeface="Malgun Gothic"/>
                <a:sym typeface="Malgun Gothic"/>
              </a:rPr>
              <a:t>‹#›</a:t>
            </a:fld>
            <a:endParaRPr b="0" i="0" sz="140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32"/>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987" name="Google Shape;987;p32"/>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988" name="Google Shape;988;p32"/>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9" name="Google Shape;989;p32"/>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0" name="Google Shape;990;p32"/>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1" name="Google Shape;991;p32"/>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2" name="Google Shape;992;p32"/>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3" name="Google Shape;993;p32"/>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4" name="Google Shape;994;p32"/>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5" name="Google Shape;995;p32"/>
          <p:cNvSpPr txBox="1"/>
          <p:nvPr/>
        </p:nvSpPr>
        <p:spPr>
          <a:xfrm>
            <a:off x="777240" y="530352"/>
            <a:ext cx="10634472"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4. Phase 3   |   </a:t>
            </a:r>
            <a:r>
              <a:rPr b="1" i="0" lang="en-US" sz="2500" u="none" cap="none" strike="noStrike">
                <a:solidFill>
                  <a:srgbClr val="F0E6D2"/>
                </a:solidFill>
                <a:latin typeface="Malgun Gothic"/>
                <a:ea typeface="Malgun Gothic"/>
                <a:cs typeface="Malgun Gothic"/>
                <a:sym typeface="Malgun Gothic"/>
              </a:rPr>
              <a:t>종합 — 경기는 언제 결정되는가</a:t>
            </a:r>
            <a:endParaRPr b="1" i="0" sz="2500" u="none" cap="none" strike="noStrike">
              <a:solidFill>
                <a:srgbClr val="F0E6D2"/>
              </a:solidFill>
              <a:latin typeface="Malgun Gothic"/>
              <a:ea typeface="Malgun Gothic"/>
              <a:cs typeface="Malgun Gothic"/>
              <a:sym typeface="Malgun Gothic"/>
            </a:endParaRPr>
          </a:p>
        </p:txBody>
      </p:sp>
      <p:sp>
        <p:nvSpPr>
          <p:cNvPr id="996" name="Google Shape;996;p32"/>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7" name="Google Shape;997;p32"/>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8" name="Google Shape;998;p32"/>
          <p:cNvSpPr/>
          <p:nvPr/>
        </p:nvSpPr>
        <p:spPr>
          <a:xfrm>
            <a:off x="777240" y="1600200"/>
            <a:ext cx="10634472" cy="1325880"/>
          </a:xfrm>
          <a:prstGeom prst="rect">
            <a:avLst/>
          </a:prstGeom>
          <a:solidFill>
            <a:srgbClr val="2A333E">
              <a:alpha val="9215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9" name="Google Shape;999;p32"/>
          <p:cNvSpPr/>
          <p:nvPr/>
        </p:nvSpPr>
        <p:spPr>
          <a:xfrm>
            <a:off x="777240" y="1600200"/>
            <a:ext cx="45720" cy="132588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00" name="Google Shape;1000;p32"/>
          <p:cNvSpPr txBox="1"/>
          <p:nvPr/>
        </p:nvSpPr>
        <p:spPr>
          <a:xfrm>
            <a:off x="1097280" y="1600200"/>
            <a:ext cx="10058400" cy="132588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2000" u="none" cap="none" strike="noStrike">
                <a:solidFill>
                  <a:srgbClr val="F0E6D2"/>
                </a:solidFill>
                <a:latin typeface="Malgun Gothic"/>
                <a:ea typeface="Malgun Gothic"/>
                <a:cs typeface="Malgun Gothic"/>
                <a:sym typeface="Malgun Gothic"/>
              </a:rPr>
              <a:t>경기의 약 10% 는 10분에 이미 사실상 결판나 있고,</a:t>
            </a:r>
            <a:endParaRPr/>
          </a:p>
          <a:p>
            <a:pPr indent="0" lvl="0" marL="0" marR="0" rtl="0" algn="l">
              <a:lnSpc>
                <a:spcPct val="125000"/>
              </a:lnSpc>
              <a:spcBef>
                <a:spcPts val="800"/>
              </a:spcBef>
              <a:spcAft>
                <a:spcPts val="0"/>
              </a:spcAft>
              <a:buNone/>
            </a:pPr>
            <a:r>
              <a:rPr b="1" i="0" lang="en-US" sz="2000" u="none" cap="none" strike="noStrike">
                <a:solidFill>
                  <a:srgbClr val="F0E6D2"/>
                </a:solidFill>
                <a:latin typeface="Malgun Gothic"/>
                <a:ea typeface="Malgun Gothic"/>
                <a:cs typeface="Malgun Gothic"/>
                <a:sym typeface="Malgun Gothic"/>
              </a:rPr>
              <a:t>절반쯤 되는 팽팽한 경기는 그 6할이 10~15분 사이에 갈립니다.</a:t>
            </a:r>
            <a:endParaRPr/>
          </a:p>
        </p:txBody>
      </p:sp>
      <p:sp>
        <p:nvSpPr>
          <p:cNvPr id="1001" name="Google Shape;1001;p32"/>
          <p:cNvSpPr/>
          <p:nvPr/>
        </p:nvSpPr>
        <p:spPr>
          <a:xfrm>
            <a:off x="777240" y="3154680"/>
            <a:ext cx="10634472" cy="713232"/>
          </a:xfrm>
          <a:prstGeom prst="rect">
            <a:avLst/>
          </a:prstGeom>
          <a:solidFill>
            <a:srgbClr val="10223E">
              <a:alpha val="87843"/>
            </a:srgbClr>
          </a:solidFill>
          <a:ln cap="flat" cmpd="sng" w="12700">
            <a:solidFill>
              <a:srgbClr val="5F51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02" name="Google Shape;1002;p32"/>
          <p:cNvSpPr txBox="1"/>
          <p:nvPr/>
        </p:nvSpPr>
        <p:spPr>
          <a:xfrm>
            <a:off x="1051560" y="3154680"/>
            <a:ext cx="2743200" cy="7131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1500" u="none" cap="none" strike="noStrike">
                <a:solidFill>
                  <a:srgbClr val="F0E6D2"/>
                </a:solidFill>
                <a:latin typeface="Malgun Gothic"/>
                <a:ea typeface="Malgun Gothic"/>
                <a:cs typeface="Malgun Gothic"/>
                <a:sym typeface="Malgun Gothic"/>
              </a:rPr>
              <a:t>이미 끝난 경기</a:t>
            </a:r>
            <a:endParaRPr/>
          </a:p>
        </p:txBody>
      </p:sp>
      <p:sp>
        <p:nvSpPr>
          <p:cNvPr id="1003" name="Google Shape;1003;p32"/>
          <p:cNvSpPr txBox="1"/>
          <p:nvPr/>
        </p:nvSpPr>
        <p:spPr>
          <a:xfrm>
            <a:off x="3840480" y="3154680"/>
            <a:ext cx="1463040" cy="713232"/>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1700" u="none" cap="none" strike="noStrike">
                <a:solidFill>
                  <a:srgbClr val="C89B3C"/>
                </a:solidFill>
                <a:latin typeface="Malgun Gothic"/>
                <a:ea typeface="Malgun Gothic"/>
                <a:cs typeface="Malgun Gothic"/>
                <a:sym typeface="Malgun Gothic"/>
              </a:rPr>
              <a:t>약 10%</a:t>
            </a:r>
            <a:endParaRPr/>
          </a:p>
        </p:txBody>
      </p:sp>
      <p:sp>
        <p:nvSpPr>
          <p:cNvPr id="1004" name="Google Shape;1004;p32"/>
          <p:cNvSpPr txBox="1"/>
          <p:nvPr/>
        </p:nvSpPr>
        <p:spPr>
          <a:xfrm>
            <a:off x="5486400" y="3407688"/>
            <a:ext cx="5760600" cy="2385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US" sz="1550" u="none" cap="none" strike="noStrike">
                <a:solidFill>
                  <a:srgbClr val="C8C5BC"/>
                </a:solidFill>
                <a:latin typeface="Malgun Gothic"/>
                <a:ea typeface="Malgun Gothic"/>
                <a:cs typeface="Malgun Gothic"/>
                <a:sym typeface="Malgun Gothic"/>
              </a:rPr>
              <a:t>10분 골드차 2,500+ · 5분을 더 봐도 정확도 변화 ±0.0%p</a:t>
            </a:r>
            <a:endParaRPr sz="1700"/>
          </a:p>
        </p:txBody>
      </p:sp>
      <p:sp>
        <p:nvSpPr>
          <p:cNvPr id="1005" name="Google Shape;1005;p32"/>
          <p:cNvSpPr/>
          <p:nvPr/>
        </p:nvSpPr>
        <p:spPr>
          <a:xfrm>
            <a:off x="777240" y="3959352"/>
            <a:ext cx="10634472" cy="713232"/>
          </a:xfrm>
          <a:prstGeom prst="rect">
            <a:avLst/>
          </a:prstGeom>
          <a:solidFill>
            <a:srgbClr val="10223E">
              <a:alpha val="87843"/>
            </a:srgbClr>
          </a:solidFill>
          <a:ln cap="flat" cmpd="sng" w="12700">
            <a:solidFill>
              <a:srgbClr val="5F51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06" name="Google Shape;1006;p32"/>
          <p:cNvSpPr txBox="1"/>
          <p:nvPr/>
        </p:nvSpPr>
        <p:spPr>
          <a:xfrm>
            <a:off x="1051560" y="3959352"/>
            <a:ext cx="2743200" cy="7131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1500" u="none" cap="none" strike="noStrike">
                <a:solidFill>
                  <a:srgbClr val="F0E6D2"/>
                </a:solidFill>
                <a:latin typeface="Malgun Gothic"/>
                <a:ea typeface="Malgun Gothic"/>
                <a:cs typeface="Malgun Gothic"/>
                <a:sym typeface="Malgun Gothic"/>
              </a:rPr>
              <a:t>아직 안 갈린 경기</a:t>
            </a:r>
            <a:endParaRPr/>
          </a:p>
        </p:txBody>
      </p:sp>
      <p:sp>
        <p:nvSpPr>
          <p:cNvPr id="1007" name="Google Shape;1007;p32"/>
          <p:cNvSpPr txBox="1"/>
          <p:nvPr/>
        </p:nvSpPr>
        <p:spPr>
          <a:xfrm>
            <a:off x="3840480" y="3959352"/>
            <a:ext cx="1463040" cy="713232"/>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1700" u="none" cap="none" strike="noStrike">
                <a:solidFill>
                  <a:srgbClr val="C89B3C"/>
                </a:solidFill>
                <a:latin typeface="Malgun Gothic"/>
                <a:ea typeface="Malgun Gothic"/>
                <a:cs typeface="Malgun Gothic"/>
                <a:sym typeface="Malgun Gothic"/>
              </a:rPr>
              <a:t>약 52%</a:t>
            </a:r>
            <a:endParaRPr/>
          </a:p>
        </p:txBody>
      </p:sp>
      <p:sp>
        <p:nvSpPr>
          <p:cNvPr id="1008" name="Google Shape;1008;p32"/>
          <p:cNvSpPr txBox="1"/>
          <p:nvPr/>
        </p:nvSpPr>
        <p:spPr>
          <a:xfrm>
            <a:off x="5486400" y="4212360"/>
            <a:ext cx="5760600" cy="2385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US" sz="1550" u="none" cap="none" strike="noStrike">
                <a:solidFill>
                  <a:srgbClr val="C8C5BC"/>
                </a:solidFill>
                <a:latin typeface="Malgun Gothic"/>
                <a:ea typeface="Malgun Gothic"/>
                <a:cs typeface="Malgun Gothic"/>
                <a:sym typeface="Malgun Gothic"/>
              </a:rPr>
              <a:t>10분 골드차 1,000 미만 · 그중 59% 가 10~15분에 기웁니다</a:t>
            </a:r>
            <a:endParaRPr sz="1700"/>
          </a:p>
        </p:txBody>
      </p:sp>
      <p:sp>
        <p:nvSpPr>
          <p:cNvPr id="1009" name="Google Shape;1009;p32"/>
          <p:cNvSpPr/>
          <p:nvPr/>
        </p:nvSpPr>
        <p:spPr>
          <a:xfrm>
            <a:off x="777240" y="4764024"/>
            <a:ext cx="10634472" cy="713232"/>
          </a:xfrm>
          <a:prstGeom prst="rect">
            <a:avLst/>
          </a:prstGeom>
          <a:solidFill>
            <a:srgbClr val="10223E">
              <a:alpha val="87843"/>
            </a:srgbClr>
          </a:solidFill>
          <a:ln cap="flat" cmpd="sng" w="12700">
            <a:solidFill>
              <a:srgbClr val="5F513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0" name="Google Shape;1010;p32"/>
          <p:cNvSpPr txBox="1"/>
          <p:nvPr/>
        </p:nvSpPr>
        <p:spPr>
          <a:xfrm>
            <a:off x="1051560" y="4764024"/>
            <a:ext cx="2743200" cy="7131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1500" u="none" cap="none" strike="noStrike">
                <a:solidFill>
                  <a:srgbClr val="F0E6D2"/>
                </a:solidFill>
                <a:latin typeface="Malgun Gothic"/>
                <a:ea typeface="Malgun Gothic"/>
                <a:cs typeface="Malgun Gothic"/>
                <a:sym typeface="Malgun Gothic"/>
              </a:rPr>
              <a:t>그 사이</a:t>
            </a:r>
            <a:endParaRPr/>
          </a:p>
        </p:txBody>
      </p:sp>
      <p:sp>
        <p:nvSpPr>
          <p:cNvPr id="1011" name="Google Shape;1011;p32"/>
          <p:cNvSpPr txBox="1"/>
          <p:nvPr/>
        </p:nvSpPr>
        <p:spPr>
          <a:xfrm>
            <a:off x="3840480" y="4764024"/>
            <a:ext cx="1463040" cy="713232"/>
          </a:xfrm>
          <a:prstGeom prst="rect">
            <a:avLst/>
          </a:prstGeom>
          <a:noFill/>
          <a:ln>
            <a:noFill/>
          </a:ln>
        </p:spPr>
        <p:txBody>
          <a:bodyPr anchorCtr="0" anchor="ctr" bIns="0" lIns="0" spcFirstLastPara="1" rIns="0" wrap="square" tIns="0">
            <a:spAutoFit/>
          </a:bodyPr>
          <a:lstStyle/>
          <a:p>
            <a:pPr indent="0" lvl="0" marL="0" marR="0" rtl="0" algn="ctr">
              <a:lnSpc>
                <a:spcPct val="125000"/>
              </a:lnSpc>
              <a:spcBef>
                <a:spcPts val="0"/>
              </a:spcBef>
              <a:spcAft>
                <a:spcPts val="0"/>
              </a:spcAft>
              <a:buNone/>
            </a:pPr>
            <a:r>
              <a:rPr b="1" i="0" lang="en-US" sz="1700" u="none" cap="none" strike="noStrike">
                <a:solidFill>
                  <a:srgbClr val="C89B3C"/>
                </a:solidFill>
                <a:latin typeface="Malgun Gothic"/>
                <a:ea typeface="Malgun Gothic"/>
                <a:cs typeface="Malgun Gothic"/>
                <a:sym typeface="Malgun Gothic"/>
              </a:rPr>
              <a:t>약 38%</a:t>
            </a:r>
            <a:endParaRPr/>
          </a:p>
        </p:txBody>
      </p:sp>
      <p:sp>
        <p:nvSpPr>
          <p:cNvPr id="1012" name="Google Shape;1012;p32"/>
          <p:cNvSpPr txBox="1"/>
          <p:nvPr/>
        </p:nvSpPr>
        <p:spPr>
          <a:xfrm>
            <a:off x="5486400" y="5017032"/>
            <a:ext cx="5760600" cy="2385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US" sz="1550" u="none" cap="none" strike="noStrike">
                <a:solidFill>
                  <a:srgbClr val="C8C5BC"/>
                </a:solidFill>
                <a:latin typeface="Malgun Gothic"/>
                <a:ea typeface="Malgun Gothic"/>
                <a:cs typeface="Malgun Gothic"/>
                <a:sym typeface="Malgun Gothic"/>
              </a:rPr>
              <a:t>조금 앞선 경기 · 5분을 더 보면 +3.1%p</a:t>
            </a:r>
            <a:endParaRPr sz="1700"/>
          </a:p>
        </p:txBody>
      </p:sp>
      <p:sp>
        <p:nvSpPr>
          <p:cNvPr id="1013" name="Google Shape;1013;p32"/>
          <p:cNvSpPr/>
          <p:nvPr/>
        </p:nvSpPr>
        <p:spPr>
          <a:xfrm>
            <a:off x="777240" y="5669280"/>
            <a:ext cx="10634472" cy="566928"/>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4" name="Google Shape;1014;p32"/>
          <p:cNvSpPr/>
          <p:nvPr/>
        </p:nvSpPr>
        <p:spPr>
          <a:xfrm>
            <a:off x="777240" y="5669280"/>
            <a:ext cx="45720" cy="566928"/>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5" name="Google Shape;1015;p32"/>
          <p:cNvSpPr txBox="1"/>
          <p:nvPr/>
        </p:nvSpPr>
        <p:spPr>
          <a:xfrm>
            <a:off x="1014983" y="5669280"/>
            <a:ext cx="10177272" cy="566928"/>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sz="1500" u="none" cap="none" strike="noStrike">
                <a:solidFill>
                  <a:srgbClr val="F0E6D2"/>
                </a:solidFill>
                <a:latin typeface="Malgun Gothic"/>
                <a:ea typeface="Malgun Gothic"/>
                <a:cs typeface="Malgun Gothic"/>
                <a:sym typeface="Malgun Gothic"/>
              </a:rPr>
              <a:t>"초반에 다 기운다"도 "끝까지 모른다"도 틀렸습니다 — 경기 성격에 따라 다릅니다.</a:t>
            </a:r>
            <a:endParaRPr/>
          </a:p>
        </p:txBody>
      </p:sp>
      <p:sp>
        <p:nvSpPr>
          <p:cNvPr id="1016" name="Google Shape;1016;p32"/>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1" name="Shape 1021"/>
        <p:cNvGrpSpPr/>
        <p:nvPr/>
      </p:nvGrpSpPr>
      <p:grpSpPr>
        <a:xfrm>
          <a:off x="0" y="0"/>
          <a:ext cx="0" cy="0"/>
          <a:chOff x="0" y="0"/>
          <a:chExt cx="0" cy="0"/>
        </a:xfrm>
      </p:grpSpPr>
      <p:pic>
        <p:nvPicPr>
          <p:cNvPr descr="rift_scene_dim.jpg" id="1022" name="Google Shape;1022;p33"/>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1023" name="Google Shape;1023;p33"/>
          <p:cNvSpPr/>
          <p:nvPr/>
        </p:nvSpPr>
        <p:spPr>
          <a:xfrm>
            <a:off x="0" y="548640"/>
            <a:ext cx="12191969" cy="6309360"/>
          </a:xfrm>
          <a:prstGeom prst="rect">
            <a:avLst/>
          </a:prstGeom>
          <a:gradFill>
            <a:gsLst>
              <a:gs pos="0">
                <a:srgbClr val="0A1428">
                  <a:alpha val="0"/>
                </a:srgbClr>
              </a:gs>
              <a:gs pos="100000">
                <a:srgbClr val="010A13">
                  <a:alpha val="76078"/>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4" name="Google Shape;1024;p33"/>
          <p:cNvSpPr/>
          <p:nvPr/>
        </p:nvSpPr>
        <p:spPr>
          <a:xfrm>
            <a:off x="0" y="0"/>
            <a:ext cx="12191969" cy="548640"/>
          </a:xfrm>
          <a:prstGeom prst="rect">
            <a:avLst/>
          </a:prstGeom>
          <a:gradFill>
            <a:gsLst>
              <a:gs pos="0">
                <a:srgbClr val="010A13">
                  <a:alpha val="54902"/>
                </a:srgbClr>
              </a:gs>
              <a:gs pos="100000">
                <a:srgbClr val="0A1428">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5" name="Google Shape;1025;p33"/>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6" name="Google Shape;1026;p33"/>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7" name="Google Shape;1027;p33"/>
          <p:cNvSpPr/>
          <p:nvPr/>
        </p:nvSpPr>
        <p:spPr>
          <a:xfrm>
            <a:off x="384048" y="370332"/>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8" name="Google Shape;1028;p33"/>
          <p:cNvSpPr/>
          <p:nvPr/>
        </p:nvSpPr>
        <p:spPr>
          <a:xfrm>
            <a:off x="370332" y="384048"/>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9" name="Google Shape;1029;p33"/>
          <p:cNvSpPr/>
          <p:nvPr/>
        </p:nvSpPr>
        <p:spPr>
          <a:xfrm>
            <a:off x="338328" y="338328"/>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0" name="Google Shape;1030;p33"/>
          <p:cNvSpPr/>
          <p:nvPr/>
        </p:nvSpPr>
        <p:spPr>
          <a:xfrm>
            <a:off x="10619201" y="370332"/>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1" name="Google Shape;1031;p33"/>
          <p:cNvSpPr/>
          <p:nvPr/>
        </p:nvSpPr>
        <p:spPr>
          <a:xfrm>
            <a:off x="11794205" y="384048"/>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2" name="Google Shape;1032;p33"/>
          <p:cNvSpPr/>
          <p:nvPr/>
        </p:nvSpPr>
        <p:spPr>
          <a:xfrm>
            <a:off x="11853641" y="338328"/>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3" name="Google Shape;1033;p33"/>
          <p:cNvSpPr/>
          <p:nvPr/>
        </p:nvSpPr>
        <p:spPr>
          <a:xfrm>
            <a:off x="384048" y="6460236"/>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4" name="Google Shape;1034;p33"/>
          <p:cNvSpPr/>
          <p:nvPr/>
        </p:nvSpPr>
        <p:spPr>
          <a:xfrm>
            <a:off x="370332" y="5285232"/>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5" name="Google Shape;1035;p33"/>
          <p:cNvSpPr/>
          <p:nvPr/>
        </p:nvSpPr>
        <p:spPr>
          <a:xfrm>
            <a:off x="338328" y="6519672"/>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6" name="Google Shape;1036;p33"/>
          <p:cNvSpPr/>
          <p:nvPr/>
        </p:nvSpPr>
        <p:spPr>
          <a:xfrm>
            <a:off x="10619201" y="6460236"/>
            <a:ext cx="1188720" cy="27432"/>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7" name="Google Shape;1037;p33"/>
          <p:cNvSpPr/>
          <p:nvPr/>
        </p:nvSpPr>
        <p:spPr>
          <a:xfrm>
            <a:off x="11794205" y="5285232"/>
            <a:ext cx="27432" cy="1188720"/>
          </a:xfrm>
          <a:prstGeom prst="rect">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8" name="Google Shape;1038;p33"/>
          <p:cNvSpPr/>
          <p:nvPr/>
        </p:nvSpPr>
        <p:spPr>
          <a:xfrm>
            <a:off x="11853641" y="6519672"/>
            <a:ext cx="91440" cy="91440"/>
          </a:xfrm>
          <a:prstGeom prst="diamond">
            <a:avLst/>
          </a:prstGeom>
          <a:solidFill>
            <a:srgbClr val="A28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9" name="Google Shape;1039;p33"/>
          <p:cNvSpPr txBox="1"/>
          <p:nvPr/>
        </p:nvSpPr>
        <p:spPr>
          <a:xfrm>
            <a:off x="1371600" y="2590038"/>
            <a:ext cx="9418320" cy="4572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1300" u="none" cap="none" strike="noStrike">
                <a:solidFill>
                  <a:srgbClr val="C89B3C"/>
                </a:solidFill>
                <a:latin typeface="Malgun Gothic"/>
                <a:ea typeface="Malgun Gothic"/>
                <a:cs typeface="Malgun Gothic"/>
                <a:sym typeface="Malgun Gothic"/>
              </a:rPr>
              <a:t>SECTION 05</a:t>
            </a:r>
            <a:endParaRPr/>
          </a:p>
        </p:txBody>
      </p:sp>
      <p:sp>
        <p:nvSpPr>
          <p:cNvPr id="1040" name="Google Shape;1040;p33"/>
          <p:cNvSpPr txBox="1"/>
          <p:nvPr/>
        </p:nvSpPr>
        <p:spPr>
          <a:xfrm>
            <a:off x="1371600" y="3138678"/>
            <a:ext cx="9418320" cy="96012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4600" u="none" cap="none" strike="noStrike">
                <a:solidFill>
                  <a:srgbClr val="F0E6D2"/>
                </a:solidFill>
                <a:latin typeface="Malgun Gothic"/>
                <a:ea typeface="Malgun Gothic"/>
                <a:cs typeface="Malgun Gothic"/>
                <a:sym typeface="Malgun Gothic"/>
              </a:rPr>
              <a:t>서비스 · 향후 방향</a:t>
            </a:r>
            <a:endParaRPr/>
          </a:p>
        </p:txBody>
      </p:sp>
      <p:sp>
        <p:nvSpPr>
          <p:cNvPr id="1041" name="Google Shape;1041;p33"/>
          <p:cNvSpPr/>
          <p:nvPr/>
        </p:nvSpPr>
        <p:spPr>
          <a:xfrm>
            <a:off x="5641848" y="4235958"/>
            <a:ext cx="91440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png" id="1042" name="Google Shape;1042;p33"/>
          <p:cNvPicPr preferRelativeResize="0"/>
          <p:nvPr/>
        </p:nvPicPr>
        <p:blipFill rotWithShape="1">
          <a:blip r:embed="rId4">
            <a:alphaModFix/>
          </a:blip>
          <a:srcRect b="0" l="0" r="0" t="0"/>
          <a:stretch/>
        </p:blipFill>
        <p:spPr>
          <a:xfrm>
            <a:off x="566928" y="4855464"/>
            <a:ext cx="1070346" cy="1591056"/>
          </a:xfrm>
          <a:prstGeom prst="rect">
            <a:avLst/>
          </a:prstGeom>
          <a:noFill/>
          <a:ln>
            <a:noFill/>
          </a:ln>
        </p:spPr>
      </p:pic>
      <p:pic>
        <p:nvPicPr>
          <p:cNvPr descr="악어_small.png" id="1043" name="Google Shape;1043;p33"/>
          <p:cNvPicPr preferRelativeResize="0"/>
          <p:nvPr/>
        </p:nvPicPr>
        <p:blipFill rotWithShape="1">
          <a:blip r:embed="rId5">
            <a:alphaModFix/>
          </a:blip>
          <a:srcRect b="0" l="0" r="0" t="0"/>
          <a:stretch/>
        </p:blipFill>
        <p:spPr>
          <a:xfrm>
            <a:off x="10401216" y="5129783"/>
            <a:ext cx="1229951" cy="1316736"/>
          </a:xfrm>
          <a:prstGeom prst="rect">
            <a:avLst/>
          </a:prstGeom>
          <a:noFill/>
          <a:ln>
            <a:noFill/>
          </a:ln>
        </p:spPr>
      </p:pic>
      <p:sp>
        <p:nvSpPr>
          <p:cNvPr id="1044" name="Google Shape;1044;p33"/>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pic>
        <p:nvPicPr>
          <p:cNvPr id="1049" name="Google Shape;1049;g3fa15e3bff5_2_25"/>
          <p:cNvPicPr preferRelativeResize="0"/>
          <p:nvPr/>
        </p:nvPicPr>
        <p:blipFill>
          <a:blip r:embed="rId3">
            <a:alphaModFix/>
          </a:blip>
          <a:stretch>
            <a:fillRect/>
          </a:stretch>
        </p:blipFill>
        <p:spPr>
          <a:xfrm>
            <a:off x="0" y="0"/>
            <a:ext cx="12192001" cy="686317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34"/>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1056" name="Google Shape;1056;p34"/>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1057" name="Google Shape;1057;p34"/>
          <p:cNvSpPr/>
          <p:nvPr/>
        </p:nvSpPr>
        <p:spPr>
          <a:xfrm>
            <a:off x="0" y="0"/>
            <a:ext cx="12191969" cy="6858000"/>
          </a:xfrm>
          <a:prstGeom prst="rect">
            <a:avLst/>
          </a:prstGeom>
          <a:solidFill>
            <a:srgbClr val="010A13">
              <a:alpha val="8784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8" name="Google Shape;1058;p34"/>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9" name="Google Shape;1059;p34"/>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0" name="Google Shape;1060;p34"/>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1" name="Google Shape;1061;p34"/>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2" name="Google Shape;1062;p34"/>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3" name="Google Shape;1063;p34"/>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4" name="Google Shape;1064;p34"/>
          <p:cNvSpPr txBox="1"/>
          <p:nvPr/>
        </p:nvSpPr>
        <p:spPr>
          <a:xfrm>
            <a:off x="777240" y="530352"/>
            <a:ext cx="10634400" cy="4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5. 서비스 · 향후 </a:t>
            </a:r>
            <a:r>
              <a:rPr b="1" lang="en-US" sz="3000">
                <a:solidFill>
                  <a:srgbClr val="F0E6D2"/>
                </a:solidFill>
                <a:latin typeface="Malgun Gothic"/>
                <a:ea typeface="Malgun Gothic"/>
                <a:cs typeface="Malgun Gothic"/>
                <a:sym typeface="Malgun Gothic"/>
              </a:rPr>
              <a:t>방향</a:t>
            </a:r>
            <a:r>
              <a:rPr b="1" i="0" lang="en-US" sz="3000" u="none" cap="none" strike="noStrike">
                <a:solidFill>
                  <a:srgbClr val="F0E6D2"/>
                </a:solidFill>
                <a:latin typeface="Malgun Gothic"/>
                <a:ea typeface="Malgun Gothic"/>
                <a:cs typeface="Malgun Gothic"/>
                <a:sym typeface="Malgun Gothic"/>
              </a:rPr>
              <a:t>   |   </a:t>
            </a:r>
            <a:r>
              <a:rPr b="1" i="0" lang="en-US" sz="2500" u="none" cap="none" strike="noStrike">
                <a:solidFill>
                  <a:srgbClr val="F0E6D2"/>
                </a:solidFill>
                <a:latin typeface="Malgun Gothic"/>
                <a:ea typeface="Malgun Gothic"/>
                <a:cs typeface="Malgun Gothic"/>
                <a:sym typeface="Malgun Gothic"/>
              </a:rPr>
              <a:t>시연 화면에서 </a:t>
            </a:r>
            <a:r>
              <a:rPr b="1" lang="en-US" sz="2500">
                <a:solidFill>
                  <a:srgbClr val="F0E6D2"/>
                </a:solidFill>
                <a:latin typeface="Malgun Gothic"/>
                <a:ea typeface="Malgun Gothic"/>
                <a:cs typeface="Malgun Gothic"/>
                <a:sym typeface="Malgun Gothic"/>
              </a:rPr>
              <a:t>보여드릴 것</a:t>
            </a:r>
            <a:endParaRPr/>
          </a:p>
        </p:txBody>
      </p:sp>
      <p:sp>
        <p:nvSpPr>
          <p:cNvPr id="1065" name="Google Shape;1065;p34"/>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6" name="Google Shape;1066;p34"/>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aphicFrame>
        <p:nvGraphicFramePr>
          <p:cNvPr id="1067" name="Google Shape;1067;p34"/>
          <p:cNvGraphicFramePr/>
          <p:nvPr/>
        </p:nvGraphicFramePr>
        <p:xfrm>
          <a:off x="777240" y="1325880"/>
          <a:ext cx="3000000" cy="3000000"/>
        </p:xfrm>
        <a:graphic>
          <a:graphicData uri="http://schemas.openxmlformats.org/drawingml/2006/table">
            <a:tbl>
              <a:tblPr>
                <a:noFill/>
                <a:tableStyleId>{46956E51-EF99-4CE0-B1A4-93B49CD02E09}</a:tableStyleId>
              </a:tblPr>
              <a:tblGrid>
                <a:gridCol w="1371600"/>
                <a:gridCol w="4206250"/>
                <a:gridCol w="5056625"/>
              </a:tblGrid>
              <a:tr h="457200">
                <a:tc>
                  <a:txBody>
                    <a:bodyPr/>
                    <a:lstStyle/>
                    <a:p>
                      <a:pPr indent="0" lvl="0" marL="0" marR="0" rtl="0" algn="l">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순서</a:t>
                      </a:r>
                      <a:endParaRPr sz="16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무엇을 하나</a:t>
                      </a:r>
                      <a:endParaRPr sz="1600"/>
                    </a:p>
                  </a:txBody>
                  <a:tcPr marT="45725" marB="45725" marR="91450" marL="91450" anchor="ctr">
                    <a:solidFill>
                      <a:srgbClr val="3C3F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화면에 뜨는 것</a:t>
                      </a:r>
                      <a:endParaRPr sz="1600"/>
                    </a:p>
                  </a:txBody>
                  <a:tcPr marT="45725" marB="45725" marR="91450" marL="91450" anchor="ctr">
                    <a:solidFill>
                      <a:srgbClr val="3C3F3E"/>
                    </a:solidFill>
                  </a:tcPr>
                </a:tc>
              </a:tr>
              <a:tr h="603500">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①  검색</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소환사명#태그 를 넣는다 </a:t>
                      </a:r>
                      <a:endParaRPr b="0" sz="1500" u="none" cap="none" strike="noStrike">
                        <a:solidFill>
                          <a:srgbClr val="C1BEB4"/>
                        </a:solidFill>
                        <a:latin typeface="Malgun Gothic"/>
                        <a:ea typeface="Malgun Gothic"/>
                        <a:cs typeface="Malgun Gothic"/>
                        <a:sym typeface="Malgun Gothic"/>
                      </a:endParaRPr>
                    </a:p>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(예: Hide on bush#KR1)</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최근 경기 목록 — 이긴 판과 진 판이 함께</a:t>
                      </a:r>
                      <a:endParaRPr sz="1600"/>
                    </a:p>
                  </a:txBody>
                  <a:tcPr marT="45725" marB="45725" marR="91450" marL="91450" anchor="ctr">
                    <a:solidFill>
                      <a:srgbClr val="10223E"/>
                    </a:solidFill>
                  </a:tcPr>
                </a:tc>
              </a:tr>
              <a:tr h="603500">
                <a:tc>
                  <a:txBody>
                    <a:bodyPr/>
                    <a:lstStyle/>
                    <a:p>
                      <a:pPr indent="0" lvl="0" marL="0" marR="0" rtl="0" algn="l">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②  판정</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경기 한 판을 펼친다</a:t>
                      </a:r>
                      <a:endParaRPr sz="1600"/>
                    </a:p>
                  </a:txBody>
                  <a:tcPr marT="45725" marB="45725" marR="91450" marL="91450" anchor="ctr">
                    <a:solidFill>
                      <a:srgbClr val="2D353E"/>
                    </a:solidFill>
                  </a:tcPr>
                </a:tc>
                <a:tc>
                  <a:txBody>
                    <a:bodyPr/>
                    <a:lstStyle/>
                    <a:p>
                      <a:pPr indent="0" lvl="0" marL="0" marR="0" rtl="0" algn="ctr">
                        <a:spcBef>
                          <a:spcPts val="0"/>
                        </a:spcBef>
                        <a:spcAft>
                          <a:spcPts val="0"/>
                        </a:spcAft>
                        <a:buNone/>
                      </a:pPr>
                      <a:r>
                        <a:rPr b="1" lang="en-US" sz="1500" u="none" cap="none" strike="noStrike">
                          <a:solidFill>
                            <a:srgbClr val="F0E6D2"/>
                          </a:solidFill>
                          <a:latin typeface="Malgun Gothic"/>
                          <a:ea typeface="Malgun Gothic"/>
                          <a:cs typeface="Malgun Gothic"/>
                          <a:sym typeface="Malgun Gothic"/>
                        </a:rPr>
                        <a:t>우세승 · 역전패 · 역전승 · 열세패 + 10분 시점 승률</a:t>
                      </a:r>
                      <a:endParaRPr sz="1600"/>
                    </a:p>
                  </a:txBody>
                  <a:tcPr marT="45725" marB="45725" marR="91450" marL="91450" anchor="ctr">
                    <a:solidFill>
                      <a:srgbClr val="2D353E"/>
                    </a:solidFill>
                  </a:tcPr>
                </a:tc>
              </a:tr>
              <a:tr h="603500">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③  근거</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「이 판정을 믿어도 되나」를 연다</a:t>
                      </a:r>
                      <a:endParaRPr sz="1600"/>
                    </a:p>
                  </a:txBody>
                  <a:tcPr marT="45725" marB="45725" marR="91450" marL="91450" anchor="ctr">
                    <a:solidFill>
                      <a:srgbClr val="10223E"/>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그 구간의 적중률 · 그 판의 승리요인 순위</a:t>
                      </a:r>
                      <a:endParaRPr sz="1600"/>
                    </a:p>
                  </a:txBody>
                  <a:tcPr marT="45725" marB="45725" marR="91450" marL="91450" anchor="ctr">
                    <a:solidFill>
                      <a:srgbClr val="10223E"/>
                    </a:solidFill>
                  </a:tcPr>
                </a:tc>
              </a:tr>
              <a:tr h="603500">
                <a:tc>
                  <a:txBody>
                    <a:bodyPr/>
                    <a:lstStyle/>
                    <a:p>
                      <a:pPr indent="0" lvl="0" marL="0" marR="0" rtl="0" algn="l">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④  코칭</a:t>
                      </a:r>
                      <a:endParaRPr sz="16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「그래서 뭘 했어야 했나」를 연다</a:t>
                      </a:r>
                      <a:endParaRPr sz="1600"/>
                    </a:p>
                  </a:txBody>
                  <a:tcPr marT="45725" marB="45725" marR="91450" marL="91450" anchor="ctr">
                    <a:solidFill>
                      <a:srgbClr val="09172B"/>
                    </a:solidFill>
                  </a:tcPr>
                </a:tc>
                <a:tc>
                  <a:txBody>
                    <a:bodyPr/>
                    <a:lstStyle/>
                    <a:p>
                      <a:pPr indent="0" lvl="0" marL="0" marR="0" rtl="0" algn="ctr">
                        <a:spcBef>
                          <a:spcPts val="0"/>
                        </a:spcBef>
                        <a:spcAft>
                          <a:spcPts val="0"/>
                        </a:spcAft>
                        <a:buNone/>
                      </a:pPr>
                      <a:r>
                        <a:rPr b="0" lang="en-US" sz="1500" u="none" cap="none" strike="noStrike">
                          <a:solidFill>
                            <a:srgbClr val="C1BEB4"/>
                          </a:solidFill>
                          <a:latin typeface="Malgun Gothic"/>
                          <a:ea typeface="Malgun Gothic"/>
                          <a:cs typeface="Malgun Gothic"/>
                          <a:sym typeface="Malgun Gothic"/>
                        </a:rPr>
                        <a:t>"CS 20개를 더 먹었다면 43%가 53%" 식</a:t>
                      </a:r>
                      <a:endParaRPr sz="1600"/>
                    </a:p>
                  </a:txBody>
                  <a:tcPr marT="45725" marB="45725" marR="91450" marL="91450" anchor="ctr">
                    <a:solidFill>
                      <a:srgbClr val="09172B"/>
                    </a:solidFill>
                  </a:tcPr>
                </a:tc>
              </a:tr>
            </a:tbl>
          </a:graphicData>
        </a:graphic>
      </p:graphicFrame>
      <p:sp>
        <p:nvSpPr>
          <p:cNvPr id="1068" name="Google Shape;1068;p34"/>
          <p:cNvSpPr txBox="1"/>
          <p:nvPr/>
        </p:nvSpPr>
        <p:spPr>
          <a:xfrm>
            <a:off x="777240" y="4388239"/>
            <a:ext cx="10607100" cy="1010400"/>
          </a:xfrm>
          <a:prstGeom prst="rect">
            <a:avLst/>
          </a:prstGeom>
          <a:noFill/>
          <a:ln>
            <a:noFill/>
          </a:ln>
        </p:spPr>
        <p:txBody>
          <a:bodyPr anchorCtr="0" anchor="t" bIns="0" lIns="0" spcFirstLastPara="1" rIns="0" wrap="square" tIns="0">
            <a:spAutoFit/>
          </a:bodyPr>
          <a:lstStyle/>
          <a:p>
            <a:pPr indent="0" lvl="0" marL="0" marR="0" rtl="0" algn="l">
              <a:lnSpc>
                <a:spcPct val="132000"/>
              </a:lnSpc>
              <a:spcBef>
                <a:spcPts val="0"/>
              </a:spcBef>
              <a:spcAft>
                <a:spcPts val="0"/>
              </a:spcAft>
              <a:buNone/>
            </a:pPr>
            <a:r>
              <a:rPr b="1" i="0" lang="en-US" sz="1550" u="none" cap="none" strike="noStrike">
                <a:solidFill>
                  <a:srgbClr val="F0E6D2"/>
                </a:solidFill>
                <a:latin typeface="Malgun Gothic"/>
                <a:ea typeface="Malgun Gothic"/>
                <a:cs typeface="Malgun Gothic"/>
                <a:sym typeface="Malgun Gothic"/>
              </a:rPr>
              <a:t>◆  화면 위 세 갈래 — 유저 전적 분석 · 최근 챔피언 승률 · 유저 랭킹</a:t>
            </a:r>
            <a:endParaRPr sz="1600"/>
          </a:p>
          <a:p>
            <a:pPr indent="0" lvl="0" marL="0" marR="0" rtl="0" algn="l">
              <a:lnSpc>
                <a:spcPct val="130000"/>
              </a:lnSpc>
              <a:spcBef>
                <a:spcPts val="800"/>
              </a:spcBef>
              <a:spcAft>
                <a:spcPts val="0"/>
              </a:spcAft>
              <a:buNone/>
            </a:pPr>
            <a:r>
              <a:rPr b="0" i="0" lang="en-US" sz="1250" u="none" cap="none" strike="noStrike">
                <a:solidFill>
                  <a:srgbClr val="8E8B80"/>
                </a:solidFill>
                <a:latin typeface="Malgun Gothic"/>
                <a:ea typeface="Malgun Gothic"/>
                <a:cs typeface="Malgun Gothic"/>
                <a:sym typeface="Malgun Gothic"/>
              </a:rPr>
              <a:t>  </a:t>
            </a:r>
            <a:r>
              <a:rPr b="0" i="0" lang="en-US" sz="1450" u="none" cap="none" strike="noStrike">
                <a:solidFill>
                  <a:srgbClr val="8E8B80"/>
                </a:solidFill>
                <a:latin typeface="Malgun Gothic"/>
                <a:ea typeface="Malgun Gothic"/>
                <a:cs typeface="Malgun Gothic"/>
                <a:sym typeface="Malgun Gothic"/>
              </a:rPr>
              <a:t>   시연은 첫 번째 갈래만 씁니다. 나머지 둘은 같은 데이터를 다른 각도로 본 것입니다</a:t>
            </a:r>
            <a:endParaRPr sz="1700"/>
          </a:p>
          <a:p>
            <a:pPr indent="0" lvl="0" marL="0" marR="0" rtl="0" algn="l">
              <a:lnSpc>
                <a:spcPct val="132000"/>
              </a:lnSpc>
              <a:spcBef>
                <a:spcPts val="500"/>
              </a:spcBef>
              <a:spcAft>
                <a:spcPts val="0"/>
              </a:spcAft>
              <a:buNone/>
            </a:pPr>
            <a:r>
              <a:rPr b="1" i="0" lang="en-US" sz="1550" u="none" cap="none" strike="noStrike">
                <a:solidFill>
                  <a:srgbClr val="F0E6D2"/>
                </a:solidFill>
                <a:latin typeface="Malgun Gothic"/>
                <a:ea typeface="Malgun Gothic"/>
                <a:cs typeface="Malgun Gothic"/>
                <a:sym typeface="Malgun Gothic"/>
              </a:rPr>
              <a:t>◆  검색 한 번 · 경기 한 판 · 코칭 한 번 — 약 2분</a:t>
            </a:r>
            <a:endParaRPr sz="1600"/>
          </a:p>
        </p:txBody>
      </p:sp>
      <p:sp>
        <p:nvSpPr>
          <p:cNvPr id="1069" name="Google Shape;1069;p34"/>
          <p:cNvSpPr/>
          <p:nvPr/>
        </p:nvSpPr>
        <p:spPr>
          <a:xfrm>
            <a:off x="777240" y="5532120"/>
            <a:ext cx="10634472" cy="731520"/>
          </a:xfrm>
          <a:prstGeom prst="rect">
            <a:avLst/>
          </a:prstGeom>
          <a:solidFill>
            <a:srgbClr val="2A333E">
              <a:alpha val="9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0" name="Google Shape;1070;p34"/>
          <p:cNvSpPr/>
          <p:nvPr/>
        </p:nvSpPr>
        <p:spPr>
          <a:xfrm>
            <a:off x="777240" y="5532120"/>
            <a:ext cx="45720" cy="73152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1" name="Google Shape;1071;p34"/>
          <p:cNvSpPr txBox="1"/>
          <p:nvPr/>
        </p:nvSpPr>
        <p:spPr>
          <a:xfrm>
            <a:off x="1014983" y="5532120"/>
            <a:ext cx="10177200" cy="731400"/>
          </a:xfrm>
          <a:prstGeom prst="rect">
            <a:avLst/>
          </a:prstGeom>
          <a:noFill/>
          <a:ln>
            <a:noFill/>
          </a:ln>
        </p:spPr>
        <p:txBody>
          <a:bodyPr anchorCtr="0" anchor="ctr" bIns="0" lIns="0" spcFirstLastPara="1" rIns="0" wrap="square" tIns="0">
            <a:spAutoFit/>
          </a:bodyPr>
          <a:lstStyle/>
          <a:p>
            <a:pPr indent="0" lvl="0" marL="0" marR="0" rtl="0" algn="l">
              <a:lnSpc>
                <a:spcPct val="132000"/>
              </a:lnSpc>
              <a:spcBef>
                <a:spcPts val="0"/>
              </a:spcBef>
              <a:spcAft>
                <a:spcPts val="0"/>
              </a:spcAft>
              <a:buNone/>
            </a:pPr>
            <a:r>
              <a:rPr b="1" i="0" lang="en-US" sz="1350" u="none" cap="none" strike="noStrike">
                <a:solidFill>
                  <a:srgbClr val="F0E6D2"/>
                </a:solidFill>
                <a:latin typeface="Malgun Gothic"/>
                <a:ea typeface="Malgun Gothic"/>
                <a:cs typeface="Malgun Gothic"/>
                <a:sym typeface="Malgun Gothic"/>
              </a:rPr>
              <a:t>https://p4.sumzip.com    ·    화면에 뜨는 확률은 학습된 모델이 낸 값 그대로입니다 — 시연용으로 따로 만든 숫자가 아닙니다.</a:t>
            </a:r>
            <a:endParaRPr/>
          </a:p>
        </p:txBody>
      </p:sp>
      <p:sp>
        <p:nvSpPr>
          <p:cNvPr id="1072" name="Google Shape;1072;p34"/>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36"/>
          <p:cNvSpPr/>
          <p:nvPr/>
        </p:nvSpPr>
        <p:spPr>
          <a:xfrm>
            <a:off x="0" y="0"/>
            <a:ext cx="12191969" cy="6858000"/>
          </a:xfrm>
          <a:prstGeom prst="rect">
            <a:avLst/>
          </a:prstGeom>
          <a:gradFill>
            <a:gsLst>
              <a:gs pos="0">
                <a:srgbClr val="0A1428"/>
              </a:gs>
              <a:gs pos="100000">
                <a:srgbClr val="010A13"/>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rift_scene.jpg" id="1079" name="Google Shape;1079;p36"/>
          <p:cNvPicPr preferRelativeResize="0"/>
          <p:nvPr/>
        </p:nvPicPr>
        <p:blipFill rotWithShape="1">
          <a:blip r:embed="rId3">
            <a:alphaModFix/>
          </a:blip>
          <a:srcRect b="0" l="0" r="0" t="0"/>
          <a:stretch/>
        </p:blipFill>
        <p:spPr>
          <a:xfrm>
            <a:off x="0" y="0"/>
            <a:ext cx="12191969" cy="6858000"/>
          </a:xfrm>
          <a:prstGeom prst="rect">
            <a:avLst/>
          </a:prstGeom>
          <a:noFill/>
          <a:ln>
            <a:noFill/>
          </a:ln>
        </p:spPr>
      </p:pic>
      <p:sp>
        <p:nvSpPr>
          <p:cNvPr id="1080" name="Google Shape;1080;p36"/>
          <p:cNvSpPr/>
          <p:nvPr/>
        </p:nvSpPr>
        <p:spPr>
          <a:xfrm>
            <a:off x="0" y="0"/>
            <a:ext cx="12192000" cy="6858000"/>
          </a:xfrm>
          <a:prstGeom prst="rect">
            <a:avLst/>
          </a:prstGeom>
          <a:solidFill>
            <a:srgbClr val="010A13">
              <a:alpha val="8784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1" name="Google Shape;1081;p36"/>
          <p:cNvSpPr/>
          <p:nvPr/>
        </p:nvSpPr>
        <p:spPr>
          <a:xfrm>
            <a:off x="0" y="0"/>
            <a:ext cx="12191969" cy="50292"/>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2" name="Google Shape;1082;p36"/>
          <p:cNvSpPr/>
          <p:nvPr/>
        </p:nvSpPr>
        <p:spPr>
          <a:xfrm>
            <a:off x="0" y="6807708"/>
            <a:ext cx="12191969" cy="50292"/>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3" name="Google Shape;1083;p36"/>
          <p:cNvSpPr/>
          <p:nvPr/>
        </p:nvSpPr>
        <p:spPr>
          <a:xfrm>
            <a:off x="274320"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4" name="Google Shape;1084;p36"/>
          <p:cNvSpPr/>
          <p:nvPr/>
        </p:nvSpPr>
        <p:spPr>
          <a:xfrm>
            <a:off x="26060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5" name="Google Shape;1085;p36"/>
          <p:cNvSpPr/>
          <p:nvPr/>
        </p:nvSpPr>
        <p:spPr>
          <a:xfrm>
            <a:off x="11231849" y="6569964"/>
            <a:ext cx="685800" cy="27432"/>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6" name="Google Shape;1086;p36"/>
          <p:cNvSpPr/>
          <p:nvPr/>
        </p:nvSpPr>
        <p:spPr>
          <a:xfrm>
            <a:off x="11903933" y="5897880"/>
            <a:ext cx="27432" cy="685800"/>
          </a:xfrm>
          <a:prstGeom prst="rect">
            <a:avLst/>
          </a:prstGeom>
          <a:solidFill>
            <a:srgbClr val="866C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7" name="Google Shape;1087;p36"/>
          <p:cNvSpPr txBox="1"/>
          <p:nvPr/>
        </p:nvSpPr>
        <p:spPr>
          <a:xfrm>
            <a:off x="777240" y="530352"/>
            <a:ext cx="10634400" cy="461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US" sz="3000" u="none" cap="none" strike="noStrike">
                <a:solidFill>
                  <a:srgbClr val="F0E6D2"/>
                </a:solidFill>
                <a:latin typeface="Malgun Gothic"/>
                <a:ea typeface="Malgun Gothic"/>
                <a:cs typeface="Malgun Gothic"/>
                <a:sym typeface="Malgun Gothic"/>
              </a:rPr>
              <a:t>5. 서비스 · 향후 </a:t>
            </a:r>
            <a:r>
              <a:rPr b="1" lang="en-US" sz="3000">
                <a:solidFill>
                  <a:srgbClr val="F0E6D2"/>
                </a:solidFill>
                <a:latin typeface="Malgun Gothic"/>
                <a:ea typeface="Malgun Gothic"/>
                <a:cs typeface="Malgun Gothic"/>
                <a:sym typeface="Malgun Gothic"/>
              </a:rPr>
              <a:t>방향</a:t>
            </a:r>
            <a:r>
              <a:rPr b="1" i="0" lang="en-US" sz="3000" u="none" cap="none" strike="noStrike">
                <a:solidFill>
                  <a:srgbClr val="F0E6D2"/>
                </a:solidFill>
                <a:latin typeface="Malgun Gothic"/>
                <a:ea typeface="Malgun Gothic"/>
                <a:cs typeface="Malgun Gothic"/>
                <a:sym typeface="Malgun Gothic"/>
              </a:rPr>
              <a:t>   |   </a:t>
            </a:r>
            <a:r>
              <a:rPr b="1" lang="en-US" sz="2500">
                <a:solidFill>
                  <a:srgbClr val="F0E6D2"/>
                </a:solidFill>
                <a:latin typeface="Malgun Gothic"/>
                <a:ea typeface="Malgun Gothic"/>
                <a:cs typeface="Malgun Gothic"/>
                <a:sym typeface="Malgun Gothic"/>
              </a:rPr>
              <a:t>후속 서비스 개발 계획</a:t>
            </a:r>
            <a:endParaRPr/>
          </a:p>
        </p:txBody>
      </p:sp>
      <p:sp>
        <p:nvSpPr>
          <p:cNvPr id="1088" name="Google Shape;1088;p36"/>
          <p:cNvSpPr/>
          <p:nvPr/>
        </p:nvSpPr>
        <p:spPr>
          <a:xfrm>
            <a:off x="795528" y="1115568"/>
            <a:ext cx="1051560" cy="32004"/>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9" name="Google Shape;1089;p36"/>
          <p:cNvSpPr/>
          <p:nvPr/>
        </p:nvSpPr>
        <p:spPr>
          <a:xfrm>
            <a:off x="1892807" y="1110996"/>
            <a:ext cx="41148" cy="41148"/>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090" name="Google Shape;1090;p36"/>
          <p:cNvGrpSpPr/>
          <p:nvPr/>
        </p:nvGrpSpPr>
        <p:grpSpPr>
          <a:xfrm>
            <a:off x="746475" y="1519450"/>
            <a:ext cx="10699000" cy="826850"/>
            <a:chOff x="777150" y="1519450"/>
            <a:chExt cx="10699000" cy="826850"/>
          </a:xfrm>
        </p:grpSpPr>
        <p:sp>
          <p:nvSpPr>
            <p:cNvPr id="1091" name="Google Shape;1091;p36"/>
            <p:cNvSpPr/>
            <p:nvPr/>
          </p:nvSpPr>
          <p:spPr>
            <a:xfrm>
              <a:off x="777250" y="1519450"/>
              <a:ext cx="10698900" cy="826800"/>
            </a:xfrm>
            <a:prstGeom prst="rect">
              <a:avLst/>
            </a:prstGeom>
            <a:solidFill>
              <a:srgbClr val="10223E">
                <a:alpha val="87843"/>
              </a:srgbClr>
            </a:solidFill>
            <a:ln cap="flat" cmpd="sng" w="12700">
              <a:solidFill>
                <a:srgbClr val="4421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2" name="Google Shape;1092;p36"/>
            <p:cNvSpPr/>
            <p:nvPr/>
          </p:nvSpPr>
          <p:spPr>
            <a:xfrm>
              <a:off x="777150" y="1519500"/>
              <a:ext cx="45600" cy="826800"/>
            </a:xfrm>
            <a:prstGeom prst="rect">
              <a:avLst/>
            </a:prstGeom>
            <a:solidFill>
              <a:srgbClr val="BE1E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grpSp>
        <p:nvGrpSpPr>
          <p:cNvPr id="1093" name="Google Shape;1093;p36"/>
          <p:cNvGrpSpPr/>
          <p:nvPr/>
        </p:nvGrpSpPr>
        <p:grpSpPr>
          <a:xfrm>
            <a:off x="746475" y="2825625"/>
            <a:ext cx="10699000" cy="826850"/>
            <a:chOff x="777150" y="1519450"/>
            <a:chExt cx="10699000" cy="826850"/>
          </a:xfrm>
        </p:grpSpPr>
        <p:sp>
          <p:nvSpPr>
            <p:cNvPr id="1094" name="Google Shape;1094;p36"/>
            <p:cNvSpPr/>
            <p:nvPr/>
          </p:nvSpPr>
          <p:spPr>
            <a:xfrm>
              <a:off x="777250" y="1519450"/>
              <a:ext cx="10698900" cy="826800"/>
            </a:xfrm>
            <a:prstGeom prst="rect">
              <a:avLst/>
            </a:prstGeom>
            <a:solidFill>
              <a:srgbClr val="10223E">
                <a:alpha val="87840"/>
              </a:srgbClr>
            </a:solidFill>
            <a:ln cap="flat" cmpd="sng" w="12700">
              <a:solidFill>
                <a:srgbClr val="4421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5" name="Google Shape;1095;p36"/>
            <p:cNvSpPr/>
            <p:nvPr/>
          </p:nvSpPr>
          <p:spPr>
            <a:xfrm>
              <a:off x="777150" y="1519500"/>
              <a:ext cx="45600" cy="826800"/>
            </a:xfrm>
            <a:prstGeom prst="rect">
              <a:avLst/>
            </a:prstGeom>
            <a:solidFill>
              <a:srgbClr val="BE1E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096" name="Google Shape;1096;p36"/>
          <p:cNvSpPr txBox="1"/>
          <p:nvPr/>
        </p:nvSpPr>
        <p:spPr>
          <a:xfrm>
            <a:off x="1051560" y="1637200"/>
            <a:ext cx="10149900" cy="5913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1700" u="none" cap="none" strike="noStrike">
                <a:solidFill>
                  <a:srgbClr val="F0E6D2"/>
                </a:solidFill>
                <a:latin typeface="Malgun Gothic"/>
                <a:ea typeface="Malgun Gothic"/>
                <a:cs typeface="Malgun Gothic"/>
                <a:sym typeface="Malgun Gothic"/>
              </a:rPr>
              <a:t>접전 판별력 끌어올리기</a:t>
            </a:r>
            <a:endParaRPr b="1" i="0" sz="1700" u="none" cap="none" strike="noStrike">
              <a:solidFill>
                <a:srgbClr val="F0E6D2"/>
              </a:solidFill>
              <a:latin typeface="Malgun Gothic"/>
              <a:ea typeface="Malgun Gothic"/>
              <a:cs typeface="Malgun Gothic"/>
              <a:sym typeface="Malgun Gothic"/>
            </a:endParaRPr>
          </a:p>
          <a:p>
            <a:pPr indent="0" lvl="0" marL="0" marR="0" rtl="0" algn="l">
              <a:lnSpc>
                <a:spcPct val="120000"/>
              </a:lnSpc>
              <a:spcBef>
                <a:spcPts val="200"/>
              </a:spcBef>
              <a:spcAft>
                <a:spcPts val="0"/>
              </a:spcAft>
              <a:buNone/>
            </a:pPr>
            <a:r>
              <a:rPr b="0" i="0" lang="en-US" sz="1550" u="none" cap="none" strike="noStrike">
                <a:solidFill>
                  <a:srgbClr val="C8C5BC"/>
                </a:solidFill>
                <a:latin typeface="Malgun Gothic"/>
                <a:ea typeface="Malgun Gothic"/>
                <a:cs typeface="Malgun Gothic"/>
                <a:sym typeface="Malgun Gothic"/>
              </a:rPr>
              <a:t>10분 정보의 상한(2단계 모델 4종 실측으로 확인) — 시점 확장이 다음 열쇠</a:t>
            </a:r>
            <a:endParaRPr b="0" i="0" sz="1550" u="none" cap="none" strike="noStrike">
              <a:solidFill>
                <a:srgbClr val="C8C5BC"/>
              </a:solidFill>
              <a:latin typeface="Malgun Gothic"/>
              <a:ea typeface="Malgun Gothic"/>
              <a:cs typeface="Malgun Gothic"/>
              <a:sym typeface="Malgun Gothic"/>
            </a:endParaRPr>
          </a:p>
        </p:txBody>
      </p:sp>
      <p:sp>
        <p:nvSpPr>
          <p:cNvPr id="1097" name="Google Shape;1097;p36"/>
          <p:cNvSpPr txBox="1"/>
          <p:nvPr/>
        </p:nvSpPr>
        <p:spPr>
          <a:xfrm>
            <a:off x="1051560" y="2943400"/>
            <a:ext cx="10149900" cy="5913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1700" u="none" cap="none" strike="noStrike">
                <a:solidFill>
                  <a:srgbClr val="F0E6D2"/>
                </a:solidFill>
                <a:latin typeface="Malgun Gothic"/>
                <a:ea typeface="Malgun Gothic"/>
                <a:cs typeface="Malgun Gothic"/>
                <a:sym typeface="Malgun Gothic"/>
              </a:rPr>
              <a:t>코칭을 실험으로 검증</a:t>
            </a:r>
            <a:endParaRPr sz="1800"/>
          </a:p>
          <a:p>
            <a:pPr indent="0" lvl="0" marL="0" marR="0" rtl="0" algn="l">
              <a:lnSpc>
                <a:spcPct val="120000"/>
              </a:lnSpc>
              <a:spcBef>
                <a:spcPts val="200"/>
              </a:spcBef>
              <a:spcAft>
                <a:spcPts val="0"/>
              </a:spcAft>
              <a:buNone/>
            </a:pPr>
            <a:r>
              <a:rPr b="0" i="0" lang="en-US" sz="1550" u="none" cap="none" strike="noStrike">
                <a:solidFill>
                  <a:srgbClr val="C8C5BC"/>
                </a:solidFill>
                <a:latin typeface="Malgun Gothic"/>
                <a:ea typeface="Malgun Gothic"/>
                <a:cs typeface="Malgun Gothic"/>
                <a:sym typeface="Malgun Gothic"/>
              </a:rPr>
              <a:t>지금은 관찰 기록 — 개입 실험(A/B)으로 재면 진짜 코칭이 됩니다       </a:t>
            </a:r>
            <a:endParaRPr sz="1800"/>
          </a:p>
        </p:txBody>
      </p:sp>
      <p:grpSp>
        <p:nvGrpSpPr>
          <p:cNvPr id="1098" name="Google Shape;1098;p36"/>
          <p:cNvGrpSpPr/>
          <p:nvPr/>
        </p:nvGrpSpPr>
        <p:grpSpPr>
          <a:xfrm>
            <a:off x="746475" y="4131825"/>
            <a:ext cx="10699000" cy="826850"/>
            <a:chOff x="777150" y="1519450"/>
            <a:chExt cx="10699000" cy="826850"/>
          </a:xfrm>
        </p:grpSpPr>
        <p:sp>
          <p:nvSpPr>
            <p:cNvPr id="1099" name="Google Shape;1099;p36"/>
            <p:cNvSpPr/>
            <p:nvPr/>
          </p:nvSpPr>
          <p:spPr>
            <a:xfrm>
              <a:off x="777250" y="1519450"/>
              <a:ext cx="10698900" cy="826800"/>
            </a:xfrm>
            <a:prstGeom prst="rect">
              <a:avLst/>
            </a:prstGeom>
            <a:solidFill>
              <a:srgbClr val="10223E">
                <a:alpha val="87840"/>
              </a:srgbClr>
            </a:solidFill>
            <a:ln cap="flat" cmpd="sng" w="12700">
              <a:solidFill>
                <a:srgbClr val="4421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00" name="Google Shape;1100;p36"/>
            <p:cNvSpPr/>
            <p:nvPr/>
          </p:nvSpPr>
          <p:spPr>
            <a:xfrm>
              <a:off x="777150" y="1519500"/>
              <a:ext cx="45600" cy="826800"/>
            </a:xfrm>
            <a:prstGeom prst="rect">
              <a:avLst/>
            </a:prstGeom>
            <a:solidFill>
              <a:srgbClr val="BE1E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grpSp>
        <p:nvGrpSpPr>
          <p:cNvPr id="1101" name="Google Shape;1101;p36"/>
          <p:cNvGrpSpPr/>
          <p:nvPr/>
        </p:nvGrpSpPr>
        <p:grpSpPr>
          <a:xfrm>
            <a:off x="746475" y="5469762"/>
            <a:ext cx="10699000" cy="826850"/>
            <a:chOff x="777150" y="1519450"/>
            <a:chExt cx="10699000" cy="826850"/>
          </a:xfrm>
        </p:grpSpPr>
        <p:sp>
          <p:nvSpPr>
            <p:cNvPr id="1102" name="Google Shape;1102;p36"/>
            <p:cNvSpPr/>
            <p:nvPr/>
          </p:nvSpPr>
          <p:spPr>
            <a:xfrm>
              <a:off x="777250" y="1519450"/>
              <a:ext cx="10698900" cy="826800"/>
            </a:xfrm>
            <a:prstGeom prst="rect">
              <a:avLst/>
            </a:prstGeom>
            <a:solidFill>
              <a:srgbClr val="10223E">
                <a:alpha val="87840"/>
              </a:srgbClr>
            </a:solidFill>
            <a:ln cap="flat" cmpd="sng" w="12700">
              <a:solidFill>
                <a:srgbClr val="4421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03" name="Google Shape;1103;p36"/>
            <p:cNvSpPr/>
            <p:nvPr/>
          </p:nvSpPr>
          <p:spPr>
            <a:xfrm>
              <a:off x="777150" y="1519500"/>
              <a:ext cx="45600" cy="826800"/>
            </a:xfrm>
            <a:prstGeom prst="rect">
              <a:avLst/>
            </a:prstGeom>
            <a:solidFill>
              <a:srgbClr val="BE1E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104" name="Google Shape;1104;p36"/>
          <p:cNvSpPr txBox="1"/>
          <p:nvPr/>
        </p:nvSpPr>
        <p:spPr>
          <a:xfrm>
            <a:off x="1051560" y="4249600"/>
            <a:ext cx="10149900" cy="5913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1700" u="none" cap="none" strike="noStrike">
                <a:solidFill>
                  <a:srgbClr val="F0E6D2"/>
                </a:solidFill>
                <a:latin typeface="Malgun Gothic"/>
                <a:ea typeface="Malgun Gothic"/>
                <a:cs typeface="Malgun Gothic"/>
                <a:sym typeface="Malgun Gothic"/>
              </a:rPr>
              <a:t>패치 · 티어 확장</a:t>
            </a:r>
            <a:endParaRPr sz="1800"/>
          </a:p>
          <a:p>
            <a:pPr indent="0" lvl="0" marL="0" marR="0" rtl="0" algn="l">
              <a:lnSpc>
                <a:spcPct val="120000"/>
              </a:lnSpc>
              <a:spcBef>
                <a:spcPts val="200"/>
              </a:spcBef>
              <a:spcAft>
                <a:spcPts val="0"/>
              </a:spcAft>
              <a:buNone/>
            </a:pPr>
            <a:r>
              <a:rPr b="0" i="0" lang="en-US" sz="1550" u="none" cap="none" strike="noStrike">
                <a:solidFill>
                  <a:srgbClr val="C8C5BC"/>
                </a:solidFill>
                <a:latin typeface="Malgun Gothic"/>
                <a:ea typeface="Malgun Gothic"/>
                <a:cs typeface="Malgun Gothic"/>
                <a:sym typeface="Malgun Gothic"/>
              </a:rPr>
              <a:t>아이언~실버 실측 진행 중 — 재학습 파이프라인으로 자동화</a:t>
            </a:r>
            <a:endParaRPr sz="1800"/>
          </a:p>
        </p:txBody>
      </p:sp>
      <p:sp>
        <p:nvSpPr>
          <p:cNvPr id="1105" name="Google Shape;1105;p36"/>
          <p:cNvSpPr txBox="1"/>
          <p:nvPr/>
        </p:nvSpPr>
        <p:spPr>
          <a:xfrm>
            <a:off x="1021035" y="5587537"/>
            <a:ext cx="10149900" cy="59130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1" i="0" lang="en-US" sz="1700" u="none" cap="none" strike="noStrike">
                <a:solidFill>
                  <a:srgbClr val="F0E6D2"/>
                </a:solidFill>
                <a:latin typeface="Malgun Gothic"/>
                <a:ea typeface="Malgun Gothic"/>
                <a:cs typeface="Malgun Gothic"/>
                <a:sym typeface="Malgun Gothic"/>
              </a:rPr>
              <a:t>수익 모델 실험</a:t>
            </a:r>
            <a:endParaRPr sz="1800"/>
          </a:p>
          <a:p>
            <a:pPr indent="0" lvl="0" marL="0" marR="0" rtl="0" algn="l">
              <a:lnSpc>
                <a:spcPct val="120000"/>
              </a:lnSpc>
              <a:spcBef>
                <a:spcPts val="200"/>
              </a:spcBef>
              <a:spcAft>
                <a:spcPts val="0"/>
              </a:spcAft>
              <a:buNone/>
            </a:pPr>
            <a:r>
              <a:rPr b="0" i="0" lang="en-US" sz="1550" u="none" cap="none" strike="noStrike">
                <a:solidFill>
                  <a:srgbClr val="C8C5BC"/>
                </a:solidFill>
                <a:latin typeface="Malgun Gothic"/>
                <a:ea typeface="Malgun Gothic"/>
                <a:cs typeface="Malgun Gothic"/>
                <a:sym typeface="Malgun Gothic"/>
              </a:rPr>
              <a:t>예측을 팔고(정밀도) · 끝난 판의 기록을 쌓아 판다(재현율) — </a:t>
            </a:r>
            <a:r>
              <a:rPr lang="en-US" sz="1550">
                <a:solidFill>
                  <a:srgbClr val="C8C5BC"/>
                </a:solidFill>
                <a:latin typeface="Malgun Gothic"/>
                <a:ea typeface="Malgun Gothic"/>
                <a:cs typeface="Malgun Gothic"/>
                <a:sym typeface="Malgun Gothic"/>
              </a:rPr>
              <a:t>승부예측 서비스 or 분석 데이터 자체를 상품화</a:t>
            </a:r>
            <a:endParaRPr sz="1800"/>
          </a:p>
        </p:txBody>
      </p:sp>
      <p:sp>
        <p:nvSpPr>
          <p:cNvPr id="1106" name="Google Shape;1106;p36"/>
          <p:cNvSpPr txBox="1"/>
          <p:nvPr/>
        </p:nvSpPr>
        <p:spPr>
          <a:xfrm>
            <a:off x="10972800" y="6574536"/>
            <a:ext cx="868680" cy="201168"/>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1" name="Shape 1111"/>
        <p:cNvGrpSpPr/>
        <p:nvPr/>
      </p:nvGrpSpPr>
      <p:grpSpPr>
        <a:xfrm>
          <a:off x="0" y="0"/>
          <a:ext cx="0" cy="0"/>
          <a:chOff x="0" y="0"/>
          <a:chExt cx="0" cy="0"/>
        </a:xfrm>
      </p:grpSpPr>
      <p:pic>
        <p:nvPicPr>
          <p:cNvPr descr="victory_bg.jpg" id="1112" name="Google Shape;1112;p37"/>
          <p:cNvPicPr preferRelativeResize="0"/>
          <p:nvPr/>
        </p:nvPicPr>
        <p:blipFill rotWithShape="1">
          <a:blip r:embed="rId3">
            <a:alphaModFix/>
          </a:blip>
          <a:srcRect b="0" l="0" r="0" t="0"/>
          <a:stretch/>
        </p:blipFill>
        <p:spPr>
          <a:xfrm>
            <a:off x="-113000" y="0"/>
            <a:ext cx="12191971" cy="6858000"/>
          </a:xfrm>
          <a:prstGeom prst="rect">
            <a:avLst/>
          </a:prstGeom>
          <a:noFill/>
          <a:ln>
            <a:noFill/>
          </a:ln>
        </p:spPr>
      </p:pic>
      <p:sp>
        <p:nvSpPr>
          <p:cNvPr id="1113" name="Google Shape;1113;p37"/>
          <p:cNvSpPr/>
          <p:nvPr/>
        </p:nvSpPr>
        <p:spPr>
          <a:xfrm>
            <a:off x="-113000" y="3086100"/>
            <a:ext cx="12192000" cy="3771900"/>
          </a:xfrm>
          <a:prstGeom prst="rect">
            <a:avLst/>
          </a:prstGeom>
          <a:gradFill>
            <a:gsLst>
              <a:gs pos="0">
                <a:srgbClr val="0A1428">
                  <a:alpha val="0"/>
                </a:srgbClr>
              </a:gs>
              <a:gs pos="100000">
                <a:srgbClr val="010A13">
                  <a:alpha val="70196"/>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4" name="Google Shape;1114;p37"/>
          <p:cNvSpPr/>
          <p:nvPr/>
        </p:nvSpPr>
        <p:spPr>
          <a:xfrm>
            <a:off x="-113000" y="0"/>
            <a:ext cx="12192000" cy="504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5" name="Google Shape;1115;p37"/>
          <p:cNvSpPr/>
          <p:nvPr/>
        </p:nvSpPr>
        <p:spPr>
          <a:xfrm>
            <a:off x="-113000" y="6807708"/>
            <a:ext cx="12192000" cy="50400"/>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6" name="Google Shape;1116;p37"/>
          <p:cNvSpPr/>
          <p:nvPr/>
        </p:nvSpPr>
        <p:spPr>
          <a:xfrm>
            <a:off x="271048" y="370332"/>
            <a:ext cx="1234500" cy="273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7" name="Google Shape;1117;p37"/>
          <p:cNvSpPr/>
          <p:nvPr/>
        </p:nvSpPr>
        <p:spPr>
          <a:xfrm>
            <a:off x="257332" y="384048"/>
            <a:ext cx="27300" cy="12345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8" name="Google Shape;1118;p37"/>
          <p:cNvSpPr/>
          <p:nvPr/>
        </p:nvSpPr>
        <p:spPr>
          <a:xfrm>
            <a:off x="225328" y="338328"/>
            <a:ext cx="91500" cy="91500"/>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9" name="Google Shape;1119;p37"/>
          <p:cNvSpPr/>
          <p:nvPr/>
        </p:nvSpPr>
        <p:spPr>
          <a:xfrm>
            <a:off x="10460481" y="370332"/>
            <a:ext cx="1234500" cy="273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0" name="Google Shape;1120;p37"/>
          <p:cNvSpPr/>
          <p:nvPr/>
        </p:nvSpPr>
        <p:spPr>
          <a:xfrm>
            <a:off x="11681205" y="384048"/>
            <a:ext cx="27300" cy="12345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1" name="Google Shape;1121;p37"/>
          <p:cNvSpPr/>
          <p:nvPr/>
        </p:nvSpPr>
        <p:spPr>
          <a:xfrm>
            <a:off x="11740641" y="338328"/>
            <a:ext cx="91500" cy="91500"/>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2" name="Google Shape;1122;p37"/>
          <p:cNvSpPr/>
          <p:nvPr/>
        </p:nvSpPr>
        <p:spPr>
          <a:xfrm>
            <a:off x="271048" y="6460236"/>
            <a:ext cx="1234500" cy="273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3" name="Google Shape;1123;p37"/>
          <p:cNvSpPr/>
          <p:nvPr/>
        </p:nvSpPr>
        <p:spPr>
          <a:xfrm>
            <a:off x="257332" y="5239512"/>
            <a:ext cx="27300" cy="12345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4" name="Google Shape;1124;p37"/>
          <p:cNvSpPr/>
          <p:nvPr/>
        </p:nvSpPr>
        <p:spPr>
          <a:xfrm>
            <a:off x="225328" y="6519672"/>
            <a:ext cx="91500" cy="91500"/>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5" name="Google Shape;1125;p37"/>
          <p:cNvSpPr/>
          <p:nvPr/>
        </p:nvSpPr>
        <p:spPr>
          <a:xfrm>
            <a:off x="10460481" y="6460236"/>
            <a:ext cx="1234500" cy="273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6" name="Google Shape;1126;p37"/>
          <p:cNvSpPr/>
          <p:nvPr/>
        </p:nvSpPr>
        <p:spPr>
          <a:xfrm>
            <a:off x="11681205" y="5239512"/>
            <a:ext cx="27300" cy="12345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7" name="Google Shape;1127;p37"/>
          <p:cNvSpPr/>
          <p:nvPr/>
        </p:nvSpPr>
        <p:spPr>
          <a:xfrm>
            <a:off x="11740641" y="6519672"/>
            <a:ext cx="91500" cy="91500"/>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8" name="Google Shape;1128;p37"/>
          <p:cNvSpPr txBox="1"/>
          <p:nvPr/>
        </p:nvSpPr>
        <p:spPr>
          <a:xfrm>
            <a:off x="372248" y="2281427"/>
            <a:ext cx="11221500" cy="9234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6000" u="none" cap="none" strike="noStrike">
                <a:solidFill>
                  <a:srgbClr val="F0E6D2"/>
                </a:solidFill>
                <a:latin typeface="Malgun Gothic"/>
                <a:ea typeface="Malgun Gothic"/>
                <a:cs typeface="Malgun Gothic"/>
                <a:sym typeface="Malgun Gothic"/>
              </a:rPr>
              <a:t>감사합니다</a:t>
            </a:r>
            <a:endParaRPr b="1" i="0" sz="6000" u="none" cap="none" strike="noStrike">
              <a:solidFill>
                <a:srgbClr val="F0E6D2"/>
              </a:solidFill>
              <a:latin typeface="Malgun Gothic"/>
              <a:ea typeface="Malgun Gothic"/>
              <a:cs typeface="Malgun Gothic"/>
              <a:sym typeface="Malgun Gothic"/>
            </a:endParaRPr>
          </a:p>
        </p:txBody>
      </p:sp>
      <p:sp>
        <p:nvSpPr>
          <p:cNvPr id="1129" name="Google Shape;1129;p37"/>
          <p:cNvSpPr/>
          <p:nvPr/>
        </p:nvSpPr>
        <p:spPr>
          <a:xfrm>
            <a:off x="3982624" y="3525011"/>
            <a:ext cx="4000800" cy="1098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Calibri"/>
              <a:ea typeface="Calibri"/>
              <a:cs typeface="Calibri"/>
              <a:sym typeface="Calibri"/>
            </a:endParaRPr>
          </a:p>
        </p:txBody>
      </p:sp>
      <p:sp>
        <p:nvSpPr>
          <p:cNvPr id="1130" name="Google Shape;1130;p37"/>
          <p:cNvSpPr txBox="1"/>
          <p:nvPr/>
        </p:nvSpPr>
        <p:spPr>
          <a:xfrm>
            <a:off x="372248" y="4073652"/>
            <a:ext cx="11221500" cy="3693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2400" u="none" cap="none" strike="noStrike">
                <a:solidFill>
                  <a:srgbClr val="C89B3C"/>
                </a:solidFill>
                <a:latin typeface="Malgun Gothic"/>
                <a:ea typeface="Malgun Gothic"/>
                <a:cs typeface="Malgun Gothic"/>
                <a:sym typeface="Malgun Gothic"/>
              </a:rPr>
              <a:t>Q &amp; A</a:t>
            </a:r>
            <a:endParaRPr/>
          </a:p>
        </p:txBody>
      </p:sp>
      <p:sp>
        <p:nvSpPr>
          <p:cNvPr id="1131" name="Google Shape;1131;p37"/>
          <p:cNvSpPr txBox="1"/>
          <p:nvPr/>
        </p:nvSpPr>
        <p:spPr>
          <a:xfrm>
            <a:off x="10859800" y="6574536"/>
            <a:ext cx="868800" cy="1461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fld id="{00000000-1234-1234-1234-123412341234}" type="slidenum">
              <a:rPr b="0" i="0" lang="en-US" sz="950" u="none" cap="none" strike="noStrike">
                <a:solidFill>
                  <a:srgbClr val="73726E"/>
                </a:solidFill>
                <a:latin typeface="Malgun Gothic"/>
                <a:ea typeface="Malgun Gothic"/>
                <a:cs typeface="Malgun Gothic"/>
                <a:sym typeface="Malgun Gothic"/>
              </a:rPr>
              <a:t>‹#›</a:t>
            </a:fld>
            <a:endParaRPr b="0" i="0" sz="950" u="none" cap="none" strike="noStrike">
              <a:solidFill>
                <a:srgbClr val="73726E"/>
              </a:solidFill>
              <a:latin typeface="Malgun Gothic"/>
              <a:ea typeface="Malgun Gothic"/>
              <a:cs typeface="Malgun Gothic"/>
              <a:sym typeface="Malgun Gothic"/>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pic>
        <p:nvPicPr>
          <p:cNvPr id="1137" name="Google Shape;1137;g3fa15e3bff5_2_52"/>
          <p:cNvPicPr preferRelativeResize="0"/>
          <p:nvPr/>
        </p:nvPicPr>
        <p:blipFill>
          <a:blip r:embed="rId3">
            <a:alphaModFix/>
          </a:blip>
          <a:stretch>
            <a:fillRect/>
          </a:stretch>
        </p:blipFill>
        <p:spPr>
          <a:xfrm>
            <a:off x="0" y="2568"/>
            <a:ext cx="12192000" cy="6805133"/>
          </a:xfrm>
          <a:prstGeom prst="rect">
            <a:avLst/>
          </a:prstGeom>
          <a:noFill/>
          <a:ln>
            <a:noFill/>
          </a:ln>
        </p:spPr>
      </p:pic>
      <p:sp>
        <p:nvSpPr>
          <p:cNvPr id="1138" name="Google Shape;1138;g3fa15e3bff5_2_52"/>
          <p:cNvSpPr/>
          <p:nvPr/>
        </p:nvSpPr>
        <p:spPr>
          <a:xfrm>
            <a:off x="-113000" y="0"/>
            <a:ext cx="12192000" cy="504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39" name="Google Shape;1139;g3fa15e3bff5_2_52"/>
          <p:cNvSpPr/>
          <p:nvPr/>
        </p:nvSpPr>
        <p:spPr>
          <a:xfrm>
            <a:off x="-113000" y="6807708"/>
            <a:ext cx="12192000" cy="50400"/>
          </a:xfrm>
          <a:prstGeom prst="rect">
            <a:avLst/>
          </a:prstGeom>
          <a:solidFill>
            <a:srgbClr val="6E5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0" name="Google Shape;1140;g3fa15e3bff5_2_52"/>
          <p:cNvSpPr/>
          <p:nvPr/>
        </p:nvSpPr>
        <p:spPr>
          <a:xfrm>
            <a:off x="271048" y="370332"/>
            <a:ext cx="1234500" cy="273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1" name="Google Shape;1141;g3fa15e3bff5_2_52"/>
          <p:cNvSpPr/>
          <p:nvPr/>
        </p:nvSpPr>
        <p:spPr>
          <a:xfrm>
            <a:off x="257332" y="384048"/>
            <a:ext cx="27300" cy="12345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2" name="Google Shape;1142;g3fa15e3bff5_2_52"/>
          <p:cNvSpPr/>
          <p:nvPr/>
        </p:nvSpPr>
        <p:spPr>
          <a:xfrm>
            <a:off x="225328" y="338328"/>
            <a:ext cx="91500" cy="91500"/>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3" name="Google Shape;1143;g3fa15e3bff5_2_52"/>
          <p:cNvSpPr/>
          <p:nvPr/>
        </p:nvSpPr>
        <p:spPr>
          <a:xfrm>
            <a:off x="10460481" y="370332"/>
            <a:ext cx="1234500" cy="273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4" name="Google Shape;1144;g3fa15e3bff5_2_52"/>
          <p:cNvSpPr/>
          <p:nvPr/>
        </p:nvSpPr>
        <p:spPr>
          <a:xfrm>
            <a:off x="11681205" y="384048"/>
            <a:ext cx="27300" cy="12345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5" name="Google Shape;1145;g3fa15e3bff5_2_52"/>
          <p:cNvSpPr/>
          <p:nvPr/>
        </p:nvSpPr>
        <p:spPr>
          <a:xfrm>
            <a:off x="11740641" y="338328"/>
            <a:ext cx="91500" cy="91500"/>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6" name="Google Shape;1146;g3fa15e3bff5_2_52"/>
          <p:cNvSpPr/>
          <p:nvPr/>
        </p:nvSpPr>
        <p:spPr>
          <a:xfrm>
            <a:off x="271048" y="6460236"/>
            <a:ext cx="1234500" cy="273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7" name="Google Shape;1147;g3fa15e3bff5_2_52"/>
          <p:cNvSpPr/>
          <p:nvPr/>
        </p:nvSpPr>
        <p:spPr>
          <a:xfrm>
            <a:off x="257332" y="5239512"/>
            <a:ext cx="27300" cy="12345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8" name="Google Shape;1148;g3fa15e3bff5_2_52"/>
          <p:cNvSpPr/>
          <p:nvPr/>
        </p:nvSpPr>
        <p:spPr>
          <a:xfrm>
            <a:off x="225328" y="6519672"/>
            <a:ext cx="91500" cy="91500"/>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49" name="Google Shape;1149;g3fa15e3bff5_2_52"/>
          <p:cNvSpPr/>
          <p:nvPr/>
        </p:nvSpPr>
        <p:spPr>
          <a:xfrm>
            <a:off x="10460481" y="6460236"/>
            <a:ext cx="1234500" cy="273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50" name="Google Shape;1150;g3fa15e3bff5_2_52"/>
          <p:cNvSpPr/>
          <p:nvPr/>
        </p:nvSpPr>
        <p:spPr>
          <a:xfrm>
            <a:off x="11681205" y="5239512"/>
            <a:ext cx="27300" cy="12345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51" name="Google Shape;1151;g3fa15e3bff5_2_52"/>
          <p:cNvSpPr/>
          <p:nvPr/>
        </p:nvSpPr>
        <p:spPr>
          <a:xfrm>
            <a:off x="11740641" y="6519672"/>
            <a:ext cx="91500" cy="91500"/>
          </a:xfrm>
          <a:prstGeom prst="diamond">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52" name="Google Shape;1152;g3fa15e3bff5_2_52"/>
          <p:cNvSpPr txBox="1"/>
          <p:nvPr/>
        </p:nvSpPr>
        <p:spPr>
          <a:xfrm>
            <a:off x="372248" y="2281427"/>
            <a:ext cx="11221500" cy="9234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6000" u="none" cap="none" strike="noStrike">
                <a:solidFill>
                  <a:srgbClr val="F0E6D2"/>
                </a:solidFill>
                <a:latin typeface="Malgun Gothic"/>
                <a:ea typeface="Malgun Gothic"/>
                <a:cs typeface="Malgun Gothic"/>
                <a:sym typeface="Malgun Gothic"/>
              </a:rPr>
              <a:t>감사합니다</a:t>
            </a:r>
            <a:endParaRPr b="1" i="0" sz="6000" u="none" cap="none" strike="noStrike">
              <a:solidFill>
                <a:srgbClr val="F0E6D2"/>
              </a:solidFill>
              <a:latin typeface="Malgun Gothic"/>
              <a:ea typeface="Malgun Gothic"/>
              <a:cs typeface="Malgun Gothic"/>
              <a:sym typeface="Malgun Gothic"/>
            </a:endParaRPr>
          </a:p>
        </p:txBody>
      </p:sp>
      <p:sp>
        <p:nvSpPr>
          <p:cNvPr id="1153" name="Google Shape;1153;g3fa15e3bff5_2_52"/>
          <p:cNvSpPr/>
          <p:nvPr/>
        </p:nvSpPr>
        <p:spPr>
          <a:xfrm>
            <a:off x="3982624" y="3525011"/>
            <a:ext cx="4000800" cy="109800"/>
          </a:xfrm>
          <a:prstGeom prst="rect">
            <a:avLst/>
          </a:prstGeom>
          <a:solidFill>
            <a:srgbClr val="C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Calibri"/>
              <a:ea typeface="Calibri"/>
              <a:cs typeface="Calibri"/>
              <a:sym typeface="Calibri"/>
            </a:endParaRPr>
          </a:p>
        </p:txBody>
      </p:sp>
      <p:sp>
        <p:nvSpPr>
          <p:cNvPr id="1154" name="Google Shape;1154;g3fa15e3bff5_2_52"/>
          <p:cNvSpPr txBox="1"/>
          <p:nvPr/>
        </p:nvSpPr>
        <p:spPr>
          <a:xfrm>
            <a:off x="372248" y="4073652"/>
            <a:ext cx="11221500" cy="3693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US" sz="2400" u="none" cap="none" strike="noStrike">
                <a:solidFill>
                  <a:srgbClr val="C89B3C"/>
                </a:solidFill>
                <a:latin typeface="Malgun Gothic"/>
                <a:ea typeface="Malgun Gothic"/>
                <a:cs typeface="Malgun Gothic"/>
                <a:sym typeface="Malgun Gothic"/>
              </a:rPr>
              <a:t>Q &amp; 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