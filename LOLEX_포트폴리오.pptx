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64" r:id="rId15"/>
    <p:sldId id="265" r:id="rId16"/>
    <p:sldId id="270" r:id="rId21"/>
    <p:sldId id="274" r:id="rId25"/>
    <p:sldId id="277" r:id="rId28"/>
    <p:sldId id="275" r:id="rId26"/>
    <p:sldId id="276" r:id="rId27"/>
    <p:sldId id="280" r:id="rId31"/>
    <p:sldId id="281" r:id="rId32"/>
    <p:sldId id="282" r:id="rId33"/>
    <p:sldId id="289" r:id="rId40"/>
    <p:sldId id="290" r:id="rId41"/>
    <p:sldId id="291" r:id="rId42"/>
    <p:sldId id="294" r:id="rId45"/>
    <p:sldId id="263" r:id="rId14"/>
    <p:sldId id="295" r:id="rId46"/>
    <p:sldId id="296" r:id="rId4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49" roundtripDataSignature="AMtx7mjhVwzyhc+9Pv1+jeNSJQcOGf/1B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6956E51-EF99-4CE0-B1A4-93B49CD02E09}">
  <a:tblStyle styleId="{46956E51-EF99-4CE0-B1A4-93B49CD02E09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14" Type="http://schemas.openxmlformats.org/officeDocument/2006/relationships/slide" Target="slides/slide16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21" Type="http://schemas.openxmlformats.org/officeDocument/2006/relationships/slide" Target="slides/slide4.xml"/><Relationship Id="rId25" Type="http://schemas.openxmlformats.org/officeDocument/2006/relationships/slide" Target="slides/slide5.xml"/><Relationship Id="rId26" Type="http://schemas.openxmlformats.org/officeDocument/2006/relationships/slide" Target="slides/slide7.xml"/><Relationship Id="rId27" Type="http://schemas.openxmlformats.org/officeDocument/2006/relationships/slide" Target="slides/slide8.xml"/><Relationship Id="rId28" Type="http://schemas.openxmlformats.org/officeDocument/2006/relationships/slide" Target="slides/slide6.xml"/><Relationship Id="rId31" Type="http://schemas.openxmlformats.org/officeDocument/2006/relationships/slide" Target="slides/slide9.xml"/><Relationship Id="rId32" Type="http://schemas.openxmlformats.org/officeDocument/2006/relationships/slide" Target="slides/slide10.xml"/><Relationship Id="rId33" Type="http://schemas.openxmlformats.org/officeDocument/2006/relationships/slide" Target="slides/slide11.xml"/><Relationship Id="rId40" Type="http://schemas.openxmlformats.org/officeDocument/2006/relationships/slide" Target="slides/slide12.xml"/><Relationship Id="rId41" Type="http://schemas.openxmlformats.org/officeDocument/2006/relationships/slide" Target="slides/slide13.xml"/><Relationship Id="rId42" Type="http://schemas.openxmlformats.org/officeDocument/2006/relationships/slide" Target="slides/slide14.xml"/><Relationship Id="rId45" Type="http://schemas.openxmlformats.org/officeDocument/2006/relationships/slide" Target="slides/slide15.xml"/><Relationship Id="rId46" Type="http://schemas.openxmlformats.org/officeDocument/2006/relationships/slide" Target="slides/slide17.xml"/><Relationship Id="rId47" Type="http://schemas.openxmlformats.org/officeDocument/2006/relationships/slide" Target="slides/slide18.xml"/><Relationship Id="rId49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4조 발표를 시작하겠습니다. 주제는 인게임 시점별 경기 데이터 기반 승패 예측과 핵심 승리요인 분석입니다. 제목이 곧 질문입니다 — 경기는 언제 승부가 결정되는가. 10분 시점 데이터로 답해 보고, 답이 안 나오는 지점까지 그대로 보여드리겠습니다.</a:t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fa15e3bff5_2_10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6" name="Google Shape;306;g3fa15e3bff5_2_10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만든 순서를 먼저 말씀드립니다. 결정한 순서지 작업한 순서가 아닙니다. 기능을 먼저 정했고, 이유를 반드시 낸다는 조건이 이후 모든 선택을 결정했습니다. 이 조건이 뒤에서 코칭 기능으로 이어집니다.</a:t>
            </a:r>
            <a:endParaRPr/>
          </a:p>
        </p:txBody>
      </p:sp>
      <p:sp>
        <p:nvSpPr>
          <p:cNvPr id="307" name="Google Shape;307;g3fa15e3bff5_2_10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8" name="Google Shape;338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데이터는 캐글의 다이아몬드 랭크 10분 데이터입니다. 9,879판이고 결측도 중복도 0건입니다. 승패가 50.1 대 49.9로 거의 반반이라 정확도를 1순위로 써도 정당합니다. 그리고 가장 중요한 규칙 — 어떤 전처리보다 분할이 먼저입니다. 이어지는 EDA 다섯 장은 전부 학습셋만 보고 그렸습니다.</a:t>
            </a:r>
            <a:endParaRPr/>
          </a:p>
        </p:txBody>
      </p:sp>
      <p:sp>
        <p:nvSpPr>
          <p:cNvPr id="339" name="Google Shape;339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8" name="Google Shape;358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어떻게 나눴는지 말씀드립니다. 8 대 2 로 나눠 학습 7,903판, 시험 1,976판입니다. 층화 분할이라 승패 비율을 양쪽에 똑같이 유지했습니다. 학습 0.4991, 시험 0.4990 입니다. 시드는 42 로 고정했고, 분할 인덱스를 파일로 저장했습니다. 그래서 이후 어떤 스크립트를 돌려도 같은 시험지를 씁니다. 이 시험지 1,976판은 여기서 봉인하고 마지막 평가까지 한 번도 열지 않습니다. 그 사이 EDA도, 피처 정리도, 모델 비교도 전부 학습셋만 보고 했습니다.</a:t>
            </a:r>
            <a:endParaRPr/>
          </a:p>
        </p:txBody>
      </p:sp>
      <p:sp>
        <p:nvSpPr>
          <p:cNvPr id="359" name="Google Shape;359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2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4" name="Google Shape;464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모델은 8종을 똑같은 조건에서 비교했습니다. 왼쪽이 점수 순위인데 1위와 2위가 0.003 차이입니다. 점수로는 못 고릅니다. 오른쪽이 배웠나 외웠나를 본 건데, 랜덤포레스트는 연습이 만점인데 검증은 0.7191입니다. 통째로 외운 겁니다.</a:t>
            </a:r>
            <a:endParaRPr/>
          </a:p>
        </p:txBody>
      </p:sp>
      <p:sp>
        <p:nvSpPr>
          <p:cNvPr id="465" name="Google Shape;465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9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71" name="Google Shape;571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봉인해 둔 시험지를 엽니다. 1,976판이고 모델이 한 번도 보지 않은 데이터입니다. 정확도 0.7366, AUC 0.815입니다. 혼동행렬을 보면 틀린 방향이 244 대 271로 거의 같습니다. 어느 팀도 편들지 않는다는 뜻이라 임계값을 손볼 이유가 없었습니다. AUC 0.815는 승리 경기에 더 높은 확률을 줄 가능성이 81.5퍼센트라는 뜻입니다. </a:t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AUC </a:t>
            </a: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이기는 경기를 잘 예측한다.</a:t>
            </a:r>
            <a:endParaRPr/>
          </a:p>
        </p:txBody>
      </p:sp>
      <p:sp>
        <p:nvSpPr>
          <p:cNvPr id="572" name="Google Shape;572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5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07" name="Google Shape;607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승패를 가르는 건 골드, 경험치, 드래곤 순서입니다. 두 방법이 같은 순위를 냈고 분할을 열 번 바꿔도 1, 2, 3위가 안 바뀌었습니다. 그런데 왼쪽 그림에 빨간 막대가 네 개 있습니다. 미니언, 킬, 어시스트, 타워가 음수입니다. 이대로면 킬을 많이 한 팀이 불리하다는 말이 됩니다. 이 그림이 Phase 2를 부릅니다.</a:t>
            </a:r>
            <a:endParaRPr/>
          </a:p>
        </p:txBody>
      </p:sp>
      <p:sp>
        <p:nvSpPr>
          <p:cNvPr id="608" name="Google Shape;608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p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3" name="Google Shape;633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킬 계수가 왜 음수인지는 이 그림 한 장이면 됩니다. 킬을 해도, 미니언을 잡아도, 타워를 밀어도 전부 골드로 흘러 들어갑니다. 그래서 골드를 이미 아는 모델에게 킬은 새로 알려줄 게 없고, 남은 몫이 음수로 나옵니다. 정확한 해석은 킬은 돈으로 환산됐을 때만 의미가 있다는 것입니다.</a:t>
            </a:r>
            <a:endParaRPr/>
          </a:p>
        </p:txBody>
      </p:sp>
      <p:sp>
        <p:nvSpPr>
          <p:cNvPr id="634" name="Google Shape;634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8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60" name="Google Shape;660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모델을 돌리기 전에 눈으로 먼저 봤습니다. 승률이 S자로 매끄럽게 오릅니다. 그런데 중요한 건 가운데입니다. 경기가 제일 많이 몰린 플러스마이너스 천 구간이 전체의 33퍼센트인데 승률이 49.5퍼센트, 사실상 동전 던지기입니다. 접전 정확도 0.615가 여기서 예고됩니다.</a:t>
            </a:r>
            <a:endParaRPr/>
          </a:p>
        </p:txBody>
      </p:sp>
      <p:sp>
        <p:nvSpPr>
          <p:cNvPr id="661" name="Google Shape;661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8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p2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0" name="Google Shape;720;p2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왜 골드를 빼봤는지부터 말씀드립니다. 상관 0.7 넘는 쌍이 여덟 개인데 그중 네 개가 골드 낀 쌍입니다. VIF로 봐도 골드가 23.4로 1위입니다. 10 넘으면 중복으로 봅니다. 오른쪽 아래 빨간 점 다섯 개가 문제의 증거입니다. 골드가 중복의 중심이었던 겁니다.</a:t>
            </a:r>
            <a:endParaRPr/>
          </a:p>
        </p:txBody>
      </p:sp>
      <p:sp>
        <p:nvSpPr>
          <p:cNvPr id="721" name="Google Shape;721;p2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6" name="Shape 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Google Shape;747;p2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48" name="Google Shape;748;p2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골드를 빼고 다시 학습했습니다. 킬이 마이너스 0.107에서 플러스 0.508로 뒤집혔습니다. 미니언, 어시스트, 타워, 정글 몹까지 음수였던 다섯 개가 전부 양수가 됐습니다. 킬이 승패와 무관했던 게 아니라 골드가 킬의 몫까지 가져가고 있었던 겁니다.</a:t>
            </a:r>
            <a:endParaRPr/>
          </a:p>
        </p:txBody>
      </p:sp>
      <p:sp>
        <p:nvSpPr>
          <p:cNvPr id="749" name="Google Shape;749;p2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5" name="Shape 7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Google Shape;776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77" name="Google Shape;777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가장 강한 지표를 통째로 뺐는데 홀드아웃이 0.002 차이입니다. 골드가 특별해서 1위였던 게 아니라 다른 지표가 이미 같은 정보를 담고 있어서 대신 채워지는 겁니다. 성장 지표를 전부 빼면 0.6336으로 확 떨어집니다. 결국 성장 격차가 가른다는 뜻입니다.</a:t>
            </a:r>
            <a:endParaRPr/>
          </a:p>
        </p:txBody>
      </p:sp>
      <p:sp>
        <p:nvSpPr>
          <p:cNvPr id="778" name="Google Shape;778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3" name="Shape 9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4" name="Google Shape;924;p3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5" name="Google Shape;925;p3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0.704에서 0.756으로 5.25퍼센트포인트 올랐습니다. 시드를 열 번 바꿔도 열 번 다 15분이 우세했습니다. 골드가 0.91에서 1.18로, 경험치가 0.17에서 0.43으로 커지고 CS는 줄어듭니다. 라인전 단계가 지나고 격차 자체가 승패를 말하는 단계로 넘어간다는 뜻입니다.</a:t>
            </a:r>
            <a:endParaRPr/>
          </a:p>
        </p:txBody>
      </p:sp>
      <p:sp>
        <p:nvSpPr>
          <p:cNvPr id="926" name="Google Shape;926;p3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3" name="Shape 9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4" name="Google Shape;954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55" name="Google Shape;955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전체 평균만 보면 중요한 걸 놓칩니다. 이미 크게 벌어진 경기는 5분을 더 봐도 변화가 정확히 0입니다. 반면 팽팽한 경기는 7.8퍼센트포인트 오릅니다. 10분에 팽팽했던 경기의 59퍼센트가 그 5분 사이에 기울기 때문입니다. 그래서 팽팽할 때만 5분이 값어치가 있다가 정확한 결론입니다.</a:t>
            </a:r>
            <a:endParaRPr/>
          </a:p>
        </p:txBody>
      </p:sp>
      <p:sp>
        <p:nvSpPr>
          <p:cNvPr id="956" name="Google Shape;956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1" name="Shape 9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Google Shape;982;p3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83" name="Google Shape;983;p3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제목의 답입니다. 경기의 약 10퍼센트는 10분에 이미 끝나 있습니다. 절반쯤 되는 팽팽한 경기는 그 6할이 10분에서 15분 사이에 갈립니다. 초반에 다 기운다도 틀렸고, 끝까지 모른다도 틀렸습니다. 경기 성격에 따라 다릅니다.</a:t>
            </a:r>
            <a:endParaRPr/>
          </a:p>
        </p:txBody>
      </p:sp>
      <p:sp>
        <p:nvSpPr>
          <p:cNvPr id="984" name="Google Shape;984;p3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0" name="Shape 10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1" name="Google Shape;1051;p3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52" name="Google Shape;1052;p3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이제 실제 화면을 보여드리겠습니다. 주소는 p4.sumzip.com 입니다. 소환사 이름과 태그를 넣고 분석을 누르면 최근 경기 목록이 나옵니다. 경기 한 판을 펼치면 우세승·역전패·역전승·열세패 중 어디에 해당하는지와 10분 시점 승률이 나옵니다. 이 판정을 믿어도 되나를 열면 그 구간의 적중률과 승리요인 순위가 보이고, 마지막으로 그래서 뭘 했어야 했나를 열면 코칭이 나옵니다. 여기 뜨는 확률은 전부 학습된 모델이 낸 값 그대로입니다.</a:t>
            </a:r>
            <a:endParaRPr/>
          </a:p>
        </p:txBody>
      </p:sp>
      <p:sp>
        <p:nvSpPr>
          <p:cNvPr id="1053" name="Google Shape;1053;p3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3" name="Shape 1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Google Shape;1074;p3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75" name="Google Shape;1075;p3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한계도 그대로 말씀드립니다. 팽팽한 경기는 10분 정보로 못 맞힙니다. 코칭의 했다면은 인과 증명이 아니라 관찰 데이터로 계산한 가정입니다. 수집 시점 패치와 다이아 티어에 한정되고, 시점 비교는 프로 경기 결과입니다. 경기 유형 네 개는 설명 편의로 고른 값이고, 정성 테스트는 한 명에게만 했습니다. 확률의 정확함도 Brier로만 확인했고 구간별 신뢰도 곡선까지는 그리지 않았습니다.</a:t>
            </a:r>
            <a:endParaRPr/>
          </a:p>
        </p:txBody>
      </p:sp>
      <p:sp>
        <p:nvSpPr>
          <p:cNvPr id="1076" name="Google Shape;1076;p3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7" name="Shape 1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8" name="Google Shape;1108;p3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09" name="Google Shape;1109;p3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마지막으로 게임을 모르셔도 오늘부터 쓸 수 있는 관전 포인트 세 가지를 드리겠습니다. 골드 차이, 경험치 차이, 드래곤입니다. 킬이 목록에 없는 이유는 킬의 가치가 이미 돈 차이 안에 들어 있기 때문입니다. 한 줄로 요약하면, 골드차 4천이면 끝난 경기, 1천 미만이면 이제 시작입니다. 들어주셔서 감사합니다.</a:t>
            </a:r>
            <a:endParaRPr/>
          </a:p>
        </p:txBody>
      </p:sp>
      <p:sp>
        <p:nvSpPr>
          <p:cNvPr id="1110" name="Google Shape;1110;p3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3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3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0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40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4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4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2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2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4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4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3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43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4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4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4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4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44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44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44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44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4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4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4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4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4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4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6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46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46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4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4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4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47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47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47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4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4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4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4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48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4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4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4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49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49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4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4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4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3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3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3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3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jpg"/><Relationship Id="rId4" Type="http://schemas.openxmlformats.org/officeDocument/2006/relationships/image" Target="../media/image21.png"/><Relationship Id="rId5" Type="http://schemas.openxmlformats.org/officeDocument/2006/relationships/image" Target="../media/image3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jpg"/><Relationship Id="rId4" Type="http://schemas.openxmlformats.org/officeDocument/2006/relationships/image" Target="../media/image28.png"/><Relationship Id="rId5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jpg"/><Relationship Id="rId4" Type="http://schemas.openxmlformats.org/officeDocument/2006/relationships/image" Target="../media/image2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jpg"/><Relationship Id="rId4" Type="http://schemas.openxmlformats.org/officeDocument/2006/relationships/image" Target="../media/image3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jpg"/><Relationship Id="rId4" Type="http://schemas.openxmlformats.org/officeDocument/2006/relationships/image" Target="../media/image3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.jpg"/><Relationship Id="rId4" Type="http://schemas.openxmlformats.org/officeDocument/2006/relationships/image" Target="../media/image3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.jpg"/><Relationship Id="rId4" Type="http://schemas.openxmlformats.org/officeDocument/2006/relationships/image" Target="../media/image3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.jpg"/><Relationship Id="rId4" Type="http://schemas.openxmlformats.org/officeDocument/2006/relationships/image" Target="../media/image4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.jpg"/><Relationship Id="rId4" Type="http://schemas.openxmlformats.org/officeDocument/2006/relationships/image" Target="../media/image4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44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A142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jpg" id="86" name="Google Shape;86;p1"/>
          <p:cNvPicPr preferRelativeResize="0"/>
          <p:nvPr/>
        </p:nvPicPr>
        <p:blipFill rotWithShape="1">
          <a:blip r:embed="rId3">
            <a:alphaModFix amt="50000"/>
          </a:blip>
          <a:srcRect b="0" l="0" r="0" t="0"/>
          <a:stretch/>
        </p:blipFill>
        <p:spPr>
          <a:xfrm>
            <a:off x="0" y="0"/>
            <a:ext cx="121919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gradFill>
            <a:gsLst>
              <a:gs pos="0">
                <a:srgbClr val="010A13">
                  <a:alpha val="92157"/>
                </a:srgbClr>
              </a:gs>
              <a:gs pos="100000">
                <a:srgbClr val="0A1428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"/>
          <p:cNvSpPr/>
          <p:nvPr/>
        </p:nvSpPr>
        <p:spPr>
          <a:xfrm>
            <a:off x="0" y="0"/>
            <a:ext cx="12191969" cy="50292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/>
          <p:nvPr/>
        </p:nvSpPr>
        <p:spPr>
          <a:xfrm>
            <a:off x="0" y="6807708"/>
            <a:ext cx="12191969" cy="50292"/>
          </a:xfrm>
          <a:prstGeom prst="rect">
            <a:avLst/>
          </a:prstGeom>
          <a:solidFill>
            <a:srgbClr val="6E5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/>
          <p:nvPr/>
        </p:nvSpPr>
        <p:spPr>
          <a:xfrm>
            <a:off x="731520" y="960120"/>
            <a:ext cx="5577840" cy="5212080"/>
          </a:xfrm>
          <a:prstGeom prst="rect">
            <a:avLst/>
          </a:prstGeom>
          <a:solidFill>
            <a:srgbClr val="010A13">
              <a:alpha val="81961"/>
            </a:srgbClr>
          </a:solidFill>
          <a:ln cap="flat" cmpd="sng" w="15875">
            <a:solidFill>
              <a:srgbClr val="7862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"/>
          <p:cNvSpPr/>
          <p:nvPr/>
        </p:nvSpPr>
        <p:spPr>
          <a:xfrm>
            <a:off x="731520" y="960120"/>
            <a:ext cx="5577840" cy="4572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/>
          <p:nvPr/>
        </p:nvSpPr>
        <p:spPr>
          <a:xfrm rot="5400000">
            <a:off x="3063240" y="1234440"/>
            <a:ext cx="914400" cy="914400"/>
          </a:xfrm>
          <a:prstGeom prst="hexagon">
            <a:avLst>
              <a:gd fmla="val 25000" name="adj"/>
              <a:gd fmla="val 115470" name="vf"/>
            </a:avLst>
          </a:prstGeom>
          <a:solidFill>
            <a:srgbClr val="0F3D52"/>
          </a:solidFill>
          <a:ln cap="flat" cmpd="sng" w="22225">
            <a:solidFill>
              <a:srgbClr val="C89B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841248" y="2267712"/>
            <a:ext cx="53583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89B3C"/>
                </a:solidFill>
                <a:latin typeface="Malgun Gothic"/>
                <a:ea typeface="Malgun Gothic"/>
                <a:cs typeface="Malgun Gothic"/>
                <a:sym typeface="Malgun Gothic"/>
              </a:rPr>
              <a:t>LOL . EX</a:t>
            </a:r>
            <a:endParaRPr/>
          </a:p>
        </p:txBody>
      </p:sp>
      <p:sp>
        <p:nvSpPr>
          <p:cNvPr id="94" name="Google Shape;94;p1"/>
          <p:cNvSpPr txBox="1"/>
          <p:nvPr/>
        </p:nvSpPr>
        <p:spPr>
          <a:xfrm>
            <a:off x="841248" y="2679192"/>
            <a:ext cx="5358384" cy="11155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LoL 경기는</a:t>
            </a:r>
            <a:br>
              <a:rPr b="1" i="0" lang="en-US" sz="34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1" i="0" lang="en-US" sz="34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언제 승부가 결정되는가?</a:t>
            </a:r>
            <a:endParaRPr/>
          </a:p>
        </p:txBody>
      </p:sp>
      <p:sp>
        <p:nvSpPr>
          <p:cNvPr id="95" name="Google Shape;95;p1"/>
          <p:cNvSpPr/>
          <p:nvPr/>
        </p:nvSpPr>
        <p:spPr>
          <a:xfrm>
            <a:off x="2903220" y="3968496"/>
            <a:ext cx="1234440" cy="27432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"/>
          <p:cNvSpPr txBox="1"/>
          <p:nvPr/>
        </p:nvSpPr>
        <p:spPr>
          <a:xfrm>
            <a:off x="960120" y="4133087"/>
            <a:ext cx="51206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B8B4A9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인게임 시점별 경기 데이터 기반</a:t>
            </a:r>
            <a:br>
              <a:rPr b="0" i="0" lang="en-US" sz="1500" u="none" cap="none" strike="noStrike">
                <a:solidFill>
                  <a:srgbClr val="B8B4A9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0" i="0" lang="en-US" sz="1500" u="none" cap="none" strike="noStrike">
                <a:solidFill>
                  <a:srgbClr val="B8B4A9"/>
                </a:solidFill>
                <a:latin typeface="Malgun Gothic"/>
                <a:ea typeface="Malgun Gothic"/>
                <a:cs typeface="Malgun Gothic"/>
                <a:sym typeface="Malgun Gothic"/>
              </a:rPr>
              <a:t>승패 예측 및 핵심 승리요인 분석</a:t>
            </a:r>
            <a:endParaRPr/>
          </a:p>
        </p:txBody>
      </p:sp>
      <p:sp>
        <p:nvSpPr>
          <p:cNvPr id="97" name="Google Shape;97;p1"/>
          <p:cNvSpPr/>
          <p:nvPr/>
        </p:nvSpPr>
        <p:spPr>
          <a:xfrm>
            <a:off x="1261872" y="4919472"/>
            <a:ext cx="4517136" cy="603504"/>
          </a:xfrm>
          <a:prstGeom prst="rect">
            <a:avLst/>
          </a:prstGeom>
          <a:solidFill>
            <a:srgbClr val="A48135">
              <a:alpha val="90196"/>
            </a:srgbClr>
          </a:solidFill>
          <a:ln cap="flat" cmpd="sng" w="22225">
            <a:solidFill>
              <a:srgbClr val="C89B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"/>
          <p:cNvSpPr txBox="1"/>
          <p:nvPr/>
        </p:nvSpPr>
        <p:spPr>
          <a:xfrm>
            <a:off x="1261872" y="4919472"/>
            <a:ext cx="4517136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ML 팀 프로젝트 · 포트폴리오</a:t>
            </a:r>
            <a:endParaRPr/>
          </a:p>
        </p:txBody>
      </p:sp>
      <p:sp>
        <p:nvSpPr>
          <p:cNvPr id="99" name="Google Shape;99;p1"/>
          <p:cNvSpPr txBox="1"/>
          <p:nvPr/>
        </p:nvSpPr>
        <p:spPr>
          <a:xfrm>
            <a:off x="841248" y="5724144"/>
            <a:ext cx="53583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AE9B70"/>
                </a:solidFill>
                <a:latin typeface="Malgun Gothic"/>
                <a:ea typeface="Malgun Gothic"/>
                <a:cs typeface="Malgun Gothic"/>
                <a:sym typeface="Malgun Gothic"/>
              </a:rPr>
              <a:t>4인 팀 — 담당: 데이터 분석 · 모델링 · 검증 체계 · 웹 서비스 구현 (이제민)</a:t>
            </a:r>
            <a:r>
              <a:rPr lang="en-US" sz="1250">
                <a:solidFill>
                  <a:srgbClr val="AE9B70"/>
                </a:solidFill>
                <a:latin typeface="Malgun Gothic"/>
                <a:ea typeface="Malgun Gothic"/>
                <a:cs typeface="Malgun Gothic"/>
                <a:sym typeface="Malgun Gothic"/>
              </a:rP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7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>
            <a:gsLst>
              <a:gs pos="0">
                <a:srgbClr val="0A1428"/>
              </a:gs>
              <a:gs pos="100000">
                <a:srgbClr val="010A13"/>
              </a:gs>
            </a:gsLst>
            <a:lin ang="16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rift_scene.jpg" id="342" name="Google Shape;342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9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7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10A13">
              <a:alpha val="8784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7"/>
          <p:cNvSpPr/>
          <p:nvPr/>
        </p:nvSpPr>
        <p:spPr>
          <a:xfrm>
            <a:off x="0" y="0"/>
            <a:ext cx="12191969" cy="50292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7"/>
          <p:cNvSpPr/>
          <p:nvPr/>
        </p:nvSpPr>
        <p:spPr>
          <a:xfrm>
            <a:off x="0" y="6807708"/>
            <a:ext cx="12191969" cy="50292"/>
          </a:xfrm>
          <a:prstGeom prst="rect">
            <a:avLst/>
          </a:prstGeom>
          <a:solidFill>
            <a:srgbClr val="6E5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7"/>
          <p:cNvSpPr/>
          <p:nvPr/>
        </p:nvSpPr>
        <p:spPr>
          <a:xfrm>
            <a:off x="274320" y="6569964"/>
            <a:ext cx="685800" cy="27432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7"/>
          <p:cNvSpPr/>
          <p:nvPr/>
        </p:nvSpPr>
        <p:spPr>
          <a:xfrm>
            <a:off x="260603" y="5897880"/>
            <a:ext cx="27432" cy="685800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7"/>
          <p:cNvSpPr/>
          <p:nvPr/>
        </p:nvSpPr>
        <p:spPr>
          <a:xfrm>
            <a:off x="11231849" y="6569964"/>
            <a:ext cx="685800" cy="27432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7"/>
          <p:cNvSpPr/>
          <p:nvPr/>
        </p:nvSpPr>
        <p:spPr>
          <a:xfrm>
            <a:off x="11903933" y="5897880"/>
            <a:ext cx="27432" cy="685800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7"/>
          <p:cNvSpPr txBox="1"/>
          <p:nvPr/>
        </p:nvSpPr>
        <p:spPr>
          <a:xfrm>
            <a:off x="777240" y="530352"/>
            <a:ext cx="10634472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1. 데이터 검증 및 분석   |   </a:t>
            </a:r>
            <a:r>
              <a:rPr b="1" i="0" lang="en-US" sz="25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개요와 사전 검증</a:t>
            </a:r>
            <a:endParaRPr/>
          </a:p>
        </p:txBody>
      </p:sp>
      <p:sp>
        <p:nvSpPr>
          <p:cNvPr id="351" name="Google Shape;351;p7"/>
          <p:cNvSpPr/>
          <p:nvPr/>
        </p:nvSpPr>
        <p:spPr>
          <a:xfrm>
            <a:off x="795528" y="1115568"/>
            <a:ext cx="1051560" cy="3200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7"/>
          <p:cNvSpPr/>
          <p:nvPr/>
        </p:nvSpPr>
        <p:spPr>
          <a:xfrm>
            <a:off x="1892807" y="1110996"/>
            <a:ext cx="41148" cy="41148"/>
          </a:xfrm>
          <a:prstGeom prst="diamond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53" name="Google Shape;353;p7"/>
          <p:cNvGraphicFramePr/>
          <p:nvPr/>
        </p:nvGraphicFramePr>
        <p:xfrm>
          <a:off x="777240" y="18002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{46956E51-EF99-4CE0-B1A4-93B49CD02E09}</a:tableStyleId>
              </a:tblPr>
              <a:tblGrid>
                <a:gridCol w="1828800"/>
                <a:gridCol w="3840475"/>
                <a:gridCol w="4965200"/>
              </a:tblGrid>
              <a:tr h="512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항목</a:t>
                      </a:r>
                      <a:endParaRPr sz="1500"/>
                    </a:p>
                  </a:txBody>
                  <a:tcPr marT="45725" marB="45725" marR="91450" marL="91450" anchor="ctr">
                    <a:solidFill>
                      <a:srgbClr val="3C3F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값</a:t>
                      </a:r>
                      <a:endParaRPr sz="1500"/>
                    </a:p>
                  </a:txBody>
                  <a:tcPr marT="45725" marB="45725" marR="91450" marL="91450" anchor="ctr">
                    <a:solidFill>
                      <a:srgbClr val="3C3F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경기에 영향을 미치는 요인</a:t>
                      </a:r>
                      <a:endParaRPr sz="1500"/>
                    </a:p>
                  </a:txBody>
                  <a:tcPr marT="45725" marB="45725" marR="91450" marL="91450" anchor="ctr">
                    <a:solidFill>
                      <a:srgbClr val="3C3F3E"/>
                    </a:solidFill>
                  </a:tcPr>
                </a:tc>
              </a:tr>
              <a:tr h="658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데이터 출처</a:t>
                      </a:r>
                      <a:endParaRPr sz="15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Kaggle · LoL Diamond Ranked Games </a:t>
                      </a:r>
                      <a:endParaRPr b="0" sz="1500" u="none" cap="none" strike="noStrike">
                        <a:solidFill>
                          <a:srgbClr val="C1BEB4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(10 min)</a:t>
                      </a:r>
                      <a:endParaRPr sz="15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다이아는 상위 구간이라 실력 편차가 작다</a:t>
                      </a:r>
                      <a:endParaRPr sz="15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</a:tr>
              <a:tr h="658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규모</a:t>
                      </a:r>
                      <a:endParaRPr sz="1500"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9,879행 × 40컬럼</a:t>
                      </a:r>
                      <a:endParaRPr sz="1500"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한 행 = 경기 한 판 · gameId 와 정답(blueWins)을 뺀</a:t>
                      </a:r>
                      <a:br>
                        <a:rPr b="0" lang="en-US" sz="15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b="0" lang="en-US" sz="15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지표 후보는 38개</a:t>
                      </a:r>
                      <a:endParaRPr sz="1500"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</a:tr>
              <a:tr h="658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결측 / 중복</a:t>
                      </a:r>
                      <a:endParaRPr sz="15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0건 / 0건</a:t>
                      </a:r>
                      <a:endParaRPr sz="15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채우거나 지울 것이 없었다 — 직접 확인</a:t>
                      </a:r>
                      <a:endParaRPr sz="15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</a:tr>
              <a:tr h="658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승패 비율</a:t>
                      </a:r>
                      <a:endParaRPr sz="1500"/>
                    </a:p>
                  </a:txBody>
                  <a:tcPr marT="45725" marB="45725" marR="91450" marL="91450" anchor="ctr">
                    <a:solidFill>
                      <a:srgbClr val="2D35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50.10 : 49.90</a:t>
                      </a:r>
                      <a:endParaRPr sz="1500"/>
                    </a:p>
                  </a:txBody>
                  <a:tcPr marT="45725" marB="45725" marR="91450" marL="91450" anchor="ctr">
                    <a:solidFill>
                      <a:srgbClr val="2D35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거의 반반</a:t>
                      </a:r>
                      <a:endParaRPr sz="1500"/>
                    </a:p>
                  </a:txBody>
                  <a:tcPr marT="45725" marB="45725" marR="91450" marL="91450" anchor="ctr">
                    <a:solidFill>
                      <a:srgbClr val="2D353E"/>
                    </a:solidFill>
                  </a:tcPr>
                </a:tc>
              </a:tr>
              <a:tr h="6583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학습 / 시험</a:t>
                      </a:r>
                      <a:endParaRPr sz="15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7,903 / 1,976</a:t>
                      </a:r>
                      <a:endParaRPr sz="15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학습데이터와 시험데이터를 나누고 시험지 봉인</a:t>
                      </a:r>
                      <a:endParaRPr sz="15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</a:tr>
            </a:tbl>
          </a:graphicData>
        </a:graphic>
      </p:graphicFrame>
      <p:sp>
        <p:nvSpPr>
          <p:cNvPr id="354" name="Google Shape;354;p7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73726E"/>
                </a:solidFill>
                <a:latin typeface="Malgun Gothic"/>
                <a:ea typeface="Malgun Gothic"/>
                <a:cs typeface="Malgun Gothic"/>
                <a:sym typeface="Malgun Gothic"/>
              </a:rPr>
              <a:t>근거 · runs.csv · data/splits/    |    개념 → STUDY 3번 분할과 누수</a:t>
            </a:r>
            <a:endParaRPr/>
          </a:p>
        </p:txBody>
      </p:sp>
      <p:sp>
        <p:nvSpPr>
          <p:cNvPr id="355" name="Google Shape;355;p7"/>
          <p:cNvSpPr txBox="1"/>
          <p:nvPr/>
        </p:nvSpPr>
        <p:spPr>
          <a:xfrm>
            <a:off x="10972800" y="6574536"/>
            <a:ext cx="868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950" u="none" cap="none" strike="noStrike">
                <a:solidFill>
                  <a:srgbClr val="73726E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950" u="none" cap="none" strike="noStrike">
              <a:solidFill>
                <a:srgbClr val="73726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8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>
            <a:gsLst>
              <a:gs pos="0">
                <a:srgbClr val="0A1428"/>
              </a:gs>
              <a:gs pos="100000">
                <a:srgbClr val="010A13"/>
              </a:gs>
            </a:gsLst>
            <a:lin ang="16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rift_scene.jpg" id="362" name="Google Shape;362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9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8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10A13">
              <a:alpha val="8784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8"/>
          <p:cNvSpPr/>
          <p:nvPr/>
        </p:nvSpPr>
        <p:spPr>
          <a:xfrm>
            <a:off x="0" y="0"/>
            <a:ext cx="12191969" cy="50292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8"/>
          <p:cNvSpPr/>
          <p:nvPr/>
        </p:nvSpPr>
        <p:spPr>
          <a:xfrm>
            <a:off x="0" y="6807708"/>
            <a:ext cx="12191969" cy="50292"/>
          </a:xfrm>
          <a:prstGeom prst="rect">
            <a:avLst/>
          </a:prstGeom>
          <a:solidFill>
            <a:srgbClr val="6E5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8"/>
          <p:cNvSpPr/>
          <p:nvPr/>
        </p:nvSpPr>
        <p:spPr>
          <a:xfrm>
            <a:off x="274320" y="6569964"/>
            <a:ext cx="685800" cy="27432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8"/>
          <p:cNvSpPr/>
          <p:nvPr/>
        </p:nvSpPr>
        <p:spPr>
          <a:xfrm>
            <a:off x="260603" y="5897880"/>
            <a:ext cx="27432" cy="685800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8"/>
          <p:cNvSpPr/>
          <p:nvPr/>
        </p:nvSpPr>
        <p:spPr>
          <a:xfrm>
            <a:off x="11231849" y="6569964"/>
            <a:ext cx="685800" cy="27432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8"/>
          <p:cNvSpPr/>
          <p:nvPr/>
        </p:nvSpPr>
        <p:spPr>
          <a:xfrm>
            <a:off x="11903933" y="5897880"/>
            <a:ext cx="27432" cy="685800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8"/>
          <p:cNvSpPr txBox="1"/>
          <p:nvPr/>
        </p:nvSpPr>
        <p:spPr>
          <a:xfrm>
            <a:off x="777240" y="530352"/>
            <a:ext cx="10634472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1. 데이터 검증 및 분석   |   </a:t>
            </a:r>
            <a:r>
              <a:rPr b="1" i="0" lang="en-US" sz="25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분할</a:t>
            </a:r>
            <a:endParaRPr/>
          </a:p>
        </p:txBody>
      </p:sp>
      <p:sp>
        <p:nvSpPr>
          <p:cNvPr id="371" name="Google Shape;371;p8"/>
          <p:cNvSpPr/>
          <p:nvPr/>
        </p:nvSpPr>
        <p:spPr>
          <a:xfrm>
            <a:off x="795528" y="1115568"/>
            <a:ext cx="1051560" cy="3200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8"/>
          <p:cNvSpPr/>
          <p:nvPr/>
        </p:nvSpPr>
        <p:spPr>
          <a:xfrm>
            <a:off x="1892807" y="1110996"/>
            <a:ext cx="41148" cy="41148"/>
          </a:xfrm>
          <a:prstGeom prst="diamond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8"/>
          <p:cNvSpPr/>
          <p:nvPr/>
        </p:nvSpPr>
        <p:spPr>
          <a:xfrm>
            <a:off x="777250" y="3544900"/>
            <a:ext cx="10634400" cy="811200"/>
          </a:xfrm>
          <a:prstGeom prst="rect">
            <a:avLst/>
          </a:prstGeom>
          <a:solidFill>
            <a:srgbClr val="010A13">
              <a:alpha val="80000"/>
            </a:srgbClr>
          </a:solidFill>
          <a:ln cap="flat" cmpd="sng" w="12700">
            <a:solidFill>
              <a:srgbClr val="69583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8"/>
          <p:cNvSpPr txBox="1"/>
          <p:nvPr/>
        </p:nvSpPr>
        <p:spPr>
          <a:xfrm>
            <a:off x="1051570" y="3670478"/>
            <a:ext cx="10058400" cy="5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X_tr, X_te, y_tr, y_te = train_test_split(X, y, test_size=0.2, random_state=42, stratify=y)</a:t>
            </a:r>
            <a:endParaRPr sz="1600"/>
          </a:p>
          <a:p>
            <a:pPr indent="0" lvl="0" marL="0" marR="0" rtl="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8A877D"/>
                </a:solidFill>
                <a:latin typeface="Malgun Gothic"/>
                <a:ea typeface="Malgun Gothic"/>
                <a:cs typeface="Malgun Gothic"/>
                <a:sym typeface="Malgun Gothic"/>
              </a:rPr>
              <a:t>test_size=0.2 → 시험 20% 봉인    ·    random_state=42 → 시드 고정    ·    stratify=y → 승패 비율 유지</a:t>
            </a:r>
            <a:endParaRPr b="0" i="0" u="none" cap="none" strike="noStrike">
              <a:solidFill>
                <a:srgbClr val="8A877D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75" name="Google Shape;375;p8"/>
          <p:cNvSpPr txBox="1"/>
          <p:nvPr/>
        </p:nvSpPr>
        <p:spPr>
          <a:xfrm>
            <a:off x="777240" y="4410804"/>
            <a:ext cx="10607100" cy="176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◆  시험지 1,976판은 여기서 봉인하고, 마지막 홀드아웃 평가까지 한 번도 열지 않습니다</a:t>
            </a:r>
            <a:endParaRPr b="1" i="0" sz="1700" u="none" cap="none" strike="noStrike">
              <a:solidFill>
                <a:srgbClr val="F0E6D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8E8B80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 </a:t>
            </a:r>
            <a:r>
              <a:rPr b="0" i="0" lang="en-US" u="none" cap="none" strike="noStrike">
                <a:solidFill>
                  <a:srgbClr val="8E8B80"/>
                </a:solidFill>
                <a:latin typeface="Malgun Gothic"/>
                <a:ea typeface="Malgun Gothic"/>
                <a:cs typeface="Malgun Gothic"/>
                <a:sym typeface="Malgun Gothic"/>
              </a:rPr>
              <a:t>그 사이 EDA 도, 피처 정리도, 모델 8종 비교도 전부 학습셋 7,903행만 보고 했습니다</a:t>
            </a:r>
            <a:endParaRPr b="0" i="0" u="none" cap="none" strike="noStrike">
              <a:solidFill>
                <a:srgbClr val="8E8B8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32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◆  층화 (stratify) — 승패 비율을 학습 · 시험 양쪽에 똑같이 맞춥니다</a:t>
            </a:r>
            <a:endParaRPr b="1" i="0" sz="1800" u="none" cap="none" strike="noStrike">
              <a:solidFill>
                <a:srgbClr val="F0E6D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E8B80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  </a:t>
            </a:r>
            <a:r>
              <a:rPr b="0" i="0" lang="en-US" u="none" cap="none" strike="noStrike">
                <a:solidFill>
                  <a:srgbClr val="8E8B8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한쪽만 승률이 치우치면 두 점수를 견줄 수 없다 — 학습 0.4991 / 시험 0.4990</a:t>
            </a:r>
            <a:endParaRPr sz="1800"/>
          </a:p>
          <a:p>
            <a:pPr indent="0" lvl="0" marL="0" marR="0" rtl="0" algn="l">
              <a:lnSpc>
                <a:spcPct val="132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◆  교차검증도 층화 — 5조각 전부 승패 비율 유지</a:t>
            </a:r>
            <a:endParaRPr b="1" i="0" sz="1700" u="none" cap="none" strike="noStrike">
              <a:solidFill>
                <a:srgbClr val="F0E6D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76" name="Google Shape;376;p8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73726E"/>
                </a:solidFill>
                <a:latin typeface="Malgun Gothic"/>
                <a:ea typeface="Malgun Gothic"/>
                <a:cs typeface="Malgun Gothic"/>
                <a:sym typeface="Malgun Gothic"/>
              </a:rPr>
              <a:t>재현 · src/day1_baseline.py 「3. 층화 분할」 · data/splits/    |    잘 나뉘었는지는 뒤 「분할 진단 4종」에서 기계로 확인합니다</a:t>
            </a:r>
            <a:endParaRPr/>
          </a:p>
        </p:txBody>
      </p:sp>
      <p:sp>
        <p:nvSpPr>
          <p:cNvPr id="377" name="Google Shape;377;p8"/>
          <p:cNvSpPr txBox="1"/>
          <p:nvPr/>
        </p:nvSpPr>
        <p:spPr>
          <a:xfrm>
            <a:off x="10972800" y="6574536"/>
            <a:ext cx="868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950" u="none" cap="none" strike="noStrike">
                <a:solidFill>
                  <a:srgbClr val="73726E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950" u="none" cap="none" strike="noStrike">
              <a:solidFill>
                <a:srgbClr val="73726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78" name="Google Shape;378;p8"/>
          <p:cNvSpPr/>
          <p:nvPr/>
        </p:nvSpPr>
        <p:spPr>
          <a:xfrm>
            <a:off x="777240" y="1334185"/>
            <a:ext cx="10634400" cy="560100"/>
          </a:xfrm>
          <a:prstGeom prst="rect">
            <a:avLst/>
          </a:prstGeom>
          <a:solidFill>
            <a:srgbClr val="2A333E">
              <a:alpha val="9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8"/>
          <p:cNvSpPr/>
          <p:nvPr/>
        </p:nvSpPr>
        <p:spPr>
          <a:xfrm>
            <a:off x="777240" y="1334185"/>
            <a:ext cx="45600" cy="56010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8"/>
          <p:cNvSpPr txBox="1"/>
          <p:nvPr/>
        </p:nvSpPr>
        <p:spPr>
          <a:xfrm>
            <a:off x="930576" y="1442683"/>
            <a:ext cx="102168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C89B3C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가장 중요한 규칙 — 분할 우선</a:t>
            </a:r>
            <a:endParaRPr sz="1700"/>
          </a:p>
        </p:txBody>
      </p:sp>
      <p:sp>
        <p:nvSpPr>
          <p:cNvPr id="381" name="Google Shape;381;p8"/>
          <p:cNvSpPr txBox="1"/>
          <p:nvPr/>
        </p:nvSpPr>
        <p:spPr>
          <a:xfrm>
            <a:off x="777240" y="2088910"/>
            <a:ext cx="10607100" cy="137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◆  왜 먼저인가 — 시험지를 먼저 떼어 놓지 않으면 정답이 새어 들어갑니다</a:t>
            </a:r>
            <a:endParaRPr sz="1700"/>
          </a:p>
          <a:p>
            <a:pPr indent="0" lvl="0" marL="0" marR="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8E8B80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 </a:t>
            </a:r>
            <a:r>
              <a:rPr b="0" i="0" lang="en-US" u="none" cap="none" strike="noStrike">
                <a:solidFill>
                  <a:srgbClr val="8E8B80"/>
                </a:solidFill>
                <a:latin typeface="Malgun Gothic"/>
                <a:ea typeface="Malgun Gothic"/>
                <a:cs typeface="Malgun Gothic"/>
                <a:sym typeface="Malgun Gothic"/>
              </a:rPr>
              <a:t>나누기 전에 전체 데이터를 만지면 시험지 정보가 새어 듭니다(누수) — 점수만 좋아 보이고 실전은 못 맞힙니다</a:t>
            </a:r>
            <a:endParaRPr sz="1800"/>
          </a:p>
          <a:p>
            <a:pPr indent="0" lvl="0" marL="0" marR="0" rtl="0" algn="l">
              <a:lnSpc>
                <a:spcPct val="132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◆  어떻게 나눴나 — 9,879판을 8 : 2 로, 학습 7,903판 / 시험 1,976판</a:t>
            </a:r>
            <a:endParaRPr sz="1700"/>
          </a:p>
          <a:p>
            <a:pPr indent="0" lvl="0" marL="0" marR="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E8B80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 </a:t>
            </a:r>
            <a:r>
              <a:rPr b="0" i="0" lang="en-US" u="none" cap="none" strike="noStrike">
                <a:solidFill>
                  <a:srgbClr val="8E8B80"/>
                </a:solidFill>
                <a:latin typeface="Malgun Gothic"/>
                <a:ea typeface="Malgun Gothic"/>
                <a:cs typeface="Malgun Gothic"/>
                <a:sym typeface="Malgun Gothic"/>
              </a:rPr>
              <a:t> 20% = 운에 흔들리지 않는 크기 · 시드 고정 = 누가 돌려도 같은 분할 · 인덱스는 data/splits/ 저장</a:t>
            </a:r>
            <a:endParaRPr sz="18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13"/>
          <p:cNvSpPr/>
          <p:nvPr/>
        </p:nvSpPr>
        <p:spPr>
          <a:xfrm>
            <a:off x="0" y="-36171"/>
            <a:ext cx="12192000" cy="6858000"/>
          </a:xfrm>
          <a:prstGeom prst="rect">
            <a:avLst/>
          </a:prstGeom>
          <a:gradFill>
            <a:gsLst>
              <a:gs pos="0">
                <a:srgbClr val="0A1428"/>
              </a:gs>
              <a:gs pos="100000">
                <a:srgbClr val="010A13"/>
              </a:gs>
            </a:gsLst>
            <a:lin ang="16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rift_scene.jpg" id="468" name="Google Shape;468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36171"/>
            <a:ext cx="1219197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69" name="Google Shape;469;p13"/>
          <p:cNvSpPr/>
          <p:nvPr/>
        </p:nvSpPr>
        <p:spPr>
          <a:xfrm>
            <a:off x="0" y="-36171"/>
            <a:ext cx="12192000" cy="6858000"/>
          </a:xfrm>
          <a:prstGeom prst="rect">
            <a:avLst/>
          </a:prstGeom>
          <a:solidFill>
            <a:srgbClr val="010A13">
              <a:alpha val="8784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13"/>
          <p:cNvSpPr/>
          <p:nvPr/>
        </p:nvSpPr>
        <p:spPr>
          <a:xfrm>
            <a:off x="0" y="0"/>
            <a:ext cx="12191969" cy="50292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13"/>
          <p:cNvSpPr/>
          <p:nvPr/>
        </p:nvSpPr>
        <p:spPr>
          <a:xfrm>
            <a:off x="0" y="6807708"/>
            <a:ext cx="12191969" cy="50292"/>
          </a:xfrm>
          <a:prstGeom prst="rect">
            <a:avLst/>
          </a:prstGeom>
          <a:solidFill>
            <a:srgbClr val="6E5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13"/>
          <p:cNvSpPr/>
          <p:nvPr/>
        </p:nvSpPr>
        <p:spPr>
          <a:xfrm>
            <a:off x="274320" y="6569964"/>
            <a:ext cx="685800" cy="27432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13"/>
          <p:cNvSpPr/>
          <p:nvPr/>
        </p:nvSpPr>
        <p:spPr>
          <a:xfrm>
            <a:off x="260603" y="5897880"/>
            <a:ext cx="27432" cy="685800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13"/>
          <p:cNvSpPr/>
          <p:nvPr/>
        </p:nvSpPr>
        <p:spPr>
          <a:xfrm>
            <a:off x="11231849" y="6569964"/>
            <a:ext cx="685800" cy="27432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13"/>
          <p:cNvSpPr/>
          <p:nvPr/>
        </p:nvSpPr>
        <p:spPr>
          <a:xfrm>
            <a:off x="11903933" y="5897880"/>
            <a:ext cx="27432" cy="685800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13"/>
          <p:cNvSpPr txBox="1"/>
          <p:nvPr/>
        </p:nvSpPr>
        <p:spPr>
          <a:xfrm>
            <a:off x="777240" y="530352"/>
            <a:ext cx="10634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2. Phase 1   |   </a:t>
            </a:r>
            <a:r>
              <a:rPr b="1" i="0" lang="en-US" sz="25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모델 8종 비교 — 동일</a:t>
            </a:r>
            <a:r>
              <a:rPr b="1" lang="en-US" sz="2500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한</a:t>
            </a:r>
            <a:r>
              <a:rPr b="1" i="0" lang="en-US" sz="25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 조건</a:t>
            </a:r>
            <a:r>
              <a:rPr b="1" lang="en-US" sz="2500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으로</a:t>
            </a:r>
            <a:endParaRPr/>
          </a:p>
        </p:txBody>
      </p:sp>
      <p:sp>
        <p:nvSpPr>
          <p:cNvPr id="477" name="Google Shape;477;p13"/>
          <p:cNvSpPr/>
          <p:nvPr/>
        </p:nvSpPr>
        <p:spPr>
          <a:xfrm>
            <a:off x="795528" y="1115568"/>
            <a:ext cx="1051560" cy="3200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13"/>
          <p:cNvSpPr/>
          <p:nvPr/>
        </p:nvSpPr>
        <p:spPr>
          <a:xfrm>
            <a:off x="1892807" y="1110996"/>
            <a:ext cx="41148" cy="41148"/>
          </a:xfrm>
          <a:prstGeom prst="diamond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13"/>
          <p:cNvSpPr/>
          <p:nvPr/>
        </p:nvSpPr>
        <p:spPr>
          <a:xfrm>
            <a:off x="731525" y="1243978"/>
            <a:ext cx="5120700" cy="2520000"/>
          </a:xfrm>
          <a:prstGeom prst="rect">
            <a:avLst/>
          </a:prstGeom>
          <a:solidFill>
            <a:srgbClr val="5F513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13"/>
          <p:cNvSpPr/>
          <p:nvPr/>
        </p:nvSpPr>
        <p:spPr>
          <a:xfrm>
            <a:off x="777250" y="1292830"/>
            <a:ext cx="5029200" cy="2471100"/>
          </a:xfrm>
          <a:prstGeom prst="rect">
            <a:avLst/>
          </a:prstGeom>
          <a:solidFill>
            <a:srgbClr val="F5F2EB"/>
          </a:solidFill>
          <a:ln cap="flat" cmpd="sng" w="15875">
            <a:solidFill>
              <a:srgbClr val="C89B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model_choice_1_scores.png" id="481" name="Google Shape;481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8800" y="1292829"/>
            <a:ext cx="4907201" cy="2471099"/>
          </a:xfrm>
          <a:prstGeom prst="rect">
            <a:avLst/>
          </a:prstGeom>
          <a:noFill/>
          <a:ln>
            <a:noFill/>
          </a:ln>
        </p:spPr>
      </p:pic>
      <p:sp>
        <p:nvSpPr>
          <p:cNvPr id="482" name="Google Shape;482;p13"/>
          <p:cNvSpPr txBox="1"/>
          <p:nvPr/>
        </p:nvSpPr>
        <p:spPr>
          <a:xfrm>
            <a:off x="777240" y="3812120"/>
            <a:ext cx="50292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85837A"/>
                </a:solidFill>
                <a:latin typeface="Malgun Gothic"/>
                <a:ea typeface="Malgun Gothic"/>
                <a:cs typeface="Malgun Gothic"/>
                <a:sym typeface="Malgun Gothic"/>
              </a:rPr>
              <a:t>장면 1 — 점수로 줄 세우기</a:t>
            </a:r>
            <a:endParaRPr sz="1500"/>
          </a:p>
        </p:txBody>
      </p:sp>
      <p:sp>
        <p:nvSpPr>
          <p:cNvPr id="483" name="Google Shape;483;p13"/>
          <p:cNvSpPr/>
          <p:nvPr/>
        </p:nvSpPr>
        <p:spPr>
          <a:xfrm>
            <a:off x="6217925" y="1243978"/>
            <a:ext cx="5239500" cy="2520000"/>
          </a:xfrm>
          <a:prstGeom prst="rect">
            <a:avLst/>
          </a:prstGeom>
          <a:solidFill>
            <a:srgbClr val="5F513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13"/>
          <p:cNvSpPr/>
          <p:nvPr/>
        </p:nvSpPr>
        <p:spPr>
          <a:xfrm>
            <a:off x="6263650" y="1292830"/>
            <a:ext cx="5148000" cy="2471100"/>
          </a:xfrm>
          <a:prstGeom prst="rect">
            <a:avLst/>
          </a:prstGeom>
          <a:solidFill>
            <a:srgbClr val="F5F2EB"/>
          </a:solidFill>
          <a:ln cap="flat" cmpd="sng" w="15875">
            <a:solidFill>
              <a:srgbClr val="C89B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model_choice_2_overfit.png" id="485" name="Google Shape;485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63650" y="1292829"/>
            <a:ext cx="5120625" cy="2471100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13"/>
          <p:cNvSpPr txBox="1"/>
          <p:nvPr/>
        </p:nvSpPr>
        <p:spPr>
          <a:xfrm>
            <a:off x="6263640" y="3812120"/>
            <a:ext cx="5148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85837A"/>
                </a:solidFill>
                <a:latin typeface="Malgun Gothic"/>
                <a:ea typeface="Malgun Gothic"/>
                <a:cs typeface="Malgun Gothic"/>
                <a:sym typeface="Malgun Gothic"/>
              </a:rPr>
              <a:t>장면 2 — 배웠나, 외웠나</a:t>
            </a:r>
            <a:endParaRPr sz="1500"/>
          </a:p>
        </p:txBody>
      </p:sp>
      <p:graphicFrame>
        <p:nvGraphicFramePr>
          <p:cNvPr id="487" name="Google Shape;487;p13"/>
          <p:cNvGraphicFramePr/>
          <p:nvPr/>
        </p:nvGraphicFramePr>
        <p:xfrm>
          <a:off x="777240" y="414718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{46956E51-EF99-4CE0-B1A4-93B49CD02E09}</a:tableStyleId>
              </a:tblPr>
              <a:tblGrid>
                <a:gridCol w="2883925"/>
                <a:gridCol w="2703675"/>
                <a:gridCol w="2433300"/>
                <a:gridCol w="2613550"/>
              </a:tblGrid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모델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3C3F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교차검증 정확도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3C3F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연습 − 검증 격차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3C3F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판정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3C3F3E"/>
                    </a:solidFill>
                  </a:tcPr>
                </a:tc>
              </a:tr>
              <a:tr h="2560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로지스틱 회귀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2D35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0.7280 ± 0.0163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2D35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+0.0047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2D35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채택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2D353E"/>
                    </a:solidFill>
                  </a:tcPr>
                </a:tc>
              </a:tr>
              <a:tr h="2560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랜덤포레스트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0.7191 (연습 1.0000)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+0.2809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통째로 외움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</a:tr>
              <a:tr h="2560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GaussianNB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0.7250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+0.0006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2위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</a:tr>
              <a:tr h="2560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SVM (RBF)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0.7226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+0.0431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기준 초과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</a:tr>
              <a:tr h="2560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HistGB · 결정트리 · KNN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0.7116 ~ 0.7206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최대 +0.1604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탈락 / 하위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</a:tr>
              <a:tr h="2560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찍기 (기준선)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0.5009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비교 출발선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</a:tr>
            </a:tbl>
          </a:graphicData>
        </a:graphic>
      </p:graphicFrame>
      <p:sp>
        <p:nvSpPr>
          <p:cNvPr id="488" name="Google Shape;488;p13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73726E"/>
                </a:solidFill>
                <a:latin typeface="Malgun Gothic"/>
                <a:ea typeface="Malgun Gothic"/>
                <a:cs typeface="Malgun Gothic"/>
                <a:sym typeface="Malgun Gothic"/>
              </a:rPr>
              <a:t>근거 · runs.csv    |    점수로는 못 고릅니다 — 1위와 2위가 0.003 차이. 갈라준 건 "외웠나"와 "왜를 말할 수 있나"입니다</a:t>
            </a:r>
            <a:endParaRPr/>
          </a:p>
        </p:txBody>
      </p:sp>
      <p:sp>
        <p:nvSpPr>
          <p:cNvPr id="489" name="Google Shape;489;p13"/>
          <p:cNvSpPr txBox="1"/>
          <p:nvPr/>
        </p:nvSpPr>
        <p:spPr>
          <a:xfrm>
            <a:off x="10972800" y="6574536"/>
            <a:ext cx="868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950" u="none" cap="none" strike="noStrike">
                <a:solidFill>
                  <a:srgbClr val="73726E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950" u="none" cap="none" strike="noStrike">
              <a:solidFill>
                <a:srgbClr val="73726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3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p17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>
            <a:gsLst>
              <a:gs pos="0">
                <a:srgbClr val="0A1428"/>
              </a:gs>
              <a:gs pos="100000">
                <a:srgbClr val="010A13"/>
              </a:gs>
            </a:gsLst>
            <a:lin ang="16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rift_scene.jpg" id="575" name="Google Shape;57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9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76" name="Google Shape;576;p17"/>
          <p:cNvSpPr/>
          <p:nvPr/>
        </p:nvSpPr>
        <p:spPr>
          <a:xfrm>
            <a:off x="0" y="16136"/>
            <a:ext cx="12192000" cy="6858000"/>
          </a:xfrm>
          <a:prstGeom prst="rect">
            <a:avLst/>
          </a:prstGeom>
          <a:solidFill>
            <a:srgbClr val="010A13">
              <a:alpha val="8784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17"/>
          <p:cNvSpPr/>
          <p:nvPr/>
        </p:nvSpPr>
        <p:spPr>
          <a:xfrm>
            <a:off x="0" y="0"/>
            <a:ext cx="12191969" cy="50292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17"/>
          <p:cNvSpPr/>
          <p:nvPr/>
        </p:nvSpPr>
        <p:spPr>
          <a:xfrm>
            <a:off x="0" y="6807708"/>
            <a:ext cx="12191969" cy="50292"/>
          </a:xfrm>
          <a:prstGeom prst="rect">
            <a:avLst/>
          </a:prstGeom>
          <a:solidFill>
            <a:srgbClr val="6E5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17"/>
          <p:cNvSpPr/>
          <p:nvPr/>
        </p:nvSpPr>
        <p:spPr>
          <a:xfrm>
            <a:off x="274320" y="6569964"/>
            <a:ext cx="685800" cy="27432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17"/>
          <p:cNvSpPr/>
          <p:nvPr/>
        </p:nvSpPr>
        <p:spPr>
          <a:xfrm>
            <a:off x="260603" y="5897880"/>
            <a:ext cx="27432" cy="685800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17"/>
          <p:cNvSpPr/>
          <p:nvPr/>
        </p:nvSpPr>
        <p:spPr>
          <a:xfrm>
            <a:off x="11231849" y="6569964"/>
            <a:ext cx="685800" cy="27432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17"/>
          <p:cNvSpPr/>
          <p:nvPr/>
        </p:nvSpPr>
        <p:spPr>
          <a:xfrm>
            <a:off x="11903933" y="5897880"/>
            <a:ext cx="27432" cy="685800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17"/>
          <p:cNvSpPr txBox="1"/>
          <p:nvPr/>
        </p:nvSpPr>
        <p:spPr>
          <a:xfrm>
            <a:off x="777240" y="530352"/>
            <a:ext cx="10634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2. Phase 1   |   </a:t>
            </a:r>
            <a:r>
              <a:rPr b="1" i="0" lang="en-US" sz="25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홀드아웃 평가 </a:t>
            </a:r>
            <a:endParaRPr/>
          </a:p>
        </p:txBody>
      </p:sp>
      <p:sp>
        <p:nvSpPr>
          <p:cNvPr id="584" name="Google Shape;584;p17"/>
          <p:cNvSpPr/>
          <p:nvPr/>
        </p:nvSpPr>
        <p:spPr>
          <a:xfrm>
            <a:off x="795528" y="1115568"/>
            <a:ext cx="1051560" cy="3200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17"/>
          <p:cNvSpPr/>
          <p:nvPr/>
        </p:nvSpPr>
        <p:spPr>
          <a:xfrm>
            <a:off x="1892807" y="1110996"/>
            <a:ext cx="41148" cy="41148"/>
          </a:xfrm>
          <a:prstGeom prst="diamond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" name="Google Shape;586;p17"/>
          <p:cNvSpPr/>
          <p:nvPr/>
        </p:nvSpPr>
        <p:spPr>
          <a:xfrm>
            <a:off x="777250" y="1470650"/>
            <a:ext cx="4069200" cy="1143000"/>
          </a:xfrm>
          <a:prstGeom prst="rect">
            <a:avLst/>
          </a:prstGeom>
          <a:solidFill>
            <a:srgbClr val="10223E">
              <a:alpha val="92157"/>
            </a:srgbClr>
          </a:solidFill>
          <a:ln cap="flat" cmpd="sng" w="12700">
            <a:solidFill>
              <a:srgbClr val="5A52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" name="Google Shape;587;p17"/>
          <p:cNvSpPr/>
          <p:nvPr/>
        </p:nvSpPr>
        <p:spPr>
          <a:xfrm>
            <a:off x="777240" y="1470660"/>
            <a:ext cx="45600" cy="114300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" name="Google Shape;588;p17"/>
          <p:cNvSpPr txBox="1"/>
          <p:nvPr/>
        </p:nvSpPr>
        <p:spPr>
          <a:xfrm>
            <a:off x="1033246" y="1555265"/>
            <a:ext cx="2971800" cy="9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18E82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대표 정확도</a:t>
            </a:r>
            <a:endParaRPr b="0" i="0" sz="1500" u="none" cap="none" strike="noStrike">
              <a:solidFill>
                <a:srgbClr val="918E8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0.7366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8A877D"/>
                </a:solidFill>
                <a:latin typeface="Malgun Gothic"/>
                <a:ea typeface="Malgun Gothic"/>
                <a:cs typeface="Malgun Gothic"/>
                <a:sym typeface="Malgun Gothic"/>
              </a:rPr>
              <a:t>찍기 대비 +23.8%p</a:t>
            </a:r>
            <a:endParaRPr sz="1800"/>
          </a:p>
        </p:txBody>
      </p:sp>
      <p:sp>
        <p:nvSpPr>
          <p:cNvPr id="589" name="Google Shape;589;p17"/>
          <p:cNvSpPr/>
          <p:nvPr/>
        </p:nvSpPr>
        <p:spPr>
          <a:xfrm>
            <a:off x="5111400" y="1472100"/>
            <a:ext cx="3415200" cy="1143000"/>
          </a:xfrm>
          <a:prstGeom prst="rect">
            <a:avLst/>
          </a:prstGeom>
          <a:solidFill>
            <a:srgbClr val="10223E">
              <a:alpha val="92157"/>
            </a:srgbClr>
          </a:solidFill>
          <a:ln cap="flat" cmpd="sng" w="12700">
            <a:solidFill>
              <a:srgbClr val="0E646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17"/>
          <p:cNvSpPr/>
          <p:nvPr/>
        </p:nvSpPr>
        <p:spPr>
          <a:xfrm>
            <a:off x="5097725" y="1472100"/>
            <a:ext cx="45600" cy="1143000"/>
          </a:xfrm>
          <a:prstGeom prst="rect">
            <a:avLst/>
          </a:prstGeom>
          <a:solidFill>
            <a:srgbClr val="0AC8B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17"/>
          <p:cNvSpPr txBox="1"/>
          <p:nvPr/>
        </p:nvSpPr>
        <p:spPr>
          <a:xfrm>
            <a:off x="5353760" y="1528187"/>
            <a:ext cx="2971800" cy="102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918E82"/>
                </a:solidFill>
                <a:latin typeface="Malgun Gothic"/>
                <a:ea typeface="Malgun Gothic"/>
                <a:cs typeface="Malgun Gothic"/>
                <a:sym typeface="Malgun Gothic"/>
              </a:rPr>
              <a:t>AUC</a:t>
            </a:r>
            <a:endParaRPr sz="1900"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AC8B9"/>
                </a:solidFill>
                <a:latin typeface="Malgun Gothic"/>
                <a:ea typeface="Malgun Gothic"/>
                <a:cs typeface="Malgun Gothic"/>
                <a:sym typeface="Malgun Gothic"/>
              </a:rPr>
              <a:t>0.8150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8A877D"/>
                </a:solidFill>
                <a:latin typeface="Malgun Gothic"/>
                <a:ea typeface="Malgun Gothic"/>
                <a:cs typeface="Malgun Gothic"/>
                <a:sym typeface="Malgun Gothic"/>
              </a:rPr>
              <a:t>임계값과 무관한 순위 능력</a:t>
            </a:r>
            <a:endParaRPr b="0" i="0" sz="1600" u="none" cap="none" strike="noStrike">
              <a:solidFill>
                <a:srgbClr val="8A877D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92" name="Google Shape;592;p17"/>
          <p:cNvSpPr/>
          <p:nvPr/>
        </p:nvSpPr>
        <p:spPr>
          <a:xfrm>
            <a:off x="731525" y="2853875"/>
            <a:ext cx="4114800" cy="2779500"/>
          </a:xfrm>
          <a:prstGeom prst="rect">
            <a:avLst/>
          </a:prstGeom>
          <a:solidFill>
            <a:srgbClr val="5F513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" name="Google Shape;593;p17"/>
          <p:cNvSpPr/>
          <p:nvPr/>
        </p:nvSpPr>
        <p:spPr>
          <a:xfrm>
            <a:off x="777246" y="2906444"/>
            <a:ext cx="4023300" cy="2682000"/>
          </a:xfrm>
          <a:prstGeom prst="rect">
            <a:avLst/>
          </a:prstGeom>
          <a:solidFill>
            <a:srgbClr val="F5F2EB"/>
          </a:solidFill>
          <a:ln cap="flat" cmpd="sng" w="15875">
            <a:solidFill>
              <a:srgbClr val="C89B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fig1_confusion_matrix.png" id="594" name="Google Shape;594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67125" y="2932150"/>
            <a:ext cx="3843601" cy="2606101"/>
          </a:xfrm>
          <a:prstGeom prst="rect">
            <a:avLst/>
          </a:prstGeom>
          <a:noFill/>
          <a:ln>
            <a:noFill/>
          </a:ln>
        </p:spPr>
      </p:pic>
      <p:sp>
        <p:nvSpPr>
          <p:cNvPr id="595" name="Google Shape;595;p17"/>
          <p:cNvSpPr txBox="1"/>
          <p:nvPr/>
        </p:nvSpPr>
        <p:spPr>
          <a:xfrm>
            <a:off x="777240" y="5775196"/>
            <a:ext cx="40233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85837A"/>
                </a:solidFill>
                <a:latin typeface="Malgun Gothic"/>
                <a:ea typeface="Malgun Gothic"/>
                <a:cs typeface="Malgun Gothic"/>
                <a:sym typeface="Malgun Gothic"/>
              </a:rPr>
              <a:t>혼동행렬 — TN 746 · FP 244 / FN 271 · TP 715</a:t>
            </a:r>
            <a:endParaRPr/>
          </a:p>
        </p:txBody>
      </p:sp>
      <p:sp>
        <p:nvSpPr>
          <p:cNvPr id="596" name="Google Shape;596;p17"/>
          <p:cNvSpPr/>
          <p:nvPr/>
        </p:nvSpPr>
        <p:spPr>
          <a:xfrm>
            <a:off x="5111400" y="2853725"/>
            <a:ext cx="3429000" cy="2779500"/>
          </a:xfrm>
          <a:prstGeom prst="rect">
            <a:avLst/>
          </a:prstGeom>
          <a:solidFill>
            <a:srgbClr val="5F513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17"/>
          <p:cNvSpPr/>
          <p:nvPr/>
        </p:nvSpPr>
        <p:spPr>
          <a:xfrm>
            <a:off x="5159030" y="2887400"/>
            <a:ext cx="3333600" cy="2701200"/>
          </a:xfrm>
          <a:prstGeom prst="rect">
            <a:avLst/>
          </a:prstGeom>
          <a:solidFill>
            <a:srgbClr val="F5F2EB"/>
          </a:solidFill>
          <a:ln cap="flat" cmpd="sng" w="15875">
            <a:solidFill>
              <a:srgbClr val="C89B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fig4_roc.png" id="598" name="Google Shape;598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240300" y="2932150"/>
            <a:ext cx="3200399" cy="2606100"/>
          </a:xfrm>
          <a:prstGeom prst="rect">
            <a:avLst/>
          </a:prstGeom>
          <a:noFill/>
          <a:ln>
            <a:noFill/>
          </a:ln>
        </p:spPr>
      </p:pic>
      <p:sp>
        <p:nvSpPr>
          <p:cNvPr id="599" name="Google Shape;599;p17"/>
          <p:cNvSpPr txBox="1"/>
          <p:nvPr/>
        </p:nvSpPr>
        <p:spPr>
          <a:xfrm>
            <a:off x="5212080" y="5775196"/>
            <a:ext cx="3200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85837A"/>
                </a:solidFill>
                <a:latin typeface="Malgun Gothic"/>
                <a:ea typeface="Malgun Gothic"/>
                <a:cs typeface="Malgun Gothic"/>
                <a:sym typeface="Malgun Gothic"/>
              </a:rPr>
              <a:t>ROC — 기준을 0~1 로 전부 바꿔가며</a:t>
            </a:r>
            <a:endParaRPr/>
          </a:p>
        </p:txBody>
      </p:sp>
      <p:sp>
        <p:nvSpPr>
          <p:cNvPr id="600" name="Google Shape;600;p17"/>
          <p:cNvSpPr/>
          <p:nvPr/>
        </p:nvSpPr>
        <p:spPr>
          <a:xfrm>
            <a:off x="8732520" y="2978910"/>
            <a:ext cx="2679300" cy="2514600"/>
          </a:xfrm>
          <a:prstGeom prst="rect">
            <a:avLst/>
          </a:prstGeom>
          <a:solidFill>
            <a:srgbClr val="2A333E">
              <a:alpha val="9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17"/>
          <p:cNvSpPr/>
          <p:nvPr/>
        </p:nvSpPr>
        <p:spPr>
          <a:xfrm>
            <a:off x="8732520" y="2978910"/>
            <a:ext cx="45600" cy="251460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17"/>
          <p:cNvSpPr txBox="1"/>
          <p:nvPr/>
        </p:nvSpPr>
        <p:spPr>
          <a:xfrm>
            <a:off x="8970264" y="3072543"/>
            <a:ext cx="2222100" cy="234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틀리는 방향이</a:t>
            </a:r>
            <a:br>
              <a:rPr b="1" i="0" lang="en-US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1" i="0" lang="en-US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244 대 271 로 대칭입니다.</a:t>
            </a:r>
            <a:br>
              <a:rPr b="1" i="0" lang="en-US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br>
              <a:rPr b="1" i="0" lang="en-US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1" i="0" lang="en-US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어느 팀도 편들지 않으므로</a:t>
            </a:r>
            <a:br>
              <a:rPr b="1" i="0" lang="en-US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1" i="0" lang="en-US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임계값 0.5 를</a:t>
            </a:r>
            <a:br>
              <a:rPr b="1" i="0" lang="en-US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1" i="0" lang="en-US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손볼 이유가 없었습니다.</a:t>
            </a:r>
            <a:br>
              <a:rPr b="1" i="0" lang="en-US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br>
              <a:rPr b="1" i="0" lang="en-US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1" i="0" lang="en-US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AUC 0.8150 </a:t>
            </a:r>
            <a:br>
              <a:rPr b="1" i="0" lang="en-US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1" i="0" lang="en-US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승리 경기에 더 높은 확률을</a:t>
            </a:r>
            <a:br>
              <a:rPr b="1" i="0" lang="en-US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1" i="0" lang="en-US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줄 가능성이 81.5%.</a:t>
            </a:r>
            <a:endParaRPr/>
          </a:p>
        </p:txBody>
      </p:sp>
      <p:sp>
        <p:nvSpPr>
          <p:cNvPr id="603" name="Google Shape;603;p17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73726E"/>
                </a:solidFill>
                <a:latin typeface="Malgun Gothic"/>
                <a:ea typeface="Malgun Gothic"/>
                <a:cs typeface="Malgun Gothic"/>
                <a:sym typeface="Malgun Gothic"/>
              </a:rPr>
              <a:t>근거 · artifacts/schema.json · reports/model_report.ipynb    |    개념 → STUDY 8번 평가지표</a:t>
            </a:r>
            <a:endParaRPr/>
          </a:p>
        </p:txBody>
      </p:sp>
      <p:sp>
        <p:nvSpPr>
          <p:cNvPr id="604" name="Google Shape;604;p17"/>
          <p:cNvSpPr txBox="1"/>
          <p:nvPr/>
        </p:nvSpPr>
        <p:spPr>
          <a:xfrm>
            <a:off x="10972800" y="6574536"/>
            <a:ext cx="868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950" u="none" cap="none" strike="noStrike">
                <a:solidFill>
                  <a:srgbClr val="73726E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950" u="none" cap="none" strike="noStrike">
              <a:solidFill>
                <a:srgbClr val="73726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2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p18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>
            <a:gsLst>
              <a:gs pos="0">
                <a:srgbClr val="0A1428"/>
              </a:gs>
              <a:gs pos="100000">
                <a:srgbClr val="010A13"/>
              </a:gs>
            </a:gsLst>
            <a:lin ang="16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rift_scene.jpg" id="664" name="Google Shape;664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9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5" name="Google Shape;665;p18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10A13">
              <a:alpha val="8784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6" name="Google Shape;666;p18"/>
          <p:cNvSpPr/>
          <p:nvPr/>
        </p:nvSpPr>
        <p:spPr>
          <a:xfrm>
            <a:off x="0" y="0"/>
            <a:ext cx="12191969" cy="50292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7" name="Google Shape;667;p18"/>
          <p:cNvSpPr/>
          <p:nvPr/>
        </p:nvSpPr>
        <p:spPr>
          <a:xfrm>
            <a:off x="0" y="6807708"/>
            <a:ext cx="12191969" cy="50292"/>
          </a:xfrm>
          <a:prstGeom prst="rect">
            <a:avLst/>
          </a:prstGeom>
          <a:solidFill>
            <a:srgbClr val="6E5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" name="Google Shape;668;p18"/>
          <p:cNvSpPr/>
          <p:nvPr/>
        </p:nvSpPr>
        <p:spPr>
          <a:xfrm>
            <a:off x="274320" y="6569964"/>
            <a:ext cx="685800" cy="27432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9" name="Google Shape;669;p18"/>
          <p:cNvSpPr/>
          <p:nvPr/>
        </p:nvSpPr>
        <p:spPr>
          <a:xfrm>
            <a:off x="260603" y="5897880"/>
            <a:ext cx="27432" cy="685800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" name="Google Shape;670;p18"/>
          <p:cNvSpPr/>
          <p:nvPr/>
        </p:nvSpPr>
        <p:spPr>
          <a:xfrm>
            <a:off x="11231849" y="6569964"/>
            <a:ext cx="685800" cy="27432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" name="Google Shape;671;p18"/>
          <p:cNvSpPr/>
          <p:nvPr/>
        </p:nvSpPr>
        <p:spPr>
          <a:xfrm>
            <a:off x="11903933" y="5897880"/>
            <a:ext cx="27432" cy="685800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18"/>
          <p:cNvSpPr txBox="1"/>
          <p:nvPr/>
        </p:nvSpPr>
        <p:spPr>
          <a:xfrm>
            <a:off x="777240" y="530352"/>
            <a:ext cx="10634472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2. Phase 1   |   </a:t>
            </a:r>
            <a:r>
              <a:rPr b="1" i="0" lang="en-US" sz="25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골드 격차별 승률 분석</a:t>
            </a:r>
            <a:endParaRPr/>
          </a:p>
        </p:txBody>
      </p:sp>
      <p:sp>
        <p:nvSpPr>
          <p:cNvPr id="673" name="Google Shape;673;p18"/>
          <p:cNvSpPr/>
          <p:nvPr/>
        </p:nvSpPr>
        <p:spPr>
          <a:xfrm>
            <a:off x="795528" y="1115568"/>
            <a:ext cx="1051560" cy="3200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4" name="Google Shape;674;p18"/>
          <p:cNvSpPr/>
          <p:nvPr/>
        </p:nvSpPr>
        <p:spPr>
          <a:xfrm>
            <a:off x="1892807" y="1110996"/>
            <a:ext cx="41148" cy="41148"/>
          </a:xfrm>
          <a:prstGeom prst="diamond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5" name="Google Shape;675;p18"/>
          <p:cNvSpPr/>
          <p:nvPr/>
        </p:nvSpPr>
        <p:spPr>
          <a:xfrm>
            <a:off x="731519" y="1550035"/>
            <a:ext cx="6949500" cy="4023300"/>
          </a:xfrm>
          <a:prstGeom prst="rect">
            <a:avLst/>
          </a:prstGeom>
          <a:solidFill>
            <a:srgbClr val="5F513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6" name="Google Shape;676;p18"/>
          <p:cNvSpPr/>
          <p:nvPr/>
        </p:nvSpPr>
        <p:spPr>
          <a:xfrm>
            <a:off x="777240" y="1598870"/>
            <a:ext cx="6858000" cy="3931800"/>
          </a:xfrm>
          <a:prstGeom prst="rect">
            <a:avLst/>
          </a:prstGeom>
          <a:solidFill>
            <a:srgbClr val="F5F2EB"/>
          </a:solidFill>
          <a:ln cap="flat" cmpd="sng" w="15875">
            <a:solidFill>
              <a:srgbClr val="C89B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eda1_winrate_curve.png" id="677" name="Google Shape;677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86968" y="1729097"/>
            <a:ext cx="6638544" cy="3688080"/>
          </a:xfrm>
          <a:prstGeom prst="rect">
            <a:avLst/>
          </a:prstGeom>
          <a:noFill/>
          <a:ln>
            <a:noFill/>
          </a:ln>
        </p:spPr>
      </p:pic>
      <p:sp>
        <p:nvSpPr>
          <p:cNvPr id="678" name="Google Shape;678;p18"/>
          <p:cNvSpPr txBox="1"/>
          <p:nvPr/>
        </p:nvSpPr>
        <p:spPr>
          <a:xfrm>
            <a:off x="777240" y="5786777"/>
            <a:ext cx="68580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85837A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가로축: 10분 골드 차이 · 파란 선: 그 구간의 실제 승률 · 회색 막대: 경기 수</a:t>
            </a:r>
            <a:endParaRPr/>
          </a:p>
        </p:txBody>
      </p:sp>
      <p:sp>
        <p:nvSpPr>
          <p:cNvPr id="679" name="Google Shape;679;p18"/>
          <p:cNvSpPr txBox="1"/>
          <p:nvPr/>
        </p:nvSpPr>
        <p:spPr>
          <a:xfrm>
            <a:off x="7863850" y="1588773"/>
            <a:ext cx="3547800" cy="211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◆  승률이 S자로 매끄럽게 상승</a:t>
            </a:r>
            <a:endParaRPr sz="1700"/>
          </a:p>
          <a:p>
            <a:pPr indent="0" lvl="0" marL="0" marR="0" rtl="0" algn="l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8E8B80"/>
                </a:solidFill>
                <a:latin typeface="Malgun Gothic"/>
                <a:ea typeface="Malgun Gothic"/>
                <a:cs typeface="Malgun Gothic"/>
                <a:sym typeface="Malgun Gothic"/>
              </a:rPr>
              <a:t>5,000 이상 뒤진 경기는 1.7%만 이기고, 5,000 이상 앞선 경기는 99.5% 이깁니다 — 가설대로입니다</a:t>
            </a:r>
            <a:endParaRPr sz="1700"/>
          </a:p>
          <a:p>
            <a:pPr indent="0" lvl="0" marL="0" marR="0" rtl="0" algn="l">
              <a:lnSpc>
                <a:spcPct val="132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◆  그런데 중요한 것은 가운데 구간</a:t>
            </a:r>
            <a:endParaRPr sz="1700"/>
          </a:p>
          <a:p>
            <a:pPr indent="0" lvl="0" marL="0" marR="0" rtl="0" algn="l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8E8B80"/>
                </a:solidFill>
                <a:latin typeface="Malgun Gothic"/>
                <a:ea typeface="Malgun Gothic"/>
                <a:cs typeface="Malgun Gothic"/>
                <a:sym typeface="Malgun Gothic"/>
              </a:rPr>
              <a:t>경기가 가장 많은 ±1,000 구간이 전체의 33%인데 그 구간 승률은 49.5% — 사실상 동전 던지기</a:t>
            </a:r>
            <a:endParaRPr sz="1600"/>
          </a:p>
        </p:txBody>
      </p:sp>
      <p:sp>
        <p:nvSpPr>
          <p:cNvPr id="680" name="Google Shape;680;p18"/>
          <p:cNvSpPr/>
          <p:nvPr/>
        </p:nvSpPr>
        <p:spPr>
          <a:xfrm>
            <a:off x="7863850" y="3960006"/>
            <a:ext cx="3547800" cy="1564200"/>
          </a:xfrm>
          <a:prstGeom prst="rect">
            <a:avLst/>
          </a:prstGeom>
          <a:solidFill>
            <a:srgbClr val="2A333E">
              <a:alpha val="9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1" name="Google Shape;681;p18"/>
          <p:cNvSpPr/>
          <p:nvPr/>
        </p:nvSpPr>
        <p:spPr>
          <a:xfrm>
            <a:off x="7863850" y="3960006"/>
            <a:ext cx="45600" cy="156420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" name="Google Shape;682;p18"/>
          <p:cNvSpPr txBox="1"/>
          <p:nvPr/>
        </p:nvSpPr>
        <p:spPr>
          <a:xfrm>
            <a:off x="8101583" y="4102253"/>
            <a:ext cx="3090600" cy="119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5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데이터가 가장 많이 몰린 곳에서</a:t>
            </a:r>
            <a:br>
              <a:rPr b="1" i="0" lang="en-US" sz="12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1" i="0" lang="en-US" sz="125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골드가 아무 말도 못 합니다.</a:t>
            </a:r>
            <a:br>
              <a:rPr b="1" i="0" lang="en-US" sz="12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br>
              <a:rPr b="1" i="0" lang="en-US" sz="12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1" i="0" lang="en-US" sz="125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뒤에 나올 "접전 정확도 0.615"가</a:t>
            </a:r>
            <a:br>
              <a:rPr b="1" i="0" lang="en-US" sz="12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1" i="0" lang="en-US" sz="125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이미 여기서 예고됩니다.</a:t>
            </a:r>
            <a:endParaRPr/>
          </a:p>
        </p:txBody>
      </p:sp>
      <p:sp>
        <p:nvSpPr>
          <p:cNvPr id="683" name="Google Shape;683;p18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73726E"/>
                </a:solidFill>
                <a:latin typeface="Malgun Gothic"/>
                <a:ea typeface="Malgun Gothic"/>
                <a:cs typeface="Malgun Gothic"/>
                <a:sym typeface="Malgun Gothic"/>
              </a:rPr>
              <a:t>근거 · reports/figures/eda1_winrate_curve.png (학습셋 7,903행)</a:t>
            </a:r>
            <a:endParaRPr/>
          </a:p>
        </p:txBody>
      </p:sp>
      <p:sp>
        <p:nvSpPr>
          <p:cNvPr id="684" name="Google Shape;684;p18"/>
          <p:cNvSpPr txBox="1"/>
          <p:nvPr/>
        </p:nvSpPr>
        <p:spPr>
          <a:xfrm>
            <a:off x="10972800" y="6574536"/>
            <a:ext cx="868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950" u="none" cap="none" strike="noStrike">
                <a:solidFill>
                  <a:srgbClr val="73726E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950" u="none" cap="none" strike="noStrike">
              <a:solidFill>
                <a:srgbClr val="73726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9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19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>
            <a:gsLst>
              <a:gs pos="0">
                <a:srgbClr val="0A1428"/>
              </a:gs>
              <a:gs pos="100000">
                <a:srgbClr val="010A13"/>
              </a:gs>
            </a:gsLst>
            <a:lin ang="16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rift_scene.jpg" id="611" name="Google Shape;611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9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2" name="Google Shape;612;p19"/>
          <p:cNvSpPr/>
          <p:nvPr/>
        </p:nvSpPr>
        <p:spPr>
          <a:xfrm>
            <a:off x="0" y="16136"/>
            <a:ext cx="12192000" cy="6858000"/>
          </a:xfrm>
          <a:prstGeom prst="rect">
            <a:avLst/>
          </a:prstGeom>
          <a:solidFill>
            <a:srgbClr val="010A13">
              <a:alpha val="8784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9"/>
          <p:cNvSpPr/>
          <p:nvPr/>
        </p:nvSpPr>
        <p:spPr>
          <a:xfrm>
            <a:off x="0" y="0"/>
            <a:ext cx="12191969" cy="50292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19"/>
          <p:cNvSpPr/>
          <p:nvPr/>
        </p:nvSpPr>
        <p:spPr>
          <a:xfrm>
            <a:off x="0" y="6807708"/>
            <a:ext cx="12191969" cy="50292"/>
          </a:xfrm>
          <a:prstGeom prst="rect">
            <a:avLst/>
          </a:prstGeom>
          <a:solidFill>
            <a:srgbClr val="6E5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19"/>
          <p:cNvSpPr/>
          <p:nvPr/>
        </p:nvSpPr>
        <p:spPr>
          <a:xfrm>
            <a:off x="274320" y="6569964"/>
            <a:ext cx="685800" cy="27432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19"/>
          <p:cNvSpPr/>
          <p:nvPr/>
        </p:nvSpPr>
        <p:spPr>
          <a:xfrm>
            <a:off x="260603" y="5897880"/>
            <a:ext cx="27432" cy="685800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19"/>
          <p:cNvSpPr/>
          <p:nvPr/>
        </p:nvSpPr>
        <p:spPr>
          <a:xfrm>
            <a:off x="11231849" y="6569964"/>
            <a:ext cx="685800" cy="27432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19"/>
          <p:cNvSpPr/>
          <p:nvPr/>
        </p:nvSpPr>
        <p:spPr>
          <a:xfrm>
            <a:off x="11903933" y="5897880"/>
            <a:ext cx="27432" cy="685800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19"/>
          <p:cNvSpPr txBox="1"/>
          <p:nvPr/>
        </p:nvSpPr>
        <p:spPr>
          <a:xfrm>
            <a:off x="777240" y="530352"/>
            <a:ext cx="10634472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2. Phase 1   |   </a:t>
            </a:r>
            <a:r>
              <a:rPr b="1" i="0" lang="en-US" sz="25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승리요인 분석 — 유의미 요인 3개</a:t>
            </a:r>
            <a:endParaRPr/>
          </a:p>
        </p:txBody>
      </p:sp>
      <p:sp>
        <p:nvSpPr>
          <p:cNvPr id="620" name="Google Shape;620;p19"/>
          <p:cNvSpPr/>
          <p:nvPr/>
        </p:nvSpPr>
        <p:spPr>
          <a:xfrm>
            <a:off x="795528" y="1115568"/>
            <a:ext cx="1051560" cy="3200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" name="Google Shape;621;p19"/>
          <p:cNvSpPr/>
          <p:nvPr/>
        </p:nvSpPr>
        <p:spPr>
          <a:xfrm>
            <a:off x="1892807" y="1110996"/>
            <a:ext cx="41148" cy="41148"/>
          </a:xfrm>
          <a:prstGeom prst="diamond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19"/>
          <p:cNvSpPr/>
          <p:nvPr/>
        </p:nvSpPr>
        <p:spPr>
          <a:xfrm>
            <a:off x="430625" y="1482080"/>
            <a:ext cx="6833400" cy="4343400"/>
          </a:xfrm>
          <a:prstGeom prst="rect">
            <a:avLst/>
          </a:prstGeom>
          <a:solidFill>
            <a:srgbClr val="5F5131"/>
          </a:solidFill>
          <a:ln>
            <a:noFill/>
          </a:ln>
        </p:spPr>
        <p:txBody>
          <a:bodyPr anchorCtr="0" anchor="ctr" bIns="48100" lIns="96225" spcFirstLastPara="1" rIns="96225" wrap="square" tIns="481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95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19"/>
          <p:cNvSpPr/>
          <p:nvPr/>
        </p:nvSpPr>
        <p:spPr>
          <a:xfrm>
            <a:off x="478748" y="1537976"/>
            <a:ext cx="6737100" cy="4238700"/>
          </a:xfrm>
          <a:prstGeom prst="rect">
            <a:avLst/>
          </a:prstGeom>
          <a:solidFill>
            <a:srgbClr val="F5F2EB"/>
          </a:solidFill>
          <a:ln cap="flat" cmpd="sng" w="16700">
            <a:solidFill>
              <a:srgbClr val="C89B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8100" lIns="96225" spcFirstLastPara="1" rIns="96225" wrap="square" tIns="481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95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fig2_coefficients.png" id="624" name="Google Shape;624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8750" y="1559050"/>
            <a:ext cx="6737101" cy="4133375"/>
          </a:xfrm>
          <a:prstGeom prst="rect">
            <a:avLst/>
          </a:prstGeom>
          <a:noFill/>
          <a:ln>
            <a:noFill/>
          </a:ln>
        </p:spPr>
      </p:pic>
      <p:sp>
        <p:nvSpPr>
          <p:cNvPr id="625" name="Google Shape;625;p19"/>
          <p:cNvSpPr txBox="1"/>
          <p:nvPr/>
        </p:nvSpPr>
        <p:spPr>
          <a:xfrm>
            <a:off x="822204" y="5864924"/>
            <a:ext cx="6400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85837A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모델이 배운 가중치 13개 — 오른쪽(파랑)이면 블루에 유리</a:t>
            </a:r>
            <a:endParaRPr/>
          </a:p>
        </p:txBody>
      </p:sp>
      <p:sp>
        <p:nvSpPr>
          <p:cNvPr id="626" name="Google Shape;626;p19"/>
          <p:cNvSpPr/>
          <p:nvPr/>
        </p:nvSpPr>
        <p:spPr>
          <a:xfrm>
            <a:off x="7662015" y="4635052"/>
            <a:ext cx="4005000" cy="1188600"/>
          </a:xfrm>
          <a:prstGeom prst="rect">
            <a:avLst/>
          </a:prstGeom>
          <a:solidFill>
            <a:srgbClr val="2A333E">
              <a:alpha val="9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" name="Google Shape;627;p19"/>
          <p:cNvSpPr/>
          <p:nvPr/>
        </p:nvSpPr>
        <p:spPr>
          <a:xfrm>
            <a:off x="7662015" y="4635039"/>
            <a:ext cx="45600" cy="1188600"/>
          </a:xfrm>
          <a:prstGeom prst="rect">
            <a:avLst/>
          </a:prstGeom>
          <a:solidFill>
            <a:srgbClr val="BE1E3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19"/>
          <p:cNvSpPr txBox="1"/>
          <p:nvPr/>
        </p:nvSpPr>
        <p:spPr>
          <a:xfrm>
            <a:off x="7850258" y="4865039"/>
            <a:ext cx="3547800" cy="60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골드 지표의 압도적 우세 </a:t>
            </a:r>
            <a:endParaRPr b="1" sz="1700">
              <a:solidFill>
                <a:srgbClr val="F0E6D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페이즈 2에서 해결해야 할 과제</a:t>
            </a:r>
            <a:endParaRPr sz="1900"/>
          </a:p>
        </p:txBody>
      </p:sp>
      <p:sp>
        <p:nvSpPr>
          <p:cNvPr id="629" name="Google Shape;629;p19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73726E"/>
                </a:solidFill>
                <a:latin typeface="Malgun Gothic"/>
                <a:ea typeface="Malgun Gothic"/>
                <a:cs typeface="Malgun Gothic"/>
                <a:sym typeface="Malgun Gothic"/>
              </a:rPr>
              <a:t>근거 · reports/tables/win_factor_ranking.csv    |    개념 → STUDY 11번 permutation</a:t>
            </a:r>
            <a:endParaRPr/>
          </a:p>
        </p:txBody>
      </p:sp>
      <p:sp>
        <p:nvSpPr>
          <p:cNvPr id="630" name="Google Shape;630;p19"/>
          <p:cNvSpPr txBox="1"/>
          <p:nvPr/>
        </p:nvSpPr>
        <p:spPr>
          <a:xfrm>
            <a:off x="10972800" y="6574536"/>
            <a:ext cx="868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950" u="none" cap="none" strike="noStrike">
                <a:solidFill>
                  <a:srgbClr val="73726E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950" u="none" cap="none" strike="noStrike">
              <a:solidFill>
                <a:srgbClr val="73726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5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p20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>
            <a:gsLst>
              <a:gs pos="0">
                <a:srgbClr val="0A1428"/>
              </a:gs>
              <a:gs pos="100000">
                <a:srgbClr val="010A13"/>
              </a:gs>
            </a:gsLst>
            <a:lin ang="16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rift_scene.jpg" id="637" name="Google Shape;637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9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38" name="Google Shape;638;p20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10A13">
              <a:alpha val="8784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" name="Google Shape;639;p20"/>
          <p:cNvSpPr/>
          <p:nvPr/>
        </p:nvSpPr>
        <p:spPr>
          <a:xfrm>
            <a:off x="0" y="0"/>
            <a:ext cx="12191969" cy="50292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" name="Google Shape;640;p20"/>
          <p:cNvSpPr/>
          <p:nvPr/>
        </p:nvSpPr>
        <p:spPr>
          <a:xfrm>
            <a:off x="0" y="6807708"/>
            <a:ext cx="12191969" cy="50292"/>
          </a:xfrm>
          <a:prstGeom prst="rect">
            <a:avLst/>
          </a:prstGeom>
          <a:solidFill>
            <a:srgbClr val="6E5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1" name="Google Shape;641;p20"/>
          <p:cNvSpPr/>
          <p:nvPr/>
        </p:nvSpPr>
        <p:spPr>
          <a:xfrm>
            <a:off x="274320" y="6569964"/>
            <a:ext cx="685800" cy="27432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" name="Google Shape;642;p20"/>
          <p:cNvSpPr/>
          <p:nvPr/>
        </p:nvSpPr>
        <p:spPr>
          <a:xfrm>
            <a:off x="260603" y="5897880"/>
            <a:ext cx="27432" cy="685800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3" name="Google Shape;643;p20"/>
          <p:cNvSpPr/>
          <p:nvPr/>
        </p:nvSpPr>
        <p:spPr>
          <a:xfrm>
            <a:off x="11231849" y="6569964"/>
            <a:ext cx="685800" cy="27432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4" name="Google Shape;644;p20"/>
          <p:cNvSpPr/>
          <p:nvPr/>
        </p:nvSpPr>
        <p:spPr>
          <a:xfrm>
            <a:off x="11903933" y="5897880"/>
            <a:ext cx="27432" cy="685800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" name="Google Shape;645;p20"/>
          <p:cNvSpPr txBox="1"/>
          <p:nvPr/>
        </p:nvSpPr>
        <p:spPr>
          <a:xfrm>
            <a:off x="777240" y="530352"/>
            <a:ext cx="10634472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2. Phase 1   |   </a:t>
            </a:r>
            <a:r>
              <a:rPr b="1" i="0" lang="en-US" sz="25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킬 계수 음수의 원인 — 골드 흐름</a:t>
            </a:r>
            <a:endParaRPr/>
          </a:p>
        </p:txBody>
      </p:sp>
      <p:sp>
        <p:nvSpPr>
          <p:cNvPr id="646" name="Google Shape;646;p20"/>
          <p:cNvSpPr/>
          <p:nvPr/>
        </p:nvSpPr>
        <p:spPr>
          <a:xfrm>
            <a:off x="795528" y="1115568"/>
            <a:ext cx="1051560" cy="3200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7" name="Google Shape;647;p20"/>
          <p:cNvSpPr/>
          <p:nvPr/>
        </p:nvSpPr>
        <p:spPr>
          <a:xfrm>
            <a:off x="1892807" y="1110996"/>
            <a:ext cx="41148" cy="41148"/>
          </a:xfrm>
          <a:prstGeom prst="diamond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8" name="Google Shape;648;p20"/>
          <p:cNvSpPr/>
          <p:nvPr/>
        </p:nvSpPr>
        <p:spPr>
          <a:xfrm>
            <a:off x="413630" y="1627889"/>
            <a:ext cx="7209900" cy="3897300"/>
          </a:xfrm>
          <a:prstGeom prst="rect">
            <a:avLst/>
          </a:prstGeom>
          <a:solidFill>
            <a:srgbClr val="5F5131"/>
          </a:solidFill>
          <a:ln>
            <a:noFill/>
          </a:ln>
        </p:spPr>
        <p:txBody>
          <a:bodyPr anchorCtr="0" anchor="ctr" bIns="48700" lIns="97425" spcFirstLastPara="1" rIns="97425" wrap="square" tIns="48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918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9" name="Google Shape;649;p20"/>
          <p:cNvSpPr/>
          <p:nvPr/>
        </p:nvSpPr>
        <p:spPr>
          <a:xfrm>
            <a:off x="462347" y="1679924"/>
            <a:ext cx="7112400" cy="3799800"/>
          </a:xfrm>
          <a:prstGeom prst="rect">
            <a:avLst/>
          </a:prstGeom>
          <a:solidFill>
            <a:srgbClr val="F5F2EB"/>
          </a:solidFill>
          <a:ln cap="flat" cmpd="sng" w="16925">
            <a:solidFill>
              <a:srgbClr val="C89B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8700" lIns="97425" spcFirstLastPara="1" rIns="97425" wrap="square" tIns="48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918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fig5_gold_flow.png" id="650" name="Google Shape;650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9267" y="1878063"/>
            <a:ext cx="6878791" cy="3428899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20"/>
          <p:cNvSpPr txBox="1"/>
          <p:nvPr/>
        </p:nvSpPr>
        <p:spPr>
          <a:xfrm>
            <a:off x="777240" y="5671338"/>
            <a:ext cx="66750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85837A"/>
                </a:solidFill>
                <a:latin typeface="Malgun Gothic"/>
                <a:ea typeface="Malgun Gothic"/>
                <a:cs typeface="Malgun Gothic"/>
                <a:sym typeface="Malgun Gothic"/>
              </a:rPr>
              <a:t>킬 · 미니언 · 타워 → 전부 골드로 흘러 들어갑니다</a:t>
            </a:r>
            <a:endParaRPr/>
          </a:p>
        </p:txBody>
      </p:sp>
      <p:sp>
        <p:nvSpPr>
          <p:cNvPr id="652" name="Google Shape;652;p20"/>
          <p:cNvSpPr txBox="1"/>
          <p:nvPr/>
        </p:nvSpPr>
        <p:spPr>
          <a:xfrm>
            <a:off x="7692850" y="1648253"/>
            <a:ext cx="4331100" cy="200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◆  킬만 따로 보면 승패를 잘 가름</a:t>
            </a:r>
            <a:endParaRPr sz="1700"/>
          </a:p>
          <a:p>
            <a:pPr indent="0" lvl="0" marL="0" marR="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8E8B80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 </a:t>
            </a:r>
            <a:r>
              <a:rPr b="0" i="0" lang="en-US" sz="1350" u="none" cap="none" strike="noStrike">
                <a:solidFill>
                  <a:srgbClr val="8E8B80"/>
                </a:solidFill>
                <a:latin typeface="Malgun Gothic"/>
                <a:ea typeface="Malgun Gothic"/>
                <a:cs typeface="Malgun Gothic"/>
                <a:sym typeface="Malgun Gothic"/>
              </a:rPr>
              <a:t> 효과크기 1.09 로 13개 중 3위 · 승패와의 상관 +0.48</a:t>
            </a:r>
            <a:endParaRPr sz="1700"/>
          </a:p>
          <a:p>
            <a:pPr indent="0" lvl="0" marL="0" marR="0" rtl="0" algn="l">
              <a:lnSpc>
                <a:spcPct val="132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◆  그런데 골드를 아는 모델에게 </a:t>
            </a:r>
            <a:endParaRPr b="1" i="0" sz="1550" u="none" cap="none" strike="noStrike">
              <a:solidFill>
                <a:srgbClr val="F0E6D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32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1" lang="en-US" sz="1550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  </a:t>
            </a:r>
            <a:r>
              <a:rPr b="1" i="0" lang="en-US" sz="155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킬은 새 정보가 아님</a:t>
            </a:r>
            <a:endParaRPr sz="1700"/>
          </a:p>
          <a:p>
            <a:pPr indent="0" lvl="0" marL="0" marR="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8E8B80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 </a:t>
            </a:r>
            <a:r>
              <a:rPr b="0" i="0" lang="en-US" sz="1350" u="none" cap="none" strike="noStrike">
                <a:solidFill>
                  <a:srgbClr val="8E8B80"/>
                </a:solidFill>
                <a:latin typeface="Malgun Gothic"/>
                <a:ea typeface="Malgun Gothic"/>
                <a:cs typeface="Malgun Gothic"/>
                <a:sym typeface="Malgun Gothic"/>
              </a:rPr>
              <a:t>킬↔골드 상관 +0.92. 남은 몫의 부호가 </a:t>
            </a:r>
            <a:endParaRPr b="0" i="0" sz="1350" u="none" cap="none" strike="noStrike">
              <a:solidFill>
                <a:srgbClr val="8E8B8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8E8B80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 </a:t>
            </a:r>
            <a:r>
              <a:rPr b="0" i="0" lang="en-US" sz="1350" u="none" cap="none" strike="noStrike">
                <a:solidFill>
                  <a:srgbClr val="8E8B8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음수(−0.107)로 나옵니다</a:t>
            </a:r>
            <a:endParaRPr sz="1700"/>
          </a:p>
        </p:txBody>
      </p:sp>
      <p:sp>
        <p:nvSpPr>
          <p:cNvPr id="653" name="Google Shape;653;p20"/>
          <p:cNvSpPr/>
          <p:nvPr/>
        </p:nvSpPr>
        <p:spPr>
          <a:xfrm>
            <a:off x="7863850" y="3751225"/>
            <a:ext cx="3843300" cy="1773900"/>
          </a:xfrm>
          <a:prstGeom prst="rect">
            <a:avLst/>
          </a:prstGeom>
          <a:solidFill>
            <a:srgbClr val="2A333E">
              <a:alpha val="9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4" name="Google Shape;654;p20"/>
          <p:cNvSpPr/>
          <p:nvPr/>
        </p:nvSpPr>
        <p:spPr>
          <a:xfrm>
            <a:off x="7863850" y="3751225"/>
            <a:ext cx="49500" cy="177390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" name="Google Shape;655;p20"/>
          <p:cNvSpPr txBox="1"/>
          <p:nvPr/>
        </p:nvSpPr>
        <p:spPr>
          <a:xfrm>
            <a:off x="8101583" y="3808570"/>
            <a:ext cx="3090600" cy="16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정확한 해석 —</a:t>
            </a:r>
            <a:br>
              <a:rPr b="1" i="0" lang="en-US" sz="13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1" i="0" lang="en-US" sz="135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"킬은 돈으로 환산됐을 때만</a:t>
            </a:r>
            <a:br>
              <a:rPr b="1" i="0" lang="en-US" sz="13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1" i="0" lang="en-US" sz="135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의미가 있다"</a:t>
            </a:r>
            <a:br>
              <a:rPr b="1" i="0" lang="en-US" sz="13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br>
              <a:rPr b="1" i="0" lang="en-US" sz="13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1" i="0" lang="en-US" sz="135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복기할 때도 "싸움을 이겼나"가 아니라</a:t>
            </a:r>
            <a:br>
              <a:rPr b="1" i="0" lang="en-US" sz="13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1" i="0" lang="en-US" sz="135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"그 싸움이 돈 격차로 이어졌나"를</a:t>
            </a:r>
            <a:br>
              <a:rPr b="1" i="0" lang="en-US" sz="13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1" i="0" lang="en-US" sz="135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봐야 합니다.</a:t>
            </a:r>
            <a:endParaRPr sz="1500"/>
          </a:p>
        </p:txBody>
      </p:sp>
      <p:sp>
        <p:nvSpPr>
          <p:cNvPr id="656" name="Google Shape;656;p20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73726E"/>
                </a:solidFill>
                <a:latin typeface="Malgun Gothic"/>
                <a:ea typeface="Malgun Gothic"/>
                <a:cs typeface="Malgun Gothic"/>
                <a:sym typeface="Malgun Gothic"/>
              </a:rPr>
              <a:t>근거 · reports/figures/fig5_gold_flow.png · docs/data_analysis.md 3장    |    개념 → STUDY 10번 다중공선성</a:t>
            </a:r>
            <a:endParaRPr/>
          </a:p>
        </p:txBody>
      </p:sp>
      <p:sp>
        <p:nvSpPr>
          <p:cNvPr id="657" name="Google Shape;657;p20"/>
          <p:cNvSpPr txBox="1"/>
          <p:nvPr/>
        </p:nvSpPr>
        <p:spPr>
          <a:xfrm>
            <a:off x="10972800" y="6574536"/>
            <a:ext cx="868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950" u="none" cap="none" strike="noStrike">
                <a:solidFill>
                  <a:srgbClr val="73726E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950" u="none" cap="none" strike="noStrike">
              <a:solidFill>
                <a:srgbClr val="73726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2" name="Shape 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Google Shape;723;p22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>
            <a:gsLst>
              <a:gs pos="0">
                <a:srgbClr val="0A1428"/>
              </a:gs>
              <a:gs pos="100000">
                <a:srgbClr val="010A13"/>
              </a:gs>
            </a:gsLst>
            <a:lin ang="16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rift_scene.jpg" id="724" name="Google Shape;724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9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25" name="Google Shape;725;p22"/>
          <p:cNvSpPr/>
          <p:nvPr/>
        </p:nvSpPr>
        <p:spPr>
          <a:xfrm>
            <a:off x="39375" y="0"/>
            <a:ext cx="12192000" cy="6858000"/>
          </a:xfrm>
          <a:prstGeom prst="rect">
            <a:avLst/>
          </a:prstGeom>
          <a:solidFill>
            <a:srgbClr val="010A13">
              <a:alpha val="8784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" name="Google Shape;726;p22"/>
          <p:cNvSpPr/>
          <p:nvPr/>
        </p:nvSpPr>
        <p:spPr>
          <a:xfrm>
            <a:off x="0" y="0"/>
            <a:ext cx="12191969" cy="50292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" name="Google Shape;727;p22"/>
          <p:cNvSpPr/>
          <p:nvPr/>
        </p:nvSpPr>
        <p:spPr>
          <a:xfrm>
            <a:off x="0" y="6807708"/>
            <a:ext cx="12191969" cy="50292"/>
          </a:xfrm>
          <a:prstGeom prst="rect">
            <a:avLst/>
          </a:prstGeom>
          <a:solidFill>
            <a:srgbClr val="6E5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8" name="Google Shape;728;p22"/>
          <p:cNvSpPr/>
          <p:nvPr/>
        </p:nvSpPr>
        <p:spPr>
          <a:xfrm>
            <a:off x="274320" y="6569964"/>
            <a:ext cx="685800" cy="27432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9" name="Google Shape;729;p22"/>
          <p:cNvSpPr/>
          <p:nvPr/>
        </p:nvSpPr>
        <p:spPr>
          <a:xfrm>
            <a:off x="260603" y="5897880"/>
            <a:ext cx="27432" cy="685800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p22"/>
          <p:cNvSpPr/>
          <p:nvPr/>
        </p:nvSpPr>
        <p:spPr>
          <a:xfrm>
            <a:off x="11231849" y="6569964"/>
            <a:ext cx="685800" cy="27432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1" name="Google Shape;731;p22"/>
          <p:cNvSpPr/>
          <p:nvPr/>
        </p:nvSpPr>
        <p:spPr>
          <a:xfrm>
            <a:off x="11903933" y="5897880"/>
            <a:ext cx="27432" cy="685800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2" name="Google Shape;732;p22"/>
          <p:cNvSpPr txBox="1"/>
          <p:nvPr/>
        </p:nvSpPr>
        <p:spPr>
          <a:xfrm>
            <a:off x="777240" y="530352"/>
            <a:ext cx="10634472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3. Phase 2   |   </a:t>
            </a:r>
            <a:r>
              <a:rPr b="1" i="0" lang="en-US" sz="25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다중공선성 진단 — 중복의 중심</a:t>
            </a:r>
            <a:endParaRPr/>
          </a:p>
        </p:txBody>
      </p:sp>
      <p:sp>
        <p:nvSpPr>
          <p:cNvPr id="733" name="Google Shape;733;p22"/>
          <p:cNvSpPr/>
          <p:nvPr/>
        </p:nvSpPr>
        <p:spPr>
          <a:xfrm>
            <a:off x="795528" y="1115568"/>
            <a:ext cx="1051560" cy="3200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4" name="Google Shape;734;p22"/>
          <p:cNvSpPr/>
          <p:nvPr/>
        </p:nvSpPr>
        <p:spPr>
          <a:xfrm>
            <a:off x="1892807" y="1110996"/>
            <a:ext cx="41148" cy="41148"/>
          </a:xfrm>
          <a:prstGeom prst="diamond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5" name="Google Shape;735;p22"/>
          <p:cNvSpPr/>
          <p:nvPr/>
        </p:nvSpPr>
        <p:spPr>
          <a:xfrm>
            <a:off x="1259288" y="1303025"/>
            <a:ext cx="4806900" cy="4363200"/>
          </a:xfrm>
          <a:prstGeom prst="rect">
            <a:avLst/>
          </a:prstGeom>
          <a:solidFill>
            <a:srgbClr val="5F5131"/>
          </a:solidFill>
          <a:ln>
            <a:noFill/>
          </a:ln>
        </p:spPr>
        <p:txBody>
          <a:bodyPr anchorCtr="0" anchor="ctr" bIns="47675" lIns="95350" spcFirstLastPara="1" rIns="95350" wrap="square" tIns="476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77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" name="Google Shape;736;p22"/>
          <p:cNvSpPr/>
          <p:nvPr/>
        </p:nvSpPr>
        <p:spPr>
          <a:xfrm>
            <a:off x="1259288" y="1344760"/>
            <a:ext cx="4778100" cy="4273800"/>
          </a:xfrm>
          <a:prstGeom prst="rect">
            <a:avLst/>
          </a:prstGeom>
          <a:solidFill>
            <a:srgbClr val="F5F2EB"/>
          </a:solidFill>
          <a:ln cap="flat" cmpd="sng" w="16550">
            <a:solidFill>
              <a:srgbClr val="C89B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7675" lIns="95350" spcFirstLastPara="1" rIns="95350" wrap="square" tIns="476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77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7" name="Google Shape;737;p22"/>
          <p:cNvSpPr txBox="1"/>
          <p:nvPr/>
        </p:nvSpPr>
        <p:spPr>
          <a:xfrm>
            <a:off x="1261088" y="5746447"/>
            <a:ext cx="4572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85837A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지표끼리 얼마나 겹치는가 — 진한 블록이 성장 지표 6개 (상관 0.9)</a:t>
            </a:r>
            <a:endParaRPr/>
          </a:p>
        </p:txBody>
      </p:sp>
      <p:graphicFrame>
        <p:nvGraphicFramePr>
          <p:cNvPr id="738" name="Google Shape;738;p22"/>
          <p:cNvGraphicFramePr/>
          <p:nvPr/>
        </p:nvGraphicFramePr>
        <p:xfrm>
          <a:off x="6731967" y="1263917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{46956E51-EF99-4CE0-B1A4-93B49CD02E09}</a:tableStyleId>
              </a:tblPr>
              <a:tblGrid>
                <a:gridCol w="2846500"/>
                <a:gridCol w="1366325"/>
              </a:tblGrid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상관 0.7 이상 (8쌍 중 4)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3C3F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상관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3C3F3E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ExpDiff ↔ AvgLevelDiff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+0.920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KillsDiff ↔ GoldDiff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+0.918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GoldDiff ↔ ExpDiff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+0.896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GoldDiff ↔ AvgLevelDiff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+0.834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39" name="Google Shape;739;p22"/>
          <p:cNvGraphicFramePr/>
          <p:nvPr/>
        </p:nvGraphicFramePr>
        <p:xfrm>
          <a:off x="6731967" y="314312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{46956E51-EF99-4CE0-B1A4-93B49CD02E09}</a:tableStyleId>
              </a:tblPr>
              <a:tblGrid>
                <a:gridCol w="2846500"/>
                <a:gridCol w="1366325"/>
              </a:tblGrid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VIF &gt; 10 = 중복 의심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3C3F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VIF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3C3F3E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GoldDiff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23.37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KillsDiff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14.07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ExpDiff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12.92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</a:tr>
            </a:tbl>
          </a:graphicData>
        </a:graphic>
      </p:graphicFrame>
      <p:sp>
        <p:nvSpPr>
          <p:cNvPr id="740" name="Google Shape;740;p22"/>
          <p:cNvSpPr/>
          <p:nvPr/>
        </p:nvSpPr>
        <p:spPr>
          <a:xfrm>
            <a:off x="6731900" y="4662875"/>
            <a:ext cx="4212900" cy="1338600"/>
          </a:xfrm>
          <a:prstGeom prst="rect">
            <a:avLst/>
          </a:prstGeom>
          <a:solidFill>
            <a:srgbClr val="2A333E">
              <a:alpha val="9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" name="Google Shape;741;p22"/>
          <p:cNvSpPr/>
          <p:nvPr/>
        </p:nvSpPr>
        <p:spPr>
          <a:xfrm>
            <a:off x="6717952" y="4677416"/>
            <a:ext cx="45600" cy="1338600"/>
          </a:xfrm>
          <a:prstGeom prst="rect">
            <a:avLst/>
          </a:prstGeom>
          <a:solidFill>
            <a:srgbClr val="BE1E3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p22"/>
          <p:cNvSpPr txBox="1"/>
          <p:nvPr/>
        </p:nvSpPr>
        <p:spPr>
          <a:xfrm>
            <a:off x="6830496" y="4888628"/>
            <a:ext cx="4015800" cy="91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성장 지표끼리 상관 0.9 —한 몸처럼 움직입니다.</a:t>
            </a:r>
            <a:endParaRPr b="1" i="0" sz="1200" u="none" cap="none" strike="noStrike">
              <a:solidFill>
                <a:srgbClr val="F0E6D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(골드·경험치·킬)</a:t>
            </a:r>
            <a:endParaRPr b="1" sz="1200">
              <a:solidFill>
                <a:srgbClr val="F0E6D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승패와 관련 있는 5개</a:t>
            </a:r>
            <a:r>
              <a:rPr b="1" lang="en-US" sz="1200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1" i="0" lang="en-US" sz="12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(킬·어시·미니언·타워·정글 몹)의</a:t>
            </a:r>
            <a:endParaRPr b="1" sz="1200">
              <a:solidFill>
                <a:srgbClr val="F0E6D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1" i="0" lang="en-US" sz="12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가중치가</a:t>
            </a:r>
            <a:r>
              <a:rPr b="1" lang="en-US" sz="1200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1" i="0" lang="en-US" sz="12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음수로 눌렸습니다.</a:t>
            </a:r>
            <a:endParaRPr sz="1500"/>
          </a:p>
        </p:txBody>
      </p:sp>
      <p:sp>
        <p:nvSpPr>
          <p:cNvPr id="743" name="Google Shape;743;p22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73726E"/>
                </a:solidFill>
                <a:latin typeface="Malgun Gothic"/>
                <a:ea typeface="Malgun Gothic"/>
                <a:cs typeface="Malgun Gothic"/>
                <a:sym typeface="Malgun Gothic"/>
              </a:rPr>
              <a:t>근거 · reports/phase2_feature_reduction.md    |    골드는 킬·미니언·타워의 보상을 한 번에 담는 지표입니다</a:t>
            </a:r>
            <a:endParaRPr/>
          </a:p>
        </p:txBody>
      </p:sp>
      <p:sp>
        <p:nvSpPr>
          <p:cNvPr id="744" name="Google Shape;744;p22"/>
          <p:cNvSpPr txBox="1"/>
          <p:nvPr/>
        </p:nvSpPr>
        <p:spPr>
          <a:xfrm>
            <a:off x="10972800" y="6574536"/>
            <a:ext cx="868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950" u="none" cap="none" strike="noStrike">
                <a:solidFill>
                  <a:srgbClr val="73726E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950" u="none" cap="none" strike="noStrike">
              <a:solidFill>
                <a:srgbClr val="73726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descr="eda3_correlation.png" id="745" name="Google Shape;745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59288" y="1374552"/>
            <a:ext cx="4740852" cy="41831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0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p23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>
            <a:gsLst>
              <a:gs pos="0">
                <a:srgbClr val="0A1428"/>
              </a:gs>
              <a:gs pos="100000">
                <a:srgbClr val="010A13"/>
              </a:gs>
            </a:gsLst>
            <a:lin ang="16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rift_scene.jpg" id="752" name="Google Shape;752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9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53" name="Google Shape;753;p23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10A13">
              <a:alpha val="8784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4" name="Google Shape;754;p23"/>
          <p:cNvSpPr/>
          <p:nvPr/>
        </p:nvSpPr>
        <p:spPr>
          <a:xfrm>
            <a:off x="0" y="0"/>
            <a:ext cx="12191969" cy="50292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5" name="Google Shape;755;p23"/>
          <p:cNvSpPr/>
          <p:nvPr/>
        </p:nvSpPr>
        <p:spPr>
          <a:xfrm>
            <a:off x="0" y="6807708"/>
            <a:ext cx="12191969" cy="50292"/>
          </a:xfrm>
          <a:prstGeom prst="rect">
            <a:avLst/>
          </a:prstGeom>
          <a:solidFill>
            <a:srgbClr val="6E5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6" name="Google Shape;756;p23"/>
          <p:cNvSpPr/>
          <p:nvPr/>
        </p:nvSpPr>
        <p:spPr>
          <a:xfrm>
            <a:off x="274320" y="6569964"/>
            <a:ext cx="685800" cy="27432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7" name="Google Shape;757;p23"/>
          <p:cNvSpPr/>
          <p:nvPr/>
        </p:nvSpPr>
        <p:spPr>
          <a:xfrm>
            <a:off x="260603" y="5897880"/>
            <a:ext cx="27432" cy="685800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8" name="Google Shape;758;p23"/>
          <p:cNvSpPr/>
          <p:nvPr/>
        </p:nvSpPr>
        <p:spPr>
          <a:xfrm>
            <a:off x="11231849" y="6569964"/>
            <a:ext cx="685800" cy="27432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9" name="Google Shape;759;p23"/>
          <p:cNvSpPr/>
          <p:nvPr/>
        </p:nvSpPr>
        <p:spPr>
          <a:xfrm>
            <a:off x="11903933" y="5897880"/>
            <a:ext cx="27432" cy="685800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0" name="Google Shape;760;p23"/>
          <p:cNvSpPr txBox="1"/>
          <p:nvPr/>
        </p:nvSpPr>
        <p:spPr>
          <a:xfrm>
            <a:off x="777240" y="530352"/>
            <a:ext cx="10634472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3. Phase 2   |   </a:t>
            </a:r>
            <a:r>
              <a:rPr b="1" i="0" lang="en-US" sz="25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골드 제외 재학습 — 계수 변화</a:t>
            </a:r>
            <a:endParaRPr/>
          </a:p>
        </p:txBody>
      </p:sp>
      <p:sp>
        <p:nvSpPr>
          <p:cNvPr id="761" name="Google Shape;761;p23"/>
          <p:cNvSpPr/>
          <p:nvPr/>
        </p:nvSpPr>
        <p:spPr>
          <a:xfrm>
            <a:off x="795528" y="1115568"/>
            <a:ext cx="1051560" cy="3200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" name="Google Shape;762;p23"/>
          <p:cNvSpPr/>
          <p:nvPr/>
        </p:nvSpPr>
        <p:spPr>
          <a:xfrm>
            <a:off x="1892807" y="1110996"/>
            <a:ext cx="41148" cy="41148"/>
          </a:xfrm>
          <a:prstGeom prst="diamond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" name="Google Shape;763;p23"/>
          <p:cNvSpPr/>
          <p:nvPr/>
        </p:nvSpPr>
        <p:spPr>
          <a:xfrm>
            <a:off x="731519" y="1280160"/>
            <a:ext cx="6675120" cy="2788920"/>
          </a:xfrm>
          <a:prstGeom prst="rect">
            <a:avLst/>
          </a:prstGeom>
          <a:solidFill>
            <a:srgbClr val="5F513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4" name="Google Shape;764;p23"/>
          <p:cNvSpPr/>
          <p:nvPr/>
        </p:nvSpPr>
        <p:spPr>
          <a:xfrm>
            <a:off x="777240" y="1328995"/>
            <a:ext cx="6583680" cy="2697480"/>
          </a:xfrm>
          <a:prstGeom prst="rect">
            <a:avLst/>
          </a:prstGeom>
          <a:solidFill>
            <a:srgbClr val="F5F2EB"/>
          </a:solidFill>
          <a:ln cap="flat" cmpd="sng" w="15875">
            <a:solidFill>
              <a:srgbClr val="C89B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07_phase2_without_gold.png" id="765" name="Google Shape;765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95525" y="1345525"/>
            <a:ext cx="6565402" cy="2686881"/>
          </a:xfrm>
          <a:prstGeom prst="rect">
            <a:avLst/>
          </a:prstGeom>
          <a:noFill/>
          <a:ln>
            <a:noFill/>
          </a:ln>
        </p:spPr>
      </p:pic>
      <p:sp>
        <p:nvSpPr>
          <p:cNvPr id="766" name="Google Shape;766;p23"/>
          <p:cNvSpPr txBox="1"/>
          <p:nvPr/>
        </p:nvSpPr>
        <p:spPr>
          <a:xfrm>
            <a:off x="777165" y="4238317"/>
            <a:ext cx="6583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85837A"/>
                </a:solidFill>
                <a:latin typeface="Malgun Gothic"/>
                <a:ea typeface="Malgun Gothic"/>
                <a:cs typeface="Malgun Gothic"/>
                <a:sym typeface="Malgun Gothic"/>
              </a:rPr>
              <a:t>왼쪽: 계수가 어떻게 바뀌었나  ·  오른쪽: 그 대가로 점수를 얼마나 잃었나</a:t>
            </a:r>
            <a:endParaRPr sz="1600"/>
          </a:p>
        </p:txBody>
      </p:sp>
      <p:graphicFrame>
        <p:nvGraphicFramePr>
          <p:cNvPr id="767" name="Google Shape;767;p23"/>
          <p:cNvGraphicFramePr/>
          <p:nvPr/>
        </p:nvGraphicFramePr>
        <p:xfrm>
          <a:off x="7589520" y="129922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{46956E51-EF99-4CE0-B1A4-93B49CD02E09}</a:tableStyleId>
              </a:tblPr>
              <a:tblGrid>
                <a:gridCol w="1820150"/>
                <a:gridCol w="1001075"/>
                <a:gridCol w="1001075"/>
              </a:tblGrid>
              <a:tr h="4162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지표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3C3F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골드 포함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3C3F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골드 제외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3C3F3E"/>
                    </a:solidFill>
                  </a:tcPr>
                </a:tc>
              </a:tr>
              <a:tr h="395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킬 차이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2D35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−0.107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2D35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+0.508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2D353E"/>
                    </a:solidFill>
                  </a:tcPr>
                </a:tc>
              </a:tr>
              <a:tr h="395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미니언 차이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−0.157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+0.114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</a:tr>
              <a:tr h="395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어시스트 차이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−0.079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+0.096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</a:tr>
              <a:tr h="395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타워 차이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−0.064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+0.114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</a:tr>
              <a:tr h="395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정글 몹 차이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−0.000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+0.107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</a:tr>
              <a:tr h="395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(참고) 경험치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+0.461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+0.650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</a:tr>
            </a:tbl>
          </a:graphicData>
        </a:graphic>
      </p:graphicFrame>
      <p:grpSp>
        <p:nvGrpSpPr>
          <p:cNvPr id="768" name="Google Shape;768;p23"/>
          <p:cNvGrpSpPr/>
          <p:nvPr/>
        </p:nvGrpSpPr>
        <p:grpSpPr>
          <a:xfrm>
            <a:off x="7589525" y="4466037"/>
            <a:ext cx="3822300" cy="1600500"/>
            <a:chOff x="7589525" y="4466037"/>
            <a:chExt cx="3822300" cy="1600500"/>
          </a:xfrm>
        </p:grpSpPr>
        <p:sp>
          <p:nvSpPr>
            <p:cNvPr id="769" name="Google Shape;769;p23"/>
            <p:cNvSpPr/>
            <p:nvPr/>
          </p:nvSpPr>
          <p:spPr>
            <a:xfrm>
              <a:off x="7589525" y="4466037"/>
              <a:ext cx="3822300" cy="1600500"/>
            </a:xfrm>
            <a:prstGeom prst="rect">
              <a:avLst/>
            </a:prstGeom>
            <a:solidFill>
              <a:srgbClr val="2A333E">
                <a:alpha val="90196"/>
              </a:srgbClr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0" name="Google Shape;770;p23"/>
            <p:cNvSpPr/>
            <p:nvPr/>
          </p:nvSpPr>
          <p:spPr>
            <a:xfrm>
              <a:off x="7589525" y="4466037"/>
              <a:ext cx="45600" cy="1600500"/>
            </a:xfrm>
            <a:prstGeom prst="rect">
              <a:avLst/>
            </a:prstGeom>
            <a:solidFill>
              <a:srgbClr val="C89B3C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71" name="Google Shape;771;p23"/>
          <p:cNvSpPr txBox="1"/>
          <p:nvPr/>
        </p:nvSpPr>
        <p:spPr>
          <a:xfrm>
            <a:off x="7827264" y="4632537"/>
            <a:ext cx="3365100" cy="12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음수로 눌려 있던 5개가</a:t>
            </a:r>
            <a:br>
              <a:rPr b="1" i="0" lang="en-US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1" i="0" lang="en-US" sz="145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전부 양수로 올라왔습니다.</a:t>
            </a:r>
            <a:br>
              <a:rPr b="1" i="0" lang="en-US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br>
              <a:rPr b="1" i="0" lang="en-US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1" i="0" lang="en-US" sz="145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킬은 방향이 바뀌면서</a:t>
            </a:r>
            <a:br>
              <a:rPr b="1" i="0" lang="en-US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1" i="0" lang="en-US" sz="145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크기도 5배가 됐습니다.</a:t>
            </a:r>
            <a:endParaRPr sz="1600"/>
          </a:p>
        </p:txBody>
      </p:sp>
      <p:sp>
        <p:nvSpPr>
          <p:cNvPr id="772" name="Google Shape;772;p23"/>
          <p:cNvSpPr txBox="1"/>
          <p:nvPr/>
        </p:nvSpPr>
        <p:spPr>
          <a:xfrm>
            <a:off x="585251" y="4943788"/>
            <a:ext cx="7050000" cy="103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◆  킬이 승패와 무관했던 것이 아니라, 골드가 킬의 몫까지 흡수</a:t>
            </a:r>
            <a:endParaRPr sz="1800"/>
          </a:p>
          <a:p>
            <a:pPr indent="0" lvl="0" marL="0" marR="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450" u="none" cap="none" strike="noStrike">
                <a:solidFill>
                  <a:srgbClr val="8E8B80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 </a:t>
            </a:r>
            <a:r>
              <a:rPr b="0" i="0" lang="en-US" sz="1550" u="none" cap="none" strike="noStrike">
                <a:solidFill>
                  <a:srgbClr val="8E8B80"/>
                </a:solidFill>
                <a:latin typeface="Malgun Gothic"/>
                <a:ea typeface="Malgun Gothic"/>
                <a:cs typeface="Malgun Gothic"/>
                <a:sym typeface="Malgun Gothic"/>
              </a:rPr>
              <a:t> 정글 몹은 원래 −0.000(사실상 0)이었는데 +0.107 이 됐다 </a:t>
            </a:r>
            <a:endParaRPr b="0" i="0" sz="1550" u="none" cap="none" strike="noStrike">
              <a:solidFill>
                <a:srgbClr val="8E8B8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457200" lvl="0" marL="0" marR="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rgbClr val="8E8B80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</a:t>
            </a:r>
            <a:r>
              <a:rPr b="0" i="0" lang="en-US" sz="1550" u="none" cap="none" strike="noStrike">
                <a:solidFill>
                  <a:srgbClr val="8E8B80"/>
                </a:solidFill>
                <a:latin typeface="Malgun Gothic"/>
                <a:ea typeface="Malgun Gothic"/>
                <a:cs typeface="Malgun Gothic"/>
                <a:sym typeface="Malgun Gothic"/>
              </a:rPr>
              <a:t>골드에 가려</a:t>
            </a:r>
            <a:r>
              <a:rPr lang="en-US" sz="1550">
                <a:solidFill>
                  <a:srgbClr val="8E8B80"/>
                </a:solidFill>
                <a:latin typeface="Malgun Gothic"/>
                <a:ea typeface="Malgun Gothic"/>
                <a:cs typeface="Malgun Gothic"/>
                <a:sym typeface="Malgun Gothic"/>
              </a:rPr>
              <a:t>진</a:t>
            </a:r>
            <a:r>
              <a:rPr b="0" i="0" lang="en-US" sz="1550" u="none" cap="none" strike="noStrike">
                <a:solidFill>
                  <a:srgbClr val="8E8B80"/>
                </a:solidFill>
                <a:latin typeface="Malgun Gothic"/>
                <a:ea typeface="Malgun Gothic"/>
                <a:cs typeface="Malgun Gothic"/>
                <a:sym typeface="Malgun Gothic"/>
              </a:rPr>
              <a:t> 지표 </a:t>
            </a:r>
            <a:r>
              <a:rPr lang="en-US" sz="1550">
                <a:solidFill>
                  <a:srgbClr val="8E8B80"/>
                </a:solidFill>
                <a:latin typeface="Malgun Gothic"/>
                <a:ea typeface="Malgun Gothic"/>
                <a:cs typeface="Malgun Gothic"/>
                <a:sym typeface="Malgun Gothic"/>
              </a:rPr>
              <a:t>발견</a:t>
            </a:r>
            <a:endParaRPr sz="1900"/>
          </a:p>
        </p:txBody>
      </p:sp>
      <p:sp>
        <p:nvSpPr>
          <p:cNvPr id="773" name="Google Shape;773;p23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73726E"/>
                </a:solidFill>
                <a:latin typeface="Malgun Gothic"/>
                <a:ea typeface="Malgun Gothic"/>
                <a:cs typeface="Malgun Gothic"/>
                <a:sym typeface="Malgun Gothic"/>
              </a:rPr>
              <a:t>근거 · reports/tables/phase2_coef_shift.csv</a:t>
            </a:r>
            <a:endParaRPr/>
          </a:p>
        </p:txBody>
      </p:sp>
      <p:sp>
        <p:nvSpPr>
          <p:cNvPr id="774" name="Google Shape;774;p23"/>
          <p:cNvSpPr txBox="1"/>
          <p:nvPr/>
        </p:nvSpPr>
        <p:spPr>
          <a:xfrm>
            <a:off x="10972800" y="6574536"/>
            <a:ext cx="868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950" u="none" cap="none" strike="noStrike">
                <a:solidFill>
                  <a:srgbClr val="73726E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950" u="none" cap="none" strike="noStrike">
              <a:solidFill>
                <a:srgbClr val="73726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24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>
            <a:gsLst>
              <a:gs pos="0">
                <a:srgbClr val="0A1428"/>
              </a:gs>
              <a:gs pos="100000">
                <a:srgbClr val="010A13"/>
              </a:gs>
            </a:gsLst>
            <a:lin ang="16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rift_scene.jpg" id="781" name="Google Shape;781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9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82" name="Google Shape;782;p24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10A13">
              <a:alpha val="8784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3" name="Google Shape;783;p24"/>
          <p:cNvSpPr/>
          <p:nvPr/>
        </p:nvSpPr>
        <p:spPr>
          <a:xfrm>
            <a:off x="0" y="0"/>
            <a:ext cx="12191969" cy="50292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4" name="Google Shape;784;p24"/>
          <p:cNvSpPr/>
          <p:nvPr/>
        </p:nvSpPr>
        <p:spPr>
          <a:xfrm>
            <a:off x="0" y="6807708"/>
            <a:ext cx="12191969" cy="50292"/>
          </a:xfrm>
          <a:prstGeom prst="rect">
            <a:avLst/>
          </a:prstGeom>
          <a:solidFill>
            <a:srgbClr val="6E5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5" name="Google Shape;785;p24"/>
          <p:cNvSpPr/>
          <p:nvPr/>
        </p:nvSpPr>
        <p:spPr>
          <a:xfrm>
            <a:off x="274320" y="6569964"/>
            <a:ext cx="685800" cy="27432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6" name="Google Shape;786;p24"/>
          <p:cNvSpPr/>
          <p:nvPr/>
        </p:nvSpPr>
        <p:spPr>
          <a:xfrm>
            <a:off x="260603" y="5897880"/>
            <a:ext cx="27432" cy="685800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7" name="Google Shape;787;p24"/>
          <p:cNvSpPr/>
          <p:nvPr/>
        </p:nvSpPr>
        <p:spPr>
          <a:xfrm>
            <a:off x="11231849" y="6569964"/>
            <a:ext cx="685800" cy="27432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8" name="Google Shape;788;p24"/>
          <p:cNvSpPr/>
          <p:nvPr/>
        </p:nvSpPr>
        <p:spPr>
          <a:xfrm>
            <a:off x="11903933" y="5897880"/>
            <a:ext cx="27432" cy="685800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9" name="Google Shape;789;p24"/>
          <p:cNvSpPr txBox="1"/>
          <p:nvPr/>
        </p:nvSpPr>
        <p:spPr>
          <a:xfrm>
            <a:off x="777240" y="530352"/>
            <a:ext cx="10634472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3. Phase 2   |   </a:t>
            </a:r>
            <a:r>
              <a:rPr b="1" i="0" lang="en-US" sz="25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골드 제외의 대가 — 정확도 0.002 하락</a:t>
            </a:r>
            <a:endParaRPr/>
          </a:p>
        </p:txBody>
      </p:sp>
      <p:sp>
        <p:nvSpPr>
          <p:cNvPr id="790" name="Google Shape;790;p24"/>
          <p:cNvSpPr/>
          <p:nvPr/>
        </p:nvSpPr>
        <p:spPr>
          <a:xfrm>
            <a:off x="795528" y="1115568"/>
            <a:ext cx="1051560" cy="3200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1" name="Google Shape;791;p24"/>
          <p:cNvSpPr/>
          <p:nvPr/>
        </p:nvSpPr>
        <p:spPr>
          <a:xfrm>
            <a:off x="1892807" y="1110996"/>
            <a:ext cx="41148" cy="41148"/>
          </a:xfrm>
          <a:prstGeom prst="diamond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792" name="Google Shape;792;p24"/>
          <p:cNvGraphicFramePr/>
          <p:nvPr/>
        </p:nvGraphicFramePr>
        <p:xfrm>
          <a:off x="777240" y="136520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{46956E51-EF99-4CE0-B1A4-93B49CD02E09}</a:tableStyleId>
              </a:tblPr>
              <a:tblGrid>
                <a:gridCol w="2750300"/>
                <a:gridCol w="1100125"/>
                <a:gridCol w="1558500"/>
                <a:gridCol w="1558500"/>
                <a:gridCol w="3667050"/>
              </a:tblGrid>
              <a:tr h="438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구성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3C3F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지표 수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3C3F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교차검증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3C3F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홀드아웃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3C3F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1위 요인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3C3F3E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전체 13개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13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0.7315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0.7394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GoldDiff +1.23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골드 제외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2D35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12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2D35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0.7214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2D35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0.7373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2D35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ExpDiff +0.65 · KillsDiff +0.51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2D353E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골드 + 경험치 제외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11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0.7197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0.7328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KillsDiff +0.79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성장 지표 전부 제외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2D35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7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2D35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0.6409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2D35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0.6336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2D35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DragonsDiff +0.37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2D353E"/>
                    </a:solidFill>
                  </a:tcPr>
                </a:tc>
              </a:tr>
            </a:tbl>
          </a:graphicData>
        </a:graphic>
      </p:graphicFrame>
      <p:sp>
        <p:nvSpPr>
          <p:cNvPr id="793" name="Google Shape;793;p24"/>
          <p:cNvSpPr txBox="1"/>
          <p:nvPr/>
        </p:nvSpPr>
        <p:spPr>
          <a:xfrm>
            <a:off x="777240" y="3897646"/>
            <a:ext cx="10607100" cy="152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◆  골드가 특별해서 1위였던 것이 아님</a:t>
            </a:r>
            <a:endParaRPr sz="1700"/>
          </a:p>
          <a:p>
            <a:pPr indent="0" lvl="0" marL="0" marR="0" rtl="0" algn="l"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8E8B8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0" i="0" lang="en-US" u="none" cap="none" strike="noStrike">
                <a:solidFill>
                  <a:srgbClr val="8E8B80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 </a:t>
            </a:r>
            <a:r>
              <a:rPr b="0" i="0" lang="en-US" sz="1500" u="none" cap="none" strike="noStrike">
                <a:solidFill>
                  <a:srgbClr val="8E8B80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다른 지표들이 이미 같은 정보를 담고 있어서, 골드가 없어도 경험치와 킬이 그 자리를 대신 채웁니다</a:t>
            </a:r>
            <a:endParaRPr sz="1700"/>
          </a:p>
          <a:p>
            <a:pPr indent="0" lvl="0" marL="0" marR="0" rtl="0" algn="l">
              <a:lnSpc>
                <a:spcPct val="13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◆  어디까지가 진짜 한계인지도 확인</a:t>
            </a:r>
            <a:endParaRPr sz="1700"/>
          </a:p>
          <a:p>
            <a:pPr indent="0" lvl="0" marL="0" marR="0" rtl="0" algn="l"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8E8B80"/>
                </a:solidFill>
                <a:latin typeface="Malgun Gothic"/>
                <a:ea typeface="Malgun Gothic"/>
                <a:cs typeface="Malgun Gothic"/>
                <a:sym typeface="Malgun Gothic"/>
              </a:rPr>
              <a:t>  </a:t>
            </a:r>
            <a:r>
              <a:rPr b="0" i="0" lang="en-US" sz="1500" u="none" cap="none" strike="noStrike">
                <a:solidFill>
                  <a:srgbClr val="8E8B80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성장 지표를 전부 빼면 0.6336 으로 확 떨어집니다 — 드래곤·전령·와드만으로는 안 됩니다</a:t>
            </a:r>
            <a:endParaRPr sz="1700"/>
          </a:p>
        </p:txBody>
      </p:sp>
      <p:sp>
        <p:nvSpPr>
          <p:cNvPr id="794" name="Google Shape;794;p24"/>
          <p:cNvSpPr/>
          <p:nvPr/>
        </p:nvSpPr>
        <p:spPr>
          <a:xfrm>
            <a:off x="777240" y="5584362"/>
            <a:ext cx="10634400" cy="548700"/>
          </a:xfrm>
          <a:prstGeom prst="rect">
            <a:avLst/>
          </a:prstGeom>
          <a:solidFill>
            <a:srgbClr val="2A333E">
              <a:alpha val="9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5" name="Google Shape;795;p24"/>
          <p:cNvSpPr/>
          <p:nvPr/>
        </p:nvSpPr>
        <p:spPr>
          <a:xfrm>
            <a:off x="777240" y="5584362"/>
            <a:ext cx="45600" cy="54870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6" name="Google Shape;796;p24"/>
          <p:cNvSpPr txBox="1"/>
          <p:nvPr/>
        </p:nvSpPr>
        <p:spPr>
          <a:xfrm>
            <a:off x="1007383" y="5730487"/>
            <a:ext cx="101772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"10분 승패는 결국 성장 격차가 가른다"는 Phase 1의 결론이, 지표를 빼는 반대 방향에서도 확인됐습니다.</a:t>
            </a:r>
            <a:endParaRPr sz="1700"/>
          </a:p>
        </p:txBody>
      </p:sp>
      <p:sp>
        <p:nvSpPr>
          <p:cNvPr id="797" name="Google Shape;797;p24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73726E"/>
                </a:solidFill>
                <a:latin typeface="Malgun Gothic"/>
                <a:ea typeface="Malgun Gothic"/>
                <a:cs typeface="Malgun Gothic"/>
                <a:sym typeface="Malgun Gothic"/>
              </a:rPr>
              <a:t>근거 · reports/tables/phase2_without_gold.csv</a:t>
            </a:r>
            <a:endParaRPr/>
          </a:p>
        </p:txBody>
      </p:sp>
      <p:sp>
        <p:nvSpPr>
          <p:cNvPr id="798" name="Google Shape;798;p24"/>
          <p:cNvSpPr txBox="1"/>
          <p:nvPr/>
        </p:nvSpPr>
        <p:spPr>
          <a:xfrm>
            <a:off x="10972800" y="6574536"/>
            <a:ext cx="868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950" u="none" cap="none" strike="noStrike">
                <a:solidFill>
                  <a:srgbClr val="73726E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950" u="none" cap="none" strike="noStrike">
              <a:solidFill>
                <a:srgbClr val="73726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7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p30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>
            <a:gsLst>
              <a:gs pos="0">
                <a:srgbClr val="0A1428"/>
              </a:gs>
              <a:gs pos="100000">
                <a:srgbClr val="010A13"/>
              </a:gs>
            </a:gsLst>
            <a:lin ang="16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rift_scene.jpg" id="929" name="Google Shape;929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9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30" name="Google Shape;930;p30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10A13">
              <a:alpha val="8784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1" name="Google Shape;931;p30"/>
          <p:cNvSpPr/>
          <p:nvPr/>
        </p:nvSpPr>
        <p:spPr>
          <a:xfrm>
            <a:off x="0" y="0"/>
            <a:ext cx="12191969" cy="50292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2" name="Google Shape;932;p30"/>
          <p:cNvSpPr/>
          <p:nvPr/>
        </p:nvSpPr>
        <p:spPr>
          <a:xfrm>
            <a:off x="0" y="6807708"/>
            <a:ext cx="12191969" cy="50292"/>
          </a:xfrm>
          <a:prstGeom prst="rect">
            <a:avLst/>
          </a:prstGeom>
          <a:solidFill>
            <a:srgbClr val="6E5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3" name="Google Shape;933;p30"/>
          <p:cNvSpPr/>
          <p:nvPr/>
        </p:nvSpPr>
        <p:spPr>
          <a:xfrm>
            <a:off x="274320" y="6569964"/>
            <a:ext cx="685800" cy="27432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4" name="Google Shape;934;p30"/>
          <p:cNvSpPr/>
          <p:nvPr/>
        </p:nvSpPr>
        <p:spPr>
          <a:xfrm>
            <a:off x="260603" y="5897880"/>
            <a:ext cx="27432" cy="685800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5" name="Google Shape;935;p30"/>
          <p:cNvSpPr/>
          <p:nvPr/>
        </p:nvSpPr>
        <p:spPr>
          <a:xfrm>
            <a:off x="11231849" y="6569964"/>
            <a:ext cx="685800" cy="27432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6" name="Google Shape;936;p30"/>
          <p:cNvSpPr/>
          <p:nvPr/>
        </p:nvSpPr>
        <p:spPr>
          <a:xfrm>
            <a:off x="11903933" y="5897880"/>
            <a:ext cx="27432" cy="685800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7" name="Google Shape;937;p30"/>
          <p:cNvSpPr txBox="1"/>
          <p:nvPr/>
        </p:nvSpPr>
        <p:spPr>
          <a:xfrm>
            <a:off x="777240" y="530352"/>
            <a:ext cx="10634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4. Phase 3   |   </a:t>
            </a:r>
            <a:r>
              <a:rPr b="1" i="0" lang="en-US" sz="25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시점 비교 결과 — +5.25%p </a:t>
            </a:r>
            <a:r>
              <a:rPr b="1" lang="en-US" sz="2500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더 정확</a:t>
            </a:r>
            <a:endParaRPr/>
          </a:p>
        </p:txBody>
      </p:sp>
      <p:sp>
        <p:nvSpPr>
          <p:cNvPr id="938" name="Google Shape;938;p30"/>
          <p:cNvSpPr/>
          <p:nvPr/>
        </p:nvSpPr>
        <p:spPr>
          <a:xfrm>
            <a:off x="795528" y="1115568"/>
            <a:ext cx="1051560" cy="3200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9" name="Google Shape;939;p30"/>
          <p:cNvSpPr/>
          <p:nvPr/>
        </p:nvSpPr>
        <p:spPr>
          <a:xfrm>
            <a:off x="1892807" y="1110996"/>
            <a:ext cx="41148" cy="41148"/>
          </a:xfrm>
          <a:prstGeom prst="diamond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0" name="Google Shape;940;p30"/>
          <p:cNvSpPr/>
          <p:nvPr/>
        </p:nvSpPr>
        <p:spPr>
          <a:xfrm>
            <a:off x="731519" y="1438910"/>
            <a:ext cx="6949500" cy="2743200"/>
          </a:xfrm>
          <a:prstGeom prst="rect">
            <a:avLst/>
          </a:prstGeom>
          <a:solidFill>
            <a:srgbClr val="5F513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1" name="Google Shape;941;p30"/>
          <p:cNvSpPr/>
          <p:nvPr/>
        </p:nvSpPr>
        <p:spPr>
          <a:xfrm>
            <a:off x="777240" y="1487745"/>
            <a:ext cx="6858000" cy="2651700"/>
          </a:xfrm>
          <a:prstGeom prst="rect">
            <a:avLst/>
          </a:prstGeom>
          <a:solidFill>
            <a:srgbClr val="F5F2EB"/>
          </a:solidFill>
          <a:ln cap="flat" cmpd="sng" w="15875">
            <a:solidFill>
              <a:srgbClr val="C89B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viz_4_timepoint.png" id="942" name="Google Shape;942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86968" y="1628853"/>
            <a:ext cx="6638544" cy="2387546"/>
          </a:xfrm>
          <a:prstGeom prst="rect">
            <a:avLst/>
          </a:prstGeom>
          <a:noFill/>
          <a:ln>
            <a:noFill/>
          </a:ln>
        </p:spPr>
      </p:pic>
      <p:sp>
        <p:nvSpPr>
          <p:cNvPr id="943" name="Google Shape;943;p30"/>
          <p:cNvSpPr txBox="1"/>
          <p:nvPr/>
        </p:nvSpPr>
        <p:spPr>
          <a:xfrm>
            <a:off x="777240" y="4288418"/>
            <a:ext cx="68580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85837A"/>
                </a:solidFill>
                <a:latin typeface="Malgun Gothic"/>
                <a:ea typeface="Malgun Gothic"/>
                <a:cs typeface="Malgun Gothic"/>
                <a:sym typeface="Malgun Gothic"/>
              </a:rPr>
              <a:t>왼쪽: 점수가 얼마나 올랐나 (빨간 점선 = 찍기 0.523)  ·  오른쪽: 무엇이 중요해졌나</a:t>
            </a:r>
            <a:endParaRPr sz="1600"/>
          </a:p>
        </p:txBody>
      </p:sp>
      <p:sp>
        <p:nvSpPr>
          <p:cNvPr id="944" name="Google Shape;944;p30"/>
          <p:cNvSpPr/>
          <p:nvPr/>
        </p:nvSpPr>
        <p:spPr>
          <a:xfrm>
            <a:off x="7863840" y="1487745"/>
            <a:ext cx="3547800" cy="1234500"/>
          </a:xfrm>
          <a:prstGeom prst="rect">
            <a:avLst/>
          </a:prstGeom>
          <a:solidFill>
            <a:srgbClr val="10223E">
              <a:alpha val="92157"/>
            </a:srgbClr>
          </a:solidFill>
          <a:ln cap="flat" cmpd="sng" w="12700">
            <a:solidFill>
              <a:srgbClr val="0E646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5" name="Google Shape;945;p30"/>
          <p:cNvSpPr/>
          <p:nvPr/>
        </p:nvSpPr>
        <p:spPr>
          <a:xfrm>
            <a:off x="7863840" y="1487745"/>
            <a:ext cx="45600" cy="1234500"/>
          </a:xfrm>
          <a:prstGeom prst="rect">
            <a:avLst/>
          </a:prstGeom>
          <a:solidFill>
            <a:srgbClr val="0AC8B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6" name="Google Shape;946;p30"/>
          <p:cNvSpPr txBox="1"/>
          <p:nvPr/>
        </p:nvSpPr>
        <p:spPr>
          <a:xfrm>
            <a:off x="8119871" y="1564024"/>
            <a:ext cx="3090600" cy="107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18E82"/>
                </a:solidFill>
                <a:latin typeface="Malgun Gothic"/>
                <a:ea typeface="Malgun Gothic"/>
                <a:cs typeface="Malgun Gothic"/>
                <a:sym typeface="Malgun Gothic"/>
              </a:rPr>
              <a:t>10분 정보 → 15분 정보</a:t>
            </a:r>
            <a:endParaRPr sz="1500"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0AC8B9"/>
                </a:solidFill>
                <a:latin typeface="Malgun Gothic"/>
                <a:ea typeface="Malgun Gothic"/>
                <a:cs typeface="Malgun Gothic"/>
                <a:sym typeface="Malgun Gothic"/>
              </a:rPr>
              <a:t>0.704 → 0.756</a:t>
            </a:r>
            <a:endParaRPr/>
          </a:p>
          <a:p>
            <a:pPr indent="0" lvl="0" marL="0" marR="0" rtl="0" algn="l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A877D"/>
                </a:solidFill>
                <a:latin typeface="Malgun Gothic"/>
                <a:ea typeface="Malgun Gothic"/>
                <a:cs typeface="Malgun Gothic"/>
                <a:sym typeface="Malgun Gothic"/>
              </a:rPr>
              <a:t>+5.25%p · 시드 10회 반복 +4.77 ± 0.89%p, 10/10 일관</a:t>
            </a:r>
            <a:endParaRPr sz="1500"/>
          </a:p>
        </p:txBody>
      </p:sp>
      <p:graphicFrame>
        <p:nvGraphicFramePr>
          <p:cNvPr id="947" name="Google Shape;947;p30"/>
          <p:cNvGraphicFramePr/>
          <p:nvPr/>
        </p:nvGraphicFramePr>
        <p:xfrm>
          <a:off x="7863840" y="322628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{46956E51-EF99-4CE0-B1A4-93B49CD02E09}</a:tableStyleId>
              </a:tblPr>
              <a:tblGrid>
                <a:gridCol w="1229925"/>
                <a:gridCol w="756875"/>
                <a:gridCol w="756875"/>
                <a:gridCol w="804175"/>
              </a:tblGrid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지표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3C3F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10분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3C3F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15분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3C3F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변화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3C3F3E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GoldDiff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0.913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1.175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+0.26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ExpDiff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0.165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0.425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+0.26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</a:tr>
              <a:tr h="329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CSDiff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0.196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0.102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−0.09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</a:tr>
            </a:tbl>
          </a:graphicData>
        </a:graphic>
      </p:graphicFrame>
      <p:sp>
        <p:nvSpPr>
          <p:cNvPr id="948" name="Google Shape;948;p30"/>
          <p:cNvSpPr/>
          <p:nvPr/>
        </p:nvSpPr>
        <p:spPr>
          <a:xfrm>
            <a:off x="804672" y="4886686"/>
            <a:ext cx="10607100" cy="1097400"/>
          </a:xfrm>
          <a:prstGeom prst="rect">
            <a:avLst/>
          </a:prstGeom>
          <a:solidFill>
            <a:srgbClr val="2A333E">
              <a:alpha val="9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9" name="Google Shape;949;p30"/>
          <p:cNvSpPr/>
          <p:nvPr/>
        </p:nvSpPr>
        <p:spPr>
          <a:xfrm>
            <a:off x="808189" y="4886686"/>
            <a:ext cx="45600" cy="109740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0" name="Google Shape;950;p30"/>
          <p:cNvSpPr txBox="1"/>
          <p:nvPr/>
        </p:nvSpPr>
        <p:spPr>
          <a:xfrm>
            <a:off x="1055077" y="5125776"/>
            <a:ext cx="10137300" cy="6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골드·경험치의 격차는 커지고 CS 는 줄어듭니다.</a:t>
            </a:r>
            <a:br>
              <a:rPr b="1" i="0" lang="en-US" sz="18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1" i="0" lang="en-US" sz="18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10분 시점에서 보였던 경기 양상에서, 격차 자체가 승패를 말하는 단계로 넘어갑니다.</a:t>
            </a:r>
            <a:endParaRPr/>
          </a:p>
        </p:txBody>
      </p:sp>
      <p:sp>
        <p:nvSpPr>
          <p:cNvPr id="951" name="Google Shape;951;p30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73726E"/>
                </a:solidFill>
                <a:latin typeface="Malgun Gothic"/>
                <a:ea typeface="Malgun Gothic"/>
                <a:cs typeface="Malgun Gothic"/>
                <a:sym typeface="Malgun Gothic"/>
              </a:rPr>
              <a:t>근거 · reports/tables/repeat_experimentB.csv · expB_coef_shift.csv</a:t>
            </a:r>
            <a:endParaRPr/>
          </a:p>
        </p:txBody>
      </p:sp>
      <p:sp>
        <p:nvSpPr>
          <p:cNvPr id="952" name="Google Shape;952;p30"/>
          <p:cNvSpPr txBox="1"/>
          <p:nvPr/>
        </p:nvSpPr>
        <p:spPr>
          <a:xfrm>
            <a:off x="10972800" y="6574536"/>
            <a:ext cx="868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950" u="none" cap="none" strike="noStrike">
                <a:solidFill>
                  <a:srgbClr val="73726E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950" u="none" cap="none" strike="noStrike">
              <a:solidFill>
                <a:srgbClr val="73726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7" name="Shape 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p3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>
            <a:gsLst>
              <a:gs pos="0">
                <a:srgbClr val="0A1428"/>
              </a:gs>
              <a:gs pos="100000">
                <a:srgbClr val="010A13"/>
              </a:gs>
            </a:gsLst>
            <a:lin ang="16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rift_scene.jpg" id="959" name="Google Shape;959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9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60" name="Google Shape;960;p3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10A13">
              <a:alpha val="8784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1" name="Google Shape;961;p31"/>
          <p:cNvSpPr/>
          <p:nvPr/>
        </p:nvSpPr>
        <p:spPr>
          <a:xfrm>
            <a:off x="0" y="0"/>
            <a:ext cx="12191969" cy="50292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2" name="Google Shape;962;p31"/>
          <p:cNvSpPr/>
          <p:nvPr/>
        </p:nvSpPr>
        <p:spPr>
          <a:xfrm>
            <a:off x="0" y="6807708"/>
            <a:ext cx="12191969" cy="50292"/>
          </a:xfrm>
          <a:prstGeom prst="rect">
            <a:avLst/>
          </a:prstGeom>
          <a:solidFill>
            <a:srgbClr val="6E5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3" name="Google Shape;963;p31"/>
          <p:cNvSpPr/>
          <p:nvPr/>
        </p:nvSpPr>
        <p:spPr>
          <a:xfrm>
            <a:off x="274320" y="6569964"/>
            <a:ext cx="685800" cy="27432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4" name="Google Shape;964;p31"/>
          <p:cNvSpPr/>
          <p:nvPr/>
        </p:nvSpPr>
        <p:spPr>
          <a:xfrm>
            <a:off x="260603" y="5897880"/>
            <a:ext cx="27432" cy="685800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5" name="Google Shape;965;p31"/>
          <p:cNvSpPr/>
          <p:nvPr/>
        </p:nvSpPr>
        <p:spPr>
          <a:xfrm>
            <a:off x="11231849" y="6569964"/>
            <a:ext cx="685800" cy="27432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6" name="Google Shape;966;p31"/>
          <p:cNvSpPr/>
          <p:nvPr/>
        </p:nvSpPr>
        <p:spPr>
          <a:xfrm>
            <a:off x="11903933" y="5897880"/>
            <a:ext cx="27432" cy="685800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7" name="Google Shape;967;p31"/>
          <p:cNvSpPr txBox="1"/>
          <p:nvPr/>
        </p:nvSpPr>
        <p:spPr>
          <a:xfrm>
            <a:off x="777240" y="530352"/>
            <a:ext cx="10634472" cy="516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4. Phase 3   |   </a:t>
            </a:r>
            <a:r>
              <a:rPr b="1" i="0" lang="en-US" sz="25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구간별 이득 분석 — 접전에 집중</a:t>
            </a:r>
            <a:endParaRPr b="1" i="0" sz="2500" u="none" cap="none" strike="noStrike">
              <a:solidFill>
                <a:srgbClr val="F0E6D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68" name="Google Shape;968;p31"/>
          <p:cNvSpPr/>
          <p:nvPr/>
        </p:nvSpPr>
        <p:spPr>
          <a:xfrm>
            <a:off x="795528" y="1115568"/>
            <a:ext cx="1051560" cy="3200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9" name="Google Shape;969;p31"/>
          <p:cNvSpPr/>
          <p:nvPr/>
        </p:nvSpPr>
        <p:spPr>
          <a:xfrm>
            <a:off x="1892807" y="1110996"/>
            <a:ext cx="41148" cy="41148"/>
          </a:xfrm>
          <a:prstGeom prst="diamond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0" name="Google Shape;970;p31"/>
          <p:cNvSpPr/>
          <p:nvPr/>
        </p:nvSpPr>
        <p:spPr>
          <a:xfrm>
            <a:off x="731519" y="1449493"/>
            <a:ext cx="6675000" cy="3337500"/>
          </a:xfrm>
          <a:prstGeom prst="rect">
            <a:avLst/>
          </a:prstGeom>
          <a:solidFill>
            <a:srgbClr val="5F513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1" name="Google Shape;971;p31"/>
          <p:cNvSpPr/>
          <p:nvPr/>
        </p:nvSpPr>
        <p:spPr>
          <a:xfrm>
            <a:off x="777240" y="1498328"/>
            <a:ext cx="6583800" cy="3246000"/>
          </a:xfrm>
          <a:prstGeom prst="rect">
            <a:avLst/>
          </a:prstGeom>
          <a:solidFill>
            <a:srgbClr val="F5F2EB"/>
          </a:solidFill>
          <a:ln cap="flat" cmpd="sng" w="15875">
            <a:solidFill>
              <a:srgbClr val="C89B3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viz_5_close_games.png" id="972" name="Google Shape;972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68594" y="1615533"/>
            <a:ext cx="6200971" cy="3026663"/>
          </a:xfrm>
          <a:prstGeom prst="rect">
            <a:avLst/>
          </a:prstGeom>
          <a:noFill/>
          <a:ln>
            <a:noFill/>
          </a:ln>
        </p:spPr>
      </p:pic>
      <p:sp>
        <p:nvSpPr>
          <p:cNvPr id="973" name="Google Shape;973;p31"/>
          <p:cNvSpPr txBox="1"/>
          <p:nvPr/>
        </p:nvSpPr>
        <p:spPr>
          <a:xfrm>
            <a:off x="777190" y="5133960"/>
            <a:ext cx="65838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85837A"/>
                </a:solidFill>
                <a:latin typeface="Malgun Gothic"/>
                <a:ea typeface="Malgun Gothic"/>
                <a:cs typeface="Malgun Gothic"/>
                <a:sym typeface="Malgun Gothic"/>
              </a:rPr>
              <a:t>10분에 어떤 상황이었</a:t>
            </a:r>
            <a:r>
              <a:rPr lang="en-US" sz="1500">
                <a:solidFill>
                  <a:srgbClr val="85837A"/>
                </a:solidFill>
                <a:latin typeface="Malgun Gothic"/>
                <a:ea typeface="Malgun Gothic"/>
                <a:cs typeface="Malgun Gothic"/>
                <a:sym typeface="Malgun Gothic"/>
              </a:rPr>
              <a:t>는지</a:t>
            </a:r>
            <a:r>
              <a:rPr b="0" i="0" lang="en-US" sz="1500" u="none" cap="none" strike="noStrike">
                <a:solidFill>
                  <a:srgbClr val="85837A"/>
                </a:solidFill>
                <a:latin typeface="Malgun Gothic"/>
                <a:ea typeface="Malgun Gothic"/>
                <a:cs typeface="Malgun Gothic"/>
                <a:sym typeface="Malgun Gothic"/>
              </a:rPr>
              <a:t> 나</a:t>
            </a:r>
            <a:r>
              <a:rPr lang="en-US" sz="1500">
                <a:solidFill>
                  <a:srgbClr val="85837A"/>
                </a:solidFill>
                <a:latin typeface="Malgun Gothic"/>
                <a:ea typeface="Malgun Gothic"/>
                <a:cs typeface="Malgun Gothic"/>
                <a:sym typeface="Malgun Gothic"/>
              </a:rPr>
              <a:t>누고</a:t>
            </a:r>
            <a:r>
              <a:rPr b="0" i="0" lang="en-US" sz="1500" u="none" cap="none" strike="noStrike">
                <a:solidFill>
                  <a:srgbClr val="85837A"/>
                </a:solidFill>
                <a:latin typeface="Malgun Gothic"/>
                <a:ea typeface="Malgun Gothic"/>
                <a:cs typeface="Malgun Gothic"/>
                <a:sym typeface="Malgun Gothic"/>
              </a:rPr>
              <a:t>, 5분을 더 봤을 때 얼마나 나아지는지</a:t>
            </a:r>
            <a:endParaRPr b="0" i="0" sz="1500" u="none" cap="none" strike="noStrike">
              <a:solidFill>
                <a:srgbClr val="85837A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aphicFrame>
        <p:nvGraphicFramePr>
          <p:cNvPr id="974" name="Google Shape;974;p31"/>
          <p:cNvGraphicFramePr/>
          <p:nvPr/>
        </p:nvGraphicFramePr>
        <p:xfrm>
          <a:off x="7589520" y="149832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{46956E51-EF99-4CE0-B1A4-93B49CD02E09}</a:tableStyleId>
              </a:tblPr>
              <a:tblGrid>
                <a:gridCol w="1343500"/>
                <a:gridCol w="716525"/>
                <a:gridCol w="626950"/>
                <a:gridCol w="626950"/>
                <a:gridCol w="761300"/>
              </a:tblGrid>
              <a:tr h="449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5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10분 상황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3C3F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5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비중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3C3F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5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10분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3C3F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5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15분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3C3F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5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개선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3C3F3E"/>
                    </a:solidFill>
                  </a:tcPr>
                </a:tc>
              </a:tr>
              <a:tr h="449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5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팽팽함 </a:t>
                      </a:r>
                      <a:endParaRPr b="1" sz="1350" u="none" cap="none" strike="noStrike">
                        <a:solidFill>
                          <a:srgbClr val="F0E6D2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5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(&lt; 1,000)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2D35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5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52.1 %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2D35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5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0.617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2D35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5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0.696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2D35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+7.8%p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2D353E"/>
                    </a:solidFill>
                  </a:tcPr>
                </a:tc>
              </a:tr>
              <a:tr h="449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5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조금 앞섬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5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37.5 %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5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0.761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35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0.793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25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+3.1%p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</a:tr>
              <a:tr h="493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5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많이 앞섬 (2,500+)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2D35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5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10.4 %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2D35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5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0.928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2D35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5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0.928</a:t>
                      </a:r>
                      <a:endParaRPr sz="1700"/>
                    </a:p>
                  </a:txBody>
                  <a:tcPr marT="45725" marB="45725" marR="91450" marL="91450" anchor="ctr">
                    <a:solidFill>
                      <a:srgbClr val="2D35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5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±0.0%p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2D353E"/>
                    </a:solidFill>
                  </a:tcPr>
                </a:tc>
              </a:tr>
            </a:tbl>
          </a:graphicData>
        </a:graphic>
      </p:graphicFrame>
      <p:sp>
        <p:nvSpPr>
          <p:cNvPr id="975" name="Google Shape;975;p31"/>
          <p:cNvSpPr/>
          <p:nvPr/>
        </p:nvSpPr>
        <p:spPr>
          <a:xfrm>
            <a:off x="7589525" y="3578708"/>
            <a:ext cx="4075200" cy="2433600"/>
          </a:xfrm>
          <a:prstGeom prst="rect">
            <a:avLst/>
          </a:prstGeom>
          <a:solidFill>
            <a:srgbClr val="2A333E">
              <a:alpha val="9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6" name="Google Shape;976;p31"/>
          <p:cNvSpPr/>
          <p:nvPr/>
        </p:nvSpPr>
        <p:spPr>
          <a:xfrm>
            <a:off x="7589520" y="3578714"/>
            <a:ext cx="45600" cy="243360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7" name="Google Shape;977;p31"/>
          <p:cNvSpPr txBox="1"/>
          <p:nvPr/>
        </p:nvSpPr>
        <p:spPr>
          <a:xfrm>
            <a:off x="7818118" y="3740802"/>
            <a:ext cx="3365100" cy="205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이미 크게 벌어진 경기는</a:t>
            </a:r>
            <a:br>
              <a:rPr b="1" i="0" lang="en-US" sz="15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1" i="0" lang="en-US" sz="15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5분을 더 봐도 변화가 정확히 0</a:t>
            </a:r>
            <a:br>
              <a:rPr b="1" i="0" lang="en-US" sz="15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br>
              <a:rPr b="1" i="0" lang="en-US" sz="15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1" i="0" lang="en-US" sz="15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반면 팽팽한 경기는 +7.8%p</a:t>
            </a:r>
            <a:br>
              <a:rPr b="1" i="0" lang="en-US" sz="15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br>
              <a:rPr b="1" i="0" lang="en-US" sz="15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1" i="0" lang="en-US" sz="15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10분에 팽팽했던 경기의 59% 가</a:t>
            </a:r>
            <a:br>
              <a:rPr b="1" i="0" lang="en-US" sz="15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b="1" i="0" lang="en-US" sz="15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그 5분 사이에 한쪽으로 기웁니다.</a:t>
            </a:r>
            <a:endParaRPr sz="1500"/>
          </a:p>
        </p:txBody>
      </p:sp>
      <p:sp>
        <p:nvSpPr>
          <p:cNvPr id="978" name="Google Shape;978;p31"/>
          <p:cNvSpPr txBox="1"/>
          <p:nvPr/>
        </p:nvSpPr>
        <p:spPr>
          <a:xfrm>
            <a:off x="777240" y="5754464"/>
            <a:ext cx="67848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◆  "5분의 차이로, 결정짓지 못한 접전을 판가름 할 수 있음</a:t>
            </a:r>
            <a:endParaRPr b="0" i="0" sz="1800" u="none" cap="none" strike="noStrike">
              <a:solidFill>
                <a:srgbClr val="8E8B8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79" name="Google Shape;979;p31"/>
          <p:cNvSpPr txBox="1"/>
          <p:nvPr/>
        </p:nvSpPr>
        <p:spPr>
          <a:xfrm>
            <a:off x="777240" y="6382512"/>
            <a:ext cx="10607040" cy="2411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73726E"/>
                </a:solidFill>
                <a:latin typeface="Malgun Gothic"/>
                <a:ea typeface="Malgun Gothic"/>
                <a:cs typeface="Malgun Gothic"/>
                <a:sym typeface="Malgun Gothic"/>
              </a:rPr>
              <a:t>근거 · reports/tables/expB_close_games.csv</a:t>
            </a:r>
            <a:endParaRPr/>
          </a:p>
        </p:txBody>
      </p:sp>
      <p:sp>
        <p:nvSpPr>
          <p:cNvPr id="980" name="Google Shape;980;p31"/>
          <p:cNvSpPr txBox="1"/>
          <p:nvPr/>
        </p:nvSpPr>
        <p:spPr>
          <a:xfrm>
            <a:off x="10972800" y="6567398"/>
            <a:ext cx="868680" cy="2154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73726E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400" u="none" cap="none" strike="noStrike">
              <a:solidFill>
                <a:srgbClr val="73726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5" name="Shape 9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Google Shape;986;p32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>
            <a:gsLst>
              <a:gs pos="0">
                <a:srgbClr val="0A1428"/>
              </a:gs>
              <a:gs pos="100000">
                <a:srgbClr val="010A13"/>
              </a:gs>
            </a:gsLst>
            <a:lin ang="16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rift_scene.jpg" id="987" name="Google Shape;987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9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88" name="Google Shape;988;p32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10A13">
              <a:alpha val="8784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9" name="Google Shape;989;p32"/>
          <p:cNvSpPr/>
          <p:nvPr/>
        </p:nvSpPr>
        <p:spPr>
          <a:xfrm>
            <a:off x="0" y="0"/>
            <a:ext cx="12191969" cy="50292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0" name="Google Shape;990;p32"/>
          <p:cNvSpPr/>
          <p:nvPr/>
        </p:nvSpPr>
        <p:spPr>
          <a:xfrm>
            <a:off x="0" y="6807708"/>
            <a:ext cx="12191969" cy="50292"/>
          </a:xfrm>
          <a:prstGeom prst="rect">
            <a:avLst/>
          </a:prstGeom>
          <a:solidFill>
            <a:srgbClr val="6E5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1" name="Google Shape;991;p32"/>
          <p:cNvSpPr/>
          <p:nvPr/>
        </p:nvSpPr>
        <p:spPr>
          <a:xfrm>
            <a:off x="274320" y="6569964"/>
            <a:ext cx="685800" cy="27432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2" name="Google Shape;992;p32"/>
          <p:cNvSpPr/>
          <p:nvPr/>
        </p:nvSpPr>
        <p:spPr>
          <a:xfrm>
            <a:off x="260603" y="5897880"/>
            <a:ext cx="27432" cy="685800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3" name="Google Shape;993;p32"/>
          <p:cNvSpPr/>
          <p:nvPr/>
        </p:nvSpPr>
        <p:spPr>
          <a:xfrm>
            <a:off x="11231849" y="6569964"/>
            <a:ext cx="685800" cy="27432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4" name="Google Shape;994;p32"/>
          <p:cNvSpPr/>
          <p:nvPr/>
        </p:nvSpPr>
        <p:spPr>
          <a:xfrm>
            <a:off x="11903933" y="5897880"/>
            <a:ext cx="27432" cy="685800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5" name="Google Shape;995;p32"/>
          <p:cNvSpPr txBox="1"/>
          <p:nvPr/>
        </p:nvSpPr>
        <p:spPr>
          <a:xfrm>
            <a:off x="777240" y="530352"/>
            <a:ext cx="10634472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4. Phase 3   |   </a:t>
            </a:r>
            <a:r>
              <a:rPr b="1" i="0" lang="en-US" sz="25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종합 — 경기는 언제 결정되는가</a:t>
            </a:r>
            <a:endParaRPr b="1" i="0" sz="2500" u="none" cap="none" strike="noStrike">
              <a:solidFill>
                <a:srgbClr val="F0E6D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96" name="Google Shape;996;p32"/>
          <p:cNvSpPr/>
          <p:nvPr/>
        </p:nvSpPr>
        <p:spPr>
          <a:xfrm>
            <a:off x="795528" y="1115568"/>
            <a:ext cx="1051560" cy="3200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7" name="Google Shape;997;p32"/>
          <p:cNvSpPr/>
          <p:nvPr/>
        </p:nvSpPr>
        <p:spPr>
          <a:xfrm>
            <a:off x="1892807" y="1110996"/>
            <a:ext cx="41148" cy="41148"/>
          </a:xfrm>
          <a:prstGeom prst="diamond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8" name="Google Shape;998;p32"/>
          <p:cNvSpPr/>
          <p:nvPr/>
        </p:nvSpPr>
        <p:spPr>
          <a:xfrm>
            <a:off x="777240" y="1600200"/>
            <a:ext cx="10634472" cy="1325880"/>
          </a:xfrm>
          <a:prstGeom prst="rect">
            <a:avLst/>
          </a:prstGeom>
          <a:solidFill>
            <a:srgbClr val="2A333E">
              <a:alpha val="92157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9" name="Google Shape;999;p32"/>
          <p:cNvSpPr/>
          <p:nvPr/>
        </p:nvSpPr>
        <p:spPr>
          <a:xfrm>
            <a:off x="777240" y="1600200"/>
            <a:ext cx="45720" cy="132588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0" name="Google Shape;1000;p32"/>
          <p:cNvSpPr txBox="1"/>
          <p:nvPr/>
        </p:nvSpPr>
        <p:spPr>
          <a:xfrm>
            <a:off x="1097280" y="1600200"/>
            <a:ext cx="1005840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경기의 약 10% 는 10분에 이미 사실상 결판나 있고,</a:t>
            </a:r>
            <a:endParaRPr/>
          </a:p>
          <a:p>
            <a:pPr indent="0" lvl="0" marL="0" marR="0" rtl="0" algn="l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절반쯤 되는 팽팽한 경기는 그 6할이 10~15분 사이에 갈립니다.</a:t>
            </a:r>
            <a:endParaRPr/>
          </a:p>
        </p:txBody>
      </p:sp>
      <p:sp>
        <p:nvSpPr>
          <p:cNvPr id="1001" name="Google Shape;1001;p32"/>
          <p:cNvSpPr/>
          <p:nvPr/>
        </p:nvSpPr>
        <p:spPr>
          <a:xfrm>
            <a:off x="777240" y="3154680"/>
            <a:ext cx="10634472" cy="713232"/>
          </a:xfrm>
          <a:prstGeom prst="rect">
            <a:avLst/>
          </a:prstGeom>
          <a:solidFill>
            <a:srgbClr val="10223E">
              <a:alpha val="87843"/>
            </a:srgbClr>
          </a:solidFill>
          <a:ln cap="flat" cmpd="sng" w="12700">
            <a:solidFill>
              <a:srgbClr val="5F513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2" name="Google Shape;1002;p32"/>
          <p:cNvSpPr txBox="1"/>
          <p:nvPr/>
        </p:nvSpPr>
        <p:spPr>
          <a:xfrm>
            <a:off x="1051560" y="3154680"/>
            <a:ext cx="27432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이미 끝난 경기</a:t>
            </a:r>
            <a:endParaRPr/>
          </a:p>
        </p:txBody>
      </p:sp>
      <p:sp>
        <p:nvSpPr>
          <p:cNvPr id="1003" name="Google Shape;1003;p32"/>
          <p:cNvSpPr txBox="1"/>
          <p:nvPr/>
        </p:nvSpPr>
        <p:spPr>
          <a:xfrm>
            <a:off x="3840480" y="3154680"/>
            <a:ext cx="14630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C89B3C"/>
                </a:solidFill>
                <a:latin typeface="Malgun Gothic"/>
                <a:ea typeface="Malgun Gothic"/>
                <a:cs typeface="Malgun Gothic"/>
                <a:sym typeface="Malgun Gothic"/>
              </a:rPr>
              <a:t>약 10%</a:t>
            </a:r>
            <a:endParaRPr/>
          </a:p>
        </p:txBody>
      </p:sp>
      <p:sp>
        <p:nvSpPr>
          <p:cNvPr id="1004" name="Google Shape;1004;p32"/>
          <p:cNvSpPr txBox="1"/>
          <p:nvPr/>
        </p:nvSpPr>
        <p:spPr>
          <a:xfrm>
            <a:off x="5486400" y="3407688"/>
            <a:ext cx="57606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50" u="none" cap="none" strike="noStrike">
                <a:solidFill>
                  <a:srgbClr val="C8C5BC"/>
                </a:solidFill>
                <a:latin typeface="Malgun Gothic"/>
                <a:ea typeface="Malgun Gothic"/>
                <a:cs typeface="Malgun Gothic"/>
                <a:sym typeface="Malgun Gothic"/>
              </a:rPr>
              <a:t>10분 골드차 2,500+ · 5분을 더 봐도 정확도 변화 ±0.0%p</a:t>
            </a:r>
            <a:endParaRPr sz="1700"/>
          </a:p>
        </p:txBody>
      </p:sp>
      <p:sp>
        <p:nvSpPr>
          <p:cNvPr id="1005" name="Google Shape;1005;p32"/>
          <p:cNvSpPr/>
          <p:nvPr/>
        </p:nvSpPr>
        <p:spPr>
          <a:xfrm>
            <a:off x="777240" y="3959352"/>
            <a:ext cx="10634472" cy="713232"/>
          </a:xfrm>
          <a:prstGeom prst="rect">
            <a:avLst/>
          </a:prstGeom>
          <a:solidFill>
            <a:srgbClr val="10223E">
              <a:alpha val="87843"/>
            </a:srgbClr>
          </a:solidFill>
          <a:ln cap="flat" cmpd="sng" w="12700">
            <a:solidFill>
              <a:srgbClr val="5F513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6" name="Google Shape;1006;p32"/>
          <p:cNvSpPr txBox="1"/>
          <p:nvPr/>
        </p:nvSpPr>
        <p:spPr>
          <a:xfrm>
            <a:off x="1051560" y="3959352"/>
            <a:ext cx="27432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아직 안 갈린 경기</a:t>
            </a:r>
            <a:endParaRPr/>
          </a:p>
        </p:txBody>
      </p:sp>
      <p:sp>
        <p:nvSpPr>
          <p:cNvPr id="1007" name="Google Shape;1007;p32"/>
          <p:cNvSpPr txBox="1"/>
          <p:nvPr/>
        </p:nvSpPr>
        <p:spPr>
          <a:xfrm>
            <a:off x="3840480" y="3959352"/>
            <a:ext cx="14630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C89B3C"/>
                </a:solidFill>
                <a:latin typeface="Malgun Gothic"/>
                <a:ea typeface="Malgun Gothic"/>
                <a:cs typeface="Malgun Gothic"/>
                <a:sym typeface="Malgun Gothic"/>
              </a:rPr>
              <a:t>약 52%</a:t>
            </a:r>
            <a:endParaRPr/>
          </a:p>
        </p:txBody>
      </p:sp>
      <p:sp>
        <p:nvSpPr>
          <p:cNvPr id="1008" name="Google Shape;1008;p32"/>
          <p:cNvSpPr txBox="1"/>
          <p:nvPr/>
        </p:nvSpPr>
        <p:spPr>
          <a:xfrm>
            <a:off x="5486400" y="4212360"/>
            <a:ext cx="57606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50" u="none" cap="none" strike="noStrike">
                <a:solidFill>
                  <a:srgbClr val="C8C5BC"/>
                </a:solidFill>
                <a:latin typeface="Malgun Gothic"/>
                <a:ea typeface="Malgun Gothic"/>
                <a:cs typeface="Malgun Gothic"/>
                <a:sym typeface="Malgun Gothic"/>
              </a:rPr>
              <a:t>10분 골드차 1,000 미만 · 그중 59% 가 10~15분에 기웁니다</a:t>
            </a:r>
            <a:endParaRPr sz="1700"/>
          </a:p>
        </p:txBody>
      </p:sp>
      <p:sp>
        <p:nvSpPr>
          <p:cNvPr id="1009" name="Google Shape;1009;p32"/>
          <p:cNvSpPr/>
          <p:nvPr/>
        </p:nvSpPr>
        <p:spPr>
          <a:xfrm>
            <a:off x="777240" y="4764024"/>
            <a:ext cx="10634472" cy="713232"/>
          </a:xfrm>
          <a:prstGeom prst="rect">
            <a:avLst/>
          </a:prstGeom>
          <a:solidFill>
            <a:srgbClr val="10223E">
              <a:alpha val="87843"/>
            </a:srgbClr>
          </a:solidFill>
          <a:ln cap="flat" cmpd="sng" w="12700">
            <a:solidFill>
              <a:srgbClr val="5F513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0" name="Google Shape;1010;p32"/>
          <p:cNvSpPr txBox="1"/>
          <p:nvPr/>
        </p:nvSpPr>
        <p:spPr>
          <a:xfrm>
            <a:off x="1051560" y="4764024"/>
            <a:ext cx="27432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그 사이</a:t>
            </a:r>
            <a:endParaRPr/>
          </a:p>
        </p:txBody>
      </p:sp>
      <p:sp>
        <p:nvSpPr>
          <p:cNvPr id="1011" name="Google Shape;1011;p32"/>
          <p:cNvSpPr txBox="1"/>
          <p:nvPr/>
        </p:nvSpPr>
        <p:spPr>
          <a:xfrm>
            <a:off x="3840480" y="4764024"/>
            <a:ext cx="146304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C89B3C"/>
                </a:solidFill>
                <a:latin typeface="Malgun Gothic"/>
                <a:ea typeface="Malgun Gothic"/>
                <a:cs typeface="Malgun Gothic"/>
                <a:sym typeface="Malgun Gothic"/>
              </a:rPr>
              <a:t>약 38%</a:t>
            </a:r>
            <a:endParaRPr/>
          </a:p>
        </p:txBody>
      </p:sp>
      <p:sp>
        <p:nvSpPr>
          <p:cNvPr id="1012" name="Google Shape;1012;p32"/>
          <p:cNvSpPr txBox="1"/>
          <p:nvPr/>
        </p:nvSpPr>
        <p:spPr>
          <a:xfrm>
            <a:off x="5486400" y="5017032"/>
            <a:ext cx="57606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50" u="none" cap="none" strike="noStrike">
                <a:solidFill>
                  <a:srgbClr val="C8C5BC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조금 앞선 경기 · 5분을 더 보면 +3.1%p</a:t>
            </a:r>
            <a:endParaRPr sz="1700"/>
          </a:p>
        </p:txBody>
      </p:sp>
      <p:sp>
        <p:nvSpPr>
          <p:cNvPr id="1013" name="Google Shape;1013;p32"/>
          <p:cNvSpPr/>
          <p:nvPr/>
        </p:nvSpPr>
        <p:spPr>
          <a:xfrm>
            <a:off x="777240" y="5669280"/>
            <a:ext cx="10634472" cy="566928"/>
          </a:xfrm>
          <a:prstGeom prst="rect">
            <a:avLst/>
          </a:prstGeom>
          <a:solidFill>
            <a:srgbClr val="2A333E">
              <a:alpha val="9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4" name="Google Shape;1014;p32"/>
          <p:cNvSpPr/>
          <p:nvPr/>
        </p:nvSpPr>
        <p:spPr>
          <a:xfrm>
            <a:off x="777240" y="5669280"/>
            <a:ext cx="45720" cy="566928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5" name="Google Shape;1015;p32"/>
          <p:cNvSpPr txBox="1"/>
          <p:nvPr/>
        </p:nvSpPr>
        <p:spPr>
          <a:xfrm>
            <a:off x="1014983" y="5669280"/>
            <a:ext cx="10177272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"초반에 다 기운다"도 "끝까지 모른다"도 틀렸습니다 — 경기 성격에 따라 다릅니다.</a:t>
            </a:r>
            <a:endParaRPr/>
          </a:p>
        </p:txBody>
      </p:sp>
      <p:sp>
        <p:nvSpPr>
          <p:cNvPr id="1016" name="Google Shape;1016;p32"/>
          <p:cNvSpPr txBox="1"/>
          <p:nvPr/>
        </p:nvSpPr>
        <p:spPr>
          <a:xfrm>
            <a:off x="10972800" y="6574536"/>
            <a:ext cx="868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950" u="none" cap="none" strike="noStrike">
                <a:solidFill>
                  <a:srgbClr val="73726E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950" u="none" cap="none" strike="noStrike">
              <a:solidFill>
                <a:srgbClr val="73726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4" name="Shape 10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" name="Google Shape;1055;p34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>
            <a:gsLst>
              <a:gs pos="0">
                <a:srgbClr val="0A1428"/>
              </a:gs>
              <a:gs pos="100000">
                <a:srgbClr val="010A13"/>
              </a:gs>
            </a:gsLst>
            <a:lin ang="16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rift_scene.jpg" id="1056" name="Google Shape;1056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9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7" name="Google Shape;1057;p34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10A13">
              <a:alpha val="8784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8" name="Google Shape;1058;p34"/>
          <p:cNvSpPr/>
          <p:nvPr/>
        </p:nvSpPr>
        <p:spPr>
          <a:xfrm>
            <a:off x="0" y="0"/>
            <a:ext cx="12191969" cy="50292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9" name="Google Shape;1059;p34"/>
          <p:cNvSpPr/>
          <p:nvPr/>
        </p:nvSpPr>
        <p:spPr>
          <a:xfrm>
            <a:off x="0" y="6807708"/>
            <a:ext cx="12191969" cy="50292"/>
          </a:xfrm>
          <a:prstGeom prst="rect">
            <a:avLst/>
          </a:prstGeom>
          <a:solidFill>
            <a:srgbClr val="6E5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0" name="Google Shape;1060;p34"/>
          <p:cNvSpPr/>
          <p:nvPr/>
        </p:nvSpPr>
        <p:spPr>
          <a:xfrm>
            <a:off x="274320" y="6569964"/>
            <a:ext cx="685800" cy="27432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1" name="Google Shape;1061;p34"/>
          <p:cNvSpPr/>
          <p:nvPr/>
        </p:nvSpPr>
        <p:spPr>
          <a:xfrm>
            <a:off x="260603" y="5897880"/>
            <a:ext cx="27432" cy="685800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2" name="Google Shape;1062;p34"/>
          <p:cNvSpPr/>
          <p:nvPr/>
        </p:nvSpPr>
        <p:spPr>
          <a:xfrm>
            <a:off x="11231849" y="6569964"/>
            <a:ext cx="685800" cy="27432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3" name="Google Shape;1063;p34"/>
          <p:cNvSpPr/>
          <p:nvPr/>
        </p:nvSpPr>
        <p:spPr>
          <a:xfrm>
            <a:off x="11903933" y="5897880"/>
            <a:ext cx="27432" cy="685800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4" name="Google Shape;1064;p34"/>
          <p:cNvSpPr txBox="1"/>
          <p:nvPr/>
        </p:nvSpPr>
        <p:spPr>
          <a:xfrm>
            <a:off x="777240" y="530352"/>
            <a:ext cx="10634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5. 서비스 · 향후 </a:t>
            </a:r>
            <a:r>
              <a:rPr b="1" lang="en-US" sz="3000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방향</a:t>
            </a:r>
            <a:r>
              <a:rPr b="1" i="0" lang="en-US" sz="30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|   </a:t>
            </a:r>
            <a:r>
              <a:rPr b="1" i="0" lang="en-US" sz="25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시연 화면에서 </a:t>
            </a:r>
            <a:r>
              <a:rPr b="1" lang="en-US" sz="2500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보여드릴 것</a:t>
            </a:r>
            <a:endParaRPr/>
          </a:p>
        </p:txBody>
      </p:sp>
      <p:sp>
        <p:nvSpPr>
          <p:cNvPr id="1065" name="Google Shape;1065;p34"/>
          <p:cNvSpPr/>
          <p:nvPr/>
        </p:nvSpPr>
        <p:spPr>
          <a:xfrm>
            <a:off x="795528" y="1115568"/>
            <a:ext cx="1051560" cy="3200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6" name="Google Shape;1066;p34"/>
          <p:cNvSpPr/>
          <p:nvPr/>
        </p:nvSpPr>
        <p:spPr>
          <a:xfrm>
            <a:off x="1892807" y="1110996"/>
            <a:ext cx="41148" cy="41148"/>
          </a:xfrm>
          <a:prstGeom prst="diamond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067" name="Google Shape;1067;p34"/>
          <p:cNvGraphicFramePr/>
          <p:nvPr/>
        </p:nvGraphicFramePr>
        <p:xfrm>
          <a:off x="777240" y="132588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{46956E51-EF99-4CE0-B1A4-93B49CD02E09}</a:tableStyleId>
              </a:tblPr>
              <a:tblGrid>
                <a:gridCol w="1371600"/>
                <a:gridCol w="4206250"/>
                <a:gridCol w="5056625"/>
              </a:tblGrid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순서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3C3F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무엇을 하나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3C3F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화면에 뜨는 것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3C3F3E"/>
                    </a:solidFill>
                  </a:tcPr>
                </a:tc>
              </a:tr>
              <a:tr h="603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①  검색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소환사명#태그 를 넣는다 </a:t>
                      </a:r>
                      <a:endParaRPr b="0" sz="1500" u="none" cap="none" strike="noStrike">
                        <a:solidFill>
                          <a:srgbClr val="C1BEB4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(예: Hide on bush#KR1)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최근 경기 목록 — 이긴 판과 진 판이 함께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</a:tr>
              <a:tr h="603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②  판정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2D35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경기 한 판을 펼친다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2D35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0E6D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우세승 · 역전패 · 역전승 · 열세패 + 10분 시점 승률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2D353E"/>
                    </a:solidFill>
                  </a:tcPr>
                </a:tc>
              </a:tr>
              <a:tr h="603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③  근거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「이 판정을 믿어도 되나」를 연다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그 구간의 적중률 · 그 판의 승리요인 순위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10223E"/>
                    </a:solidFill>
                  </a:tcPr>
                </a:tc>
              </a:tr>
              <a:tr h="603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④  코칭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「그래서 뭘 했어야 했나」를 연다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500" u="none" cap="none" strike="noStrike">
                          <a:solidFill>
                            <a:srgbClr val="C1BEB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"CS 20개를 더 먹었다면 43%가 53%" 식</a:t>
                      </a:r>
                      <a:endParaRPr sz="1600"/>
                    </a:p>
                  </a:txBody>
                  <a:tcPr marT="45725" marB="45725" marR="91450" marL="91450" anchor="ctr">
                    <a:solidFill>
                      <a:srgbClr val="09172B"/>
                    </a:solidFill>
                  </a:tcPr>
                </a:tc>
              </a:tr>
            </a:tbl>
          </a:graphicData>
        </a:graphic>
      </p:graphicFrame>
      <p:sp>
        <p:nvSpPr>
          <p:cNvPr id="1068" name="Google Shape;1068;p34"/>
          <p:cNvSpPr txBox="1"/>
          <p:nvPr/>
        </p:nvSpPr>
        <p:spPr>
          <a:xfrm>
            <a:off x="777240" y="4388239"/>
            <a:ext cx="10607100" cy="10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◆  10분 시점을 넷으로 판정 — 우세승 · 역전승 · 역전패 · 열세패</a:t>
            </a:r>
            <a:endParaRPr sz="1600"/>
          </a:p>
          <a:p>
            <a:pPr indent="0" lvl="0" marL="0" marR="0" rtl="0" algn="l">
              <a:lnSpc>
                <a:spcPct val="13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8E8B80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  같은 패배라도 처방이 다릅니다. 열세패는 시작을, 역전패는 앞선 판의 마무리를 고칩니다</a:t>
            </a:r>
            <a:r>
              <a:rPr b="0" i="0" lang="en-US" sz="1450" u="none" cap="none" strike="noStrike">
                <a:solidFill>
                  <a:srgbClr val="8E8B80"/>
                </a:solidFill>
                <a:latin typeface="Malgun Gothic"/>
                <a:ea typeface="Malgun Gothic"/>
                <a:cs typeface="Malgun Gothic"/>
                <a:sym typeface="Malgun Gothic"/>
              </a:rPr>
              <a:t/>
            </a:r>
            <a:endParaRPr sz="1700"/>
          </a:p>
          <a:p>
            <a:pPr indent="0" lvl="0" marL="0" marR="0" rtl="0" algn="l">
              <a:lnSpc>
                <a:spcPct val="13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◆  격차의 이유(요인 5개) · 반사실 코칭 · 분 단위 궤적 · 플레이 성향 레이더</a:t>
            </a:r>
            <a:endParaRPr sz="1600"/>
          </a:p>
        </p:txBody>
      </p:sp>
      <p:sp>
        <p:nvSpPr>
          <p:cNvPr id="1069" name="Google Shape;1069;p34"/>
          <p:cNvSpPr/>
          <p:nvPr/>
        </p:nvSpPr>
        <p:spPr>
          <a:xfrm>
            <a:off x="777240" y="5532120"/>
            <a:ext cx="10634472" cy="731520"/>
          </a:xfrm>
          <a:prstGeom prst="rect">
            <a:avLst/>
          </a:prstGeom>
          <a:solidFill>
            <a:srgbClr val="2A333E">
              <a:alpha val="9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0" name="Google Shape;1070;p34"/>
          <p:cNvSpPr/>
          <p:nvPr/>
        </p:nvSpPr>
        <p:spPr>
          <a:xfrm>
            <a:off x="777240" y="5532120"/>
            <a:ext cx="45720" cy="73152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1" name="Google Shape;1071;p34"/>
          <p:cNvSpPr txBox="1"/>
          <p:nvPr/>
        </p:nvSpPr>
        <p:spPr>
          <a:xfrm>
            <a:off x="1014983" y="5532120"/>
            <a:ext cx="101772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https://p4.sumzip.com — 화면의 확률은 학습된 모델이 낸 값 그대로입니다. 시연용 숫자가 아닙니다.</a:t>
            </a:r>
            <a:endParaRPr/>
          </a:p>
        </p:txBody>
      </p:sp>
      <p:sp>
        <p:nvSpPr>
          <p:cNvPr id="1072" name="Google Shape;1072;p34"/>
          <p:cNvSpPr txBox="1"/>
          <p:nvPr/>
        </p:nvSpPr>
        <p:spPr>
          <a:xfrm>
            <a:off x="10972800" y="6574536"/>
            <a:ext cx="868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950" u="none" cap="none" strike="noStrike">
                <a:solidFill>
                  <a:srgbClr val="73726E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950" u="none" cap="none" strike="noStrike">
              <a:solidFill>
                <a:srgbClr val="73726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fa15e3bff5_2_10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1428"/>
              </a:gs>
              <a:gs pos="100000">
                <a:srgbClr val="010A13"/>
              </a:gs>
            </a:gsLst>
            <a:lin ang="16200038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rift_scene.jpg" id="310" name="Google Shape;310;g3fa15e3bff5_2_10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97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g3fa15e3bff5_2_10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A13">
              <a:alpha val="8784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g3fa15e3bff5_2_101"/>
          <p:cNvSpPr/>
          <p:nvPr/>
        </p:nvSpPr>
        <p:spPr>
          <a:xfrm>
            <a:off x="0" y="0"/>
            <a:ext cx="12192000" cy="5040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g3fa15e3bff5_2_101"/>
          <p:cNvSpPr/>
          <p:nvPr/>
        </p:nvSpPr>
        <p:spPr>
          <a:xfrm>
            <a:off x="0" y="6807708"/>
            <a:ext cx="12192000" cy="50400"/>
          </a:xfrm>
          <a:prstGeom prst="rect">
            <a:avLst/>
          </a:prstGeom>
          <a:solidFill>
            <a:srgbClr val="6E5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g3fa15e3bff5_2_101"/>
          <p:cNvSpPr/>
          <p:nvPr/>
        </p:nvSpPr>
        <p:spPr>
          <a:xfrm>
            <a:off x="274320" y="6569964"/>
            <a:ext cx="685800" cy="27300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g3fa15e3bff5_2_101"/>
          <p:cNvSpPr/>
          <p:nvPr/>
        </p:nvSpPr>
        <p:spPr>
          <a:xfrm>
            <a:off x="260603" y="5897880"/>
            <a:ext cx="27300" cy="685800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g3fa15e3bff5_2_101"/>
          <p:cNvSpPr/>
          <p:nvPr/>
        </p:nvSpPr>
        <p:spPr>
          <a:xfrm>
            <a:off x="11231849" y="6569964"/>
            <a:ext cx="685800" cy="27300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g3fa15e3bff5_2_101"/>
          <p:cNvSpPr/>
          <p:nvPr/>
        </p:nvSpPr>
        <p:spPr>
          <a:xfrm>
            <a:off x="11903933" y="5897880"/>
            <a:ext cx="27300" cy="685800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g3fa15e3bff5_2_101"/>
          <p:cNvSpPr txBox="1"/>
          <p:nvPr/>
        </p:nvSpPr>
        <p:spPr>
          <a:xfrm>
            <a:off x="777240" y="530352"/>
            <a:ext cx="10634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품질   |   </a:t>
            </a:r>
            <a:r>
              <a:rPr b="1" i="0" lang="en-US" sz="25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스스로를 검증하는 프로젝트</a:t>
            </a:r>
            <a:endParaRPr/>
          </a:p>
        </p:txBody>
      </p:sp>
      <p:sp>
        <p:nvSpPr>
          <p:cNvPr id="319" name="Google Shape;319;g3fa15e3bff5_2_101"/>
          <p:cNvSpPr/>
          <p:nvPr/>
        </p:nvSpPr>
        <p:spPr>
          <a:xfrm>
            <a:off x="795528" y="1115568"/>
            <a:ext cx="1051500" cy="3210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g3fa15e3bff5_2_101"/>
          <p:cNvSpPr/>
          <p:nvPr/>
        </p:nvSpPr>
        <p:spPr>
          <a:xfrm>
            <a:off x="1892807" y="1110996"/>
            <a:ext cx="41100" cy="41100"/>
          </a:xfrm>
          <a:prstGeom prst="diamond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1" name="Google Shape;321;g3fa15e3bff5_2_101"/>
          <p:cNvGrpSpPr/>
          <p:nvPr/>
        </p:nvGrpSpPr>
        <p:grpSpPr>
          <a:xfrm>
            <a:off x="777240" y="1613535"/>
            <a:ext cx="10588608" cy="1828800"/>
            <a:chOff x="777240" y="1280160"/>
            <a:chExt cx="10588608" cy="1828800"/>
          </a:xfrm>
        </p:grpSpPr>
        <p:sp>
          <p:nvSpPr>
            <p:cNvPr id="322" name="Google Shape;322;g3fa15e3bff5_2_101"/>
            <p:cNvSpPr/>
            <p:nvPr/>
          </p:nvSpPr>
          <p:spPr>
            <a:xfrm>
              <a:off x="777240" y="1280160"/>
              <a:ext cx="2523600" cy="1828800"/>
            </a:xfrm>
            <a:prstGeom prst="rect">
              <a:avLst/>
            </a:prstGeom>
            <a:solidFill>
              <a:srgbClr val="10223E">
                <a:alpha val="87840"/>
              </a:srgbClr>
            </a:solidFill>
            <a:ln cap="flat" cmpd="sng" w="12700">
              <a:solidFill>
                <a:srgbClr val="4B493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3" name="Google Shape;323;g3fa15e3bff5_2_101"/>
            <p:cNvSpPr/>
            <p:nvPr/>
          </p:nvSpPr>
          <p:spPr>
            <a:xfrm>
              <a:off x="777240" y="1280160"/>
              <a:ext cx="41100" cy="1828800"/>
            </a:xfrm>
            <a:prstGeom prst="rect">
              <a:avLst/>
            </a:prstGeom>
            <a:solidFill>
              <a:srgbClr val="C89B3C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4" name="Google Shape;324;g3fa15e3bff5_2_101"/>
            <p:cNvSpPr/>
            <p:nvPr/>
          </p:nvSpPr>
          <p:spPr>
            <a:xfrm>
              <a:off x="3465576" y="1280160"/>
              <a:ext cx="2523600" cy="1828800"/>
            </a:xfrm>
            <a:prstGeom prst="rect">
              <a:avLst/>
            </a:prstGeom>
            <a:solidFill>
              <a:srgbClr val="10223E">
                <a:alpha val="87840"/>
              </a:srgbClr>
            </a:solidFill>
            <a:ln cap="flat" cmpd="sng" w="12700">
              <a:solidFill>
                <a:srgbClr val="4B493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" name="Google Shape;325;g3fa15e3bff5_2_101"/>
            <p:cNvSpPr/>
            <p:nvPr/>
          </p:nvSpPr>
          <p:spPr>
            <a:xfrm>
              <a:off x="3465576" y="1280160"/>
              <a:ext cx="41100" cy="1828800"/>
            </a:xfrm>
            <a:prstGeom prst="rect">
              <a:avLst/>
            </a:prstGeom>
            <a:solidFill>
              <a:srgbClr val="5F513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6" name="Google Shape;326;g3fa15e3bff5_2_101"/>
            <p:cNvSpPr/>
            <p:nvPr/>
          </p:nvSpPr>
          <p:spPr>
            <a:xfrm>
              <a:off x="6153912" y="1280160"/>
              <a:ext cx="2523600" cy="1828800"/>
            </a:xfrm>
            <a:prstGeom prst="rect">
              <a:avLst/>
            </a:prstGeom>
            <a:solidFill>
              <a:srgbClr val="10223E">
                <a:alpha val="87840"/>
              </a:srgbClr>
            </a:solidFill>
            <a:ln cap="flat" cmpd="sng" w="12700">
              <a:solidFill>
                <a:srgbClr val="4B493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7" name="Google Shape;327;g3fa15e3bff5_2_101"/>
            <p:cNvSpPr/>
            <p:nvPr/>
          </p:nvSpPr>
          <p:spPr>
            <a:xfrm>
              <a:off x="6153912" y="1280160"/>
              <a:ext cx="41100" cy="1828800"/>
            </a:xfrm>
            <a:prstGeom prst="rect">
              <a:avLst/>
            </a:prstGeom>
            <a:solidFill>
              <a:srgbClr val="5F513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" name="Google Shape;328;g3fa15e3bff5_2_101"/>
            <p:cNvSpPr/>
            <p:nvPr/>
          </p:nvSpPr>
          <p:spPr>
            <a:xfrm>
              <a:off x="8842248" y="1280160"/>
              <a:ext cx="2523600" cy="1828800"/>
            </a:xfrm>
            <a:prstGeom prst="rect">
              <a:avLst/>
            </a:prstGeom>
            <a:solidFill>
              <a:srgbClr val="10223E">
                <a:alpha val="87840"/>
              </a:srgbClr>
            </a:solidFill>
            <a:ln cap="flat" cmpd="sng" w="12700">
              <a:solidFill>
                <a:srgbClr val="4B493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9" name="Google Shape;329;g3fa15e3bff5_2_101"/>
            <p:cNvSpPr/>
            <p:nvPr/>
          </p:nvSpPr>
          <p:spPr>
            <a:xfrm>
              <a:off x="8842248" y="1280160"/>
              <a:ext cx="41100" cy="1828800"/>
            </a:xfrm>
            <a:prstGeom prst="rect">
              <a:avLst/>
            </a:prstGeom>
            <a:solidFill>
              <a:srgbClr val="5F513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30" name="Google Shape;330;g3fa15e3bff5_2_101"/>
          <p:cNvSpPr txBox="1"/>
          <p:nvPr/>
        </p:nvSpPr>
        <p:spPr>
          <a:xfrm>
            <a:off x="1004193" y="1937216"/>
            <a:ext cx="2048400" cy="13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①  파리티</a:t>
            </a:r>
            <a:endParaRPr b="1" i="0" sz="1700" u="none" cap="none" strike="noStrike">
              <a:solidFill>
                <a:srgbClr val="F0E6D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lnSpc>
                <a:spcPct val="132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C8C5BC"/>
                </a:solidFill>
                <a:latin typeface="Malgun Gothic"/>
                <a:ea typeface="Malgun Gothic"/>
                <a:cs typeface="Malgun Gothic"/>
                <a:sym typeface="Malgun Gothic"/>
              </a:rPr>
              <a:t>손계산 = 모델 = 화면</a:t>
            </a:r>
            <a:endParaRPr b="0" i="0" sz="1600" u="none" cap="none" strike="noStrike">
              <a:solidFill>
                <a:srgbClr val="C8C5BC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C8C5BC"/>
                </a:solidFill>
                <a:latin typeface="Malgun Gothic"/>
                <a:ea typeface="Malgun Gothic"/>
                <a:cs typeface="Malgun Gothic"/>
                <a:sym typeface="Malgun Gothic"/>
              </a:rPr>
              <a:t>0.818255 소수점 일치</a:t>
            </a:r>
            <a:br>
              <a:rPr b="0" i="0" lang="en-US" sz="1250" u="none" cap="none" strike="noStrike">
                <a:solidFill>
                  <a:srgbClr val="C8C5BC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endParaRPr b="0" i="0" sz="1350" u="none" cap="none" strike="noStrike">
              <a:solidFill>
                <a:srgbClr val="C8C5BC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1" name="Google Shape;331;g3fa15e3bff5_2_101"/>
          <p:cNvSpPr txBox="1"/>
          <p:nvPr/>
        </p:nvSpPr>
        <p:spPr>
          <a:xfrm>
            <a:off x="3719473" y="1896135"/>
            <a:ext cx="2048400" cy="12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②  수치 대조</a:t>
            </a:r>
            <a:endParaRPr b="1" i="0" sz="1600" u="none" cap="none" strike="noStrike">
              <a:solidFill>
                <a:srgbClr val="F0E6D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lnSpc>
                <a:spcPct val="132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8C5BC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문서 24개의 숫자를</a:t>
            </a:r>
            <a:endParaRPr b="0" i="0" sz="1500" u="none" cap="none" strike="noStrike">
              <a:solidFill>
                <a:srgbClr val="C8C5BC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8C5BC"/>
                </a:solidFill>
                <a:latin typeface="Malgun Gothic"/>
                <a:ea typeface="Malgun Gothic"/>
                <a:cs typeface="Malgun Gothic"/>
                <a:sym typeface="Malgun Gothic"/>
              </a:rPr>
              <a:t>근거 CSV 와 자동 대조</a:t>
            </a:r>
            <a:endParaRPr b="0" i="0" sz="1500" u="none" cap="none" strike="noStrike">
              <a:solidFill>
                <a:srgbClr val="C8C5BC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8C5BC"/>
                </a:solidFill>
                <a:latin typeface="Malgun Gothic"/>
                <a:ea typeface="Malgun Gothic"/>
                <a:cs typeface="Malgun Gothic"/>
                <a:sym typeface="Malgun Gothic"/>
              </a:rPr>
              <a:t>— 어긋남 0건</a:t>
            </a:r>
            <a:endParaRPr b="0" i="0" sz="1500" u="none" cap="none" strike="noStrike">
              <a:solidFill>
                <a:srgbClr val="C8C5BC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2" name="Google Shape;332;g3fa15e3bff5_2_101"/>
          <p:cNvSpPr txBox="1"/>
          <p:nvPr/>
        </p:nvSpPr>
        <p:spPr>
          <a:xfrm>
            <a:off x="6230725" y="1894196"/>
            <a:ext cx="2400300" cy="13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③  회귀</a:t>
            </a:r>
            <a:endParaRPr b="1" i="0" sz="1700" u="none" cap="none" strike="noStrike">
              <a:solidFill>
                <a:srgbClr val="F0E6D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lnSpc>
                <a:spcPct val="132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C8C5BC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예측 50건이 골든</a:t>
            </a:r>
            <a:endParaRPr b="0" i="0" sz="1600" u="none" cap="none" strike="noStrike">
              <a:solidFill>
                <a:srgbClr val="C8C5BC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C8C5BC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정답지와 완전 일치</a:t>
            </a:r>
            <a:br>
              <a:rPr b="0" i="0" lang="en-US" sz="1600" u="none" cap="none" strike="noStrike">
                <a:solidFill>
                  <a:srgbClr val="C8C5BC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endParaRPr b="0" i="0" sz="1600" u="none" cap="none" strike="noStrike">
              <a:solidFill>
                <a:srgbClr val="C8C5BC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3" name="Google Shape;333;g3fa15e3bff5_2_101"/>
          <p:cNvSpPr txBox="1"/>
          <p:nvPr/>
        </p:nvSpPr>
        <p:spPr>
          <a:xfrm>
            <a:off x="9066669" y="1810335"/>
            <a:ext cx="2112300" cy="16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④  계약</a:t>
            </a:r>
            <a:endParaRPr b="1" i="0" sz="1700" u="none" cap="none" strike="noStrike">
              <a:solidFill>
                <a:srgbClr val="F0E6D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lnSpc>
                <a:spcPct val="132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C8C5BC"/>
                </a:solidFill>
                <a:latin typeface="Malgun Gothic"/>
                <a:ea typeface="Malgun Gothic"/>
                <a:cs typeface="Malgun Gothic"/>
                <a:sym typeface="Malgun Gothic"/>
              </a:rPr>
              <a:t>API 응답을 명세와</a:t>
            </a:r>
            <a:endParaRPr b="0" i="0" sz="1600" u="none" cap="none" strike="noStrike">
              <a:solidFill>
                <a:srgbClr val="C8C5BC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C8C5BC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대조 — 검증 21항목</a:t>
            </a:r>
            <a:endParaRPr b="0" i="0" sz="1600" u="none" cap="none" strike="noStrike">
              <a:solidFill>
                <a:srgbClr val="C8C5BC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C8C5BC"/>
                </a:solidFill>
                <a:latin typeface="Malgun Gothic"/>
                <a:ea typeface="Malgun Gothic"/>
                <a:cs typeface="Malgun Gothic"/>
                <a:sym typeface="Malgun Gothic"/>
              </a:rPr>
              <a:t/>
            </a:r>
            <a:br>
              <a:rPr b="0" i="0" lang="en-US" sz="1250" u="none" cap="none" strike="noStrike">
                <a:solidFill>
                  <a:srgbClr val="C8C5BC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endParaRPr b="0" i="0" sz="1350" u="none" cap="none" strike="noStrike">
              <a:solidFill>
                <a:srgbClr val="C8C5BC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4" name="Google Shape;334;g3fa15e3bff5_2_101"/>
          <p:cNvSpPr txBox="1"/>
          <p:nvPr/>
        </p:nvSpPr>
        <p:spPr>
          <a:xfrm>
            <a:off x="886900" y="4037800"/>
            <a:ext cx="10415100" cy="120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◆  새 검증 규칙은 틀린 값을 넣어 "실제로 잡히는지" 반대 방향으로 확인합니다</a:t>
            </a:r>
            <a:endParaRPr b="1" i="0" sz="1700" u="none" cap="none" strike="noStrike">
              <a:solidFill>
                <a:srgbClr val="F0E6D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3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C8C5BC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배포 전 21항목이 전부 통과해야 합니다 — 문서·코드·화면이 서로를 검증합니다</a:t>
            </a:r>
            <a:r>
              <a:rPr lang="en-US" sz="1700">
                <a:solidFill>
                  <a:srgbClr val="C8C5BC"/>
                </a:solidFill>
                <a:latin typeface="Malgun Gothic"/>
                <a:ea typeface="Malgun Gothic"/>
                <a:cs typeface="Malgun Gothic"/>
                <a:sym typeface="Malgun Gothic"/>
              </a:rPr>
              <a:t/>
            </a:r>
            <a:endParaRPr b="0" i="0" sz="1700" u="none" cap="none" strike="noStrike">
              <a:solidFill>
                <a:srgbClr val="C8C5BC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3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C8C5BC"/>
                </a:solidFill>
                <a:latin typeface="Malgun Gothic"/>
                <a:ea typeface="Malgun Gothic"/>
                <a:cs typeface="Malgun Gothic"/>
                <a:sym typeface="Malgun Gothic"/>
              </a:rPr>
              <a:t>•  덕분에 회귀(화면 먹통·수치 불일치)를 세 번 잡았습니다</a:t>
            </a:r>
            <a:endParaRPr b="0" i="0" sz="1700" u="none" cap="none" strike="noStrike">
              <a:solidFill>
                <a:srgbClr val="C8C5BC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5" name="Google Shape;335;g3fa15e3bff5_2_101"/>
          <p:cNvSpPr txBox="1"/>
          <p:nvPr/>
        </p:nvSpPr>
        <p:spPr>
          <a:xfrm>
            <a:off x="10972800" y="6574536"/>
            <a:ext cx="868800" cy="14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950" u="none" cap="none" strike="noStrike">
                <a:solidFill>
                  <a:srgbClr val="73726E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950" u="none" cap="none" strike="noStrike">
              <a:solidFill>
                <a:srgbClr val="73726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7" name="Shape 10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Google Shape;1078;p36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gradFill>
            <a:gsLst>
              <a:gs pos="0">
                <a:srgbClr val="0A1428"/>
              </a:gs>
              <a:gs pos="100000">
                <a:srgbClr val="010A13"/>
              </a:gs>
            </a:gsLst>
            <a:lin ang="16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rift_scene.jpg" id="1079" name="Google Shape;1079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96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80" name="Google Shape;1080;p3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A13">
              <a:alpha val="8784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1" name="Google Shape;1081;p36"/>
          <p:cNvSpPr/>
          <p:nvPr/>
        </p:nvSpPr>
        <p:spPr>
          <a:xfrm>
            <a:off x="0" y="0"/>
            <a:ext cx="12191969" cy="50292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2" name="Google Shape;1082;p36"/>
          <p:cNvSpPr/>
          <p:nvPr/>
        </p:nvSpPr>
        <p:spPr>
          <a:xfrm>
            <a:off x="0" y="6807708"/>
            <a:ext cx="12191969" cy="50292"/>
          </a:xfrm>
          <a:prstGeom prst="rect">
            <a:avLst/>
          </a:prstGeom>
          <a:solidFill>
            <a:srgbClr val="6E5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3" name="Google Shape;1083;p36"/>
          <p:cNvSpPr/>
          <p:nvPr/>
        </p:nvSpPr>
        <p:spPr>
          <a:xfrm>
            <a:off x="274320" y="6569964"/>
            <a:ext cx="685800" cy="27432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4" name="Google Shape;1084;p36"/>
          <p:cNvSpPr/>
          <p:nvPr/>
        </p:nvSpPr>
        <p:spPr>
          <a:xfrm>
            <a:off x="260603" y="5897880"/>
            <a:ext cx="27432" cy="685800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5" name="Google Shape;1085;p36"/>
          <p:cNvSpPr/>
          <p:nvPr/>
        </p:nvSpPr>
        <p:spPr>
          <a:xfrm>
            <a:off x="11231849" y="6569964"/>
            <a:ext cx="685800" cy="27432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6" name="Google Shape;1086;p36"/>
          <p:cNvSpPr/>
          <p:nvPr/>
        </p:nvSpPr>
        <p:spPr>
          <a:xfrm>
            <a:off x="11903933" y="5897880"/>
            <a:ext cx="27432" cy="685800"/>
          </a:xfrm>
          <a:prstGeom prst="rect">
            <a:avLst/>
          </a:prstGeom>
          <a:solidFill>
            <a:srgbClr val="866C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7" name="Google Shape;1087;p36"/>
          <p:cNvSpPr txBox="1"/>
          <p:nvPr/>
        </p:nvSpPr>
        <p:spPr>
          <a:xfrm>
            <a:off x="777240" y="530352"/>
            <a:ext cx="10634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5. 서비스 · 향후 </a:t>
            </a:r>
            <a:r>
              <a:rPr b="1" lang="en-US" sz="3000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방향</a:t>
            </a:r>
            <a:r>
              <a:rPr b="1" i="0" lang="en-US" sz="30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|   </a:t>
            </a:r>
            <a:r>
              <a:rPr b="1" lang="en-US" sz="2500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후속 서비스 개발 계획</a:t>
            </a:r>
            <a:endParaRPr/>
          </a:p>
        </p:txBody>
      </p:sp>
      <p:sp>
        <p:nvSpPr>
          <p:cNvPr id="1088" name="Google Shape;1088;p36"/>
          <p:cNvSpPr/>
          <p:nvPr/>
        </p:nvSpPr>
        <p:spPr>
          <a:xfrm>
            <a:off x="795528" y="1115568"/>
            <a:ext cx="1051560" cy="32004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9" name="Google Shape;1089;p36"/>
          <p:cNvSpPr/>
          <p:nvPr/>
        </p:nvSpPr>
        <p:spPr>
          <a:xfrm>
            <a:off x="1892807" y="1110996"/>
            <a:ext cx="41148" cy="41148"/>
          </a:xfrm>
          <a:prstGeom prst="diamond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90" name="Google Shape;1090;p36"/>
          <p:cNvGrpSpPr/>
          <p:nvPr/>
        </p:nvGrpSpPr>
        <p:grpSpPr>
          <a:xfrm>
            <a:off x="746475" y="1519450"/>
            <a:ext cx="10699000" cy="826850"/>
            <a:chOff x="777150" y="1519450"/>
            <a:chExt cx="10699000" cy="826850"/>
          </a:xfrm>
        </p:grpSpPr>
        <p:sp>
          <p:nvSpPr>
            <p:cNvPr id="1091" name="Google Shape;1091;p36"/>
            <p:cNvSpPr/>
            <p:nvPr/>
          </p:nvSpPr>
          <p:spPr>
            <a:xfrm>
              <a:off x="777250" y="1519450"/>
              <a:ext cx="10698900" cy="826800"/>
            </a:xfrm>
            <a:prstGeom prst="rect">
              <a:avLst/>
            </a:prstGeom>
            <a:solidFill>
              <a:srgbClr val="10223E">
                <a:alpha val="87843"/>
              </a:srgbClr>
            </a:solidFill>
            <a:ln cap="flat" cmpd="sng" w="12700">
              <a:solidFill>
                <a:srgbClr val="44213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92" name="Google Shape;1092;p36"/>
            <p:cNvSpPr/>
            <p:nvPr/>
          </p:nvSpPr>
          <p:spPr>
            <a:xfrm>
              <a:off x="777150" y="1519500"/>
              <a:ext cx="45600" cy="826800"/>
            </a:xfrm>
            <a:prstGeom prst="rect">
              <a:avLst/>
            </a:prstGeom>
            <a:solidFill>
              <a:srgbClr val="BE1E37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93" name="Google Shape;1093;p36"/>
          <p:cNvGrpSpPr/>
          <p:nvPr/>
        </p:nvGrpSpPr>
        <p:grpSpPr>
          <a:xfrm>
            <a:off x="746475" y="2825625"/>
            <a:ext cx="10699000" cy="826850"/>
            <a:chOff x="777150" y="1519450"/>
            <a:chExt cx="10699000" cy="826850"/>
          </a:xfrm>
        </p:grpSpPr>
        <p:sp>
          <p:nvSpPr>
            <p:cNvPr id="1094" name="Google Shape;1094;p36"/>
            <p:cNvSpPr/>
            <p:nvPr/>
          </p:nvSpPr>
          <p:spPr>
            <a:xfrm>
              <a:off x="777250" y="1519450"/>
              <a:ext cx="10698900" cy="826800"/>
            </a:xfrm>
            <a:prstGeom prst="rect">
              <a:avLst/>
            </a:prstGeom>
            <a:solidFill>
              <a:srgbClr val="10223E">
                <a:alpha val="87840"/>
              </a:srgbClr>
            </a:solidFill>
            <a:ln cap="flat" cmpd="sng" w="12700">
              <a:solidFill>
                <a:srgbClr val="44213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95" name="Google Shape;1095;p36"/>
            <p:cNvSpPr/>
            <p:nvPr/>
          </p:nvSpPr>
          <p:spPr>
            <a:xfrm>
              <a:off x="777150" y="1519500"/>
              <a:ext cx="45600" cy="826800"/>
            </a:xfrm>
            <a:prstGeom prst="rect">
              <a:avLst/>
            </a:prstGeom>
            <a:solidFill>
              <a:srgbClr val="BE1E37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96" name="Google Shape;1096;p36"/>
          <p:cNvSpPr txBox="1"/>
          <p:nvPr/>
        </p:nvSpPr>
        <p:spPr>
          <a:xfrm>
            <a:off x="1051560" y="1637200"/>
            <a:ext cx="10149900" cy="59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접전 판별력 끌어올리기</a:t>
            </a:r>
            <a:endParaRPr b="1" i="0" sz="1700" u="none" cap="none" strike="noStrike">
              <a:solidFill>
                <a:srgbClr val="F0E6D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550" u="none" cap="none" strike="noStrike">
                <a:solidFill>
                  <a:srgbClr val="C8C5BC"/>
                </a:solidFill>
                <a:latin typeface="Malgun Gothic"/>
                <a:ea typeface="Malgun Gothic"/>
                <a:cs typeface="Malgun Gothic"/>
                <a:sym typeface="Malgun Gothic"/>
              </a:rPr>
              <a:t>10분 정보의 상한(2단계 모델 4종 실측으로 확인) — 시점 확장이 다음 열쇠</a:t>
            </a:r>
            <a:endParaRPr b="0" i="0" sz="1550" u="none" cap="none" strike="noStrike">
              <a:solidFill>
                <a:srgbClr val="C8C5BC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97" name="Google Shape;1097;p36"/>
          <p:cNvSpPr txBox="1"/>
          <p:nvPr/>
        </p:nvSpPr>
        <p:spPr>
          <a:xfrm>
            <a:off x="1051560" y="2943400"/>
            <a:ext cx="10149900" cy="59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코칭을 실험으로 검증</a:t>
            </a:r>
            <a:endParaRPr sz="1800"/>
          </a:p>
          <a:p>
            <a:pPr indent="0" lvl="0" marL="0" marR="0" rt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550" u="none" cap="none" strike="noStrike">
                <a:solidFill>
                  <a:srgbClr val="C8C5BC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지금은 관찰 기록 — 개입 실험(A/B)으로 재면 진짜 코칭이 됩니다       </a:t>
            </a:r>
            <a:endParaRPr sz="1800"/>
          </a:p>
        </p:txBody>
      </p:sp>
      <p:grpSp>
        <p:nvGrpSpPr>
          <p:cNvPr id="1098" name="Google Shape;1098;p36"/>
          <p:cNvGrpSpPr/>
          <p:nvPr/>
        </p:nvGrpSpPr>
        <p:grpSpPr>
          <a:xfrm>
            <a:off x="746475" y="4131825"/>
            <a:ext cx="10699000" cy="826850"/>
            <a:chOff x="777150" y="1519450"/>
            <a:chExt cx="10699000" cy="826850"/>
          </a:xfrm>
        </p:grpSpPr>
        <p:sp>
          <p:nvSpPr>
            <p:cNvPr id="1099" name="Google Shape;1099;p36"/>
            <p:cNvSpPr/>
            <p:nvPr/>
          </p:nvSpPr>
          <p:spPr>
            <a:xfrm>
              <a:off x="777250" y="1519450"/>
              <a:ext cx="10698900" cy="826800"/>
            </a:xfrm>
            <a:prstGeom prst="rect">
              <a:avLst/>
            </a:prstGeom>
            <a:solidFill>
              <a:srgbClr val="10223E">
                <a:alpha val="87840"/>
              </a:srgbClr>
            </a:solidFill>
            <a:ln cap="flat" cmpd="sng" w="12700">
              <a:solidFill>
                <a:srgbClr val="44213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0" name="Google Shape;1100;p36"/>
            <p:cNvSpPr/>
            <p:nvPr/>
          </p:nvSpPr>
          <p:spPr>
            <a:xfrm>
              <a:off x="777150" y="1519500"/>
              <a:ext cx="45600" cy="826800"/>
            </a:xfrm>
            <a:prstGeom prst="rect">
              <a:avLst/>
            </a:prstGeom>
            <a:solidFill>
              <a:srgbClr val="BE1E37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01" name="Google Shape;1101;p36"/>
          <p:cNvGrpSpPr/>
          <p:nvPr/>
        </p:nvGrpSpPr>
        <p:grpSpPr>
          <a:xfrm>
            <a:off x="746475" y="5469762"/>
            <a:ext cx="10699000" cy="826850"/>
            <a:chOff x="777150" y="1519450"/>
            <a:chExt cx="10699000" cy="826850"/>
          </a:xfrm>
        </p:grpSpPr>
        <p:sp>
          <p:nvSpPr>
            <p:cNvPr id="1102" name="Google Shape;1102;p36"/>
            <p:cNvSpPr/>
            <p:nvPr/>
          </p:nvSpPr>
          <p:spPr>
            <a:xfrm>
              <a:off x="777250" y="1519450"/>
              <a:ext cx="10698900" cy="826800"/>
            </a:xfrm>
            <a:prstGeom prst="rect">
              <a:avLst/>
            </a:prstGeom>
            <a:solidFill>
              <a:srgbClr val="10223E">
                <a:alpha val="87840"/>
              </a:srgbClr>
            </a:solidFill>
            <a:ln cap="flat" cmpd="sng" w="12700">
              <a:solidFill>
                <a:srgbClr val="44213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3" name="Google Shape;1103;p36"/>
            <p:cNvSpPr/>
            <p:nvPr/>
          </p:nvSpPr>
          <p:spPr>
            <a:xfrm>
              <a:off x="777150" y="1519500"/>
              <a:ext cx="45600" cy="826800"/>
            </a:xfrm>
            <a:prstGeom prst="rect">
              <a:avLst/>
            </a:prstGeom>
            <a:solidFill>
              <a:srgbClr val="BE1E37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04" name="Google Shape;1104;p36"/>
          <p:cNvSpPr txBox="1"/>
          <p:nvPr/>
        </p:nvSpPr>
        <p:spPr>
          <a:xfrm>
            <a:off x="1051560" y="4249600"/>
            <a:ext cx="10149900" cy="59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패치 · 티어 확장</a:t>
            </a:r>
            <a:endParaRPr sz="1800"/>
          </a:p>
          <a:p>
            <a:pPr indent="0" lvl="0" marL="0" marR="0" rt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550" u="none" cap="none" strike="noStrike">
                <a:solidFill>
                  <a:srgbClr val="C8C5BC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아이언~실버 실측 진행 중 — 재학습 파이프라인으로 자동화</a:t>
            </a:r>
            <a:endParaRPr sz="1800"/>
          </a:p>
        </p:txBody>
      </p:sp>
      <p:sp>
        <p:nvSpPr>
          <p:cNvPr id="1105" name="Google Shape;1105;p36"/>
          <p:cNvSpPr txBox="1"/>
          <p:nvPr/>
        </p:nvSpPr>
        <p:spPr>
          <a:xfrm>
            <a:off x="1021035" y="5587537"/>
            <a:ext cx="10149900" cy="59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수익 모델 실험</a:t>
            </a:r>
            <a:endParaRPr sz="1800"/>
          </a:p>
          <a:p>
            <a:pPr indent="0" lvl="0" marL="0" marR="0" rt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550" u="none" cap="none" strike="noStrike">
                <a:solidFill>
                  <a:srgbClr val="C8C5BC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예측을 팔고(정밀도) · 끝난 판의 기록을 쌓아 판다(재현율) — </a:t>
            </a:r>
            <a:r>
              <a:rPr lang="en-US" sz="1550">
                <a:solidFill>
                  <a:srgbClr val="C8C5BC"/>
                </a:solidFill>
                <a:latin typeface="Malgun Gothic"/>
                <a:ea typeface="Malgun Gothic"/>
                <a:cs typeface="Malgun Gothic"/>
                <a:sym typeface="Malgun Gothic"/>
              </a:rPr>
              <a:t>승부예측 서비스 or 분석 데이터 자체를 상품화</a:t>
            </a:r>
            <a:endParaRPr sz="1800"/>
          </a:p>
        </p:txBody>
      </p:sp>
      <p:sp>
        <p:nvSpPr>
          <p:cNvPr id="1106" name="Google Shape;1106;p36"/>
          <p:cNvSpPr txBox="1"/>
          <p:nvPr/>
        </p:nvSpPr>
        <p:spPr>
          <a:xfrm>
            <a:off x="10972800" y="6574536"/>
            <a:ext cx="868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950" u="none" cap="none" strike="noStrike">
                <a:solidFill>
                  <a:srgbClr val="73726E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950" u="none" cap="none" strike="noStrike">
              <a:solidFill>
                <a:srgbClr val="73726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111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victory_bg.jpg" id="1112" name="Google Shape;111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13000" y="0"/>
            <a:ext cx="1219197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3" name="Google Shape;1113;p37"/>
          <p:cNvSpPr/>
          <p:nvPr/>
        </p:nvSpPr>
        <p:spPr>
          <a:xfrm>
            <a:off x="-113000" y="3086100"/>
            <a:ext cx="12192000" cy="3771900"/>
          </a:xfrm>
          <a:prstGeom prst="rect">
            <a:avLst/>
          </a:prstGeom>
          <a:gradFill>
            <a:gsLst>
              <a:gs pos="0">
                <a:srgbClr val="0A1428">
                  <a:alpha val="0"/>
                </a:srgbClr>
              </a:gs>
              <a:gs pos="100000">
                <a:srgbClr val="010A13">
                  <a:alpha val="70196"/>
                </a:srgbClr>
              </a:gs>
            </a:gsLst>
            <a:lin ang="162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4" name="Google Shape;1114;p37"/>
          <p:cNvSpPr/>
          <p:nvPr/>
        </p:nvSpPr>
        <p:spPr>
          <a:xfrm>
            <a:off x="-113000" y="0"/>
            <a:ext cx="12192000" cy="5040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5" name="Google Shape;1115;p37"/>
          <p:cNvSpPr/>
          <p:nvPr/>
        </p:nvSpPr>
        <p:spPr>
          <a:xfrm>
            <a:off x="-113000" y="6807708"/>
            <a:ext cx="12192000" cy="50400"/>
          </a:xfrm>
          <a:prstGeom prst="rect">
            <a:avLst/>
          </a:prstGeom>
          <a:solidFill>
            <a:srgbClr val="6E5A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6" name="Google Shape;1116;p37"/>
          <p:cNvSpPr/>
          <p:nvPr/>
        </p:nvSpPr>
        <p:spPr>
          <a:xfrm>
            <a:off x="271048" y="370332"/>
            <a:ext cx="1234500" cy="2730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7" name="Google Shape;1117;p37"/>
          <p:cNvSpPr/>
          <p:nvPr/>
        </p:nvSpPr>
        <p:spPr>
          <a:xfrm>
            <a:off x="257332" y="384048"/>
            <a:ext cx="27300" cy="123450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8" name="Google Shape;1118;p37"/>
          <p:cNvSpPr/>
          <p:nvPr/>
        </p:nvSpPr>
        <p:spPr>
          <a:xfrm>
            <a:off x="225328" y="338328"/>
            <a:ext cx="91500" cy="91500"/>
          </a:xfrm>
          <a:prstGeom prst="diamond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9" name="Google Shape;1119;p37"/>
          <p:cNvSpPr/>
          <p:nvPr/>
        </p:nvSpPr>
        <p:spPr>
          <a:xfrm>
            <a:off x="10460481" y="370332"/>
            <a:ext cx="1234500" cy="2730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0" name="Google Shape;1120;p37"/>
          <p:cNvSpPr/>
          <p:nvPr/>
        </p:nvSpPr>
        <p:spPr>
          <a:xfrm>
            <a:off x="11681205" y="384048"/>
            <a:ext cx="27300" cy="123450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1" name="Google Shape;1121;p37"/>
          <p:cNvSpPr/>
          <p:nvPr/>
        </p:nvSpPr>
        <p:spPr>
          <a:xfrm>
            <a:off x="11740641" y="338328"/>
            <a:ext cx="91500" cy="91500"/>
          </a:xfrm>
          <a:prstGeom prst="diamond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2" name="Google Shape;1122;p37"/>
          <p:cNvSpPr/>
          <p:nvPr/>
        </p:nvSpPr>
        <p:spPr>
          <a:xfrm>
            <a:off x="271048" y="6460236"/>
            <a:ext cx="1234500" cy="2730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3" name="Google Shape;1123;p37"/>
          <p:cNvSpPr/>
          <p:nvPr/>
        </p:nvSpPr>
        <p:spPr>
          <a:xfrm>
            <a:off x="257332" y="5239512"/>
            <a:ext cx="27300" cy="123450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4" name="Google Shape;1124;p37"/>
          <p:cNvSpPr/>
          <p:nvPr/>
        </p:nvSpPr>
        <p:spPr>
          <a:xfrm>
            <a:off x="225328" y="6519672"/>
            <a:ext cx="91500" cy="91500"/>
          </a:xfrm>
          <a:prstGeom prst="diamond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5" name="Google Shape;1125;p37"/>
          <p:cNvSpPr/>
          <p:nvPr/>
        </p:nvSpPr>
        <p:spPr>
          <a:xfrm>
            <a:off x="10460481" y="6460236"/>
            <a:ext cx="1234500" cy="2730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6" name="Google Shape;1126;p37"/>
          <p:cNvSpPr/>
          <p:nvPr/>
        </p:nvSpPr>
        <p:spPr>
          <a:xfrm>
            <a:off x="11681205" y="5239512"/>
            <a:ext cx="27300" cy="123450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7" name="Google Shape;1127;p37"/>
          <p:cNvSpPr/>
          <p:nvPr/>
        </p:nvSpPr>
        <p:spPr>
          <a:xfrm>
            <a:off x="11740641" y="6519672"/>
            <a:ext cx="91500" cy="91500"/>
          </a:xfrm>
          <a:prstGeom prst="diamond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8" name="Google Shape;1128;p37"/>
          <p:cNvSpPr txBox="1"/>
          <p:nvPr/>
        </p:nvSpPr>
        <p:spPr>
          <a:xfrm>
            <a:off x="372248" y="2281427"/>
            <a:ext cx="112215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골드차 4천이면 끝난 경기,</a:t>
            </a:r>
            <a:endParaRPr b="1" i="0" sz="6000" u="none" cap="none" strike="noStrike">
              <a:solidFill>
                <a:srgbClr val="F0E6D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F0E6D2"/>
                </a:solidFill>
                <a:latin typeface="Malgun Gothic"/>
                <a:ea typeface="Malgun Gothic"/>
                <a:cs typeface="Malgun Gothic"/>
                <a:sym typeface="Malgun Gothic"/>
              </a:rPr>
              <a:t>1천 미만이면 이제 시작입니다</a:t>
            </a:r>
            <a:endParaRPr b="1" i="0" sz="6000" u="none" cap="none" strike="noStrike">
              <a:solidFill>
                <a:srgbClr val="F0E6D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29" name="Google Shape;1129;p37"/>
          <p:cNvSpPr/>
          <p:nvPr/>
        </p:nvSpPr>
        <p:spPr>
          <a:xfrm>
            <a:off x="3982624" y="3525011"/>
            <a:ext cx="4000800" cy="109800"/>
          </a:xfrm>
          <a:prstGeom prst="rect">
            <a:avLst/>
          </a:prstGeom>
          <a:solidFill>
            <a:srgbClr val="C89B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0" name="Google Shape;1130;p37"/>
          <p:cNvSpPr txBox="1"/>
          <p:nvPr/>
        </p:nvSpPr>
        <p:spPr>
          <a:xfrm>
            <a:off x="372248" y="4073652"/>
            <a:ext cx="11221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C89B3C"/>
                </a:solidFill>
                <a:latin typeface="Malgun Gothic"/>
                <a:ea typeface="Malgun Gothic"/>
                <a:cs typeface="Malgun Gothic"/>
                <a:sym typeface="Malgun Gothic"/>
              </a:rPr>
              <a:t>GitHub  github.com/wpalswpa/project2608     ·     Live  p4.sumzip.com</a:t>
            </a:r>
            <a:endParaRPr/>
          </a:p>
        </p:txBody>
      </p:sp>
      <p:sp>
        <p:nvSpPr>
          <p:cNvPr id="1131" name="Google Shape;1131;p37"/>
          <p:cNvSpPr txBox="1"/>
          <p:nvPr/>
        </p:nvSpPr>
        <p:spPr>
          <a:xfrm>
            <a:off x="10859800" y="6574536"/>
            <a:ext cx="868800" cy="146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950" u="none" cap="none" strike="noStrike">
                <a:solidFill>
                  <a:srgbClr val="73726E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950" u="none" cap="none" strike="noStrike">
              <a:solidFill>
                <a:srgbClr val="73726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