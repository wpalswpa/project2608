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440000"/>
            <a:ext cx="72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274BDB"/>
                </a:solidFill>
                <a:latin typeface="맑은 고딕"/>
              </a:rPr>
              <a:t>머신러닝 팀 프로젝트 · 취업 포트폴리오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1800000"/>
            <a:ext cx="936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900" b="1">
                <a:solidFill>
                  <a:srgbClr val="1A202C"/>
                </a:solidFill>
                <a:latin typeface="맑은 고딕"/>
              </a:rPr>
              <a:t>LoL 경기는 언제
승부가 결정되는가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3456000"/>
            <a:ext cx="972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50" b="0">
                <a:solidFill>
                  <a:srgbClr val="1A202C"/>
                </a:solidFill>
                <a:latin typeface="맑은 고딕"/>
              </a:rPr>
              <a:t>10분 시점의 팀 지표 13개로 승패를 판정하고 </a:t>
            </a:r>
            <a:r>
              <a:rPr sz="1450" b="1">
                <a:solidFill>
                  <a:srgbClr val="274BDB"/>
                </a:solidFill>
                <a:latin typeface="맑은 고딕"/>
              </a:rPr>
              <a:t>왜</a:t>
            </a:r>
            <a:r>
              <a:rPr sz="1450" b="0">
                <a:solidFill>
                  <a:srgbClr val="1A202C"/>
                </a:solidFill>
                <a:latin typeface="맑은 고딕"/>
              </a:rPr>
              <a:t>까지 설명하는 서비스를 만들었습니다.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50" b="0">
                <a:solidFill>
                  <a:srgbClr val="1A202C"/>
                </a:solidFill>
                <a:latin typeface="맑은 고딕"/>
              </a:rPr>
              <a:t>로지스틱 회귀 하나로 — 정확도 0.7366, 찍기 대비 +23.8%p.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4752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667085"/>
                </a:solidFill>
                <a:latin typeface="맑은 고딕"/>
              </a:rPr>
              <a:t>역할 — 데이터 분석 · 모델링 · 검증 체계 · 웹 서비스 구현 (4인 팀, 이제민)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5238000"/>
            <a:ext cx="306000" cy="25200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5400000"/>
            <a:ext cx="100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98A2B3"/>
                </a:solidFill>
                <a:latin typeface="맑은 고딕"/>
              </a:rPr>
              <a:t>GitHub  </a:t>
            </a:r>
            <a:r>
              <a:rPr sz="1100" b="1">
                <a:solidFill>
                  <a:srgbClr val="1A202C"/>
                </a:solidFill>
                <a:latin typeface="맑은 고딕"/>
              </a:rPr>
              <a:t>github.com/wpalswpa/project2608</a:t>
            </a:r>
            <a:r>
              <a:rPr sz="1050" b="0">
                <a:solidFill>
                  <a:srgbClr val="98A2B3"/>
                </a:solidFill>
                <a:latin typeface="맑은 고딕"/>
              </a:rPr>
              <a:t>      Live  </a:t>
            </a:r>
            <a:r>
              <a:rPr sz="1100" b="1">
                <a:solidFill>
                  <a:srgbClr val="1A202C"/>
                </a:solidFill>
                <a:latin typeface="맑은 고딕"/>
              </a:rPr>
              <a:t>p4.sumzip.com</a:t>
            </a:r>
            <a:r>
              <a:rPr sz="1050" b="0">
                <a:solidFill>
                  <a:srgbClr val="98A2B3"/>
                </a:solidFill>
                <a:latin typeface="맑은 고딕"/>
              </a:rPr>
              <a:t>      Stack  </a:t>
            </a:r>
            <a:r>
              <a:rPr sz="1050" b="0">
                <a:solidFill>
                  <a:srgbClr val="667085"/>
                </a:solidFill>
                <a:latin typeface="맑은 고딕"/>
              </a:rPr>
              <a:t>Python · scikit-learn · Flask · MariaDB · Riot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50" b="1">
                <a:solidFill>
                  <a:srgbClr val="1A202C"/>
                </a:solidFill>
                <a:latin typeface="맑은 고딕"/>
              </a:rPr>
              <a:t>30초 요약 — 숫자 네 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648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승패 판정 · 이제민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1655999"/>
            <a:ext cx="2463029" cy="1638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000" y="1807199"/>
            <a:ext cx="206703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667085"/>
                </a:solidFill>
                <a:latin typeface="맑은 고딕"/>
              </a:rPr>
              <a:t>판정 정확도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000" y="1998000"/>
            <a:ext cx="206703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1A202C"/>
                </a:solidFill>
                <a:latin typeface="맑은 고딕"/>
              </a:rPr>
              <a:t>0.7366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000" y="2843999"/>
            <a:ext cx="206703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분할 10회 반복 평균
찍기(0.501) 대비 +23.8%p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7030" y="1655999"/>
            <a:ext cx="2463029" cy="1638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5030" y="1807199"/>
            <a:ext cx="206703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667085"/>
                </a:solidFill>
                <a:latin typeface="맑은 고딕"/>
              </a:rPr>
              <a:t>접전 구간 정확도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5030" y="1998000"/>
            <a:ext cx="206703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D64550"/>
                </a:solidFill>
                <a:latin typeface="맑은 고딕"/>
              </a:rPr>
              <a:t>0.615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5030" y="2843999"/>
            <a:ext cx="206703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골드차 1천 미만(34%)
— 정보의 한계를 공개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2060" y="1655999"/>
            <a:ext cx="2463029" cy="1638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0060" y="1807199"/>
            <a:ext cx="206703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667085"/>
                </a:solidFill>
                <a:latin typeface="맑은 고딕"/>
              </a:rPr>
              <a:t>승리요인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0060" y="1998000"/>
            <a:ext cx="206703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1A202C"/>
                </a:solidFill>
                <a:latin typeface="맑은 고딕"/>
              </a:rPr>
              <a:t>1위 골드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0060" y="2843999"/>
            <a:ext cx="206703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골드 &gt; 경험치 &gt; 드래곤
두 방법(계수·permutation) 일치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7089" y="1655999"/>
            <a:ext cx="2463029" cy="1638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5090" y="1807199"/>
            <a:ext cx="206703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667085"/>
                </a:solidFill>
                <a:latin typeface="맑은 고딕"/>
              </a:rPr>
              <a:t>자동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5090" y="1998000"/>
            <a:ext cx="206703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1A202C"/>
                </a:solidFill>
                <a:latin typeface="맑은 고딕"/>
              </a:rPr>
              <a:t>21항목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5090" y="2843999"/>
            <a:ext cx="206703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파리티·수치 대조·회귀·계약
배포 전 전부 통과해야 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000" y="3726000"/>
            <a:ext cx="1060812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1A202C"/>
                </a:solidFill>
                <a:latin typeface="맑은 고딕"/>
              </a:rPr>
              <a:t>이 프로젝트가 보여주는 것 세 가지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1A202C"/>
                </a:solidFill>
                <a:latin typeface="맑은 고딕"/>
              </a:rPr>
              <a:t>①  결론까지의 검증 — </a:t>
            </a:r>
            <a:r>
              <a:rPr sz="1250" b="0">
                <a:solidFill>
                  <a:srgbClr val="667085"/>
                </a:solidFill>
                <a:latin typeface="맑은 고딕"/>
              </a:rPr>
              <a:t>시험지 1,976판을 봉인하고, 분할을 10번 바꿔도 결론이 유지되는지 확인했습니다.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1A202C"/>
                </a:solidFill>
                <a:latin typeface="맑은 고딕"/>
              </a:rPr>
              <a:t>②  이상 신호를 파고드는 힘 — </a:t>
            </a:r>
            <a:r>
              <a:rPr sz="1250" b="0">
                <a:solidFill>
                  <a:srgbClr val="667085"/>
                </a:solidFill>
                <a:latin typeface="맑은 고딕"/>
              </a:rPr>
              <a:t>"킬을 하면 진다"는 계수를 보고 멈추지 않고, 다중공선성을 진단해 원인을 증명했습니다.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1A202C"/>
                </a:solidFill>
                <a:latin typeface="맑은 고딕"/>
              </a:rPr>
              <a:t>③  한계를 먼저 말하는 문화 — </a:t>
            </a:r>
            <a:r>
              <a:rPr sz="1250" b="0">
                <a:solidFill>
                  <a:srgbClr val="667085"/>
                </a:solidFill>
                <a:latin typeface="맑은 고딕"/>
              </a:rPr>
              <a:t>접전은 못 맞힌다는 사실을 숨기지 않고 화면에 경고로 띄웁니다.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PROBLEM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50" b="1">
                <a:solidFill>
                  <a:srgbClr val="1A202C"/>
                </a:solidFill>
                <a:latin typeface="맑은 고딕"/>
              </a:rPr>
              <a:t>질문 두 개, 그리고 설계 원칙 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648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승패 판정 · 이제민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1620000"/>
            <a:ext cx="5112000" cy="1224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000" y="1818000"/>
            <a:ext cx="46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1A202C"/>
                </a:solidFill>
                <a:latin typeface="맑은 고딕"/>
              </a:rPr>
              <a:t>Q1.  10분 정보로 승패를 얼마나 맞히나?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4000" y="2250000"/>
            <a:ext cx="460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경기의 1/3은 10분에 이미 기울어 있다 — 그 경계를 숫자로 긋는다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999" y="1620000"/>
            <a:ext cx="5112000" cy="1224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6000" y="1818000"/>
            <a:ext cx="46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1A202C"/>
                </a:solidFill>
                <a:latin typeface="맑은 고딕"/>
              </a:rPr>
              <a:t>Q2.  무엇이 승패를 가르나?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000" y="2250000"/>
            <a:ext cx="460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"왜"를 반드시 낸다 — 이 요구가 모델·피처 선택을 전부 결정했다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204000"/>
            <a:ext cx="1060812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1A202C"/>
                </a:solidFill>
                <a:latin typeface="맑은 고딕"/>
              </a:rPr>
              <a:t>설계 원칙 — 분할을 별도 단계로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564000"/>
            <a:ext cx="1060812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1A202C"/>
                </a:solidFill>
                <a:latin typeface="맑은 고딕"/>
              </a:rPr>
              <a:t>CRISP-DM 을 따르되 한 곳을 바꿨습니다. 분할은 잘못돼도 </a:t>
            </a:r>
            <a:r>
              <a:rPr sz="1250" b="1">
                <a:solidFill>
                  <a:srgbClr val="1A202C"/>
                </a:solidFill>
                <a:latin typeface="맑은 고딕"/>
              </a:rPr>
              <a:t>오류가 나지 않으면서 이후 점수를 전부 거짓으로 만드는 유일한 단계</a:t>
            </a:r>
            <a:r>
              <a:rPr sz="1250" b="0">
                <a:solidFill>
                  <a:srgbClr val="1A202C"/>
                </a:solidFill>
                <a:latin typeface="맑은 고딕"/>
              </a:rPr>
              <a:t>라서, 어떤 전처리보다 먼저 시험지 1,976판을 봉인하고 겹침·비율·분포를 기계로 진단했습니다.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데이터 — Kaggle 다이아 랭크 9,879판 (결측 0 · 중복 0 · 승패 50.1 : 49.9)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4932000"/>
            <a:ext cx="1963224" cy="63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5104800"/>
            <a:ext cx="1963224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667085"/>
                </a:solidFill>
                <a:latin typeface="맑은 고딕"/>
              </a:rPr>
              <a:t>데이터 이해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2424" y="5086800"/>
            <a:ext cx="19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53224" y="4932000"/>
            <a:ext cx="1963224" cy="63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224" y="5104800"/>
            <a:ext cx="1963224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667085"/>
                </a:solidFill>
                <a:latin typeface="맑은 고딕"/>
              </a:rPr>
              <a:t>데이터 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3648" y="5086800"/>
            <a:ext cx="19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14448" y="4932000"/>
            <a:ext cx="1963224" cy="630000"/>
          </a:xfrm>
          <a:prstGeom prst="roundRect">
            <a:avLst>
              <a:gd name="adj" fmla="val 12000"/>
            </a:avLst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14448" y="5104800"/>
            <a:ext cx="1963224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분할 · 봉인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4872" y="5086800"/>
            <a:ext cx="19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5672" y="4932000"/>
            <a:ext cx="1963224" cy="63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5672" y="5104800"/>
            <a:ext cx="1963224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667085"/>
                </a:solidFill>
                <a:latin typeface="맑은 고딕"/>
              </a:rPr>
              <a:t>모델링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096" y="5086800"/>
            <a:ext cx="19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36896" y="4932000"/>
            <a:ext cx="1963224" cy="63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6896" y="5104800"/>
            <a:ext cx="1963224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667085"/>
                </a:solidFill>
                <a:latin typeface="맑은 고딕"/>
              </a:rPr>
              <a:t>평가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000" y="5706000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98A2B3"/>
                </a:solidFill>
                <a:latin typeface="맑은 고딕"/>
              </a:rPr>
              <a:t>다섯 단계 중 분할만 별도 단계로 승격 — 이 프로젝트의 변형입니다.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50" b="1">
                <a:solidFill>
                  <a:srgbClr val="1A202C"/>
                </a:solidFill>
                <a:latin typeface="맑은 고딕"/>
              </a:rPr>
              <a:t>후보 8종을 같은 조건에서 — 점수로는 못 고른다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4120" y="871200"/>
            <a:ext cx="309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1위와 2위가 0.003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00" y="1648800"/>
            <a:ext cx="5918399" cy="362884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del_choice_1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92000"/>
            <a:ext cx="5832000" cy="35424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20000" y="1764000"/>
            <a:ext cx="4380119" cy="28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300" b="1">
                <a:solidFill>
                  <a:srgbClr val="1A202C"/>
                </a:solidFill>
                <a:latin typeface="맑은 고딕"/>
              </a:rPr>
              <a:t>점수 대신 두 가지로 골랐습니다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1">
                <a:solidFill>
                  <a:srgbClr val="1A202C"/>
                </a:solidFill>
                <a:latin typeface="맑은 고딕"/>
              </a:rPr>
              <a:t>① 외웠는가 — 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연습·검증 점수 격차. 복잡한 모델일수록 크게 벌어졌습니다.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1">
                <a:solidFill>
                  <a:srgbClr val="1A202C"/>
                </a:solidFill>
                <a:latin typeface="맑은 고딕"/>
              </a:rPr>
              <a:t>② 왜를 말할 수 있는가 — 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랜덤포레스트는 중요한 지표는 말해도 유·불리 방향(+/−)을 못 말합니다.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1A202C"/>
                </a:solidFill>
                <a:latin typeface="맑은 고딕"/>
              </a:rPr>
              <a:t/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1">
                <a:solidFill>
                  <a:srgbClr val="274BDB"/>
                </a:solidFill>
                <a:latin typeface="맑은 고딕"/>
              </a:rPr>
              <a:t>로지스틱 회귀만 세 기준을 전부 통과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 — 성능이 복잡도의 역순이었습니다. 10분 정보량이 적어, 복잡한 모델은 배울 게 없어 외우기만 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50" b="1">
                <a:solidFill>
                  <a:srgbClr val="1A202C"/>
                </a:solidFill>
                <a:latin typeface="맑은 고딕"/>
              </a:rPr>
              <a:t>구간별로 쪼개 보면 — 잘 맞는 곳과 못 맞는 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4120" y="871200"/>
            <a:ext cx="309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홀드아웃 1,976판 · AUC 0.8150 · Brier 0.1756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00" y="1648800"/>
            <a:ext cx="6422400" cy="361531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3_accuracy_by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92000"/>
            <a:ext cx="6336000" cy="3528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3999" y="1764000"/>
            <a:ext cx="3876120" cy="30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300" b="1">
                <a:solidFill>
                  <a:srgbClr val="1A202C"/>
                </a:solidFill>
                <a:latin typeface="맑은 고딕"/>
              </a:rPr>
              <a:t>같은 모델인데 구간마다 33%p 차이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667085"/>
                </a:solidFill>
                <a:latin typeface="맑은 고딕"/>
              </a:rPr>
              <a:t>골드차 4.2천 이상은 </a:t>
            </a:r>
            <a:r>
              <a:rPr sz="1200" b="1">
                <a:solidFill>
                  <a:srgbClr val="1A202C"/>
                </a:solidFill>
                <a:latin typeface="맑은 고딕"/>
              </a:rPr>
              <a:t>94.7%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 맞히지만, 1천 미만 접전은 </a:t>
            </a:r>
            <a:r>
              <a:rPr sz="1200" b="1">
                <a:solidFill>
                  <a:srgbClr val="D64550"/>
                </a:solidFill>
                <a:latin typeface="맑은 고딕"/>
              </a:rPr>
              <a:t>61.5%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 입니다.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1A202C"/>
                </a:solidFill>
                <a:latin typeface="맑은 고딕"/>
              </a:rPr>
              <a:t/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1">
                <a:solidFill>
                  <a:srgbClr val="1A202C"/>
                </a:solidFill>
                <a:latin typeface="맑은 고딕"/>
              </a:rPr>
              <a:t>이건 모델이 아니라 정보의 한계입니다.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667085"/>
                </a:solidFill>
                <a:latin typeface="맑은 고딕"/>
              </a:rPr>
              <a:t>접전 구간의 실제 승률이 49.5% — 10분 데이터 자체에 승패의 단서가 없습니다. 이 한계를 성적표로 공개하고 화면에 경고를 띄웁니다.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50" b="1">
                <a:solidFill>
                  <a:srgbClr val="1A202C"/>
                </a:solidFill>
                <a:latin typeface="맑은 고딕"/>
              </a:rPr>
              <a:t>킬을 많이 한 팀이 불리하다? — 이상한 계수 4개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4120" y="871200"/>
            <a:ext cx="309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여기서 멈추지 않은 것이 이 프로젝트의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00" y="1648800"/>
            <a:ext cx="6422400" cy="361531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2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92000"/>
            <a:ext cx="6336000" cy="3528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3999" y="1764000"/>
            <a:ext cx="3876120" cy="30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300" b="1">
                <a:solidFill>
                  <a:srgbClr val="1A202C"/>
                </a:solidFill>
                <a:latin typeface="맑은 고딕"/>
              </a:rPr>
              <a:t>모델이 배운 가중치 13개를 펼치니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667085"/>
                </a:solidFill>
                <a:latin typeface="맑은 고딕"/>
              </a:rPr>
              <a:t>골드가 +1.231 로 압도적 1위 — 여기까진 예상대로.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667085"/>
                </a:solidFill>
                <a:latin typeface="맑은 고딕"/>
              </a:rPr>
              <a:t>그런데 </a:t>
            </a:r>
            <a:r>
              <a:rPr sz="1200" b="1">
                <a:solidFill>
                  <a:srgbClr val="D64550"/>
                </a:solidFill>
                <a:latin typeface="맑은 고딕"/>
              </a:rPr>
              <a:t>킬·미니언·어시스트·타워가 음수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 였습니다.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1A202C"/>
                </a:solidFill>
                <a:latin typeface="맑은 고딕"/>
              </a:rPr>
              <a:t/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667085"/>
                </a:solidFill>
                <a:latin typeface="맑은 고딕"/>
              </a:rPr>
              <a:t>킬은 단독으론 판별력 3위입니다.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1">
                <a:solidFill>
                  <a:srgbClr val="1A202C"/>
                </a:solidFill>
                <a:latin typeface="맑은 고딕"/>
              </a:rPr>
              <a:t>관련 있는 지표가 왜 음수인가 — 이 수수께끼를 다음 장에서 풉니다.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50" b="1">
                <a:solidFill>
                  <a:srgbClr val="1A202C"/>
                </a:solidFill>
                <a:latin typeface="맑은 고딕"/>
              </a:rPr>
              <a:t>원인 — 지표들이 한 몸이었다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4120" y="871200"/>
            <a:ext cx="309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킬 ↔ 골드 상관 +0.92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00" y="1558800"/>
            <a:ext cx="4533600" cy="401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a3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02000"/>
            <a:ext cx="4447200" cy="392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71200" y="1764000"/>
            <a:ext cx="5728919" cy="30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300" b="1">
                <a:solidFill>
                  <a:srgbClr val="1A202C"/>
                </a:solidFill>
                <a:latin typeface="맑은 고딕"/>
              </a:rPr>
              <a:t>킬도 미니언도 타워도 전부 돈이 됩니다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667085"/>
                </a:solidFill>
                <a:latin typeface="맑은 고딕"/>
              </a:rPr>
              <a:t>성장 지표 6개가 상관 0.9 로 얽혀, 골드를 이미 본 모델에게 킬은 새로 알려줄 것이 없습니다. 남은 몫의 부호가 음수로 나온 것 — 다중공선성입니다.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1A202C"/>
                </a:solidFill>
                <a:latin typeface="맑은 고딕"/>
              </a:rPr>
              <a:t/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300" b="1">
                <a:solidFill>
                  <a:srgbClr val="1A202C"/>
                </a:solidFill>
                <a:latin typeface="맑은 고딕"/>
              </a:rPr>
              <a:t>검증 — 골드를 빼고 다시 학습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667085"/>
                </a:solidFill>
                <a:latin typeface="맑은 고딕"/>
              </a:rPr>
              <a:t>음수로 눌려 있던 5개가 전부 양수로 살아나고, 정확도는 </a:t>
            </a:r>
            <a:r>
              <a:rPr sz="1200" b="1">
                <a:solidFill>
                  <a:srgbClr val="1A202C"/>
                </a:solidFill>
                <a:latin typeface="맑은 고딕"/>
              </a:rPr>
              <a:t>0.002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 만 떨어졌습니다. 골드가 특별했던 게 아니라 다른 지표가 같은 정보를 들고 있던 것입니다.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1A202C"/>
                </a:solidFill>
                <a:latin typeface="맑은 고딕"/>
              </a:rPr>
              <a:t/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300" b="1">
                <a:solidFill>
                  <a:srgbClr val="1A202C"/>
                </a:solidFill>
                <a:latin typeface="맑은 고딕"/>
              </a:rPr>
              <a:t>PCA 로도 재확인 — 정보는 사실상 축 하나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667085"/>
                </a:solidFill>
                <a:latin typeface="맑은 고딕"/>
              </a:rPr>
              <a:t>첫 주성분이 분산의 39% 를 설명하고, </a:t>
            </a:r>
            <a:r>
              <a:rPr sz="1200" b="1">
                <a:solidFill>
                  <a:srgbClr val="1A202C"/>
                </a:solidFill>
                <a:latin typeface="맑은 고딕"/>
              </a:rPr>
              <a:t>주성분 1개만 써도 0.7282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 가 나옵니다. 그래도 13개를 유지한 이유 — PC1 로는 "골드가 1위" 같은 이유를 말할 수 없기 때문입니다.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050" b="0">
                <a:solidFill>
                  <a:srgbClr val="98A2B3"/>
                </a:solidFill>
                <a:latin typeface="맑은 고딕"/>
              </a:rPr>
              <a:t>서비스 코칭도 이 발견대로 — 계수를 그대로 쓰면 "CS 를 먹지 마라"가 되므로, 따라오는 골드까지 함께 계산합니다.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50" b="1">
                <a:solidFill>
                  <a:srgbClr val="1A202C"/>
                </a:solidFill>
                <a:latin typeface="맑은 고딕"/>
              </a:rPr>
              <a:t>10분 vs 15분 — 5분의 가치는 접전에만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4120" y="871200"/>
            <a:ext cx="309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Oracle's Elixir 프로 경기 10,656판 · 조건 통제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00" y="1648800"/>
            <a:ext cx="6422400" cy="239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xpB_time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92000"/>
            <a:ext cx="6336000" cy="230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3999" y="1764000"/>
            <a:ext cx="3876120" cy="30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300" b="1">
                <a:solidFill>
                  <a:srgbClr val="1A202C"/>
                </a:solidFill>
                <a:latin typeface="맑은 고딕"/>
              </a:rPr>
              <a:t>전체 +5.25%p — 그런데 쪼개 보면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667085"/>
                </a:solidFill>
                <a:latin typeface="맑은 고딕"/>
              </a:rPr>
              <a:t>이미 벌어진 경기는 </a:t>
            </a:r>
            <a:r>
              <a:rPr sz="1200" b="1">
                <a:solidFill>
                  <a:srgbClr val="1A202C"/>
                </a:solidFill>
                <a:latin typeface="맑은 고딕"/>
              </a:rPr>
              <a:t>±0.0%p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, 팽팽한 경기만 </a:t>
            </a:r>
            <a:r>
              <a:rPr sz="1200" b="1">
                <a:solidFill>
                  <a:srgbClr val="274BDB"/>
                </a:solidFill>
                <a:latin typeface="맑은 고딕"/>
              </a:rPr>
              <a:t>+7.8%p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 오릅니다.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667085"/>
                </a:solidFill>
                <a:latin typeface="맑은 고딕"/>
              </a:rPr>
              <a:t>10분에 팽팽했던 판의 59% 가 그 5분 사이에 한쪽으로 기웁니다.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1A202C"/>
                </a:solidFill>
                <a:latin typeface="맑은 고딕"/>
              </a:rPr>
              <a:t/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1">
                <a:solidFill>
                  <a:srgbClr val="1A202C"/>
                </a:solidFill>
                <a:latin typeface="맑은 고딕"/>
              </a:rPr>
              <a:t>결론 — 경기의 1할은 10분에 이미 끝나 있고,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1">
                <a:solidFill>
                  <a:srgbClr val="1A202C"/>
                </a:solidFill>
                <a:latin typeface="맑은 고딕"/>
              </a:rPr>
              <a:t>팽팽한 절반은 그다음 5분에 갈립니다.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50" b="1">
                <a:solidFill>
                  <a:srgbClr val="1A202C"/>
                </a:solidFill>
                <a:latin typeface="맑은 고딕"/>
              </a:rPr>
              <a:t>다른 티어에도 통하나 — 주장 대신 실측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4120" y="871200"/>
            <a:ext cx="309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2026년 아이언~다이아 1,399판 · 직접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00" y="1648800"/>
            <a:ext cx="6422400" cy="33037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r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92000"/>
            <a:ext cx="6336000" cy="3217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3999" y="1764000"/>
            <a:ext cx="3876120" cy="30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300" b="1">
                <a:solidFill>
                  <a:srgbClr val="1A202C"/>
                </a:solidFill>
                <a:latin typeface="맑은 고딕"/>
              </a:rPr>
              <a:t>티어 차이는 확인되지 않았습니다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667085"/>
                </a:solidFill>
                <a:latin typeface="맑은 고딕"/>
              </a:rPr>
              <a:t>저티어 0.685 vs 고티어 0.707 · z=0.83 · </a:t>
            </a:r>
            <a:r>
              <a:rPr sz="1200" b="1">
                <a:solidFill>
                  <a:srgbClr val="1A202C"/>
                </a:solidFill>
                <a:latin typeface="맑은 고딕"/>
              </a:rPr>
              <a:t>p=0.407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 — 신뢰구간이 전부 겹칩니다.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0">
                <a:solidFill>
                  <a:srgbClr val="1A202C"/>
                </a:solidFill>
                <a:latin typeface="맑은 고딕"/>
              </a:rPr>
              <a:t/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200" b="1">
                <a:solidFill>
                  <a:srgbClr val="1A202C"/>
                </a:solidFill>
                <a:latin typeface="맑은 고딕"/>
              </a:rPr>
              <a:t>과장하지 않는 문장 — 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티어당 150~312판이라 5%p 이내 차이는 검출력이 없습니다. 그래서 "차이가 없다"가 아니라 "큰 차이는 없다"까지만 적었습니다.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50" b="1">
                <a:solidFill>
                  <a:srgbClr val="1A202C"/>
                </a:solidFill>
                <a:latin typeface="맑은 고딕"/>
              </a:rPr>
              <a:t>모델이 화면이 되기까지 — 판정 · 코칭 · 성향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4120" y="871200"/>
            <a:ext cx="309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p4.sumzip.com · 탭 4개 운영 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00" y="1558800"/>
            <a:ext cx="6103938" cy="3902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vc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02000"/>
            <a:ext cx="6017538" cy="381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41538" y="1764000"/>
            <a:ext cx="4158581" cy="31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1">
                <a:solidFill>
                  <a:srgbClr val="1A202C"/>
                </a:solidFill>
                <a:latin typeface="맑은 고딕"/>
              </a:rPr>
              <a:t>판정 — 10분 확률 × 실제 결과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우세승 · 역전승 · 역전패 · 열세패. 같은 패배라도 처방이 다릅니다.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1">
                <a:solidFill>
                  <a:srgbClr val="1A202C"/>
                </a:solidFill>
                <a:latin typeface="맑은 고딕"/>
              </a:rPr>
              <a:t>코칭 — "드래곤 하나 더였다면 +2.6%p"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관찰 기록임을 화면에 명시 — 인과 증명이 아닙니다.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1">
                <a:solidFill>
                  <a:srgbClr val="1A202C"/>
                </a:solidFill>
                <a:latin typeface="맑은 고딕"/>
              </a:rPr>
              <a:t>성향 레이더 — 다섯 축 백분위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축끼리 상관 최대 0.15 가 되도록 데이터로 선정했습니다.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1">
                <a:solidFill>
                  <a:srgbClr val="1A202C"/>
                </a:solidFill>
                <a:latin typeface="맑은 고딕"/>
              </a:rPr>
              <a:t>아키텍처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계산은 predict.py 한 곳 — 웹엔 sklearn 이 없습니다. 학습 산출물은 전처리 포함 Pipeline 2.2KB 하나.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50" b="1">
                <a:solidFill>
                  <a:srgbClr val="1A202C"/>
                </a:solidFill>
                <a:latin typeface="맑은 고딕"/>
              </a:rPr>
              <a:t>스스로를 검증하는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4120" y="871200"/>
            <a:ext cx="309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배포 전 21항목 전부 통과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000" y="1764000"/>
            <a:ext cx="2463029" cy="2376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2000" y="1764000"/>
            <a:ext cx="2463029" cy="50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000" y="2015999"/>
            <a:ext cx="206703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274BDB"/>
                </a:solidFill>
                <a:latin typeface="맑은 고딕"/>
              </a:rPr>
              <a:t>파리티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000" y="2376000"/>
            <a:ext cx="206703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손계산 = 모델 = 라이브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000" y="3006000"/>
            <a:ext cx="206703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0.818255 가 소수점까지 일치
— 자동 테스트로 상시 대조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7030" y="1764000"/>
            <a:ext cx="2463029" cy="2376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7030" y="1764000"/>
            <a:ext cx="2463029" cy="50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5030" y="2015999"/>
            <a:ext cx="206703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274BDB"/>
                </a:solidFill>
                <a:latin typeface="맑은 고딕"/>
              </a:rPr>
              <a:t>수치 대조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5030" y="2376000"/>
            <a:ext cx="206703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문서 24개 ↔ 근거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5030" y="3006000"/>
            <a:ext cx="206703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본문 속 모든 수치를 기계로 검증
— 현재 어긋남 0건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2060" y="1764000"/>
            <a:ext cx="2463029" cy="2376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060" y="1764000"/>
            <a:ext cx="2463029" cy="50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0060" y="2015999"/>
            <a:ext cx="206703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274BDB"/>
                </a:solidFill>
                <a:latin typeface="맑은 고딕"/>
              </a:rPr>
              <a:t>회귀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0060" y="2376000"/>
            <a:ext cx="206703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예측 50건 골든 정답지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0060" y="3006000"/>
            <a:ext cx="206703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모델·피처 변경 시
결과가 바뀌면 즉시 실패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7089" y="1764000"/>
            <a:ext cx="2463029" cy="2376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7089" y="1764000"/>
            <a:ext cx="2463029" cy="50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5090" y="2015999"/>
            <a:ext cx="206703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274BDB"/>
                </a:solidFill>
                <a:latin typeface="맑은 고딕"/>
              </a:rPr>
              <a:t>계약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5090" y="2376000"/>
            <a:ext cx="206703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API 응답 ↔ 명세(serving.md)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5090" y="3006000"/>
            <a:ext cx="206703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필드·개수·타입까지 검사
— PUUID 유출 검사 포함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4500000"/>
            <a:ext cx="1060812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A202C"/>
                </a:solidFill>
                <a:latin typeface="맑은 고딕"/>
              </a:rPr>
              <a:t>원칙 — 새 검증 규칙은 틀린 값을 넣어 "실제로 잡히는지" 반대 방향으로 확인합니다. </a:t>
            </a:r>
            <a:r>
              <a:rPr sz="1200" b="0">
                <a:solidFill>
                  <a:srgbClr val="667085"/>
                </a:solidFill>
                <a:latin typeface="맑은 고딕"/>
              </a:rPr>
              <a:t>이 체계로 배포 전 회귀 세 건(화면 먹통 · 수치 불일치 · 좌표 밀림)을 잡았습니다.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50" b="1">
                <a:solidFill>
                  <a:srgbClr val="1A202C"/>
                </a:solidFill>
                <a:latin typeface="맑은 고딕"/>
              </a:rPr>
              <a:t>이 프로젝트에서 배운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648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승패 판정 · 이제민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951200"/>
            <a:ext cx="198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000" y="1843200"/>
            <a:ext cx="1024812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1A202C"/>
                </a:solidFill>
                <a:latin typeface="맑은 고딕"/>
              </a:rPr>
              <a:t>이상한 숫자는 버그가 아니라 단서다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2178000"/>
            <a:ext cx="1024812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80" b="0">
                <a:solidFill>
                  <a:srgbClr val="667085"/>
                </a:solidFill>
                <a:latin typeface="맑은 고딕"/>
              </a:rPr>
              <a:t>킬 계수가 음수로 나왔을 때 모델을 의심하는 대신 데이터 구조(상관 0.9)를 진단했고, 그 발견이 페이즈 2와 서비스 코칭 설계로 이어졌습니다.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3409199"/>
            <a:ext cx="198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000" y="3301200"/>
            <a:ext cx="1024812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1A202C"/>
                </a:solidFill>
                <a:latin typeface="맑은 고딕"/>
              </a:rPr>
              <a:t>한계는 숨기는 게 아니라 측정하는 것이다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3636000"/>
            <a:ext cx="1024812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80" b="0">
                <a:solidFill>
                  <a:srgbClr val="667085"/>
                </a:solidFill>
                <a:latin typeface="맑은 고딕"/>
              </a:rPr>
              <a:t>접전 0.615, 티어 p=0.407, 2단계 라우팅 4종 열위 — 못 하는 것을 실측해 문서와 화면에 그대로 적었습니다. 신뢰는 정확도가 아니라 정직에서 나온다고 생각합니다.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867199"/>
            <a:ext cx="198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000" y="4759200"/>
            <a:ext cx="1024812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1A202C"/>
                </a:solidFill>
                <a:latin typeface="맑은 고딕"/>
              </a:rPr>
              <a:t>계산은 한 곳에만 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5093999"/>
            <a:ext cx="1024812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80" b="0">
                <a:solidFill>
                  <a:srgbClr val="667085"/>
                </a:solidFill>
                <a:latin typeface="맑은 고딕"/>
              </a:rPr>
              <a:t>예측 로직을 predict.py 한 곳에 두고 화면·문서가 그 결과를 빌려 쓰게 했습니다. 화면 확률과 모델 확률이 어긋날 길 자체를 없앤 설계입니다.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56000" y="1872000"/>
            <a:ext cx="25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2100" b="1">
                <a:solidFill>
                  <a:srgbClr val="1A202C"/>
                </a:solidFill>
                <a:latin typeface="맑은 고딕"/>
              </a:rPr>
              <a:t>0.7366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6000" y="22392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판정 정확도 · 10회 평균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6000" y="2646000"/>
            <a:ext cx="25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2100" b="1">
                <a:solidFill>
                  <a:srgbClr val="1A202C"/>
                </a:solidFill>
                <a:latin typeface="맑은 고딕"/>
              </a:rPr>
              <a:t>+23.8%p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6000" y="3013199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찍기 대비 이득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6000" y="3420000"/>
            <a:ext cx="25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2100" b="1">
                <a:solidFill>
                  <a:srgbClr val="1A202C"/>
                </a:solidFill>
                <a:latin typeface="맑은 고딕"/>
              </a:rPr>
              <a:t>p=0.407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6000" y="37872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티어 차이 — 확인되지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6000" y="4194000"/>
            <a:ext cx="25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2100" b="1">
                <a:solidFill>
                  <a:srgbClr val="1A202C"/>
                </a:solidFill>
                <a:latin typeface="맑은 고딕"/>
              </a:rPr>
              <a:t>21항목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6000" y="45612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배포 전 자동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1944000"/>
            <a:ext cx="1060812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000" b="1">
                <a:solidFill>
                  <a:srgbClr val="1A202C"/>
                </a:solidFill>
                <a:latin typeface="맑은 고딕"/>
              </a:rPr>
              <a:t>골드차 4천이면 끝난 경기,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000" b="1">
                <a:solidFill>
                  <a:srgbClr val="1A202C"/>
                </a:solidFill>
                <a:latin typeface="맑은 고딕"/>
              </a:rPr>
              <a:t>1천 미만이면 이제 시작입니다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64000"/>
            <a:ext cx="106081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맑은 고딕"/>
              </a:rPr>
              <a:t>데이터로 확인한 이 한 문장이 프로젝트의 답입니다.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4356000"/>
            <a:ext cx="306000" cy="25200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00" y="4572000"/>
            <a:ext cx="1060812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0">
                <a:solidFill>
                  <a:srgbClr val="98A2B3"/>
                </a:solidFill>
                <a:latin typeface="맑은 고딕"/>
              </a:rPr>
              <a:t>GitHub  </a:t>
            </a:r>
            <a:r>
              <a:rPr sz="1250" b="1">
                <a:solidFill>
                  <a:srgbClr val="1A202C"/>
                </a:solidFill>
                <a:latin typeface="맑은 고딕"/>
              </a:rPr>
              <a:t>github.com/wpalswpa/project2608</a:t>
            </a:r>
            <a:r>
              <a:rPr sz="1100" b="0">
                <a:solidFill>
                  <a:srgbClr val="98A2B3"/>
                </a:solidFill>
                <a:latin typeface="맑은 고딕"/>
              </a:rPr>
              <a:t>        Live  </a:t>
            </a:r>
            <a:r>
              <a:rPr sz="1250" b="1">
                <a:solidFill>
                  <a:srgbClr val="1A202C"/>
                </a:solidFill>
                <a:latin typeface="맑은 고딕"/>
              </a:rPr>
              <a:t>p4.sumzip.com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0">
                <a:solidFill>
                  <a:srgbClr val="667085"/>
                </a:solidFill>
                <a:latin typeface="맑은 고딕"/>
              </a:rPr>
              <a:t>README 에 전체 분석 과정 · docs/ 에 재현 절차 · final/ 에 산출물 6종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